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297a381a-4048-3bfb-d801-650fbd2c7419}">
          <p14:sldIdLst>
            <p14:sldId id="256"/>
            <p14:sldId id="257"/>
            <p14:sldId id="258"/>
          </p14:sldIdLst>
        </p14:section>
        <p14:section name="Features" id="{193b157b-2497-8476-9fd6-06c77c743d3a}">
          <p14:sldIdLst>
            <p14:sldId id="259"/>
            <p14:sldId id="260"/>
          </p14:sldIdLst>
        </p14:section>
        <p14:section name="Value" id="{0d1af17a-6b2d-0f9b-1137-7e3f5fb2ff88}">
          <p14:sldIdLst>
            <p14:sldId id="261"/>
            <p14:sldId id="262"/>
          </p14:sldIdLst>
        </p14:section>
        <p14:section name="Limits" id="{53ecbf1d-a12c-75b2-6073-267f85870387}">
          <p14:sldIdLst>
            <p14:sldId id="263"/>
          </p14:sldIdLst>
        </p14:section>
        <p14:section name="Tokens" id="{1eedd59e-accf-ab28-7a04-983e33bdb8ea}">
          <p14:sldIdLst>
            <p14:sldId id="264"/>
            <p14:sldId id="265"/>
          </p14:sldIdLst>
        </p14:section>
        <p14:section name="Wrap-up" id="{9ff662c5-3745-e8ff-2ce5-4f3abc9371eb}">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cover AI FDE in Skywise: what it is, what it can do, how to get good results from it, where its limits are, and how to keep token use under control. At the end there's a best-practice document you can keep and share.
One note before we start: on our Skywise enrollment we use Gemini models only, so everything I say about model choice is about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us know forward deployed engineers: people who sit with the business, understand the problem and build the solution in Skywise.
AI FDE is an agent that does that kind of work inside Skywise. You describe the outcome in plain language; it works out which Skywise operations are needed, uses the platform's own tools to do them, checks its work, and proposes the change.
Two things make it safe to use. It works as you, with your permissions and nothing more, and everything it does is logged under your name. And it proposes rather than ships: by default it works on a branch and gives you a proposal or pull request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works in a loop. It reads your request and the context you've attached, decides which mode it needs, and for bigger tasks it can ask you questions or write a plan first. Then it acts using Skywise's own tools, and, importantly, it checks the result: it runs transform previews, function previews and CI checks, and fixes what fails. At the end it proposes the change on a branch.
You come in three times: before, to give the right context and ask for a plan; during, to approve actions; and after, to review and test before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FDE has nine modes. Each one loads the right documentation and tools for that kind of work. You can pick one from the Modes menu, or let it choose from your prompt, and it can switch mid-task.
The big ones for us: data integration for pipelines, ontology editing, functions, and exploration, which is read-only and the safest place to start. Governance is useful for audits: who can see what, markings, access. And there's machine learning, React apps on our data, and plain questions about how Skywise works.
Note that feature availability can differ by enrollment, so what you see may vary slightly.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what the agent can do for itself: plan, ask you questions, look up documentation, and manage its own working memory. Plus domain tools like the filesystem, Notepad, solution design diagrams and running actions on objects.
On the right, the controls you have, and these are where the value and the savings come from. The context ribbon is where you attach exactly the datasets and object types it needs. The tools menu limits what it may do. Approvals keep writes under your control. The chat outline shows a token count for every message, which we'll use in a minute. Compaction keeps long sessions inside the context window. And pre-fill links let us package a good prompt plus AIP skills behind a link or a Workshop button, so the whole team starts from the same good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habits make the difference between a toy and a real productivity gain.
One task per session. Pick the mode yourself when you know it. Attach exactly the dataset or object type it needs, not a whole project folder: the docs are explicit that extra context and extra tools lead to worse actions. For anything multi-step, ask for a plan first and review it. Work in small steps. Be specific about what done looks like. Always verify on the branch with real sample data. And when a prompt works well, turn it into an AIP skill or a pre-fill link, so the next person starts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specific looks like. On the left are prompts I hear a lot; on the right, versions that get a good result first time.
Each good prompt does five things: it names the exact resource, says the goal, gives the rules, says what not to touch, and says how to verify. 'Plan first; don't create actions yet' and 'read-only' are two small phrases that save a lot of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limits. On the left, what it can't do by design. It can't go beyond your permissions: there's no service account and no escalation. It can't write without your consent. Sessions can't be shared, and they follow your markings. It can only use the models enabled on our enrollment, which for us means Gemini. And it only knows what you tell it: it starts with no user data.
On the right, what you shouldn't do. Don't ship its output unreviewed: the guidance is clear that it's built for rapid prototyping, and production work needs your review and tuning. Don't approve without reading. Don't treat it as a domain expert on our business. Watch the load: it can run dozens of operations in minutes, and several sessions in parallel can stress compute and storage. And features differ between enrollments, so don't be surprised if a colleague's view looks slightly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The one idea to remember: with every message, the model re-reads the whole session, everything attached, and the instructions for every enabled tool. So a session's cost grows with its length and its context.
That gives ten simple habits. Start with minimal context and add on demand. Switch off tools you don't need. One session per task. Compact long sessions once a step is done. Watch the token count per message in the chat outline: it shows you immediately what's expensive, usually a big attachment or a long log. Plan first, because rework is the most expensive thing of all. Point to datasets instead of pasting data. Ask for diffs and summaries instead of whole files. Use a fast Flash model for questions and exploration and a stronger one for building. And keep long standing instructions in an AIP skill rather than retyping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Skywise enrollment we only use Gemini, and only the Gemini models enabled for us appear in the model picker.
The practical split: the fast Flash model for questions, exploration, summarising logs and governance look-ups. It's cheap and quick. The strongest reasoning model, Pro or Thinking, for anything that changes things: pipelines, ontology, functions, debugging. It costs more per turn but makes far fewer mistakes, and a cheap model that needs three attempts ends up more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thing as a checklist: before, during and after every session. It's also on the last page of the document I'm sharing.
Before: new session, right mode, only the resources needed, unused tools off, the right Gemini model, and a clear goal. During: plan first, read every approval, small steps, watch the tokens, and stop it if it goes in circles. After: review, test on real data, use AIP Evals for functions, merge only what you understand, and save good prompts as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treat AI FDE as an engineer you direct, not an autopilot. Keep tasks small and specific. Plan, then act. Verify before you merge. And mind the tokens.
The full guide is in the document I'm sharing with this deck, including prompt templates and the checklist.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AL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9811512" y="182880"/>
            <a:ext cx="2194560" cy="274320"/>
          </a:xfrm>
          <a:prstGeom prst="rect">
            <a:avLst/>
          </a:prstGeom>
          <a:noFill/>
          <a:ln/>
        </p:spPr>
        <p:txBody>
          <a:bodyPr wrap="square" lIns="0" tIns="0" rIns="0" bIns="0" rtlCol="0" anchor="ctr"/>
          <a:lstStyle/>
          <a:p>
            <a:pPr algn="r" indent="0" marL="0">
              <a:buNone/>
            </a:pPr>
            <a:r>
              <a:rPr lang="en-US" sz="1000" dirty="0">
                <a:solidFill>
                  <a:srgbClr val="D2691E"/>
                </a:solidFill>
              </a:rPr>
              <a:t>Airbus Amber</a:t>
            </a:r>
            <a:endParaRPr lang="en-US" sz="1000" dirty="0"/>
          </a:p>
        </p:txBody>
      </p:sp>
      <p:sp>
        <p:nvSpPr>
          <p:cNvPr id="3" name="Text 1"/>
          <p:cNvSpPr/>
          <p:nvPr>
            <p:ph idx="101"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eyebrow"/>
          <p:cNvSpPr txBox="1"/>
          <p:nvPr/>
        </p:nvSpPr>
        <p:spPr>
          <a:xfrm>
            <a:off x="3383280" y="2514600"/>
            <a:ext cx="8229600" cy="320040"/>
          </a:xfrm>
          <a:prstGeom prst="rect">
            <a:avLst/>
          </a:prstGeom>
          <a:noFill/>
          <a:ln/>
        </p:spPr>
        <p:txBody>
          <a:bodyPr wrap="square" lIns="0" tIns="0" rIns="0" bIns="0" rtlCol="0" anchor="t"/>
          <a:lstStyle/>
          <a:p>
            <a:pPr indent="0" marL="0">
              <a:buNone/>
            </a:pPr>
            <a:r>
              <a:rPr lang="en-US" sz="1400" b="1" spc="200" kern="0" dirty="0">
                <a:solidFill>
                  <a:schemeClr val="bg1"/>
                </a:solidFill>
              </a:rPr>
              <a:t>SKYWISE · AI ENABLEMENT</a:t>
            </a:r>
            <a:endParaRPr lang="en-US" sz="1400" dirty="0"/>
          </a:p>
        </p:txBody>
      </p:sp>
      <p:sp>
        <p:nvSpPr>
          <p:cNvPr id="3" name="cover-title"/>
          <p:cNvSpPr txBox="1"/>
          <p:nvPr/>
        </p:nvSpPr>
        <p:spPr>
          <a:xfrm>
            <a:off x="3383280" y="2880360"/>
            <a:ext cx="8503920" cy="685800"/>
          </a:xfrm>
          <a:prstGeom prst="rect">
            <a:avLst/>
          </a:prstGeom>
          <a:noFill/>
          <a:ln/>
        </p:spPr>
        <p:txBody>
          <a:bodyPr wrap="square" lIns="0" tIns="0" rIns="0" bIns="0" rtlCol="0" anchor="t"/>
          <a:lstStyle/>
          <a:p>
            <a:pPr indent="0" marL="0">
              <a:buNone/>
            </a:pPr>
            <a:r>
              <a:rPr lang="en-US" sz="3600" b="1" dirty="0">
                <a:solidFill>
                  <a:schemeClr val="bg1"/>
                </a:solidFill>
              </a:rPr>
              <a:t>Skywise AI FDE: best practices</a:t>
            </a:r>
            <a:endParaRPr lang="en-US" sz="3600" dirty="0"/>
          </a:p>
        </p:txBody>
      </p:sp>
      <p:sp>
        <p:nvSpPr>
          <p:cNvPr id="4" name="cover-sub"/>
          <p:cNvSpPr txBox="1"/>
          <p:nvPr/>
        </p:nvSpPr>
        <p:spPr>
          <a:xfrm>
            <a:off x="3383280" y="3611880"/>
            <a:ext cx="8321040" cy="914400"/>
          </a:xfrm>
          <a:prstGeom prst="rect">
            <a:avLst/>
          </a:prstGeom>
          <a:noFill/>
          <a:ln/>
        </p:spPr>
        <p:txBody>
          <a:bodyPr wrap="square" lIns="0" tIns="0" rIns="0" bIns="0" rtlCol="0" anchor="t"/>
          <a:lstStyle/>
          <a:p>
            <a:pPr indent="0" marL="0">
              <a:buNone/>
            </a:pPr>
            <a:r>
              <a:rPr lang="en-US" sz="2000" dirty="0">
                <a:solidFill>
                  <a:schemeClr val="bg1"/>
                </a:solidFill>
              </a:rPr>
              <a:t>How to get real value from the AI engineer inside Skywise, safely and without wasting tokens</a:t>
            </a:r>
            <a:endParaRPr lang="en-US" sz="2000" dirty="0"/>
          </a:p>
        </p:txBody>
      </p:sp>
      <p:sp>
        <p:nvSpPr>
          <p:cNvPr id="5" name="presenters"/>
          <p:cNvSpPr txBox="1"/>
          <p:nvPr/>
        </p:nvSpPr>
        <p:spPr>
          <a:xfrm>
            <a:off x="3383280" y="5806440"/>
            <a:ext cx="7315200" cy="365760"/>
          </a:xfrm>
          <a:prstGeom prst="rect">
            <a:avLst/>
          </a:prstGeom>
          <a:noFill/>
          <a:ln/>
        </p:spPr>
        <p:txBody>
          <a:bodyPr wrap="square" lIns="0" tIns="0" rIns="0" bIns="0" rtlCol="0" anchor="t"/>
          <a:lstStyle/>
          <a:p>
            <a:pPr indent="0" marL="0">
              <a:buNone/>
            </a:pPr>
            <a:r>
              <a:rPr lang="en-US" sz="1400" dirty="0">
                <a:solidFill>
                  <a:schemeClr val="bg1"/>
                </a:solidFill>
              </a:rPr>
              <a:t>[Presenter] · [Team] · [Date]</a:t>
            </a:r>
            <a:endParaRPr lang="en-US" sz="1400" dirty="0"/>
          </a:p>
        </p:txBody>
      </p:sp>
      <p:sp>
        <p:nvSpPr>
          <p:cNvPr id="7"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CONTEXT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From forward deployed engineers to an AI one</a:t>
            </a:r>
            <a:endParaRPr lang="en-US" sz="3600" dirty="0"/>
          </a:p>
        </p:txBody>
      </p:sp>
      <p:sp>
        <p:nvSpPr>
          <p:cNvPr id="4" name="ctx-0"/>
          <p:cNvSpPr/>
          <p:nvPr/>
        </p:nvSpPr>
        <p:spPr>
          <a:xfrm>
            <a:off x="548640" y="1463040"/>
            <a:ext cx="3515258" cy="2926080"/>
          </a:xfrm>
          <a:prstGeom prst="roundRect">
            <a:avLst>
              <a:gd name="adj" fmla="val 3750"/>
            </a:avLst>
          </a:prstGeom>
          <a:solidFill>
            <a:schemeClr val="bg2"/>
          </a:solidFill>
          <a:ln/>
        </p:spPr>
      </p:sp>
      <p:sp>
        <p:nvSpPr>
          <p:cNvPr id="5" name="ctx-0-t"/>
          <p:cNvSpPr txBox="1"/>
          <p:nvPr/>
        </p:nvSpPr>
        <p:spPr>
          <a:xfrm>
            <a:off x="822960" y="1645920"/>
            <a:ext cx="2966618" cy="2560320"/>
          </a:xfrm>
          <a:prstGeom prst="rect">
            <a:avLst/>
          </a:prstGeom>
          <a:noFill/>
          <a:ln/>
        </p:spPr>
        <p:txBody>
          <a:bodyPr wrap="square" lIns="0" tIns="0" rIns="0" bIns="0" rtlCol="0" anchor="t"/>
          <a:lstStyle/>
          <a:p>
            <a:pPr indent="0" marL="0">
              <a:buNone/>
            </a:pPr>
            <a:r>
              <a:rPr lang="en-US" sz="2000" b="1" dirty="0">
                <a:solidFill>
                  <a:schemeClr val="tx1"/>
                </a:solidFill>
              </a:rPr>
              <a:t>A forward deployed engineer</a:t>
            </a:r>
            <a:endParaRPr lang="en-US" sz="2000" dirty="0"/>
          </a:p>
          <a:p>
            <a:pPr indent="0" marL="0">
              <a:buNone/>
            </a:pPr>
            <a:r>
              <a:rPr lang="en-US" sz="800" dirty="0">
                <a:solidFill>
                  <a:srgbClr val="000000"/>
                </a:solidFill>
              </a:rPr>
              <a:t> </a:t>
            </a:r>
            <a:endParaRPr lang="en-US" sz="2000" dirty="0"/>
          </a:p>
          <a:p>
            <a:pPr indent="0" marL="0">
              <a:buNone/>
            </a:pPr>
            <a:r>
              <a:rPr lang="en-US" sz="1500" dirty="0">
                <a:solidFill>
                  <a:schemeClr val="tx2"/>
                </a:solidFill>
              </a:rPr>
              <a:t>Sits with the business, understands the problem, and builds the pipelines, ontology and apps in Skywise to solve it.</a:t>
            </a:r>
            <a:endParaRPr lang="en-US" sz="2000" dirty="0"/>
          </a:p>
        </p:txBody>
      </p:sp>
      <p:sp>
        <p:nvSpPr>
          <p:cNvPr id="6" name="ctx-1"/>
          <p:cNvSpPr/>
          <p:nvPr/>
        </p:nvSpPr>
        <p:spPr>
          <a:xfrm>
            <a:off x="4338218" y="1463040"/>
            <a:ext cx="3515258" cy="2926080"/>
          </a:xfrm>
          <a:prstGeom prst="roundRect">
            <a:avLst>
              <a:gd name="adj" fmla="val 3750"/>
            </a:avLst>
          </a:prstGeom>
          <a:solidFill>
            <a:schemeClr val="tx1"/>
          </a:solidFill>
          <a:ln/>
        </p:spPr>
      </p:sp>
      <p:sp>
        <p:nvSpPr>
          <p:cNvPr id="7" name="ctx-1-t"/>
          <p:cNvSpPr txBox="1"/>
          <p:nvPr/>
        </p:nvSpPr>
        <p:spPr>
          <a:xfrm>
            <a:off x="4612538" y="1645920"/>
            <a:ext cx="2966618" cy="2560320"/>
          </a:xfrm>
          <a:prstGeom prst="rect">
            <a:avLst/>
          </a:prstGeom>
          <a:noFill/>
          <a:ln/>
        </p:spPr>
        <p:txBody>
          <a:bodyPr wrap="square" lIns="0" tIns="0" rIns="0" bIns="0" rtlCol="0" anchor="t"/>
          <a:lstStyle/>
          <a:p>
            <a:pPr indent="0" marL="0">
              <a:buNone/>
            </a:pPr>
            <a:r>
              <a:rPr lang="en-US" sz="2000" b="1" dirty="0">
                <a:solidFill>
                  <a:schemeClr val="bg1"/>
                </a:solidFill>
              </a:rPr>
              <a:t>AI FDE</a:t>
            </a:r>
            <a:endParaRPr lang="en-US" sz="2000" dirty="0"/>
          </a:p>
          <a:p>
            <a:pPr indent="0" marL="0">
              <a:buNone/>
            </a:pPr>
            <a:r>
              <a:rPr lang="en-US" sz="800" dirty="0">
                <a:solidFill>
                  <a:srgbClr val="000000"/>
                </a:solidFill>
              </a:rPr>
              <a:t> </a:t>
            </a:r>
            <a:endParaRPr lang="en-US" sz="2000" dirty="0"/>
          </a:p>
          <a:p>
            <a:pPr indent="0" marL="0">
              <a:buNone/>
            </a:pPr>
            <a:r>
              <a:rPr lang="en-US" sz="1500" dirty="0">
                <a:solidFill>
                  <a:schemeClr val="accent5"/>
                </a:solidFill>
              </a:rPr>
              <a:t>An agent inside Skywise that does the same kind of work through conversation: you describe the outcome, it plans, uses Skywise's own tools, checks its work and proposes the change.</a:t>
            </a:r>
            <a:endParaRPr lang="en-US" sz="2000" dirty="0"/>
          </a:p>
        </p:txBody>
      </p:sp>
      <p:sp>
        <p:nvSpPr>
          <p:cNvPr id="8" name="ctx-2"/>
          <p:cNvSpPr/>
          <p:nvPr/>
        </p:nvSpPr>
        <p:spPr>
          <a:xfrm>
            <a:off x="8127797" y="1463040"/>
            <a:ext cx="3515258" cy="2926080"/>
          </a:xfrm>
          <a:prstGeom prst="roundRect">
            <a:avLst>
              <a:gd name="adj" fmla="val 3750"/>
            </a:avLst>
          </a:prstGeom>
          <a:solidFill>
            <a:schemeClr val="accent4"/>
          </a:solidFill>
          <a:ln/>
        </p:spPr>
      </p:sp>
      <p:sp>
        <p:nvSpPr>
          <p:cNvPr id="9" name="ctx-2-t"/>
          <p:cNvSpPr txBox="1"/>
          <p:nvPr/>
        </p:nvSpPr>
        <p:spPr>
          <a:xfrm>
            <a:off x="8402117" y="1645920"/>
            <a:ext cx="2966618" cy="2560320"/>
          </a:xfrm>
          <a:prstGeom prst="rect">
            <a:avLst/>
          </a:prstGeom>
          <a:noFill/>
          <a:ln/>
        </p:spPr>
        <p:txBody>
          <a:bodyPr wrap="square" lIns="0" tIns="0" rIns="0" bIns="0" rtlCol="0" anchor="t"/>
          <a:lstStyle/>
          <a:p>
            <a:pPr indent="0" marL="0">
              <a:buNone/>
            </a:pPr>
            <a:r>
              <a:rPr lang="en-US" sz="2000" b="1" dirty="0">
                <a:solidFill>
                  <a:schemeClr val="bg1"/>
                </a:solidFill>
              </a:rPr>
              <a:t>You</a:t>
            </a:r>
            <a:endParaRPr lang="en-US" sz="2000" dirty="0"/>
          </a:p>
          <a:p>
            <a:pPr indent="0" marL="0">
              <a:buNone/>
            </a:pPr>
            <a:r>
              <a:rPr lang="en-US" sz="800" dirty="0">
                <a:solidFill>
                  <a:srgbClr val="000000"/>
                </a:solidFill>
              </a:rPr>
              <a:t> </a:t>
            </a:r>
            <a:endParaRPr lang="en-US" sz="2000" dirty="0"/>
          </a:p>
          <a:p>
            <a:pPr indent="0" marL="0">
              <a:buNone/>
            </a:pPr>
            <a:r>
              <a:rPr lang="en-US" sz="1500" dirty="0">
                <a:solidFill>
                  <a:schemeClr val="accent5"/>
                </a:solidFill>
              </a:rPr>
              <a:t>Stay in charge: you give context, approve actions, review the branch proposal or pull request, and decide what goes to production.</a:t>
            </a:r>
            <a:endParaRPr lang="en-US" sz="2000" dirty="0"/>
          </a:p>
        </p:txBody>
      </p:sp>
      <p:sp>
        <p:nvSpPr>
          <p:cNvPr id="10" name="ctx-key"/>
          <p:cNvSpPr/>
          <p:nvPr/>
        </p:nvSpPr>
        <p:spPr>
          <a:xfrm>
            <a:off x="548640" y="4663440"/>
            <a:ext cx="11094415" cy="1691640"/>
          </a:xfrm>
          <a:prstGeom prst="roundRect">
            <a:avLst>
              <a:gd name="adj" fmla="val 6486"/>
            </a:avLst>
          </a:prstGeom>
          <a:solidFill>
            <a:schemeClr val="bg2"/>
          </a:solidFill>
          <a:ln/>
        </p:spPr>
      </p:sp>
      <p:sp>
        <p:nvSpPr>
          <p:cNvPr id="11" name="ctx-key-t"/>
          <p:cNvSpPr txBox="1"/>
          <p:nvPr/>
        </p:nvSpPr>
        <p:spPr>
          <a:xfrm>
            <a:off x="868680" y="4800600"/>
            <a:ext cx="10454335" cy="1463040"/>
          </a:xfrm>
          <a:prstGeom prst="rect">
            <a:avLst/>
          </a:prstGeom>
          <a:noFill/>
          <a:ln/>
        </p:spPr>
        <p:txBody>
          <a:bodyPr wrap="square" lIns="0" tIns="0" rIns="0" bIns="0" rtlCol="0" anchor="t"/>
          <a:lstStyle/>
          <a:p>
            <a:pPr indent="0" marL="0">
              <a:buNone/>
            </a:pPr>
            <a:r>
              <a:rPr lang="en-US" sz="1600" b="1" dirty="0">
                <a:solidFill>
                  <a:schemeClr val="tx1"/>
                </a:solidFill>
              </a:rPr>
              <a:t>It works as you.</a:t>
            </a:r>
            <a:endParaRPr lang="en-US" sz="1600" dirty="0"/>
          </a:p>
          <a:p>
            <a:pPr indent="0" marL="0">
              <a:spcAft>
                <a:spcPts val="1000"/>
              </a:spcAft>
              <a:buNone/>
            </a:pPr>
            <a:r>
              <a:rPr lang="en-US" sz="1450" dirty="0">
                <a:solidFill>
                  <a:schemeClr val="tx2"/>
                </a:solidFill>
              </a:rPr>
              <a:t>It uses your login and your permissions: if you can't do something in Skywise, neither can it. Everything is logged under your name.</a:t>
            </a:r>
            <a:endParaRPr lang="en-US" sz="1600" dirty="0"/>
          </a:p>
          <a:p>
            <a:pPr indent="0" marL="0">
              <a:buNone/>
            </a:pPr>
            <a:r>
              <a:rPr lang="en-US" sz="1600" b="1" dirty="0">
                <a:solidFill>
                  <a:schemeClr val="tx1"/>
                </a:solidFill>
              </a:rPr>
              <a:t>It proposes, you dispose.</a:t>
            </a:r>
            <a:endParaRPr lang="en-US" sz="1600" dirty="0"/>
          </a:p>
          <a:p>
            <a:pPr indent="0" marL="0">
              <a:spcAft>
                <a:spcPts val="1000"/>
              </a:spcAft>
              <a:buNone/>
            </a:pPr>
            <a:r>
              <a:rPr lang="en-US" sz="1450" dirty="0">
                <a:solidFill>
                  <a:schemeClr val="tx2"/>
                </a:solidFill>
              </a:rPr>
              <a:t>By default it works on a branch and hands you a Global Branch proposal or a Code Repository pull request to review.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HOW IT WORKS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A closed loop: plan, act, check, propose</a:t>
            </a:r>
            <a:endParaRPr lang="en-US" sz="3600" dirty="0"/>
          </a:p>
        </p:txBody>
      </p:sp>
      <p:sp>
        <p:nvSpPr>
          <p:cNvPr id="4" name="loop-0"/>
          <p:cNvSpPr/>
          <p:nvPr/>
        </p:nvSpPr>
        <p:spPr>
          <a:xfrm>
            <a:off x="548640" y="1554480"/>
            <a:ext cx="1999427" cy="2468880"/>
          </a:xfrm>
          <a:prstGeom prst="roundRect">
            <a:avLst>
              <a:gd name="adj" fmla="val 5488"/>
            </a:avLst>
          </a:prstGeom>
          <a:solidFill>
            <a:schemeClr val="bg1"/>
          </a:solidFill>
          <a:ln/>
        </p:spPr>
      </p:sp>
      <p:sp>
        <p:nvSpPr>
          <p:cNvPr id="5" name="loop-0-t"/>
          <p:cNvSpPr txBox="1"/>
          <p:nvPr/>
        </p:nvSpPr>
        <p:spPr>
          <a:xfrm>
            <a:off x="749808" y="1691640"/>
            <a:ext cx="1597091" cy="2194560"/>
          </a:xfrm>
          <a:prstGeom prst="rect">
            <a:avLst/>
          </a:prstGeom>
          <a:noFill/>
          <a:ln/>
        </p:spPr>
        <p:txBody>
          <a:bodyPr wrap="square" lIns="0" tIns="0" rIns="0" bIns="0" rtlCol="0" anchor="t"/>
          <a:lstStyle/>
          <a:p>
            <a:pPr indent="0" marL="0">
              <a:buNone/>
            </a:pPr>
            <a:r>
              <a:rPr lang="en-US" sz="1700" b="1" dirty="0">
                <a:solidFill>
                  <a:schemeClr val="tx1"/>
                </a:solidFill>
              </a:rPr>
              <a:t>1  Understand</a:t>
            </a:r>
            <a:endParaRPr lang="en-US" sz="1700" dirty="0"/>
          </a:p>
          <a:p>
            <a:pPr indent="0" marL="0">
              <a:buNone/>
            </a:pPr>
            <a:r>
              <a:rPr lang="en-US" sz="600" dirty="0">
                <a:solidFill>
                  <a:srgbClr val="000000"/>
                </a:solidFill>
              </a:rPr>
              <a:t> </a:t>
            </a:r>
            <a:endParaRPr lang="en-US" sz="1700" dirty="0"/>
          </a:p>
          <a:p>
            <a:pPr indent="0" marL="0">
              <a:buNone/>
            </a:pPr>
            <a:r>
              <a:rPr lang="en-US" sz="1300" dirty="0">
                <a:solidFill>
                  <a:schemeClr val="tx2"/>
                </a:solidFill>
              </a:rPr>
              <a:t>Reads your request and the context you attached (datasets, object types, repos, docs)</a:t>
            </a:r>
            <a:endParaRPr lang="en-US" sz="1700" dirty="0"/>
          </a:p>
        </p:txBody>
      </p:sp>
      <p:sp>
        <p:nvSpPr>
          <p:cNvPr id="6" name="loop-0-a"/>
          <p:cNvSpPr/>
          <p:nvPr/>
        </p:nvSpPr>
        <p:spPr>
          <a:xfrm>
            <a:off x="2575499" y="2788920"/>
            <a:ext cx="219456" cy="0"/>
          </a:xfrm>
          <a:prstGeom prst="line">
            <a:avLst/>
          </a:prstGeom>
          <a:noFill/>
          <a:ln w="19050">
            <a:solidFill>
              <a:schemeClr val="tx2"/>
            </a:solidFill>
            <a:prstDash val="solid"/>
            <a:tailEnd type="triangle"/>
          </a:ln>
        </p:spPr>
      </p:sp>
      <p:sp>
        <p:nvSpPr>
          <p:cNvPr id="7" name="loop-1"/>
          <p:cNvSpPr/>
          <p:nvPr/>
        </p:nvSpPr>
        <p:spPr>
          <a:xfrm>
            <a:off x="2822387" y="1554480"/>
            <a:ext cx="1999427" cy="2468880"/>
          </a:xfrm>
          <a:prstGeom prst="roundRect">
            <a:avLst>
              <a:gd name="adj" fmla="val 5488"/>
            </a:avLst>
          </a:prstGeom>
          <a:solidFill>
            <a:schemeClr val="bg1"/>
          </a:solidFill>
          <a:ln/>
        </p:spPr>
      </p:sp>
      <p:sp>
        <p:nvSpPr>
          <p:cNvPr id="8" name="loop-1-t"/>
          <p:cNvSpPr txBox="1"/>
          <p:nvPr/>
        </p:nvSpPr>
        <p:spPr>
          <a:xfrm>
            <a:off x="3023555" y="1691640"/>
            <a:ext cx="1597091" cy="2194560"/>
          </a:xfrm>
          <a:prstGeom prst="rect">
            <a:avLst/>
          </a:prstGeom>
          <a:noFill/>
          <a:ln/>
        </p:spPr>
        <p:txBody>
          <a:bodyPr wrap="square" lIns="0" tIns="0" rIns="0" bIns="0" rtlCol="0" anchor="t"/>
          <a:lstStyle/>
          <a:p>
            <a:pPr indent="0" marL="0">
              <a:buNone/>
            </a:pPr>
            <a:r>
              <a:rPr lang="en-US" sz="1700" b="1" dirty="0">
                <a:solidFill>
                  <a:schemeClr val="tx1"/>
                </a:solidFill>
              </a:rPr>
              <a:t>2  Plan</a:t>
            </a:r>
            <a:endParaRPr lang="en-US" sz="1700" dirty="0"/>
          </a:p>
          <a:p>
            <a:pPr indent="0" marL="0">
              <a:buNone/>
            </a:pPr>
            <a:r>
              <a:rPr lang="en-US" sz="600" dirty="0">
                <a:solidFill>
                  <a:srgbClr val="000000"/>
                </a:solidFill>
              </a:rPr>
              <a:t> </a:t>
            </a:r>
            <a:endParaRPr lang="en-US" sz="1700" dirty="0"/>
          </a:p>
          <a:p>
            <a:pPr indent="0" marL="0">
              <a:buNone/>
            </a:pPr>
            <a:r>
              <a:rPr lang="en-US" sz="1300" dirty="0">
                <a:solidFill>
                  <a:schemeClr val="tx2"/>
                </a:solidFill>
              </a:rPr>
              <a:t>Picks a mode, can ask clarifying questions and draft a plan for you to approve</a:t>
            </a:r>
            <a:endParaRPr lang="en-US" sz="1700" dirty="0"/>
          </a:p>
        </p:txBody>
      </p:sp>
      <p:sp>
        <p:nvSpPr>
          <p:cNvPr id="9" name="loop-1-a"/>
          <p:cNvSpPr/>
          <p:nvPr/>
        </p:nvSpPr>
        <p:spPr>
          <a:xfrm>
            <a:off x="4849246" y="2788920"/>
            <a:ext cx="219456" cy="0"/>
          </a:xfrm>
          <a:prstGeom prst="line">
            <a:avLst/>
          </a:prstGeom>
          <a:noFill/>
          <a:ln w="19050">
            <a:solidFill>
              <a:schemeClr val="tx2"/>
            </a:solidFill>
            <a:prstDash val="solid"/>
            <a:tailEnd type="triangle"/>
          </a:ln>
        </p:spPr>
      </p:sp>
      <p:sp>
        <p:nvSpPr>
          <p:cNvPr id="10" name="loop-2"/>
          <p:cNvSpPr/>
          <p:nvPr/>
        </p:nvSpPr>
        <p:spPr>
          <a:xfrm>
            <a:off x="5096134" y="1554480"/>
            <a:ext cx="1999427" cy="2468880"/>
          </a:xfrm>
          <a:prstGeom prst="roundRect">
            <a:avLst>
              <a:gd name="adj" fmla="val 5488"/>
            </a:avLst>
          </a:prstGeom>
          <a:solidFill>
            <a:schemeClr val="bg1"/>
          </a:solidFill>
          <a:ln/>
        </p:spPr>
      </p:sp>
      <p:sp>
        <p:nvSpPr>
          <p:cNvPr id="11" name="loop-2-t"/>
          <p:cNvSpPr txBox="1"/>
          <p:nvPr/>
        </p:nvSpPr>
        <p:spPr>
          <a:xfrm>
            <a:off x="5297302" y="1691640"/>
            <a:ext cx="1597091" cy="2194560"/>
          </a:xfrm>
          <a:prstGeom prst="rect">
            <a:avLst/>
          </a:prstGeom>
          <a:noFill/>
          <a:ln/>
        </p:spPr>
        <p:txBody>
          <a:bodyPr wrap="square" lIns="0" tIns="0" rIns="0" bIns="0" rtlCol="0" anchor="t"/>
          <a:lstStyle/>
          <a:p>
            <a:pPr indent="0" marL="0">
              <a:buNone/>
            </a:pPr>
            <a:r>
              <a:rPr lang="en-US" sz="1700" b="1" dirty="0">
                <a:solidFill>
                  <a:schemeClr val="tx1"/>
                </a:solidFill>
              </a:rPr>
              <a:t>3  Act</a:t>
            </a:r>
            <a:endParaRPr lang="en-US" sz="1700" dirty="0"/>
          </a:p>
          <a:p>
            <a:pPr indent="0" marL="0">
              <a:buNone/>
            </a:pPr>
            <a:r>
              <a:rPr lang="en-US" sz="600" dirty="0">
                <a:solidFill>
                  <a:srgbClr val="000000"/>
                </a:solidFill>
              </a:rPr>
              <a:t> </a:t>
            </a:r>
            <a:endParaRPr lang="en-US" sz="1700" dirty="0"/>
          </a:p>
          <a:p>
            <a:pPr indent="0" marL="0">
              <a:buNone/>
            </a:pPr>
            <a:r>
              <a:rPr lang="en-US" sz="1300" dirty="0">
                <a:solidFill>
                  <a:schemeClr val="tx2"/>
                </a:solidFill>
              </a:rPr>
              <a:t>Uses Skywise tools: write a transform, create an object type, run a build</a:t>
            </a:r>
            <a:endParaRPr lang="en-US" sz="1700" dirty="0"/>
          </a:p>
        </p:txBody>
      </p:sp>
      <p:sp>
        <p:nvSpPr>
          <p:cNvPr id="12" name="loop-2-a"/>
          <p:cNvSpPr/>
          <p:nvPr/>
        </p:nvSpPr>
        <p:spPr>
          <a:xfrm>
            <a:off x="7122993" y="2788920"/>
            <a:ext cx="219456" cy="0"/>
          </a:xfrm>
          <a:prstGeom prst="line">
            <a:avLst/>
          </a:prstGeom>
          <a:noFill/>
          <a:ln w="19050">
            <a:solidFill>
              <a:schemeClr val="tx2"/>
            </a:solidFill>
            <a:prstDash val="solid"/>
            <a:tailEnd type="triangle"/>
          </a:ln>
        </p:spPr>
      </p:sp>
      <p:sp>
        <p:nvSpPr>
          <p:cNvPr id="13" name="loop-3"/>
          <p:cNvSpPr/>
          <p:nvPr/>
        </p:nvSpPr>
        <p:spPr>
          <a:xfrm>
            <a:off x="7369881" y="1554480"/>
            <a:ext cx="1999427" cy="2468880"/>
          </a:xfrm>
          <a:prstGeom prst="roundRect">
            <a:avLst>
              <a:gd name="adj" fmla="val 5488"/>
            </a:avLst>
          </a:prstGeom>
          <a:solidFill>
            <a:schemeClr val="tx1"/>
          </a:solidFill>
          <a:ln/>
        </p:spPr>
      </p:sp>
      <p:sp>
        <p:nvSpPr>
          <p:cNvPr id="14" name="loop-3-t"/>
          <p:cNvSpPr txBox="1"/>
          <p:nvPr/>
        </p:nvSpPr>
        <p:spPr>
          <a:xfrm>
            <a:off x="7571049" y="1691640"/>
            <a:ext cx="1597091" cy="2194560"/>
          </a:xfrm>
          <a:prstGeom prst="rect">
            <a:avLst/>
          </a:prstGeom>
          <a:noFill/>
          <a:ln/>
        </p:spPr>
        <p:txBody>
          <a:bodyPr wrap="square" lIns="0" tIns="0" rIns="0" bIns="0" rtlCol="0" anchor="t"/>
          <a:lstStyle/>
          <a:p>
            <a:pPr indent="0" marL="0">
              <a:buNone/>
            </a:pPr>
            <a:r>
              <a:rPr lang="en-US" sz="1700" b="1" dirty="0">
                <a:solidFill>
                  <a:schemeClr val="bg1"/>
                </a:solidFill>
              </a:rPr>
              <a:t>4  Check</a:t>
            </a:r>
            <a:endParaRPr lang="en-US" sz="1700" dirty="0"/>
          </a:p>
          <a:p>
            <a:pPr indent="0" marL="0">
              <a:buNone/>
            </a:pPr>
            <a:r>
              <a:rPr lang="en-US" sz="600" dirty="0">
                <a:solidFill>
                  <a:srgbClr val="000000"/>
                </a:solidFill>
              </a:rPr>
              <a:t> </a:t>
            </a:r>
            <a:endParaRPr lang="en-US" sz="1700" dirty="0"/>
          </a:p>
          <a:p>
            <a:pPr indent="0" marL="0">
              <a:buNone/>
            </a:pPr>
            <a:r>
              <a:rPr lang="en-US" sz="1300" dirty="0">
                <a:solidFill>
                  <a:schemeClr val="accent5"/>
                </a:solidFill>
              </a:rPr>
              <a:t>Observes the result: transform and function previews, CI checks, errors; then fixes</a:t>
            </a:r>
            <a:endParaRPr lang="en-US" sz="1700" dirty="0"/>
          </a:p>
        </p:txBody>
      </p:sp>
      <p:sp>
        <p:nvSpPr>
          <p:cNvPr id="15" name="loop-3-a"/>
          <p:cNvSpPr/>
          <p:nvPr/>
        </p:nvSpPr>
        <p:spPr>
          <a:xfrm>
            <a:off x="9396740" y="2788920"/>
            <a:ext cx="219456" cy="0"/>
          </a:xfrm>
          <a:prstGeom prst="line">
            <a:avLst/>
          </a:prstGeom>
          <a:noFill/>
          <a:ln w="19050">
            <a:solidFill>
              <a:schemeClr val="tx2"/>
            </a:solidFill>
            <a:prstDash val="solid"/>
            <a:tailEnd type="triangle"/>
          </a:ln>
        </p:spPr>
      </p:sp>
      <p:sp>
        <p:nvSpPr>
          <p:cNvPr id="16" name="loop-4"/>
          <p:cNvSpPr/>
          <p:nvPr/>
        </p:nvSpPr>
        <p:spPr>
          <a:xfrm>
            <a:off x="9643628" y="1554480"/>
            <a:ext cx="1999427" cy="2468880"/>
          </a:xfrm>
          <a:prstGeom prst="roundRect">
            <a:avLst>
              <a:gd name="adj" fmla="val 5488"/>
            </a:avLst>
          </a:prstGeom>
          <a:solidFill>
            <a:schemeClr val="bg1"/>
          </a:solidFill>
          <a:ln/>
        </p:spPr>
      </p:sp>
      <p:sp>
        <p:nvSpPr>
          <p:cNvPr id="17" name="loop-4-t"/>
          <p:cNvSpPr txBox="1"/>
          <p:nvPr/>
        </p:nvSpPr>
        <p:spPr>
          <a:xfrm>
            <a:off x="9844796" y="1691640"/>
            <a:ext cx="1597091" cy="2194560"/>
          </a:xfrm>
          <a:prstGeom prst="rect">
            <a:avLst/>
          </a:prstGeom>
          <a:noFill/>
          <a:ln/>
        </p:spPr>
        <p:txBody>
          <a:bodyPr wrap="square" lIns="0" tIns="0" rIns="0" bIns="0" rtlCol="0" anchor="t"/>
          <a:lstStyle/>
          <a:p>
            <a:pPr indent="0" marL="0">
              <a:buNone/>
            </a:pPr>
            <a:r>
              <a:rPr lang="en-US" sz="1700" b="1" dirty="0">
                <a:solidFill>
                  <a:schemeClr val="tx1"/>
                </a:solidFill>
              </a:rPr>
              <a:t>5  Propose</a:t>
            </a:r>
            <a:endParaRPr lang="en-US" sz="1700" dirty="0"/>
          </a:p>
          <a:p>
            <a:pPr indent="0" marL="0">
              <a:buNone/>
            </a:pPr>
            <a:r>
              <a:rPr lang="en-US" sz="600" dirty="0">
                <a:solidFill>
                  <a:srgbClr val="000000"/>
                </a:solidFill>
              </a:rPr>
              <a:t> </a:t>
            </a:r>
            <a:endParaRPr lang="en-US" sz="1700" dirty="0"/>
          </a:p>
          <a:p>
            <a:pPr indent="0" marL="0">
              <a:buNone/>
            </a:pPr>
            <a:r>
              <a:rPr lang="en-US" sz="1300" dirty="0">
                <a:solidFill>
                  <a:schemeClr val="tx2"/>
                </a:solidFill>
              </a:rPr>
              <a:t>Branch proposal or pull request, with an explanation of what changed</a:t>
            </a:r>
            <a:endParaRPr lang="en-US" sz="1700" dirty="0"/>
          </a:p>
        </p:txBody>
      </p:sp>
      <p:sp>
        <p:nvSpPr>
          <p:cNvPr id="18" name="loop-you"/>
          <p:cNvSpPr/>
          <p:nvPr/>
        </p:nvSpPr>
        <p:spPr>
          <a:xfrm>
            <a:off x="548640" y="4343400"/>
            <a:ext cx="11094415" cy="2011680"/>
          </a:xfrm>
          <a:prstGeom prst="roundRect">
            <a:avLst>
              <a:gd name="adj" fmla="val 5455"/>
            </a:avLst>
          </a:prstGeom>
          <a:solidFill>
            <a:schemeClr val="bg1"/>
          </a:solidFill>
          <a:ln/>
        </p:spPr>
      </p:sp>
      <p:sp>
        <p:nvSpPr>
          <p:cNvPr id="19" name="h-WHERE YOU CO"/>
          <p:cNvSpPr txBox="1"/>
          <p:nvPr/>
        </p:nvSpPr>
        <p:spPr>
          <a:xfrm>
            <a:off x="868680" y="4480560"/>
            <a:ext cx="54864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WHERE YOU COME IN</a:t>
            </a:r>
            <a:endParaRPr lang="en-US" sz="1100" dirty="0"/>
          </a:p>
        </p:txBody>
      </p:sp>
      <p:sp>
        <p:nvSpPr>
          <p:cNvPr id="20" name="loop-you-t"/>
          <p:cNvSpPr txBox="1"/>
          <p:nvPr/>
        </p:nvSpPr>
        <p:spPr>
          <a:xfrm>
            <a:off x="868680" y="4846320"/>
            <a:ext cx="10454335" cy="14173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Before: give it the right context and, for anything non-trivial, ask for a plan first.</a:t>
            </a:r>
            <a:endParaRPr lang="en-US" sz="1500" dirty="0"/>
          </a:p>
          <a:p>
            <a:pPr indent="0" marL="0">
              <a:spcAft>
                <a:spcPts val="600"/>
              </a:spcAft>
              <a:buNone/>
            </a:pPr>
            <a:r>
              <a:rPr lang="en-US" sz="1500" dirty="0">
                <a:solidFill>
                  <a:schemeClr val="tx1"/>
                </a:solidFill>
              </a:rPr>
              <a:t>During: approve or reject tool actions. Read what it's about to do before you click approve.</a:t>
            </a:r>
            <a:endParaRPr lang="en-US" sz="1500" dirty="0"/>
          </a:p>
          <a:p>
            <a:pPr indent="0" marL="0">
              <a:spcAft>
                <a:spcPts val="600"/>
              </a:spcAft>
              <a:buNone/>
            </a:pPr>
            <a:r>
              <a:rPr lang="en-US" sz="1500" dirty="0">
                <a:solidFill>
                  <a:schemeClr val="tx1"/>
                </a:solidFill>
              </a:rPr>
              <a:t>After: review the proposal or pull request, test with real sample data, then merge.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FEATURES · MODES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Nine modes cover most of Skywise</a:t>
            </a:r>
            <a:endParaRPr lang="en-US" sz="3600" dirty="0"/>
          </a:p>
        </p:txBody>
      </p:sp>
      <p:sp>
        <p:nvSpPr>
          <p:cNvPr id="4" name="mode-0"/>
          <p:cNvSpPr/>
          <p:nvPr/>
        </p:nvSpPr>
        <p:spPr>
          <a:xfrm>
            <a:off x="548640" y="1417320"/>
            <a:ext cx="3545738" cy="1463040"/>
          </a:xfrm>
          <a:prstGeom prst="roundRect">
            <a:avLst>
              <a:gd name="adj" fmla="val 7500"/>
            </a:avLst>
          </a:prstGeom>
          <a:solidFill>
            <a:schemeClr val="bg2"/>
          </a:solidFill>
          <a:ln/>
        </p:spPr>
      </p:sp>
      <p:sp>
        <p:nvSpPr>
          <p:cNvPr id="5" name="mode-0-bar"/>
          <p:cNvSpPr/>
          <p:nvPr/>
        </p:nvSpPr>
        <p:spPr>
          <a:xfrm>
            <a:off x="548640" y="1417320"/>
            <a:ext cx="73152" cy="1463040"/>
          </a:xfrm>
          <a:prstGeom prst="rect">
            <a:avLst/>
          </a:prstGeom>
          <a:solidFill>
            <a:schemeClr val="accent1"/>
          </a:solidFill>
          <a:ln/>
        </p:spPr>
      </p:sp>
      <p:sp>
        <p:nvSpPr>
          <p:cNvPr id="6" name="mode-0-t"/>
          <p:cNvSpPr txBox="1"/>
          <p:nvPr/>
        </p:nvSpPr>
        <p:spPr>
          <a:xfrm>
            <a:off x="822960" y="155448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Data integration</a:t>
            </a:r>
            <a:endParaRPr lang="en-US" sz="1600" dirty="0"/>
          </a:p>
          <a:p>
            <a:pPr indent="0" marL="0">
              <a:buNone/>
            </a:pPr>
            <a:r>
              <a:rPr lang="en-US" sz="1300" dirty="0">
                <a:solidFill>
                  <a:schemeClr val="tx2"/>
                </a:solidFill>
              </a:rPr>
              <a:t>Build or change pipelines: Python transforms or Pipeline Builder</a:t>
            </a:r>
            <a:endParaRPr lang="en-US" sz="1600" dirty="0"/>
          </a:p>
        </p:txBody>
      </p:sp>
      <p:sp>
        <p:nvSpPr>
          <p:cNvPr id="7" name="mode-1"/>
          <p:cNvSpPr/>
          <p:nvPr/>
        </p:nvSpPr>
        <p:spPr>
          <a:xfrm>
            <a:off x="4322978" y="1417320"/>
            <a:ext cx="3545738" cy="1463040"/>
          </a:xfrm>
          <a:prstGeom prst="roundRect">
            <a:avLst>
              <a:gd name="adj" fmla="val 7500"/>
            </a:avLst>
          </a:prstGeom>
          <a:solidFill>
            <a:schemeClr val="bg2"/>
          </a:solidFill>
          <a:ln/>
        </p:spPr>
      </p:sp>
      <p:sp>
        <p:nvSpPr>
          <p:cNvPr id="8" name="mode-1-bar"/>
          <p:cNvSpPr/>
          <p:nvPr/>
        </p:nvSpPr>
        <p:spPr>
          <a:xfrm>
            <a:off x="4322978" y="1417320"/>
            <a:ext cx="73152" cy="1463040"/>
          </a:xfrm>
          <a:prstGeom prst="rect">
            <a:avLst/>
          </a:prstGeom>
          <a:solidFill>
            <a:schemeClr val="accent2"/>
          </a:solidFill>
          <a:ln/>
        </p:spPr>
      </p:sp>
      <p:sp>
        <p:nvSpPr>
          <p:cNvPr id="9" name="mode-1-t"/>
          <p:cNvSpPr txBox="1"/>
          <p:nvPr/>
        </p:nvSpPr>
        <p:spPr>
          <a:xfrm>
            <a:off x="4597298" y="155448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Data connection</a:t>
            </a:r>
            <a:endParaRPr lang="en-US" sz="1600" dirty="0"/>
          </a:p>
          <a:p>
            <a:pPr indent="0" marL="0">
              <a:buNone/>
            </a:pPr>
            <a:r>
              <a:rPr lang="en-US" sz="1300" dirty="0">
                <a:solidFill>
                  <a:schemeClr val="tx2"/>
                </a:solidFill>
              </a:rPr>
              <a:t>Create, manage and debug sources and egress policies</a:t>
            </a:r>
            <a:endParaRPr lang="en-US" sz="1600" dirty="0"/>
          </a:p>
        </p:txBody>
      </p:sp>
      <p:sp>
        <p:nvSpPr>
          <p:cNvPr id="10" name="mode-2"/>
          <p:cNvSpPr/>
          <p:nvPr/>
        </p:nvSpPr>
        <p:spPr>
          <a:xfrm>
            <a:off x="8097317" y="1417320"/>
            <a:ext cx="3545738" cy="1463040"/>
          </a:xfrm>
          <a:prstGeom prst="roundRect">
            <a:avLst>
              <a:gd name="adj" fmla="val 7500"/>
            </a:avLst>
          </a:prstGeom>
          <a:solidFill>
            <a:schemeClr val="bg2"/>
          </a:solidFill>
          <a:ln/>
        </p:spPr>
      </p:sp>
      <p:sp>
        <p:nvSpPr>
          <p:cNvPr id="11" name="mode-2-bar"/>
          <p:cNvSpPr/>
          <p:nvPr/>
        </p:nvSpPr>
        <p:spPr>
          <a:xfrm>
            <a:off x="8097317" y="1417320"/>
            <a:ext cx="73152" cy="1463040"/>
          </a:xfrm>
          <a:prstGeom prst="rect">
            <a:avLst/>
          </a:prstGeom>
          <a:solidFill>
            <a:schemeClr val="accent4"/>
          </a:solidFill>
          <a:ln/>
        </p:spPr>
      </p:sp>
      <p:sp>
        <p:nvSpPr>
          <p:cNvPr id="12" name="mode-2-t"/>
          <p:cNvSpPr txBox="1"/>
          <p:nvPr/>
        </p:nvSpPr>
        <p:spPr>
          <a:xfrm>
            <a:off x="8371637" y="155448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Ontology editing</a:t>
            </a:r>
            <a:endParaRPr lang="en-US" sz="1600" dirty="0"/>
          </a:p>
          <a:p>
            <a:pPr indent="0" marL="0">
              <a:buNone/>
            </a:pPr>
            <a:r>
              <a:rPr lang="en-US" sz="1300" dirty="0">
                <a:solidFill>
                  <a:schemeClr val="tx2"/>
                </a:solidFill>
              </a:rPr>
              <a:t>Create or update object types, links and actions</a:t>
            </a:r>
            <a:endParaRPr lang="en-US" sz="1600" dirty="0"/>
          </a:p>
        </p:txBody>
      </p:sp>
      <p:sp>
        <p:nvSpPr>
          <p:cNvPr id="13" name="mode-3"/>
          <p:cNvSpPr/>
          <p:nvPr/>
        </p:nvSpPr>
        <p:spPr>
          <a:xfrm>
            <a:off x="548640" y="3063240"/>
            <a:ext cx="3545738" cy="1463040"/>
          </a:xfrm>
          <a:prstGeom prst="roundRect">
            <a:avLst>
              <a:gd name="adj" fmla="val 7500"/>
            </a:avLst>
          </a:prstGeom>
          <a:solidFill>
            <a:schemeClr val="bg2"/>
          </a:solidFill>
          <a:ln/>
        </p:spPr>
      </p:sp>
      <p:sp>
        <p:nvSpPr>
          <p:cNvPr id="14" name="mode-3-bar"/>
          <p:cNvSpPr/>
          <p:nvPr/>
        </p:nvSpPr>
        <p:spPr>
          <a:xfrm>
            <a:off x="548640" y="3063240"/>
            <a:ext cx="73152" cy="1463040"/>
          </a:xfrm>
          <a:prstGeom prst="rect">
            <a:avLst/>
          </a:prstGeom>
          <a:solidFill>
            <a:schemeClr val="accent1"/>
          </a:solidFill>
          <a:ln/>
        </p:spPr>
      </p:sp>
      <p:sp>
        <p:nvSpPr>
          <p:cNvPr id="15" name="mode-3-t"/>
          <p:cNvSpPr txBox="1"/>
          <p:nvPr/>
        </p:nvSpPr>
        <p:spPr>
          <a:xfrm>
            <a:off x="822960" y="320040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Functions editing</a:t>
            </a:r>
            <a:endParaRPr lang="en-US" sz="1600" dirty="0"/>
          </a:p>
          <a:p>
            <a:pPr indent="0" marL="0">
              <a:buNone/>
            </a:pPr>
            <a:r>
              <a:rPr lang="en-US" sz="1300" dirty="0">
                <a:solidFill>
                  <a:schemeClr val="tx2"/>
                </a:solidFill>
              </a:rPr>
              <a:t>Write functions in Logic, TypeScript or Python; test them with AIP Evals</a:t>
            </a:r>
            <a:endParaRPr lang="en-US" sz="1600" dirty="0"/>
          </a:p>
        </p:txBody>
      </p:sp>
      <p:sp>
        <p:nvSpPr>
          <p:cNvPr id="16" name="mode-4"/>
          <p:cNvSpPr/>
          <p:nvPr/>
        </p:nvSpPr>
        <p:spPr>
          <a:xfrm>
            <a:off x="4322978" y="3063240"/>
            <a:ext cx="3545738" cy="1463040"/>
          </a:xfrm>
          <a:prstGeom prst="roundRect">
            <a:avLst>
              <a:gd name="adj" fmla="val 7500"/>
            </a:avLst>
          </a:prstGeom>
          <a:solidFill>
            <a:schemeClr val="bg2"/>
          </a:solidFill>
          <a:ln/>
        </p:spPr>
      </p:sp>
      <p:sp>
        <p:nvSpPr>
          <p:cNvPr id="17" name="mode-4-bar"/>
          <p:cNvSpPr/>
          <p:nvPr/>
        </p:nvSpPr>
        <p:spPr>
          <a:xfrm>
            <a:off x="4322978" y="3063240"/>
            <a:ext cx="73152" cy="1463040"/>
          </a:xfrm>
          <a:prstGeom prst="rect">
            <a:avLst/>
          </a:prstGeom>
          <a:solidFill>
            <a:schemeClr val="accent2"/>
          </a:solidFill>
          <a:ln/>
        </p:spPr>
      </p:sp>
      <p:sp>
        <p:nvSpPr>
          <p:cNvPr id="18" name="mode-4-t"/>
          <p:cNvSpPr txBox="1"/>
          <p:nvPr/>
        </p:nvSpPr>
        <p:spPr>
          <a:xfrm>
            <a:off x="4597298" y="320040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Exploration</a:t>
            </a:r>
            <a:endParaRPr lang="en-US" sz="1600" dirty="0"/>
          </a:p>
          <a:p>
            <a:pPr indent="0" marL="0">
              <a:buNone/>
            </a:pPr>
            <a:r>
              <a:rPr lang="en-US" sz="1300" dirty="0">
                <a:solidFill>
                  <a:schemeClr val="tx2"/>
                </a:solidFill>
              </a:rPr>
              <a:t>Read-only investigation of what exists, including Workflow Lineage</a:t>
            </a:r>
            <a:endParaRPr lang="en-US" sz="1600" dirty="0"/>
          </a:p>
        </p:txBody>
      </p:sp>
      <p:sp>
        <p:nvSpPr>
          <p:cNvPr id="19" name="mode-5"/>
          <p:cNvSpPr/>
          <p:nvPr/>
        </p:nvSpPr>
        <p:spPr>
          <a:xfrm>
            <a:off x="8097317" y="3063240"/>
            <a:ext cx="3545738" cy="1463040"/>
          </a:xfrm>
          <a:prstGeom prst="roundRect">
            <a:avLst>
              <a:gd name="adj" fmla="val 7500"/>
            </a:avLst>
          </a:prstGeom>
          <a:solidFill>
            <a:schemeClr val="bg2"/>
          </a:solidFill>
          <a:ln/>
        </p:spPr>
      </p:sp>
      <p:sp>
        <p:nvSpPr>
          <p:cNvPr id="20" name="mode-5-bar"/>
          <p:cNvSpPr/>
          <p:nvPr/>
        </p:nvSpPr>
        <p:spPr>
          <a:xfrm>
            <a:off x="8097317" y="3063240"/>
            <a:ext cx="73152" cy="1463040"/>
          </a:xfrm>
          <a:prstGeom prst="rect">
            <a:avLst/>
          </a:prstGeom>
          <a:solidFill>
            <a:schemeClr val="accent4"/>
          </a:solidFill>
          <a:ln/>
        </p:spPr>
      </p:sp>
      <p:sp>
        <p:nvSpPr>
          <p:cNvPr id="21" name="mode-5-t"/>
          <p:cNvSpPr txBox="1"/>
          <p:nvPr/>
        </p:nvSpPr>
        <p:spPr>
          <a:xfrm>
            <a:off x="8371637" y="320040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Governance</a:t>
            </a:r>
            <a:endParaRPr lang="en-US" sz="1600" dirty="0"/>
          </a:p>
          <a:p>
            <a:pPr indent="0" marL="0">
              <a:buNone/>
            </a:pPr>
            <a:r>
              <a:rPr lang="en-US" sz="1300" dirty="0">
                <a:solidFill>
                  <a:schemeClr val="tx2"/>
                </a:solidFill>
              </a:rPr>
              <a:t>Audit permissions, access, markings and data protection</a:t>
            </a:r>
            <a:endParaRPr lang="en-US" sz="1600" dirty="0"/>
          </a:p>
        </p:txBody>
      </p:sp>
      <p:sp>
        <p:nvSpPr>
          <p:cNvPr id="22" name="mode-6"/>
          <p:cNvSpPr/>
          <p:nvPr/>
        </p:nvSpPr>
        <p:spPr>
          <a:xfrm>
            <a:off x="548640" y="4709160"/>
            <a:ext cx="3545738" cy="1463040"/>
          </a:xfrm>
          <a:prstGeom prst="roundRect">
            <a:avLst>
              <a:gd name="adj" fmla="val 7500"/>
            </a:avLst>
          </a:prstGeom>
          <a:solidFill>
            <a:schemeClr val="bg2"/>
          </a:solidFill>
          <a:ln/>
        </p:spPr>
      </p:sp>
      <p:sp>
        <p:nvSpPr>
          <p:cNvPr id="23" name="mode-6-bar"/>
          <p:cNvSpPr/>
          <p:nvPr/>
        </p:nvSpPr>
        <p:spPr>
          <a:xfrm>
            <a:off x="548640" y="4709160"/>
            <a:ext cx="73152" cy="1463040"/>
          </a:xfrm>
          <a:prstGeom prst="rect">
            <a:avLst/>
          </a:prstGeom>
          <a:solidFill>
            <a:schemeClr val="accent1"/>
          </a:solidFill>
          <a:ln/>
        </p:spPr>
      </p:sp>
      <p:sp>
        <p:nvSpPr>
          <p:cNvPr id="24" name="mode-6-t"/>
          <p:cNvSpPr txBox="1"/>
          <p:nvPr/>
        </p:nvSpPr>
        <p:spPr>
          <a:xfrm>
            <a:off x="822960" y="484632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Machine learning</a:t>
            </a:r>
            <a:endParaRPr lang="en-US" sz="1600" dirty="0"/>
          </a:p>
          <a:p>
            <a:pPr indent="0" marL="0">
              <a:buNone/>
            </a:pPr>
            <a:r>
              <a:rPr lang="en-US" sz="1300" dirty="0">
                <a:solidFill>
                  <a:schemeClr val="tx2"/>
                </a:solidFill>
              </a:rPr>
              <a:t>Train, evaluate, deploy and tune models (no-code or pro-code)</a:t>
            </a:r>
            <a:endParaRPr lang="en-US" sz="1600" dirty="0"/>
          </a:p>
        </p:txBody>
      </p:sp>
      <p:sp>
        <p:nvSpPr>
          <p:cNvPr id="25" name="mode-7"/>
          <p:cNvSpPr/>
          <p:nvPr/>
        </p:nvSpPr>
        <p:spPr>
          <a:xfrm>
            <a:off x="4322978" y="4709160"/>
            <a:ext cx="3545738" cy="1463040"/>
          </a:xfrm>
          <a:prstGeom prst="roundRect">
            <a:avLst>
              <a:gd name="adj" fmla="val 7500"/>
            </a:avLst>
          </a:prstGeom>
          <a:solidFill>
            <a:schemeClr val="bg2"/>
          </a:solidFill>
          <a:ln/>
        </p:spPr>
      </p:sp>
      <p:sp>
        <p:nvSpPr>
          <p:cNvPr id="26" name="mode-7-bar"/>
          <p:cNvSpPr/>
          <p:nvPr/>
        </p:nvSpPr>
        <p:spPr>
          <a:xfrm>
            <a:off x="4322978" y="4709160"/>
            <a:ext cx="73152" cy="1463040"/>
          </a:xfrm>
          <a:prstGeom prst="rect">
            <a:avLst/>
          </a:prstGeom>
          <a:solidFill>
            <a:schemeClr val="accent2"/>
          </a:solidFill>
          <a:ln/>
        </p:spPr>
      </p:sp>
      <p:sp>
        <p:nvSpPr>
          <p:cNvPr id="27" name="mode-7-t"/>
          <p:cNvSpPr txBox="1"/>
          <p:nvPr/>
        </p:nvSpPr>
        <p:spPr>
          <a:xfrm>
            <a:off x="4597298" y="484632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OSDK React</a:t>
            </a:r>
            <a:endParaRPr lang="en-US" sz="1600" dirty="0"/>
          </a:p>
          <a:p>
            <a:pPr indent="0" marL="0">
              <a:buNone/>
            </a:pPr>
            <a:r>
              <a:rPr lang="en-US" sz="1300" dirty="0">
                <a:solidFill>
                  <a:schemeClr val="tx2"/>
                </a:solidFill>
              </a:rPr>
              <a:t>Build React apps or custom widgets on Skywise data</a:t>
            </a:r>
            <a:endParaRPr lang="en-US" sz="1600" dirty="0"/>
          </a:p>
        </p:txBody>
      </p:sp>
      <p:sp>
        <p:nvSpPr>
          <p:cNvPr id="28" name="mode-8"/>
          <p:cNvSpPr/>
          <p:nvPr/>
        </p:nvSpPr>
        <p:spPr>
          <a:xfrm>
            <a:off x="8097317" y="4709160"/>
            <a:ext cx="3545738" cy="1463040"/>
          </a:xfrm>
          <a:prstGeom prst="roundRect">
            <a:avLst>
              <a:gd name="adj" fmla="val 7500"/>
            </a:avLst>
          </a:prstGeom>
          <a:solidFill>
            <a:schemeClr val="bg2"/>
          </a:solidFill>
          <a:ln/>
        </p:spPr>
      </p:sp>
      <p:sp>
        <p:nvSpPr>
          <p:cNvPr id="29" name="mode-8-bar"/>
          <p:cNvSpPr/>
          <p:nvPr/>
        </p:nvSpPr>
        <p:spPr>
          <a:xfrm>
            <a:off x="8097317" y="4709160"/>
            <a:ext cx="73152" cy="1463040"/>
          </a:xfrm>
          <a:prstGeom prst="rect">
            <a:avLst/>
          </a:prstGeom>
          <a:solidFill>
            <a:schemeClr val="accent4"/>
          </a:solidFill>
          <a:ln/>
        </p:spPr>
      </p:sp>
      <p:sp>
        <p:nvSpPr>
          <p:cNvPr id="30" name="mode-8-t"/>
          <p:cNvSpPr txBox="1"/>
          <p:nvPr/>
        </p:nvSpPr>
        <p:spPr>
          <a:xfrm>
            <a:off x="8371637" y="4846320"/>
            <a:ext cx="3088538" cy="1188720"/>
          </a:xfrm>
          <a:prstGeom prst="rect">
            <a:avLst/>
          </a:prstGeom>
          <a:noFill/>
          <a:ln/>
        </p:spPr>
        <p:txBody>
          <a:bodyPr wrap="square" lIns="0" tIns="0" rIns="0" bIns="0" rtlCol="0" anchor="ctr"/>
          <a:lstStyle/>
          <a:p>
            <a:pPr indent="0" marL="0">
              <a:buNone/>
            </a:pPr>
            <a:r>
              <a:rPr lang="en-US" sz="1600" b="1" dirty="0">
                <a:solidFill>
                  <a:schemeClr val="tx1"/>
                </a:solidFill>
              </a:rPr>
              <a:t>Platform Q&amp;A</a:t>
            </a:r>
            <a:endParaRPr lang="en-US" sz="1600" dirty="0"/>
          </a:p>
          <a:p>
            <a:pPr indent="0" marL="0">
              <a:buNone/>
            </a:pPr>
            <a:r>
              <a:rPr lang="en-US" sz="1300" dirty="0">
                <a:solidFill>
                  <a:schemeClr val="tx2"/>
                </a:solidFill>
              </a:rPr>
              <a:t>Answer how-to questions about Skywise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FEATURES · CONTROLS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What it can do, and the controls you have</a:t>
            </a:r>
            <a:endParaRPr lang="en-US" sz="3600" dirty="0"/>
          </a:p>
        </p:txBody>
      </p:sp>
      <p:sp>
        <p:nvSpPr>
          <p:cNvPr id="4" name="cap-l"/>
          <p:cNvSpPr/>
          <p:nvPr/>
        </p:nvSpPr>
        <p:spPr>
          <a:xfrm>
            <a:off x="548640" y="1417320"/>
            <a:ext cx="5486400" cy="4937760"/>
          </a:xfrm>
          <a:prstGeom prst="roundRect">
            <a:avLst>
              <a:gd name="adj" fmla="val 2222"/>
            </a:avLst>
          </a:prstGeom>
          <a:solidFill>
            <a:schemeClr val="bg1"/>
          </a:solidFill>
          <a:ln/>
        </p:spPr>
      </p:sp>
      <p:sp>
        <p:nvSpPr>
          <p:cNvPr id="5" name="h-AGENT CAPABI"/>
          <p:cNvSpPr txBox="1"/>
          <p:nvPr/>
        </p:nvSpPr>
        <p:spPr>
          <a:xfrm>
            <a:off x="822960" y="1554480"/>
            <a:ext cx="493776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AGENT CAPABILITIES</a:t>
            </a:r>
            <a:endParaRPr lang="en-US" sz="1100" dirty="0"/>
          </a:p>
        </p:txBody>
      </p:sp>
      <p:sp>
        <p:nvSpPr>
          <p:cNvPr id="6" name="cap-l-t"/>
          <p:cNvSpPr txBox="1"/>
          <p:nvPr/>
        </p:nvSpPr>
        <p:spPr>
          <a:xfrm>
            <a:off x="822960" y="1965960"/>
            <a:ext cx="4937760" cy="4297680"/>
          </a:xfrm>
          <a:prstGeom prst="rect">
            <a:avLst/>
          </a:prstGeom>
          <a:noFill/>
          <a:ln/>
        </p:spPr>
        <p:txBody>
          <a:bodyPr wrap="square" lIns="0" tIns="0" rIns="0" bIns="0" rtlCol="0" anchor="t"/>
          <a:lstStyle/>
          <a:p>
            <a:pPr indent="0" marL="0">
              <a:buNone/>
            </a:pPr>
            <a:r>
              <a:rPr lang="en-US" sz="1600" b="1" dirty="0">
                <a:solidFill>
                  <a:schemeClr val="tx1"/>
                </a:solidFill>
              </a:rPr>
              <a:t>Generate plan</a:t>
            </a:r>
            <a:endParaRPr lang="en-US" sz="1600" dirty="0"/>
          </a:p>
          <a:p>
            <a:pPr indent="0" marL="0">
              <a:spcAft>
                <a:spcPts val="1600"/>
              </a:spcAft>
              <a:buNone/>
            </a:pPr>
            <a:r>
              <a:rPr lang="en-US" sz="1450" dirty="0">
                <a:solidFill>
                  <a:schemeClr val="tx2"/>
                </a:solidFill>
              </a:rPr>
              <a:t>drafts a plan for you to review before acting</a:t>
            </a:r>
            <a:endParaRPr lang="en-US" sz="1600" dirty="0"/>
          </a:p>
          <a:p>
            <a:pPr indent="0" marL="0">
              <a:buNone/>
            </a:pPr>
            <a:r>
              <a:rPr lang="en-US" sz="1600" b="1" dirty="0">
                <a:solidFill>
                  <a:schemeClr val="tx1"/>
                </a:solidFill>
              </a:rPr>
              <a:t>Request clarification</a:t>
            </a:r>
            <a:endParaRPr lang="en-US" sz="1600" dirty="0"/>
          </a:p>
          <a:p>
            <a:pPr indent="0" marL="0">
              <a:spcAft>
                <a:spcPts val="1600"/>
              </a:spcAft>
              <a:buNone/>
            </a:pPr>
            <a:r>
              <a:rPr lang="en-US" sz="1450" dirty="0">
                <a:solidFill>
                  <a:schemeClr val="tx2"/>
                </a:solidFill>
              </a:rPr>
              <a:t>asks you questions (multiple choice or free text)</a:t>
            </a:r>
            <a:endParaRPr lang="en-US" sz="1600" dirty="0"/>
          </a:p>
          <a:p>
            <a:pPr indent="0" marL="0">
              <a:buNone/>
            </a:pPr>
            <a:r>
              <a:rPr lang="en-US" sz="1600" b="1" dirty="0">
                <a:solidFill>
                  <a:schemeClr val="tx1"/>
                </a:solidFill>
              </a:rPr>
              <a:t>Load documentation</a:t>
            </a:r>
            <a:endParaRPr lang="en-US" sz="1600" dirty="0"/>
          </a:p>
          <a:p>
            <a:pPr indent="0" marL="0">
              <a:spcAft>
                <a:spcPts val="1600"/>
              </a:spcAft>
              <a:buNone/>
            </a:pPr>
            <a:r>
              <a:rPr lang="en-US" sz="1450" dirty="0">
                <a:solidFill>
                  <a:schemeClr val="tx2"/>
                </a:solidFill>
              </a:rPr>
              <a:t>looks up Skywise docs when it needs them</a:t>
            </a:r>
            <a:endParaRPr lang="en-US" sz="1600" dirty="0"/>
          </a:p>
          <a:p>
            <a:pPr indent="0" marL="0">
              <a:buNone/>
            </a:pPr>
            <a:r>
              <a:rPr lang="en-US" sz="1600" b="1" dirty="0">
                <a:solidFill>
                  <a:schemeClr val="tx1"/>
                </a:solidFill>
              </a:rPr>
              <a:t>Manage context</a:t>
            </a:r>
            <a:endParaRPr lang="en-US" sz="1600" dirty="0"/>
          </a:p>
          <a:p>
            <a:pPr indent="0" marL="0">
              <a:spcAft>
                <a:spcPts val="1600"/>
              </a:spcAft>
              <a:buNone/>
            </a:pPr>
            <a:r>
              <a:rPr lang="en-US" sz="1450" dirty="0">
                <a:solidFill>
                  <a:schemeClr val="tx2"/>
                </a:solidFill>
              </a:rPr>
              <a:t>tidies its working memory in long sessions</a:t>
            </a:r>
            <a:endParaRPr lang="en-US" sz="1600" dirty="0"/>
          </a:p>
          <a:p>
            <a:pPr indent="0" marL="0">
              <a:buNone/>
            </a:pPr>
            <a:r>
              <a:rPr lang="en-US" sz="1600" b="1" dirty="0">
                <a:solidFill>
                  <a:schemeClr val="tx1"/>
                </a:solidFill>
              </a:rPr>
              <a:t>Domain tools</a:t>
            </a:r>
            <a:endParaRPr lang="en-US" sz="1600" dirty="0"/>
          </a:p>
          <a:p>
            <a:pPr indent="0" marL="0">
              <a:spcAft>
                <a:spcPts val="1600"/>
              </a:spcAft>
              <a:buNone/>
            </a:pPr>
            <a:r>
              <a:rPr lang="en-US" sz="1450" dirty="0">
                <a:solidFill>
                  <a:schemeClr val="tx2"/>
                </a:solidFill>
              </a:rPr>
              <a:t>filesystem, Notepad, solution design diagrams, execute actions on objects</a:t>
            </a:r>
            <a:endParaRPr lang="en-US" sz="1600" dirty="0"/>
          </a:p>
        </p:txBody>
      </p:sp>
      <p:sp>
        <p:nvSpPr>
          <p:cNvPr id="7" name="cap-r"/>
          <p:cNvSpPr/>
          <p:nvPr/>
        </p:nvSpPr>
        <p:spPr>
          <a:xfrm>
            <a:off x="6309360" y="1417320"/>
            <a:ext cx="5333695" cy="4937760"/>
          </a:xfrm>
          <a:prstGeom prst="roundRect">
            <a:avLst>
              <a:gd name="adj" fmla="val 2222"/>
            </a:avLst>
          </a:prstGeom>
          <a:solidFill>
            <a:schemeClr val="tx1"/>
          </a:solidFill>
          <a:ln/>
        </p:spPr>
      </p:sp>
      <p:sp>
        <p:nvSpPr>
          <p:cNvPr id="8" name="h-YOUR CONTROL"/>
          <p:cNvSpPr txBox="1"/>
          <p:nvPr/>
        </p:nvSpPr>
        <p:spPr>
          <a:xfrm>
            <a:off x="6583680" y="1554480"/>
            <a:ext cx="4785055"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YOUR CONTROLS</a:t>
            </a:r>
            <a:endParaRPr lang="en-US" sz="1100" dirty="0"/>
          </a:p>
        </p:txBody>
      </p:sp>
      <p:sp>
        <p:nvSpPr>
          <p:cNvPr id="9" name="cap-r-t"/>
          <p:cNvSpPr txBox="1"/>
          <p:nvPr/>
        </p:nvSpPr>
        <p:spPr>
          <a:xfrm>
            <a:off x="6583680" y="1920240"/>
            <a:ext cx="4785055" cy="4343400"/>
          </a:xfrm>
          <a:prstGeom prst="rect">
            <a:avLst/>
          </a:prstGeom>
          <a:noFill/>
          <a:ln/>
        </p:spPr>
        <p:txBody>
          <a:bodyPr wrap="square" lIns="0" tIns="0" rIns="0" bIns="0" rtlCol="0" anchor="t"/>
          <a:lstStyle/>
          <a:p>
            <a:pPr indent="0" marL="0">
              <a:buNone/>
            </a:pPr>
            <a:r>
              <a:rPr lang="en-US" sz="1500" b="1" dirty="0">
                <a:solidFill>
                  <a:schemeClr val="bg1"/>
                </a:solidFill>
              </a:rPr>
              <a:t>Context ribbon</a:t>
            </a:r>
            <a:endParaRPr lang="en-US" sz="1500" dirty="0"/>
          </a:p>
          <a:p>
            <a:pPr indent="0" marL="0">
              <a:spcAft>
                <a:spcPts val="800"/>
              </a:spcAft>
              <a:buNone/>
            </a:pPr>
            <a:r>
              <a:rPr lang="en-US" sz="1350" dirty="0">
                <a:solidFill>
                  <a:schemeClr val="accent5"/>
                </a:solidFill>
              </a:rPr>
              <a:t>attach datasets, functions, branches, object and action types, docs, media</a:t>
            </a:r>
            <a:endParaRPr lang="en-US" sz="1500" dirty="0"/>
          </a:p>
          <a:p>
            <a:pPr indent="0" marL="0">
              <a:buNone/>
            </a:pPr>
            <a:r>
              <a:rPr lang="en-US" sz="1500" b="1" dirty="0">
                <a:solidFill>
                  <a:schemeClr val="bg1"/>
                </a:solidFill>
              </a:rPr>
              <a:t>Tools menu</a:t>
            </a:r>
            <a:endParaRPr lang="en-US" sz="1500" dirty="0"/>
          </a:p>
          <a:p>
            <a:pPr indent="0" marL="0">
              <a:spcAft>
                <a:spcPts val="800"/>
              </a:spcAft>
              <a:buNone/>
            </a:pPr>
            <a:r>
              <a:rPr lang="en-US" sz="1350" dirty="0">
                <a:solidFill>
                  <a:schemeClr val="accent5"/>
                </a:solidFill>
              </a:rPr>
              <a:t>switch on only the tools the task needs</a:t>
            </a:r>
            <a:endParaRPr lang="en-US" sz="1500" dirty="0"/>
          </a:p>
          <a:p>
            <a:pPr indent="0" marL="0">
              <a:buNone/>
            </a:pPr>
            <a:r>
              <a:rPr lang="en-US" sz="1500" b="1" dirty="0">
                <a:solidFill>
                  <a:schemeClr val="bg1"/>
                </a:solidFill>
              </a:rPr>
              <a:t>Approvals</a:t>
            </a:r>
            <a:endParaRPr lang="en-US" sz="1500" dirty="0"/>
          </a:p>
          <a:p>
            <a:pPr indent="0" marL="0">
              <a:spcAft>
                <a:spcPts val="800"/>
              </a:spcAft>
              <a:buNone/>
            </a:pPr>
            <a:r>
              <a:rPr lang="en-US" sz="1350" dirty="0">
                <a:solidFill>
                  <a:schemeClr val="accent5"/>
                </a:solidFill>
              </a:rPr>
              <a:t>writes need your OK; reads run freely; edits on feature branches can be pre-approved</a:t>
            </a:r>
            <a:endParaRPr lang="en-US" sz="1500" dirty="0"/>
          </a:p>
          <a:p>
            <a:pPr indent="0" marL="0">
              <a:buNone/>
            </a:pPr>
            <a:r>
              <a:rPr lang="en-US" sz="1500" b="1" dirty="0">
                <a:solidFill>
                  <a:schemeClr val="bg1"/>
                </a:solidFill>
              </a:rPr>
              <a:t>Chat outline</a:t>
            </a:r>
            <a:endParaRPr lang="en-US" sz="1500" dirty="0"/>
          </a:p>
          <a:p>
            <a:pPr indent="0" marL="0">
              <a:spcAft>
                <a:spcPts val="800"/>
              </a:spcAft>
              <a:buNone/>
            </a:pPr>
            <a:r>
              <a:rPr lang="en-US" sz="1350" dirty="0">
                <a:solidFill>
                  <a:schemeClr val="accent5"/>
                </a:solidFill>
              </a:rPr>
              <a:t>every prompt, response and tool used, with a token count per message</a:t>
            </a:r>
            <a:endParaRPr lang="en-US" sz="1500" dirty="0"/>
          </a:p>
          <a:p>
            <a:pPr indent="0" marL="0">
              <a:buNone/>
            </a:pPr>
            <a:r>
              <a:rPr lang="en-US" sz="1500" b="1" dirty="0">
                <a:solidFill>
                  <a:schemeClr val="bg1"/>
                </a:solidFill>
              </a:rPr>
              <a:t>Compaction</a:t>
            </a:r>
            <a:endParaRPr lang="en-US" sz="1500" dirty="0"/>
          </a:p>
          <a:p>
            <a:pPr indent="0" marL="0">
              <a:spcAft>
                <a:spcPts val="800"/>
              </a:spcAft>
              <a:buNone/>
            </a:pPr>
            <a:r>
              <a:rPr lang="en-US" sz="1350" dirty="0">
                <a:solidFill>
                  <a:schemeClr val="accent5"/>
                </a:solidFill>
              </a:rPr>
              <a:t>summarise or remove old messages to stay within the context window</a:t>
            </a:r>
            <a:endParaRPr lang="en-US" sz="1500" dirty="0"/>
          </a:p>
          <a:p>
            <a:pPr indent="0" marL="0">
              <a:buNone/>
            </a:pPr>
            <a:r>
              <a:rPr lang="en-US" sz="1500" b="1" dirty="0">
                <a:solidFill>
                  <a:schemeClr val="bg1"/>
                </a:solidFill>
              </a:rPr>
              <a:t>Pre-fill links and skills</a:t>
            </a:r>
            <a:endParaRPr lang="en-US" sz="1500" dirty="0"/>
          </a:p>
          <a:p>
            <a:pPr indent="0" marL="0">
              <a:spcAft>
                <a:spcPts val="800"/>
              </a:spcAft>
              <a:buNone/>
            </a:pPr>
            <a:r>
              <a:rPr lang="en-US" sz="1350" dirty="0">
                <a:solidFill>
                  <a:schemeClr val="accent5"/>
                </a:solidFill>
              </a:rPr>
              <a:t>a link (or a Workshop button) that opens a session with a prompt and AIP skills loaded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GETTING GOOD VALUE</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Eight habits that make it work</a:t>
            </a:r>
            <a:endParaRPr lang="en-US" sz="3600" dirty="0"/>
          </a:p>
        </p:txBody>
      </p:sp>
      <p:sp>
        <p:nvSpPr>
          <p:cNvPr id="4" name="hab-0"/>
          <p:cNvSpPr/>
          <p:nvPr/>
        </p:nvSpPr>
        <p:spPr>
          <a:xfrm>
            <a:off x="548640" y="1417320"/>
            <a:ext cx="5410048" cy="1051560"/>
          </a:xfrm>
          <a:prstGeom prst="roundRect">
            <a:avLst>
              <a:gd name="adj" fmla="val 10435"/>
            </a:avLst>
          </a:prstGeom>
          <a:solidFill>
            <a:schemeClr val="bg2"/>
          </a:solidFill>
          <a:ln/>
        </p:spPr>
      </p:sp>
      <p:sp>
        <p:nvSpPr>
          <p:cNvPr id="5" name="hab-0-dot"/>
          <p:cNvSpPr/>
          <p:nvPr/>
        </p:nvSpPr>
        <p:spPr>
          <a:xfrm>
            <a:off x="777240" y="1691640"/>
            <a:ext cx="502920" cy="502920"/>
          </a:xfrm>
          <a:prstGeom prst="ellipse">
            <a:avLst/>
          </a:prstGeom>
          <a:solidFill>
            <a:schemeClr val="accent1"/>
          </a:solidFill>
          <a:ln/>
        </p:spPr>
      </p:sp>
      <p:sp>
        <p:nvSpPr>
          <p:cNvPr id="6" name="hab-0-n"/>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hab-0-t"/>
          <p:cNvSpPr txBox="1"/>
          <p:nvPr/>
        </p:nvSpPr>
        <p:spPr>
          <a:xfrm>
            <a:off x="1463040" y="1490472"/>
            <a:ext cx="4312768" cy="905256"/>
          </a:xfrm>
          <a:prstGeom prst="rect">
            <a:avLst/>
          </a:prstGeom>
          <a:noFill/>
          <a:ln/>
        </p:spPr>
        <p:txBody>
          <a:bodyPr wrap="square" lIns="0" tIns="0" rIns="0" bIns="0" rtlCol="0" anchor="ctr"/>
          <a:lstStyle/>
          <a:p>
            <a:pPr indent="0" marL="0">
              <a:buNone/>
            </a:pPr>
            <a:r>
              <a:rPr lang="en-US" sz="1500" b="1" dirty="0">
                <a:solidFill>
                  <a:schemeClr val="tx1"/>
                </a:solidFill>
              </a:rPr>
              <a:t>One task, one session</a:t>
            </a:r>
            <a:endParaRPr lang="en-US" sz="1500" dirty="0"/>
          </a:p>
          <a:p>
            <a:pPr indent="0" marL="0">
              <a:buNone/>
            </a:pPr>
            <a:r>
              <a:rPr lang="en-US" sz="1250" dirty="0">
                <a:solidFill>
                  <a:schemeClr val="tx2"/>
                </a:solidFill>
              </a:rPr>
              <a:t>Start a new session per task; long mixed sessions drift and cost more</a:t>
            </a:r>
            <a:endParaRPr lang="en-US" sz="1500" dirty="0"/>
          </a:p>
        </p:txBody>
      </p:sp>
      <p:sp>
        <p:nvSpPr>
          <p:cNvPr id="8" name="hab-1"/>
          <p:cNvSpPr/>
          <p:nvPr/>
        </p:nvSpPr>
        <p:spPr>
          <a:xfrm>
            <a:off x="6233008" y="1417320"/>
            <a:ext cx="5410048" cy="1051560"/>
          </a:xfrm>
          <a:prstGeom prst="roundRect">
            <a:avLst>
              <a:gd name="adj" fmla="val 10435"/>
            </a:avLst>
          </a:prstGeom>
          <a:solidFill>
            <a:schemeClr val="bg2"/>
          </a:solidFill>
          <a:ln/>
        </p:spPr>
      </p:sp>
      <p:sp>
        <p:nvSpPr>
          <p:cNvPr id="9" name="hab-1-dot"/>
          <p:cNvSpPr/>
          <p:nvPr/>
        </p:nvSpPr>
        <p:spPr>
          <a:xfrm>
            <a:off x="6461608" y="1691640"/>
            <a:ext cx="502920" cy="502920"/>
          </a:xfrm>
          <a:prstGeom prst="ellipse">
            <a:avLst/>
          </a:prstGeom>
          <a:solidFill>
            <a:schemeClr val="accent1"/>
          </a:solidFill>
          <a:ln/>
        </p:spPr>
      </p:sp>
      <p:sp>
        <p:nvSpPr>
          <p:cNvPr id="10" name="hab-1-n"/>
          <p:cNvSpPr txBox="1"/>
          <p:nvPr/>
        </p:nvSpPr>
        <p:spPr>
          <a:xfrm>
            <a:off x="6461608"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hab-1-t"/>
          <p:cNvSpPr txBox="1"/>
          <p:nvPr/>
        </p:nvSpPr>
        <p:spPr>
          <a:xfrm>
            <a:off x="7147408" y="1490472"/>
            <a:ext cx="4312768" cy="905256"/>
          </a:xfrm>
          <a:prstGeom prst="rect">
            <a:avLst/>
          </a:prstGeom>
          <a:noFill/>
          <a:ln/>
        </p:spPr>
        <p:txBody>
          <a:bodyPr wrap="square" lIns="0" tIns="0" rIns="0" bIns="0" rtlCol="0" anchor="ctr"/>
          <a:lstStyle/>
          <a:p>
            <a:pPr indent="0" marL="0">
              <a:buNone/>
            </a:pPr>
            <a:r>
              <a:rPr lang="en-US" sz="1500" b="1" dirty="0">
                <a:solidFill>
                  <a:schemeClr val="tx1"/>
                </a:solidFill>
              </a:rPr>
              <a:t>Pick the mode</a:t>
            </a:r>
            <a:endParaRPr lang="en-US" sz="1500" dirty="0"/>
          </a:p>
          <a:p>
            <a:pPr indent="0" marL="0">
              <a:buNone/>
            </a:pPr>
            <a:r>
              <a:rPr lang="en-US" sz="1250" dirty="0">
                <a:solidFill>
                  <a:schemeClr val="tx2"/>
                </a:solidFill>
              </a:rPr>
              <a:t>Choose it yourself when you know it; it loads the right tools and docs</a:t>
            </a:r>
            <a:endParaRPr lang="en-US" sz="1500" dirty="0"/>
          </a:p>
        </p:txBody>
      </p:sp>
      <p:sp>
        <p:nvSpPr>
          <p:cNvPr id="12" name="hab-2"/>
          <p:cNvSpPr/>
          <p:nvPr/>
        </p:nvSpPr>
        <p:spPr>
          <a:xfrm>
            <a:off x="548640" y="2624328"/>
            <a:ext cx="5410048" cy="1051560"/>
          </a:xfrm>
          <a:prstGeom prst="roundRect">
            <a:avLst>
              <a:gd name="adj" fmla="val 10435"/>
            </a:avLst>
          </a:prstGeom>
          <a:solidFill>
            <a:schemeClr val="bg2"/>
          </a:solidFill>
          <a:ln/>
        </p:spPr>
      </p:sp>
      <p:sp>
        <p:nvSpPr>
          <p:cNvPr id="13" name="hab-2-dot"/>
          <p:cNvSpPr/>
          <p:nvPr/>
        </p:nvSpPr>
        <p:spPr>
          <a:xfrm>
            <a:off x="777240" y="2898648"/>
            <a:ext cx="502920" cy="502920"/>
          </a:xfrm>
          <a:prstGeom prst="ellipse">
            <a:avLst/>
          </a:prstGeom>
          <a:solidFill>
            <a:schemeClr val="accent2"/>
          </a:solidFill>
          <a:ln/>
        </p:spPr>
      </p:sp>
      <p:sp>
        <p:nvSpPr>
          <p:cNvPr id="14" name="hab-2-n"/>
          <p:cNvSpPr txBox="1"/>
          <p:nvPr/>
        </p:nvSpPr>
        <p:spPr>
          <a:xfrm>
            <a:off x="777240" y="2898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hab-2-t"/>
          <p:cNvSpPr txBox="1"/>
          <p:nvPr/>
        </p:nvSpPr>
        <p:spPr>
          <a:xfrm>
            <a:off x="1463040" y="2697480"/>
            <a:ext cx="4312768" cy="905256"/>
          </a:xfrm>
          <a:prstGeom prst="rect">
            <a:avLst/>
          </a:prstGeom>
          <a:noFill/>
          <a:ln/>
        </p:spPr>
        <p:txBody>
          <a:bodyPr wrap="square" lIns="0" tIns="0" rIns="0" bIns="0" rtlCol="0" anchor="ctr"/>
          <a:lstStyle/>
          <a:p>
            <a:pPr indent="0" marL="0">
              <a:buNone/>
            </a:pPr>
            <a:r>
              <a:rPr lang="en-US" sz="1500" b="1" dirty="0">
                <a:solidFill>
                  <a:schemeClr val="tx1"/>
                </a:solidFill>
              </a:rPr>
              <a:t>Attach exactly what's needed</a:t>
            </a:r>
            <a:endParaRPr lang="en-US" sz="1500" dirty="0"/>
          </a:p>
          <a:p>
            <a:pPr indent="0" marL="0">
              <a:buNone/>
            </a:pPr>
            <a:r>
              <a:rPr lang="en-US" sz="1250" dirty="0">
                <a:solidFill>
                  <a:schemeClr val="tx2"/>
                </a:solidFill>
              </a:rPr>
              <a:t>The specific dataset, object type or repo, not whole folders</a:t>
            </a:r>
            <a:endParaRPr lang="en-US" sz="1500" dirty="0"/>
          </a:p>
        </p:txBody>
      </p:sp>
      <p:sp>
        <p:nvSpPr>
          <p:cNvPr id="16" name="hab-3"/>
          <p:cNvSpPr/>
          <p:nvPr/>
        </p:nvSpPr>
        <p:spPr>
          <a:xfrm>
            <a:off x="6233008" y="2624328"/>
            <a:ext cx="5410048" cy="1051560"/>
          </a:xfrm>
          <a:prstGeom prst="roundRect">
            <a:avLst>
              <a:gd name="adj" fmla="val 10435"/>
            </a:avLst>
          </a:prstGeom>
          <a:solidFill>
            <a:schemeClr val="bg2"/>
          </a:solidFill>
          <a:ln/>
        </p:spPr>
      </p:sp>
      <p:sp>
        <p:nvSpPr>
          <p:cNvPr id="17" name="hab-3-dot"/>
          <p:cNvSpPr/>
          <p:nvPr/>
        </p:nvSpPr>
        <p:spPr>
          <a:xfrm>
            <a:off x="6461608" y="2898648"/>
            <a:ext cx="502920" cy="502920"/>
          </a:xfrm>
          <a:prstGeom prst="ellipse">
            <a:avLst/>
          </a:prstGeom>
          <a:solidFill>
            <a:schemeClr val="accent2"/>
          </a:solidFill>
          <a:ln/>
        </p:spPr>
      </p:sp>
      <p:sp>
        <p:nvSpPr>
          <p:cNvPr id="18" name="hab-3-n"/>
          <p:cNvSpPr txBox="1"/>
          <p:nvPr/>
        </p:nvSpPr>
        <p:spPr>
          <a:xfrm>
            <a:off x="6461608" y="28986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hab-3-t"/>
          <p:cNvSpPr txBox="1"/>
          <p:nvPr/>
        </p:nvSpPr>
        <p:spPr>
          <a:xfrm>
            <a:off x="7147408" y="2697480"/>
            <a:ext cx="4312768" cy="905256"/>
          </a:xfrm>
          <a:prstGeom prst="rect">
            <a:avLst/>
          </a:prstGeom>
          <a:noFill/>
          <a:ln/>
        </p:spPr>
        <p:txBody>
          <a:bodyPr wrap="square" lIns="0" tIns="0" rIns="0" bIns="0" rtlCol="0" anchor="ctr"/>
          <a:lstStyle/>
          <a:p>
            <a:pPr indent="0" marL="0">
              <a:buNone/>
            </a:pPr>
            <a:r>
              <a:rPr lang="en-US" sz="1500" b="1" dirty="0">
                <a:solidFill>
                  <a:schemeClr val="tx1"/>
                </a:solidFill>
              </a:rPr>
              <a:t>Ask for a plan first</a:t>
            </a:r>
            <a:endParaRPr lang="en-US" sz="1500" dirty="0"/>
          </a:p>
          <a:p>
            <a:pPr indent="0" marL="0">
              <a:buNone/>
            </a:pPr>
            <a:r>
              <a:rPr lang="en-US" sz="1250" dirty="0">
                <a:solidFill>
                  <a:schemeClr val="tx2"/>
                </a:solidFill>
              </a:rPr>
              <a:t>For anything multi-step: review the plan, then let it act</a:t>
            </a:r>
            <a:endParaRPr lang="en-US" sz="1500" dirty="0"/>
          </a:p>
        </p:txBody>
      </p:sp>
      <p:sp>
        <p:nvSpPr>
          <p:cNvPr id="20" name="hab-4"/>
          <p:cNvSpPr/>
          <p:nvPr/>
        </p:nvSpPr>
        <p:spPr>
          <a:xfrm>
            <a:off x="548640" y="3831336"/>
            <a:ext cx="5410048" cy="1051560"/>
          </a:xfrm>
          <a:prstGeom prst="roundRect">
            <a:avLst>
              <a:gd name="adj" fmla="val 10435"/>
            </a:avLst>
          </a:prstGeom>
          <a:solidFill>
            <a:schemeClr val="bg2"/>
          </a:solidFill>
          <a:ln/>
        </p:spPr>
      </p:sp>
      <p:sp>
        <p:nvSpPr>
          <p:cNvPr id="21" name="hab-4-dot"/>
          <p:cNvSpPr/>
          <p:nvPr/>
        </p:nvSpPr>
        <p:spPr>
          <a:xfrm>
            <a:off x="777240" y="4105656"/>
            <a:ext cx="502920" cy="502920"/>
          </a:xfrm>
          <a:prstGeom prst="ellipse">
            <a:avLst/>
          </a:prstGeom>
          <a:solidFill>
            <a:schemeClr val="accent4"/>
          </a:solidFill>
          <a:ln/>
        </p:spPr>
      </p:sp>
      <p:sp>
        <p:nvSpPr>
          <p:cNvPr id="22" name="hab-4-n"/>
          <p:cNvSpPr txBox="1"/>
          <p:nvPr/>
        </p:nvSpPr>
        <p:spPr>
          <a:xfrm>
            <a:off x="777240" y="410565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hab-4-t"/>
          <p:cNvSpPr txBox="1"/>
          <p:nvPr/>
        </p:nvSpPr>
        <p:spPr>
          <a:xfrm>
            <a:off x="1463040" y="3904488"/>
            <a:ext cx="4312768" cy="905256"/>
          </a:xfrm>
          <a:prstGeom prst="rect">
            <a:avLst/>
          </a:prstGeom>
          <a:noFill/>
          <a:ln/>
        </p:spPr>
        <p:txBody>
          <a:bodyPr wrap="square" lIns="0" tIns="0" rIns="0" bIns="0" rtlCol="0" anchor="ctr"/>
          <a:lstStyle/>
          <a:p>
            <a:pPr indent="0" marL="0">
              <a:buNone/>
            </a:pPr>
            <a:r>
              <a:rPr lang="en-US" sz="1500" b="1" dirty="0">
                <a:solidFill>
                  <a:schemeClr val="tx1"/>
                </a:solidFill>
              </a:rPr>
              <a:t>Small steps</a:t>
            </a:r>
            <a:endParaRPr lang="en-US" sz="1500" dirty="0"/>
          </a:p>
          <a:p>
            <a:pPr indent="0" marL="0">
              <a:buNone/>
            </a:pPr>
            <a:r>
              <a:rPr lang="en-US" sz="1250" dirty="0">
                <a:solidFill>
                  <a:schemeClr val="tx2"/>
                </a:solidFill>
              </a:rPr>
              <a:t>Build the basic structure, verify, then add complexity</a:t>
            </a:r>
            <a:endParaRPr lang="en-US" sz="1500" dirty="0"/>
          </a:p>
        </p:txBody>
      </p:sp>
      <p:sp>
        <p:nvSpPr>
          <p:cNvPr id="24" name="hab-5"/>
          <p:cNvSpPr/>
          <p:nvPr/>
        </p:nvSpPr>
        <p:spPr>
          <a:xfrm>
            <a:off x="6233008" y="3831336"/>
            <a:ext cx="5410048" cy="1051560"/>
          </a:xfrm>
          <a:prstGeom prst="roundRect">
            <a:avLst>
              <a:gd name="adj" fmla="val 10435"/>
            </a:avLst>
          </a:prstGeom>
          <a:solidFill>
            <a:schemeClr val="bg2"/>
          </a:solidFill>
          <a:ln/>
        </p:spPr>
      </p:sp>
      <p:sp>
        <p:nvSpPr>
          <p:cNvPr id="25" name="hab-5-dot"/>
          <p:cNvSpPr/>
          <p:nvPr/>
        </p:nvSpPr>
        <p:spPr>
          <a:xfrm>
            <a:off x="6461608" y="4105656"/>
            <a:ext cx="502920" cy="502920"/>
          </a:xfrm>
          <a:prstGeom prst="ellipse">
            <a:avLst/>
          </a:prstGeom>
          <a:solidFill>
            <a:schemeClr val="accent4"/>
          </a:solidFill>
          <a:ln/>
        </p:spPr>
      </p:sp>
      <p:sp>
        <p:nvSpPr>
          <p:cNvPr id="26" name="hab-5-n"/>
          <p:cNvSpPr txBox="1"/>
          <p:nvPr/>
        </p:nvSpPr>
        <p:spPr>
          <a:xfrm>
            <a:off x="6461608" y="410565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7" name="hab-5-t"/>
          <p:cNvSpPr txBox="1"/>
          <p:nvPr/>
        </p:nvSpPr>
        <p:spPr>
          <a:xfrm>
            <a:off x="7147408" y="3904488"/>
            <a:ext cx="4312768" cy="905256"/>
          </a:xfrm>
          <a:prstGeom prst="rect">
            <a:avLst/>
          </a:prstGeom>
          <a:noFill/>
          <a:ln/>
        </p:spPr>
        <p:txBody>
          <a:bodyPr wrap="square" lIns="0" tIns="0" rIns="0" bIns="0" rtlCol="0" anchor="ctr"/>
          <a:lstStyle/>
          <a:p>
            <a:pPr indent="0" marL="0">
              <a:buNone/>
            </a:pPr>
            <a:r>
              <a:rPr lang="en-US" sz="1500" b="1" dirty="0">
                <a:solidFill>
                  <a:schemeClr val="tx1"/>
                </a:solidFill>
              </a:rPr>
              <a:t>Be specific about done</a:t>
            </a:r>
            <a:endParaRPr lang="en-US" sz="1500" dirty="0"/>
          </a:p>
          <a:p>
            <a:pPr indent="0" marL="0">
              <a:buNone/>
            </a:pPr>
            <a:r>
              <a:rPr lang="en-US" sz="1250" dirty="0">
                <a:solidFill>
                  <a:schemeClr val="tx2"/>
                </a:solidFill>
              </a:rPr>
              <a:t>Name inputs, outputs, columns, rules and how you'll check it</a:t>
            </a:r>
            <a:endParaRPr lang="en-US" sz="1500" dirty="0"/>
          </a:p>
        </p:txBody>
      </p:sp>
      <p:sp>
        <p:nvSpPr>
          <p:cNvPr id="28" name="hab-6"/>
          <p:cNvSpPr/>
          <p:nvPr/>
        </p:nvSpPr>
        <p:spPr>
          <a:xfrm>
            <a:off x="548640" y="5038344"/>
            <a:ext cx="5410048" cy="1051560"/>
          </a:xfrm>
          <a:prstGeom prst="roundRect">
            <a:avLst>
              <a:gd name="adj" fmla="val 10435"/>
            </a:avLst>
          </a:prstGeom>
          <a:solidFill>
            <a:schemeClr val="bg2"/>
          </a:solidFill>
          <a:ln/>
        </p:spPr>
      </p:sp>
      <p:sp>
        <p:nvSpPr>
          <p:cNvPr id="29" name="hab-6-dot"/>
          <p:cNvSpPr/>
          <p:nvPr/>
        </p:nvSpPr>
        <p:spPr>
          <a:xfrm>
            <a:off x="777240" y="5312664"/>
            <a:ext cx="502920" cy="502920"/>
          </a:xfrm>
          <a:prstGeom prst="ellipse">
            <a:avLst/>
          </a:prstGeom>
          <a:solidFill>
            <a:schemeClr val="tx1"/>
          </a:solidFill>
          <a:ln/>
        </p:spPr>
      </p:sp>
      <p:sp>
        <p:nvSpPr>
          <p:cNvPr id="30" name="hab-6-n"/>
          <p:cNvSpPr txBox="1"/>
          <p:nvPr/>
        </p:nvSpPr>
        <p:spPr>
          <a:xfrm>
            <a:off x="777240" y="531266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1" name="hab-6-t"/>
          <p:cNvSpPr txBox="1"/>
          <p:nvPr/>
        </p:nvSpPr>
        <p:spPr>
          <a:xfrm>
            <a:off x="1463040" y="5111496"/>
            <a:ext cx="4312768" cy="905256"/>
          </a:xfrm>
          <a:prstGeom prst="rect">
            <a:avLst/>
          </a:prstGeom>
          <a:noFill/>
          <a:ln/>
        </p:spPr>
        <p:txBody>
          <a:bodyPr wrap="square" lIns="0" tIns="0" rIns="0" bIns="0" rtlCol="0" anchor="ctr"/>
          <a:lstStyle/>
          <a:p>
            <a:pPr indent="0" marL="0">
              <a:buNone/>
            </a:pPr>
            <a:r>
              <a:rPr lang="en-US" sz="1500" b="1" dirty="0">
                <a:solidFill>
                  <a:schemeClr val="tx1"/>
                </a:solidFill>
              </a:rPr>
              <a:t>Verify on the branch</a:t>
            </a:r>
            <a:endParaRPr lang="en-US" sz="1500" dirty="0"/>
          </a:p>
          <a:p>
            <a:pPr indent="0" marL="0">
              <a:buNone/>
            </a:pPr>
            <a:r>
              <a:rPr lang="en-US" sz="1250" dirty="0">
                <a:solidFill>
                  <a:schemeClr val="tx2"/>
                </a:solidFill>
              </a:rPr>
              <a:t>Read the code, run it on representative sample data, check the preview</a:t>
            </a:r>
            <a:endParaRPr lang="en-US" sz="1500" dirty="0"/>
          </a:p>
        </p:txBody>
      </p:sp>
      <p:sp>
        <p:nvSpPr>
          <p:cNvPr id="32" name="hab-7"/>
          <p:cNvSpPr/>
          <p:nvPr/>
        </p:nvSpPr>
        <p:spPr>
          <a:xfrm>
            <a:off x="6233008" y="5038344"/>
            <a:ext cx="5410048" cy="1051560"/>
          </a:xfrm>
          <a:prstGeom prst="roundRect">
            <a:avLst>
              <a:gd name="adj" fmla="val 10435"/>
            </a:avLst>
          </a:prstGeom>
          <a:solidFill>
            <a:schemeClr val="bg2"/>
          </a:solidFill>
          <a:ln/>
        </p:spPr>
      </p:sp>
      <p:sp>
        <p:nvSpPr>
          <p:cNvPr id="33" name="hab-7-dot"/>
          <p:cNvSpPr/>
          <p:nvPr/>
        </p:nvSpPr>
        <p:spPr>
          <a:xfrm>
            <a:off x="6461608" y="5312664"/>
            <a:ext cx="502920" cy="502920"/>
          </a:xfrm>
          <a:prstGeom prst="ellipse">
            <a:avLst/>
          </a:prstGeom>
          <a:solidFill>
            <a:schemeClr val="tx1"/>
          </a:solidFill>
          <a:ln/>
        </p:spPr>
      </p:sp>
      <p:sp>
        <p:nvSpPr>
          <p:cNvPr id="34" name="hab-7-n"/>
          <p:cNvSpPr txBox="1"/>
          <p:nvPr/>
        </p:nvSpPr>
        <p:spPr>
          <a:xfrm>
            <a:off x="6461608" y="531266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35" name="hab-7-t"/>
          <p:cNvSpPr txBox="1"/>
          <p:nvPr/>
        </p:nvSpPr>
        <p:spPr>
          <a:xfrm>
            <a:off x="7147408" y="5111496"/>
            <a:ext cx="4312768" cy="905256"/>
          </a:xfrm>
          <a:prstGeom prst="rect">
            <a:avLst/>
          </a:prstGeom>
          <a:noFill/>
          <a:ln/>
        </p:spPr>
        <p:txBody>
          <a:bodyPr wrap="square" lIns="0" tIns="0" rIns="0" bIns="0" rtlCol="0" anchor="ctr"/>
          <a:lstStyle/>
          <a:p>
            <a:pPr indent="0" marL="0">
              <a:buNone/>
            </a:pPr>
            <a:r>
              <a:rPr lang="en-US" sz="1500" b="1" dirty="0">
                <a:solidFill>
                  <a:schemeClr val="tx1"/>
                </a:solidFill>
              </a:rPr>
              <a:t>Reuse what works</a:t>
            </a:r>
            <a:endParaRPr lang="en-US" sz="1500" dirty="0"/>
          </a:p>
          <a:p>
            <a:pPr indent="0" marL="0">
              <a:buNone/>
            </a:pPr>
            <a:r>
              <a:rPr lang="en-US" sz="1250" dirty="0">
                <a:solidFill>
                  <a:schemeClr val="tx2"/>
                </a:solidFill>
              </a:rPr>
              <a:t>Turn good prompts into AIP skills and pre-fill links for the team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PROMPTS THAT WORK</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Vague asks waste turns; specific asks get results</a:t>
            </a:r>
            <a:endParaRPr lang="en-US" sz="3600" dirty="0"/>
          </a:p>
        </p:txBody>
      </p:sp>
      <p:sp>
        <p:nvSpPr>
          <p:cNvPr id="4" name="h-INSTEAD OF"/>
          <p:cNvSpPr txBox="1"/>
          <p:nvPr/>
        </p:nvSpPr>
        <p:spPr>
          <a:xfrm>
            <a:off x="548640" y="1371600"/>
            <a:ext cx="3108960" cy="274320"/>
          </a:xfrm>
          <a:prstGeom prst="rect">
            <a:avLst/>
          </a:prstGeom>
          <a:noFill/>
          <a:ln/>
        </p:spPr>
        <p:txBody>
          <a:bodyPr wrap="square" lIns="0" tIns="0" rIns="0" bIns="0" rtlCol="0" anchor="t"/>
          <a:lstStyle/>
          <a:p>
            <a:pPr indent="0" marL="0">
              <a:buNone/>
            </a:pPr>
            <a:r>
              <a:rPr lang="en-US" sz="1100" b="1" spc="100" kern="0" dirty="0">
                <a:solidFill>
                  <a:schemeClr val="tx2"/>
                </a:solidFill>
              </a:rPr>
              <a:t>INSTEAD OF</a:t>
            </a:r>
            <a:endParaRPr lang="en-US" sz="1100" dirty="0"/>
          </a:p>
        </p:txBody>
      </p:sp>
      <p:sp>
        <p:nvSpPr>
          <p:cNvPr id="5" name="h-WRITE"/>
          <p:cNvSpPr txBox="1"/>
          <p:nvPr/>
        </p:nvSpPr>
        <p:spPr>
          <a:xfrm>
            <a:off x="3931920" y="1371600"/>
            <a:ext cx="54864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WRITE</a:t>
            </a:r>
            <a:endParaRPr lang="en-US" sz="1100" dirty="0"/>
          </a:p>
        </p:txBody>
      </p:sp>
      <p:sp>
        <p:nvSpPr>
          <p:cNvPr id="6" name="pr-0-a"/>
          <p:cNvSpPr/>
          <p:nvPr/>
        </p:nvSpPr>
        <p:spPr>
          <a:xfrm>
            <a:off x="548640" y="1737360"/>
            <a:ext cx="3108960" cy="1005840"/>
          </a:xfrm>
          <a:prstGeom prst="roundRect">
            <a:avLst>
              <a:gd name="adj" fmla="val 10909"/>
            </a:avLst>
          </a:prstGeom>
          <a:solidFill>
            <a:schemeClr val="bg1"/>
          </a:solidFill>
          <a:ln/>
        </p:spPr>
      </p:sp>
      <p:sp>
        <p:nvSpPr>
          <p:cNvPr id="7" name="pr-0-at"/>
          <p:cNvSpPr txBox="1"/>
          <p:nvPr/>
        </p:nvSpPr>
        <p:spPr>
          <a:xfrm>
            <a:off x="777240" y="1737360"/>
            <a:ext cx="2651760" cy="1005840"/>
          </a:xfrm>
          <a:prstGeom prst="rect">
            <a:avLst/>
          </a:prstGeom>
          <a:noFill/>
          <a:ln/>
        </p:spPr>
        <p:txBody>
          <a:bodyPr wrap="square" lIns="0" tIns="0" rIns="0" bIns="0" rtlCol="0" anchor="ctr"/>
          <a:lstStyle/>
          <a:p>
            <a:pPr indent="0" marL="0">
              <a:buNone/>
            </a:pPr>
            <a:r>
              <a:rPr lang="en-US" sz="1500" i="1" dirty="0">
                <a:solidFill>
                  <a:schemeClr val="tx2"/>
                </a:solidFill>
              </a:rPr>
              <a:t>"Fix my pipeline"</a:t>
            </a:r>
            <a:endParaRPr lang="en-US" sz="1500" dirty="0"/>
          </a:p>
        </p:txBody>
      </p:sp>
      <p:sp>
        <p:nvSpPr>
          <p:cNvPr id="8" name="pr-0-arrow"/>
          <p:cNvSpPr/>
          <p:nvPr/>
        </p:nvSpPr>
        <p:spPr>
          <a:xfrm>
            <a:off x="3685032" y="2240280"/>
            <a:ext cx="219456" cy="0"/>
          </a:xfrm>
          <a:prstGeom prst="line">
            <a:avLst/>
          </a:prstGeom>
          <a:noFill/>
          <a:ln w="19050">
            <a:solidFill>
              <a:schemeClr val="tx2"/>
            </a:solidFill>
            <a:prstDash val="solid"/>
            <a:tailEnd type="triangle"/>
          </a:ln>
        </p:spPr>
      </p:sp>
      <p:sp>
        <p:nvSpPr>
          <p:cNvPr id="9" name="pr-0-b"/>
          <p:cNvSpPr/>
          <p:nvPr/>
        </p:nvSpPr>
        <p:spPr>
          <a:xfrm>
            <a:off x="3931920" y="1737360"/>
            <a:ext cx="7711135" cy="1005840"/>
          </a:xfrm>
          <a:prstGeom prst="roundRect">
            <a:avLst>
              <a:gd name="adj" fmla="val 10909"/>
            </a:avLst>
          </a:prstGeom>
          <a:solidFill>
            <a:schemeClr val="tx1"/>
          </a:solidFill>
          <a:ln/>
        </p:spPr>
      </p:sp>
      <p:sp>
        <p:nvSpPr>
          <p:cNvPr id="10" name="pr-0-bt"/>
          <p:cNvSpPr txBox="1"/>
          <p:nvPr/>
        </p:nvSpPr>
        <p:spPr>
          <a:xfrm>
            <a:off x="4160520" y="1737360"/>
            <a:ext cx="7253935" cy="1005840"/>
          </a:xfrm>
          <a:prstGeom prst="rect">
            <a:avLst/>
          </a:prstGeom>
          <a:noFill/>
          <a:ln/>
        </p:spPr>
        <p:txBody>
          <a:bodyPr wrap="square" lIns="0" tIns="0" rIns="0" bIns="0" rtlCol="0" anchor="ctr"/>
          <a:lstStyle/>
          <a:p>
            <a:pPr indent="0" marL="0">
              <a:buNone/>
            </a:pPr>
            <a:r>
              <a:rPr lang="en-US" sz="1350" dirty="0">
                <a:solidFill>
                  <a:schemeClr val="bg1"/>
                </a:solidFill>
              </a:rPr>
              <a:t>"Build of [dataset] fails on the join step since yesterday. Find the cause from the build log, propose a fix on a branch, and show me the transform preview."</a:t>
            </a:r>
            <a:endParaRPr lang="en-US" sz="1350" dirty="0"/>
          </a:p>
        </p:txBody>
      </p:sp>
      <p:sp>
        <p:nvSpPr>
          <p:cNvPr id="11" name="pr-1-a"/>
          <p:cNvSpPr/>
          <p:nvPr/>
        </p:nvSpPr>
        <p:spPr>
          <a:xfrm>
            <a:off x="548640" y="2898648"/>
            <a:ext cx="3108960" cy="1005840"/>
          </a:xfrm>
          <a:prstGeom prst="roundRect">
            <a:avLst>
              <a:gd name="adj" fmla="val 10909"/>
            </a:avLst>
          </a:prstGeom>
          <a:solidFill>
            <a:schemeClr val="bg1"/>
          </a:solidFill>
          <a:ln/>
        </p:spPr>
      </p:sp>
      <p:sp>
        <p:nvSpPr>
          <p:cNvPr id="12" name="pr-1-at"/>
          <p:cNvSpPr txBox="1"/>
          <p:nvPr/>
        </p:nvSpPr>
        <p:spPr>
          <a:xfrm>
            <a:off x="777240" y="2898648"/>
            <a:ext cx="2651760" cy="1005840"/>
          </a:xfrm>
          <a:prstGeom prst="rect">
            <a:avLst/>
          </a:prstGeom>
          <a:noFill/>
          <a:ln/>
        </p:spPr>
        <p:txBody>
          <a:bodyPr wrap="square" lIns="0" tIns="0" rIns="0" bIns="0" rtlCol="0" anchor="ctr"/>
          <a:lstStyle/>
          <a:p>
            <a:pPr indent="0" marL="0">
              <a:buNone/>
            </a:pPr>
            <a:r>
              <a:rPr lang="en-US" sz="1500" i="1" dirty="0">
                <a:solidFill>
                  <a:schemeClr val="tx2"/>
                </a:solidFill>
              </a:rPr>
              <a:t>"Make an ontology for risks"</a:t>
            </a:r>
            <a:endParaRPr lang="en-US" sz="1500" dirty="0"/>
          </a:p>
        </p:txBody>
      </p:sp>
      <p:sp>
        <p:nvSpPr>
          <p:cNvPr id="13" name="pr-1-arrow"/>
          <p:cNvSpPr/>
          <p:nvPr/>
        </p:nvSpPr>
        <p:spPr>
          <a:xfrm>
            <a:off x="3685032" y="3401568"/>
            <a:ext cx="219456" cy="0"/>
          </a:xfrm>
          <a:prstGeom prst="line">
            <a:avLst/>
          </a:prstGeom>
          <a:noFill/>
          <a:ln w="19050">
            <a:solidFill>
              <a:schemeClr val="tx2"/>
            </a:solidFill>
            <a:prstDash val="solid"/>
            <a:tailEnd type="triangle"/>
          </a:ln>
        </p:spPr>
      </p:sp>
      <p:sp>
        <p:nvSpPr>
          <p:cNvPr id="14" name="pr-1-b"/>
          <p:cNvSpPr/>
          <p:nvPr/>
        </p:nvSpPr>
        <p:spPr>
          <a:xfrm>
            <a:off x="3931920" y="2898648"/>
            <a:ext cx="7711135" cy="1005840"/>
          </a:xfrm>
          <a:prstGeom prst="roundRect">
            <a:avLst>
              <a:gd name="adj" fmla="val 10909"/>
            </a:avLst>
          </a:prstGeom>
          <a:solidFill>
            <a:schemeClr val="tx1"/>
          </a:solidFill>
          <a:ln/>
        </p:spPr>
      </p:sp>
      <p:sp>
        <p:nvSpPr>
          <p:cNvPr id="15" name="pr-1-bt"/>
          <p:cNvSpPr txBox="1"/>
          <p:nvPr/>
        </p:nvSpPr>
        <p:spPr>
          <a:xfrm>
            <a:off x="4160520" y="2898648"/>
            <a:ext cx="7253935" cy="1005840"/>
          </a:xfrm>
          <a:prstGeom prst="rect">
            <a:avLst/>
          </a:prstGeom>
          <a:noFill/>
          <a:ln/>
        </p:spPr>
        <p:txBody>
          <a:bodyPr wrap="square" lIns="0" tIns="0" rIns="0" bIns="0" rtlCol="0" anchor="ctr"/>
          <a:lstStyle/>
          <a:p>
            <a:pPr indent="0" marL="0">
              <a:buNone/>
            </a:pPr>
            <a:r>
              <a:rPr lang="en-US" sz="1350" dirty="0">
                <a:solidFill>
                  <a:schemeClr val="bg1"/>
                </a:solidFill>
              </a:rPr>
              <a:t>"Create object type Risk from [dataset]: primary key risk_id, title from risk_title, link to Programme via programme_id. Plan first; don't create actions yet."</a:t>
            </a:r>
            <a:endParaRPr lang="en-US" sz="1350" dirty="0"/>
          </a:p>
        </p:txBody>
      </p:sp>
      <p:sp>
        <p:nvSpPr>
          <p:cNvPr id="16" name="pr-2-a"/>
          <p:cNvSpPr/>
          <p:nvPr/>
        </p:nvSpPr>
        <p:spPr>
          <a:xfrm>
            <a:off x="548640" y="4059936"/>
            <a:ext cx="3108960" cy="1005840"/>
          </a:xfrm>
          <a:prstGeom prst="roundRect">
            <a:avLst>
              <a:gd name="adj" fmla="val 10909"/>
            </a:avLst>
          </a:prstGeom>
          <a:solidFill>
            <a:schemeClr val="bg1"/>
          </a:solidFill>
          <a:ln/>
        </p:spPr>
      </p:sp>
      <p:sp>
        <p:nvSpPr>
          <p:cNvPr id="17" name="pr-2-at"/>
          <p:cNvSpPr txBox="1"/>
          <p:nvPr/>
        </p:nvSpPr>
        <p:spPr>
          <a:xfrm>
            <a:off x="777240" y="4059936"/>
            <a:ext cx="2651760" cy="1005840"/>
          </a:xfrm>
          <a:prstGeom prst="rect">
            <a:avLst/>
          </a:prstGeom>
          <a:noFill/>
          <a:ln/>
        </p:spPr>
        <p:txBody>
          <a:bodyPr wrap="square" lIns="0" tIns="0" rIns="0" bIns="0" rtlCol="0" anchor="ctr"/>
          <a:lstStyle/>
          <a:p>
            <a:pPr indent="0" marL="0">
              <a:buNone/>
            </a:pPr>
            <a:r>
              <a:rPr lang="en-US" sz="1500" i="1" dirty="0">
                <a:solidFill>
                  <a:schemeClr val="tx2"/>
                </a:solidFill>
              </a:rPr>
              <a:t>"Clean this data"</a:t>
            </a:r>
            <a:endParaRPr lang="en-US" sz="1500" dirty="0"/>
          </a:p>
        </p:txBody>
      </p:sp>
      <p:sp>
        <p:nvSpPr>
          <p:cNvPr id="18" name="pr-2-arrow"/>
          <p:cNvSpPr/>
          <p:nvPr/>
        </p:nvSpPr>
        <p:spPr>
          <a:xfrm>
            <a:off x="3685032" y="4562856"/>
            <a:ext cx="219456" cy="0"/>
          </a:xfrm>
          <a:prstGeom prst="line">
            <a:avLst/>
          </a:prstGeom>
          <a:noFill/>
          <a:ln w="19050">
            <a:solidFill>
              <a:schemeClr val="tx2"/>
            </a:solidFill>
            <a:prstDash val="solid"/>
            <a:tailEnd type="triangle"/>
          </a:ln>
        </p:spPr>
      </p:sp>
      <p:sp>
        <p:nvSpPr>
          <p:cNvPr id="19" name="pr-2-b"/>
          <p:cNvSpPr/>
          <p:nvPr/>
        </p:nvSpPr>
        <p:spPr>
          <a:xfrm>
            <a:off x="3931920" y="4059936"/>
            <a:ext cx="7711135" cy="1005840"/>
          </a:xfrm>
          <a:prstGeom prst="roundRect">
            <a:avLst>
              <a:gd name="adj" fmla="val 10909"/>
            </a:avLst>
          </a:prstGeom>
          <a:solidFill>
            <a:schemeClr val="tx1"/>
          </a:solidFill>
          <a:ln/>
        </p:spPr>
      </p:sp>
      <p:sp>
        <p:nvSpPr>
          <p:cNvPr id="20" name="pr-2-bt"/>
          <p:cNvSpPr txBox="1"/>
          <p:nvPr/>
        </p:nvSpPr>
        <p:spPr>
          <a:xfrm>
            <a:off x="4160520" y="4059936"/>
            <a:ext cx="7253935" cy="1005840"/>
          </a:xfrm>
          <a:prstGeom prst="rect">
            <a:avLst/>
          </a:prstGeom>
          <a:noFill/>
          <a:ln/>
        </p:spPr>
        <p:txBody>
          <a:bodyPr wrap="square" lIns="0" tIns="0" rIns="0" bIns="0" rtlCol="0" anchor="ctr"/>
          <a:lstStyle/>
          <a:p>
            <a:pPr indent="0" marL="0">
              <a:buNone/>
            </a:pPr>
            <a:r>
              <a:rPr lang="en-US" sz="1350" dirty="0">
                <a:solidFill>
                  <a:schemeClr val="bg1"/>
                </a:solidFill>
              </a:rPr>
              <a:t>"In a Python transform on [dataset], drop rows with null asset_id, trim whitespace in all string columns, output [new dataset]. Test on a 1,000-row sample."</a:t>
            </a:r>
            <a:endParaRPr lang="en-US" sz="1350" dirty="0"/>
          </a:p>
        </p:txBody>
      </p:sp>
      <p:sp>
        <p:nvSpPr>
          <p:cNvPr id="21" name="pr-3-a"/>
          <p:cNvSpPr/>
          <p:nvPr/>
        </p:nvSpPr>
        <p:spPr>
          <a:xfrm>
            <a:off x="548640" y="5221224"/>
            <a:ext cx="3108960" cy="1005840"/>
          </a:xfrm>
          <a:prstGeom prst="roundRect">
            <a:avLst>
              <a:gd name="adj" fmla="val 10909"/>
            </a:avLst>
          </a:prstGeom>
          <a:solidFill>
            <a:schemeClr val="bg1"/>
          </a:solidFill>
          <a:ln/>
        </p:spPr>
      </p:sp>
      <p:sp>
        <p:nvSpPr>
          <p:cNvPr id="22" name="pr-3-at"/>
          <p:cNvSpPr txBox="1"/>
          <p:nvPr/>
        </p:nvSpPr>
        <p:spPr>
          <a:xfrm>
            <a:off x="777240" y="5221224"/>
            <a:ext cx="2651760" cy="1005840"/>
          </a:xfrm>
          <a:prstGeom prst="rect">
            <a:avLst/>
          </a:prstGeom>
          <a:noFill/>
          <a:ln/>
        </p:spPr>
        <p:txBody>
          <a:bodyPr wrap="square" lIns="0" tIns="0" rIns="0" bIns="0" rtlCol="0" anchor="ctr"/>
          <a:lstStyle/>
          <a:p>
            <a:pPr indent="0" marL="0">
              <a:buNone/>
            </a:pPr>
            <a:r>
              <a:rPr lang="en-US" sz="1500" i="1" dirty="0">
                <a:solidFill>
                  <a:schemeClr val="tx2"/>
                </a:solidFill>
              </a:rPr>
              <a:t>"Who can see this?"</a:t>
            </a:r>
            <a:endParaRPr lang="en-US" sz="1500" dirty="0"/>
          </a:p>
        </p:txBody>
      </p:sp>
      <p:sp>
        <p:nvSpPr>
          <p:cNvPr id="23" name="pr-3-arrow"/>
          <p:cNvSpPr/>
          <p:nvPr/>
        </p:nvSpPr>
        <p:spPr>
          <a:xfrm>
            <a:off x="3685032" y="5724144"/>
            <a:ext cx="219456" cy="0"/>
          </a:xfrm>
          <a:prstGeom prst="line">
            <a:avLst/>
          </a:prstGeom>
          <a:noFill/>
          <a:ln w="19050">
            <a:solidFill>
              <a:schemeClr val="tx2"/>
            </a:solidFill>
            <a:prstDash val="solid"/>
            <a:tailEnd type="triangle"/>
          </a:ln>
        </p:spPr>
      </p:sp>
      <p:sp>
        <p:nvSpPr>
          <p:cNvPr id="24" name="pr-3-b"/>
          <p:cNvSpPr/>
          <p:nvPr/>
        </p:nvSpPr>
        <p:spPr>
          <a:xfrm>
            <a:off x="3931920" y="5221224"/>
            <a:ext cx="7711135" cy="1005840"/>
          </a:xfrm>
          <a:prstGeom prst="roundRect">
            <a:avLst>
              <a:gd name="adj" fmla="val 10909"/>
            </a:avLst>
          </a:prstGeom>
          <a:solidFill>
            <a:schemeClr val="tx1"/>
          </a:solidFill>
          <a:ln/>
        </p:spPr>
      </p:sp>
      <p:sp>
        <p:nvSpPr>
          <p:cNvPr id="25" name="pr-3-bt"/>
          <p:cNvSpPr txBox="1"/>
          <p:nvPr/>
        </p:nvSpPr>
        <p:spPr>
          <a:xfrm>
            <a:off x="4160520" y="5221224"/>
            <a:ext cx="7253935" cy="1005840"/>
          </a:xfrm>
          <a:prstGeom prst="rect">
            <a:avLst/>
          </a:prstGeom>
          <a:noFill/>
          <a:ln/>
        </p:spPr>
        <p:txBody>
          <a:bodyPr wrap="square" lIns="0" tIns="0" rIns="0" bIns="0" rtlCol="0" anchor="ctr"/>
          <a:lstStyle/>
          <a:p>
            <a:pPr indent="0" marL="0">
              <a:buNone/>
            </a:pPr>
            <a:r>
              <a:rPr lang="en-US" sz="1350" dirty="0">
                <a:solidFill>
                  <a:schemeClr val="bg1"/>
                </a:solidFill>
              </a:rPr>
              <a:t>"Governance mode: list who has access to [dataset] and through which groups and markings. Read-only."</a:t>
            </a:r>
            <a:endParaRPr lang="en-US" sz="1350" dirty="0"/>
          </a:p>
        </p:txBody>
      </p:sp>
      <p:sp>
        <p:nvSpPr>
          <p:cNvPr id="26" name="pr-foot"/>
          <p:cNvSpPr txBox="1"/>
          <p:nvPr/>
        </p:nvSpPr>
        <p:spPr>
          <a:xfrm>
            <a:off x="548640" y="6355080"/>
            <a:ext cx="11094415" cy="320040"/>
          </a:xfrm>
          <a:prstGeom prst="rect">
            <a:avLst/>
          </a:prstGeom>
          <a:noFill/>
          <a:ln/>
        </p:spPr>
        <p:txBody>
          <a:bodyPr wrap="square" lIns="0" tIns="0" rIns="0" bIns="0" rtlCol="0" anchor="t"/>
          <a:lstStyle/>
          <a:p>
            <a:pPr indent="0" marL="0">
              <a:buNone/>
            </a:pPr>
            <a:r>
              <a:rPr lang="en-US" sz="1300" b="1" dirty="0">
                <a:solidFill>
                  <a:schemeClr val="accent3"/>
                </a:solidFill>
              </a:rPr>
              <a:t>A good prompt names: the resource · the goal · the rules · what not to touch · how to verify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LIMITS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What it can't do, and shouldn't</a:t>
            </a:r>
            <a:endParaRPr lang="en-US" sz="3600" dirty="0"/>
          </a:p>
        </p:txBody>
      </p:sp>
      <p:sp>
        <p:nvSpPr>
          <p:cNvPr id="4" name="lim-l"/>
          <p:cNvSpPr/>
          <p:nvPr/>
        </p:nvSpPr>
        <p:spPr>
          <a:xfrm>
            <a:off x="548640" y="1417320"/>
            <a:ext cx="5410048" cy="4937760"/>
          </a:xfrm>
          <a:prstGeom prst="roundRect">
            <a:avLst>
              <a:gd name="adj" fmla="val 2222"/>
            </a:avLst>
          </a:prstGeom>
          <a:solidFill>
            <a:schemeClr val="bg2"/>
          </a:solidFill>
          <a:ln/>
        </p:spPr>
      </p:sp>
      <p:sp>
        <p:nvSpPr>
          <p:cNvPr id="5" name="h-BY DESIGN, I"/>
          <p:cNvSpPr txBox="1"/>
          <p:nvPr/>
        </p:nvSpPr>
        <p:spPr>
          <a:xfrm>
            <a:off x="822960" y="1554480"/>
            <a:ext cx="4861408"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BY DESIGN, IT CANNOT</a:t>
            </a:r>
            <a:endParaRPr lang="en-US" sz="1100" dirty="0"/>
          </a:p>
        </p:txBody>
      </p:sp>
      <p:sp>
        <p:nvSpPr>
          <p:cNvPr id="6" name="lim-l-t"/>
          <p:cNvSpPr txBox="1"/>
          <p:nvPr/>
        </p:nvSpPr>
        <p:spPr>
          <a:xfrm>
            <a:off x="822960" y="1965960"/>
            <a:ext cx="4861408" cy="4297680"/>
          </a:xfrm>
          <a:prstGeom prst="rect">
            <a:avLst/>
          </a:prstGeom>
          <a:noFill/>
          <a:ln/>
        </p:spPr>
        <p:txBody>
          <a:bodyPr wrap="square" lIns="0" tIns="0" rIns="0" bIns="0" rtlCol="0" anchor="t"/>
          <a:lstStyle/>
          <a:p>
            <a:pPr indent="0" marL="0">
              <a:buNone/>
            </a:pPr>
            <a:r>
              <a:rPr lang="en-US" sz="1600" b="1" dirty="0">
                <a:solidFill>
                  <a:schemeClr val="tx1"/>
                </a:solidFill>
              </a:rPr>
              <a:t>Go beyond your permissions</a:t>
            </a:r>
            <a:endParaRPr lang="en-US" sz="1600" dirty="0"/>
          </a:p>
          <a:p>
            <a:pPr indent="0" marL="0">
              <a:spcAft>
                <a:spcPts val="1400"/>
              </a:spcAft>
              <a:buNone/>
            </a:pPr>
            <a:r>
              <a:rPr lang="en-US" sz="1450" dirty="0">
                <a:solidFill>
                  <a:schemeClr val="tx2"/>
                </a:solidFill>
              </a:rPr>
              <a:t>no service account, no escalation; it sees and changes only what you can</a:t>
            </a:r>
            <a:endParaRPr lang="en-US" sz="1600" dirty="0"/>
          </a:p>
          <a:p>
            <a:pPr indent="0" marL="0">
              <a:buNone/>
            </a:pPr>
            <a:r>
              <a:rPr lang="en-US" sz="1600" b="1" dirty="0">
                <a:solidFill>
                  <a:schemeClr val="tx1"/>
                </a:solidFill>
              </a:rPr>
              <a:t>Write without your consent</a:t>
            </a:r>
            <a:endParaRPr lang="en-US" sz="1600" dirty="0"/>
          </a:p>
          <a:p>
            <a:pPr indent="0" marL="0">
              <a:spcAft>
                <a:spcPts val="1400"/>
              </a:spcAft>
              <a:buNone/>
            </a:pPr>
            <a:r>
              <a:rPr lang="en-US" sz="1450" dirty="0">
                <a:solidFill>
                  <a:schemeClr val="tx2"/>
                </a:solidFill>
              </a:rPr>
              <a:t>actions, publishing, apps and tags always need approval</a:t>
            </a:r>
            <a:endParaRPr lang="en-US" sz="1600" dirty="0"/>
          </a:p>
          <a:p>
            <a:pPr indent="0" marL="0">
              <a:buNone/>
            </a:pPr>
            <a:r>
              <a:rPr lang="en-US" sz="1600" b="1" dirty="0">
                <a:solidFill>
                  <a:schemeClr val="tx1"/>
                </a:solidFill>
              </a:rPr>
              <a:t>Share a session</a:t>
            </a:r>
            <a:endParaRPr lang="en-US" sz="1600" dirty="0"/>
          </a:p>
          <a:p>
            <a:pPr indent="0" marL="0">
              <a:spcAft>
                <a:spcPts val="1400"/>
              </a:spcAft>
              <a:buNone/>
            </a:pPr>
            <a:r>
              <a:rPr lang="en-US" sz="1450" dirty="0">
                <a:solidFill>
                  <a:schemeClr val="tx2"/>
                </a:solidFill>
              </a:rPr>
              <a:t>sessions are private to you, and follow your markings</a:t>
            </a:r>
            <a:endParaRPr lang="en-US" sz="1600" dirty="0"/>
          </a:p>
          <a:p>
            <a:pPr indent="0" marL="0">
              <a:buNone/>
            </a:pPr>
            <a:r>
              <a:rPr lang="en-US" sz="1600" b="1" dirty="0">
                <a:solidFill>
                  <a:schemeClr val="tx1"/>
                </a:solidFill>
              </a:rPr>
              <a:t>Use models we haven't enabled</a:t>
            </a:r>
            <a:endParaRPr lang="en-US" sz="1600" dirty="0"/>
          </a:p>
          <a:p>
            <a:pPr indent="0" marL="0">
              <a:spcAft>
                <a:spcPts val="1400"/>
              </a:spcAft>
              <a:buNone/>
            </a:pPr>
            <a:r>
              <a:rPr lang="en-US" sz="1450" dirty="0">
                <a:solidFill>
                  <a:schemeClr val="tx2"/>
                </a:solidFill>
              </a:rPr>
              <a:t>on our enrollment that means Gemini models only</a:t>
            </a:r>
            <a:endParaRPr lang="en-US" sz="1600" dirty="0"/>
          </a:p>
          <a:p>
            <a:pPr indent="0" marL="0">
              <a:buNone/>
            </a:pPr>
            <a:r>
              <a:rPr lang="en-US" sz="1600" b="1" dirty="0">
                <a:solidFill>
                  <a:schemeClr val="tx1"/>
                </a:solidFill>
              </a:rPr>
              <a:t>Know what you didn't tell it</a:t>
            </a:r>
            <a:endParaRPr lang="en-US" sz="1600" dirty="0"/>
          </a:p>
          <a:p>
            <a:pPr indent="0" marL="0">
              <a:spcAft>
                <a:spcPts val="1400"/>
              </a:spcAft>
              <a:buNone/>
            </a:pPr>
            <a:r>
              <a:rPr lang="en-US" sz="1450" dirty="0">
                <a:solidFill>
                  <a:schemeClr val="tx2"/>
                </a:solidFill>
              </a:rPr>
              <a:t>it starts with no user data; it only knows the context you add</a:t>
            </a:r>
            <a:endParaRPr lang="en-US" sz="1600" dirty="0"/>
          </a:p>
        </p:txBody>
      </p:sp>
      <p:sp>
        <p:nvSpPr>
          <p:cNvPr id="7" name="lim-r"/>
          <p:cNvSpPr/>
          <p:nvPr/>
        </p:nvSpPr>
        <p:spPr>
          <a:xfrm>
            <a:off x="6233008" y="1417320"/>
            <a:ext cx="5410048" cy="4937760"/>
          </a:xfrm>
          <a:prstGeom prst="roundRect">
            <a:avLst>
              <a:gd name="adj" fmla="val 2222"/>
            </a:avLst>
          </a:prstGeom>
          <a:solidFill>
            <a:schemeClr val="tx1"/>
          </a:solidFill>
          <a:ln/>
        </p:spPr>
      </p:sp>
      <p:sp>
        <p:nvSpPr>
          <p:cNvPr id="8" name="h-AND YOU SHOU"/>
          <p:cNvSpPr txBox="1"/>
          <p:nvPr/>
        </p:nvSpPr>
        <p:spPr>
          <a:xfrm>
            <a:off x="6507328" y="1554480"/>
            <a:ext cx="4861408"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AND YOU SHOULDN'T</a:t>
            </a:r>
            <a:endParaRPr lang="en-US" sz="1100" dirty="0"/>
          </a:p>
        </p:txBody>
      </p:sp>
      <p:sp>
        <p:nvSpPr>
          <p:cNvPr id="9" name="lim-r-t"/>
          <p:cNvSpPr txBox="1"/>
          <p:nvPr/>
        </p:nvSpPr>
        <p:spPr>
          <a:xfrm>
            <a:off x="6507328" y="1965960"/>
            <a:ext cx="4861408" cy="4297680"/>
          </a:xfrm>
          <a:prstGeom prst="rect">
            <a:avLst/>
          </a:prstGeom>
          <a:noFill/>
          <a:ln/>
        </p:spPr>
        <p:txBody>
          <a:bodyPr wrap="square" lIns="0" tIns="0" rIns="0" bIns="0" rtlCol="0" anchor="t"/>
          <a:lstStyle/>
          <a:p>
            <a:pPr indent="0" marL="0">
              <a:buNone/>
            </a:pPr>
            <a:r>
              <a:rPr lang="en-US" sz="1600" b="1" dirty="0">
                <a:solidFill>
                  <a:schemeClr val="bg1"/>
                </a:solidFill>
              </a:rPr>
              <a:t>Ship its output unreviewed</a:t>
            </a:r>
            <a:endParaRPr lang="en-US" sz="1600" dirty="0"/>
          </a:p>
          <a:p>
            <a:pPr indent="0" marL="0">
              <a:spcAft>
                <a:spcPts val="1400"/>
              </a:spcAft>
              <a:buNone/>
            </a:pPr>
            <a:r>
              <a:rPr lang="en-US" sz="1450" dirty="0">
                <a:solidFill>
                  <a:schemeClr val="accent5"/>
                </a:solidFill>
              </a:rPr>
              <a:t>it's built for fast prototypes; production needs your review, tests and tuning</a:t>
            </a:r>
            <a:endParaRPr lang="en-US" sz="1600" dirty="0"/>
          </a:p>
          <a:p>
            <a:pPr indent="0" marL="0">
              <a:buNone/>
            </a:pPr>
            <a:r>
              <a:rPr lang="en-US" sz="1600" b="1" dirty="0">
                <a:solidFill>
                  <a:schemeClr val="bg1"/>
                </a:solidFill>
              </a:rPr>
              <a:t>Approve without reading</a:t>
            </a:r>
            <a:endParaRPr lang="en-US" sz="1600" dirty="0"/>
          </a:p>
          <a:p>
            <a:pPr indent="0" marL="0">
              <a:spcAft>
                <a:spcPts val="1400"/>
              </a:spcAft>
              <a:buNone/>
            </a:pPr>
            <a:r>
              <a:rPr lang="en-US" sz="1450" dirty="0">
                <a:solidFill>
                  <a:schemeClr val="accent5"/>
                </a:solidFill>
              </a:rPr>
              <a:t>check which tool and which action before every approval</a:t>
            </a:r>
            <a:endParaRPr lang="en-US" sz="1600" dirty="0"/>
          </a:p>
          <a:p>
            <a:pPr indent="0" marL="0">
              <a:buNone/>
            </a:pPr>
            <a:r>
              <a:rPr lang="en-US" sz="1600" b="1" dirty="0">
                <a:solidFill>
                  <a:schemeClr val="bg1"/>
                </a:solidFill>
              </a:rPr>
              <a:t>Treat it as a domain expert</a:t>
            </a:r>
            <a:endParaRPr lang="en-US" sz="1600" dirty="0"/>
          </a:p>
          <a:p>
            <a:pPr indent="0" marL="0">
              <a:spcAft>
                <a:spcPts val="1400"/>
              </a:spcAft>
              <a:buNone/>
            </a:pPr>
            <a:r>
              <a:rPr lang="en-US" sz="1450" dirty="0">
                <a:solidFill>
                  <a:schemeClr val="accent5"/>
                </a:solidFill>
              </a:rPr>
              <a:t>it knows Skywise, not our business rules: give it those</a:t>
            </a:r>
            <a:endParaRPr lang="en-US" sz="1600" dirty="0"/>
          </a:p>
          <a:p>
            <a:pPr indent="0" marL="0">
              <a:buNone/>
            </a:pPr>
            <a:r>
              <a:rPr lang="en-US" sz="1600" b="1" dirty="0">
                <a:solidFill>
                  <a:schemeClr val="bg1"/>
                </a:solidFill>
              </a:rPr>
              <a:t>Run it at scale unchecked</a:t>
            </a:r>
            <a:endParaRPr lang="en-US" sz="1600" dirty="0"/>
          </a:p>
          <a:p>
            <a:pPr indent="0" marL="0">
              <a:spcAft>
                <a:spcPts val="1400"/>
              </a:spcAft>
              <a:buNone/>
            </a:pPr>
            <a:r>
              <a:rPr lang="en-US" sz="1450" dirty="0">
                <a:solidFill>
                  <a:schemeClr val="accent5"/>
                </a:solidFill>
              </a:rPr>
              <a:t>it can fire dozens of builds in minutes; mind compute, GPUs and storage</a:t>
            </a:r>
            <a:endParaRPr lang="en-US" sz="1600" dirty="0"/>
          </a:p>
          <a:p>
            <a:pPr indent="0" marL="0">
              <a:buNone/>
            </a:pPr>
            <a:r>
              <a:rPr lang="en-US" sz="1600" b="1" dirty="0">
                <a:solidFill>
                  <a:schemeClr val="bg1"/>
                </a:solidFill>
              </a:rPr>
              <a:t>Expect identical features everywhere</a:t>
            </a:r>
            <a:endParaRPr lang="en-US" sz="1600" dirty="0"/>
          </a:p>
          <a:p>
            <a:pPr indent="0" marL="0">
              <a:spcAft>
                <a:spcPts val="1400"/>
              </a:spcAft>
              <a:buNone/>
            </a:pPr>
            <a:r>
              <a:rPr lang="en-US" sz="1450" dirty="0">
                <a:solidFill>
                  <a:schemeClr val="accent5"/>
                </a:solidFill>
              </a:rPr>
              <a:t>availability can differ by enrollment and changes over time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SAVING TOKENS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Every message re-reads the whole session</a:t>
            </a:r>
            <a:endParaRPr lang="en-US" sz="3600" dirty="0"/>
          </a:p>
        </p:txBody>
      </p:sp>
      <p:sp>
        <p:nvSpPr>
          <p:cNvPr id="4" name="tok-sub"/>
          <p:cNvSpPr txBox="1"/>
          <p:nvPr/>
        </p:nvSpPr>
        <p:spPr>
          <a:xfrm>
            <a:off x="548640" y="1143000"/>
            <a:ext cx="11094415" cy="320040"/>
          </a:xfrm>
          <a:prstGeom prst="rect">
            <a:avLst/>
          </a:prstGeom>
          <a:noFill/>
          <a:ln/>
        </p:spPr>
        <p:txBody>
          <a:bodyPr wrap="square" lIns="0" tIns="0" rIns="0" bIns="0" rtlCol="0" anchor="t"/>
          <a:lstStyle/>
          <a:p>
            <a:pPr indent="0" marL="0">
              <a:buNone/>
            </a:pPr>
            <a:r>
              <a:rPr lang="en-US" sz="1400" dirty="0">
                <a:solidFill>
                  <a:schemeClr val="tx2"/>
                </a:solidFill>
              </a:rPr>
              <a:t>So the cost of a session grows with its length and with everything attached. Keep it small.</a:t>
            </a:r>
            <a:endParaRPr lang="en-US" sz="1400" dirty="0"/>
          </a:p>
        </p:txBody>
      </p:sp>
      <p:sp>
        <p:nvSpPr>
          <p:cNvPr id="5" name="tok-0"/>
          <p:cNvSpPr/>
          <p:nvPr/>
        </p:nvSpPr>
        <p:spPr>
          <a:xfrm>
            <a:off x="548640" y="1600200"/>
            <a:ext cx="5410048" cy="868680"/>
          </a:xfrm>
          <a:prstGeom prst="roundRect">
            <a:avLst>
              <a:gd name="adj" fmla="val 12632"/>
            </a:avLst>
          </a:prstGeom>
          <a:solidFill>
            <a:schemeClr val="bg1"/>
          </a:solidFill>
          <a:ln/>
        </p:spPr>
      </p:sp>
      <p:sp>
        <p:nvSpPr>
          <p:cNvPr id="6" name="tok-0-t"/>
          <p:cNvSpPr txBox="1"/>
          <p:nvPr/>
        </p:nvSpPr>
        <p:spPr>
          <a:xfrm>
            <a:off x="777240" y="160020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Start small, add on demand</a:t>
            </a:r>
            <a:endParaRPr lang="en-US" sz="1400" dirty="0"/>
          </a:p>
          <a:p>
            <a:pPr indent="0" marL="0">
              <a:buNone/>
            </a:pPr>
            <a:r>
              <a:rPr lang="en-US" sz="1200" dirty="0">
                <a:solidFill>
                  <a:schemeClr val="tx2"/>
                </a:solidFill>
              </a:rPr>
              <a:t>Attach the one dataset or object type, not the project; let it search only if needed</a:t>
            </a:r>
            <a:endParaRPr lang="en-US" sz="1400" dirty="0"/>
          </a:p>
        </p:txBody>
      </p:sp>
      <p:sp>
        <p:nvSpPr>
          <p:cNvPr id="7" name="tok-1"/>
          <p:cNvSpPr/>
          <p:nvPr/>
        </p:nvSpPr>
        <p:spPr>
          <a:xfrm>
            <a:off x="6233008" y="1600200"/>
            <a:ext cx="5410048" cy="868680"/>
          </a:xfrm>
          <a:prstGeom prst="roundRect">
            <a:avLst>
              <a:gd name="adj" fmla="val 12632"/>
            </a:avLst>
          </a:prstGeom>
          <a:solidFill>
            <a:schemeClr val="bg1"/>
          </a:solidFill>
          <a:ln/>
        </p:spPr>
      </p:sp>
      <p:sp>
        <p:nvSpPr>
          <p:cNvPr id="8" name="tok-1-t"/>
          <p:cNvSpPr txBox="1"/>
          <p:nvPr/>
        </p:nvSpPr>
        <p:spPr>
          <a:xfrm>
            <a:off x="6461608" y="160020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Switch off unused tools</a:t>
            </a:r>
            <a:endParaRPr lang="en-US" sz="1400" dirty="0"/>
          </a:p>
          <a:p>
            <a:pPr indent="0" marL="0">
              <a:buNone/>
            </a:pPr>
            <a:r>
              <a:rPr lang="en-US" sz="1200" dirty="0">
                <a:solidFill>
                  <a:schemeClr val="tx2"/>
                </a:solidFill>
              </a:rPr>
              <a:t>Fewer tools = shorter instructions on every turn and fewer wrong turns</a:t>
            </a:r>
            <a:endParaRPr lang="en-US" sz="1400" dirty="0"/>
          </a:p>
        </p:txBody>
      </p:sp>
      <p:sp>
        <p:nvSpPr>
          <p:cNvPr id="9" name="tok-2"/>
          <p:cNvSpPr/>
          <p:nvPr/>
        </p:nvSpPr>
        <p:spPr>
          <a:xfrm>
            <a:off x="548640" y="2560320"/>
            <a:ext cx="5410048" cy="868680"/>
          </a:xfrm>
          <a:prstGeom prst="roundRect">
            <a:avLst>
              <a:gd name="adj" fmla="val 12632"/>
            </a:avLst>
          </a:prstGeom>
          <a:solidFill>
            <a:schemeClr val="bg1"/>
          </a:solidFill>
          <a:ln/>
        </p:spPr>
      </p:sp>
      <p:sp>
        <p:nvSpPr>
          <p:cNvPr id="10" name="tok-2-t"/>
          <p:cNvSpPr txBox="1"/>
          <p:nvPr/>
        </p:nvSpPr>
        <p:spPr>
          <a:xfrm>
            <a:off x="777240" y="256032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New session per task</a:t>
            </a:r>
            <a:endParaRPr lang="en-US" sz="1400" dirty="0"/>
          </a:p>
          <a:p>
            <a:pPr indent="0" marL="0">
              <a:buNone/>
            </a:pPr>
            <a:r>
              <a:rPr lang="en-US" sz="1200" dirty="0">
                <a:solidFill>
                  <a:schemeClr val="tx2"/>
                </a:solidFill>
              </a:rPr>
              <a:t>Don't carry yesterday's debugging into today's ontology change</a:t>
            </a:r>
            <a:endParaRPr lang="en-US" sz="1400" dirty="0"/>
          </a:p>
        </p:txBody>
      </p:sp>
      <p:sp>
        <p:nvSpPr>
          <p:cNvPr id="11" name="tok-3"/>
          <p:cNvSpPr/>
          <p:nvPr/>
        </p:nvSpPr>
        <p:spPr>
          <a:xfrm>
            <a:off x="6233008" y="2560320"/>
            <a:ext cx="5410048" cy="868680"/>
          </a:xfrm>
          <a:prstGeom prst="roundRect">
            <a:avLst>
              <a:gd name="adj" fmla="val 12632"/>
            </a:avLst>
          </a:prstGeom>
          <a:solidFill>
            <a:schemeClr val="bg1"/>
          </a:solidFill>
          <a:ln/>
        </p:spPr>
      </p:sp>
      <p:sp>
        <p:nvSpPr>
          <p:cNvPr id="12" name="tok-3-t"/>
          <p:cNvSpPr txBox="1"/>
          <p:nvPr/>
        </p:nvSpPr>
        <p:spPr>
          <a:xfrm>
            <a:off x="6461608" y="256032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Compact long sessions</a:t>
            </a:r>
            <a:endParaRPr lang="en-US" sz="1400" dirty="0"/>
          </a:p>
          <a:p>
            <a:pPr indent="0" marL="0">
              <a:buNone/>
            </a:pPr>
            <a:r>
              <a:rPr lang="en-US" sz="1200" dirty="0">
                <a:solidFill>
                  <a:schemeClr val="tx2"/>
                </a:solidFill>
              </a:rPr>
              <a:t>Summarise or remove old messages once a step is done</a:t>
            </a:r>
            <a:endParaRPr lang="en-US" sz="1400" dirty="0"/>
          </a:p>
        </p:txBody>
      </p:sp>
      <p:sp>
        <p:nvSpPr>
          <p:cNvPr id="13" name="tok-4"/>
          <p:cNvSpPr/>
          <p:nvPr/>
        </p:nvSpPr>
        <p:spPr>
          <a:xfrm>
            <a:off x="548640" y="3520440"/>
            <a:ext cx="5410048" cy="868680"/>
          </a:xfrm>
          <a:prstGeom prst="roundRect">
            <a:avLst>
              <a:gd name="adj" fmla="val 12632"/>
            </a:avLst>
          </a:prstGeom>
          <a:solidFill>
            <a:schemeClr val="tx1"/>
          </a:solidFill>
          <a:ln/>
        </p:spPr>
      </p:sp>
      <p:sp>
        <p:nvSpPr>
          <p:cNvPr id="14" name="tok-4-t"/>
          <p:cNvSpPr txBox="1"/>
          <p:nvPr/>
        </p:nvSpPr>
        <p:spPr>
          <a:xfrm>
            <a:off x="777240" y="3520440"/>
            <a:ext cx="4952848" cy="868680"/>
          </a:xfrm>
          <a:prstGeom prst="rect">
            <a:avLst/>
          </a:prstGeom>
          <a:noFill/>
          <a:ln/>
        </p:spPr>
        <p:txBody>
          <a:bodyPr wrap="square" lIns="0" tIns="0" rIns="0" bIns="0" rtlCol="0" anchor="ctr"/>
          <a:lstStyle/>
          <a:p>
            <a:pPr indent="0" marL="0">
              <a:buNone/>
            </a:pPr>
            <a:r>
              <a:rPr lang="en-US" sz="1400" b="1" dirty="0">
                <a:solidFill>
                  <a:schemeClr val="bg1"/>
                </a:solidFill>
              </a:rPr>
              <a:t>Watch the outline</a:t>
            </a:r>
            <a:endParaRPr lang="en-US" sz="1400" dirty="0"/>
          </a:p>
          <a:p>
            <a:pPr indent="0" marL="0">
              <a:buNone/>
            </a:pPr>
            <a:r>
              <a:rPr lang="en-US" sz="1200" dirty="0">
                <a:solidFill>
                  <a:schemeClr val="accent5"/>
                </a:solidFill>
              </a:rPr>
              <a:t>The per-message token count shows what's expensive: big attachments, long logs</a:t>
            </a:r>
            <a:endParaRPr lang="en-US" sz="1400" dirty="0"/>
          </a:p>
        </p:txBody>
      </p:sp>
      <p:sp>
        <p:nvSpPr>
          <p:cNvPr id="15" name="tok-5"/>
          <p:cNvSpPr/>
          <p:nvPr/>
        </p:nvSpPr>
        <p:spPr>
          <a:xfrm>
            <a:off x="6233008" y="3520440"/>
            <a:ext cx="5410048" cy="868680"/>
          </a:xfrm>
          <a:prstGeom prst="roundRect">
            <a:avLst>
              <a:gd name="adj" fmla="val 12632"/>
            </a:avLst>
          </a:prstGeom>
          <a:solidFill>
            <a:schemeClr val="bg1"/>
          </a:solidFill>
          <a:ln/>
        </p:spPr>
      </p:sp>
      <p:sp>
        <p:nvSpPr>
          <p:cNvPr id="16" name="tok-5-t"/>
          <p:cNvSpPr txBox="1"/>
          <p:nvPr/>
        </p:nvSpPr>
        <p:spPr>
          <a:xfrm>
            <a:off x="6461608" y="352044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Plan first</a:t>
            </a:r>
            <a:endParaRPr lang="en-US" sz="1400" dirty="0"/>
          </a:p>
          <a:p>
            <a:pPr indent="0" marL="0">
              <a:buNone/>
            </a:pPr>
            <a:r>
              <a:rPr lang="en-US" sz="1200" dirty="0">
                <a:solidFill>
                  <a:schemeClr val="tx2"/>
                </a:solidFill>
              </a:rPr>
              <a:t>One reviewed plan is cheaper than three rounds of rework</a:t>
            </a:r>
            <a:endParaRPr lang="en-US" sz="1400" dirty="0"/>
          </a:p>
        </p:txBody>
      </p:sp>
      <p:sp>
        <p:nvSpPr>
          <p:cNvPr id="17" name="tok-6"/>
          <p:cNvSpPr/>
          <p:nvPr/>
        </p:nvSpPr>
        <p:spPr>
          <a:xfrm>
            <a:off x="548640" y="4480560"/>
            <a:ext cx="5410048" cy="868680"/>
          </a:xfrm>
          <a:prstGeom prst="roundRect">
            <a:avLst>
              <a:gd name="adj" fmla="val 12632"/>
            </a:avLst>
          </a:prstGeom>
          <a:solidFill>
            <a:schemeClr val="bg1"/>
          </a:solidFill>
          <a:ln/>
        </p:spPr>
      </p:sp>
      <p:sp>
        <p:nvSpPr>
          <p:cNvPr id="18" name="tok-6-t"/>
          <p:cNvSpPr txBox="1"/>
          <p:nvPr/>
        </p:nvSpPr>
        <p:spPr>
          <a:xfrm>
            <a:off x="777240" y="448056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Point, don't paste</a:t>
            </a:r>
            <a:endParaRPr lang="en-US" sz="1400" dirty="0"/>
          </a:p>
          <a:p>
            <a:pPr indent="0" marL="0">
              <a:buNone/>
            </a:pPr>
            <a:r>
              <a:rPr lang="en-US" sz="1200" dirty="0">
                <a:solidFill>
                  <a:schemeClr val="tx2"/>
                </a:solidFill>
              </a:rPr>
              <a:t>Reference datasets and logs by resource; don't paste large tables or files</a:t>
            </a:r>
            <a:endParaRPr lang="en-US" sz="1400" dirty="0"/>
          </a:p>
        </p:txBody>
      </p:sp>
      <p:sp>
        <p:nvSpPr>
          <p:cNvPr id="19" name="tok-7"/>
          <p:cNvSpPr/>
          <p:nvPr/>
        </p:nvSpPr>
        <p:spPr>
          <a:xfrm>
            <a:off x="6233008" y="4480560"/>
            <a:ext cx="5410048" cy="868680"/>
          </a:xfrm>
          <a:prstGeom prst="roundRect">
            <a:avLst>
              <a:gd name="adj" fmla="val 12632"/>
            </a:avLst>
          </a:prstGeom>
          <a:solidFill>
            <a:schemeClr val="bg1"/>
          </a:solidFill>
          <a:ln/>
        </p:spPr>
      </p:sp>
      <p:sp>
        <p:nvSpPr>
          <p:cNvPr id="20" name="tok-7-t"/>
          <p:cNvSpPr txBox="1"/>
          <p:nvPr/>
        </p:nvSpPr>
        <p:spPr>
          <a:xfrm>
            <a:off x="6461608" y="448056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Ask for diffs and summaries</a:t>
            </a:r>
            <a:endParaRPr lang="en-US" sz="1400" dirty="0"/>
          </a:p>
          <a:p>
            <a:pPr indent="0" marL="0">
              <a:buNone/>
            </a:pPr>
            <a:r>
              <a:rPr lang="en-US" sz="1200" dirty="0">
                <a:solidFill>
                  <a:schemeClr val="tx2"/>
                </a:solidFill>
              </a:rPr>
              <a:t>"Show only the changed lines" instead of whole files; "summarise the log"</a:t>
            </a:r>
            <a:endParaRPr lang="en-US" sz="1400" dirty="0"/>
          </a:p>
        </p:txBody>
      </p:sp>
      <p:sp>
        <p:nvSpPr>
          <p:cNvPr id="21" name="tok-8"/>
          <p:cNvSpPr/>
          <p:nvPr/>
        </p:nvSpPr>
        <p:spPr>
          <a:xfrm>
            <a:off x="548640" y="5440680"/>
            <a:ext cx="5410048" cy="868680"/>
          </a:xfrm>
          <a:prstGeom prst="roundRect">
            <a:avLst>
              <a:gd name="adj" fmla="val 12632"/>
            </a:avLst>
          </a:prstGeom>
          <a:solidFill>
            <a:schemeClr val="bg1"/>
          </a:solidFill>
          <a:ln/>
        </p:spPr>
      </p:sp>
      <p:sp>
        <p:nvSpPr>
          <p:cNvPr id="22" name="tok-8-t"/>
          <p:cNvSpPr txBox="1"/>
          <p:nvPr/>
        </p:nvSpPr>
        <p:spPr>
          <a:xfrm>
            <a:off x="777240" y="544068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Right Gemini for the job</a:t>
            </a:r>
            <a:endParaRPr lang="en-US" sz="1400" dirty="0"/>
          </a:p>
          <a:p>
            <a:pPr indent="0" marL="0">
              <a:buNone/>
            </a:pPr>
            <a:r>
              <a:rPr lang="en-US" sz="1200" dirty="0">
                <a:solidFill>
                  <a:schemeClr val="tx2"/>
                </a:solidFill>
              </a:rPr>
              <a:t>A fast Flash model for Q&amp;A and exploration; a stronger model for building</a:t>
            </a:r>
            <a:endParaRPr lang="en-US" sz="1400" dirty="0"/>
          </a:p>
        </p:txBody>
      </p:sp>
      <p:sp>
        <p:nvSpPr>
          <p:cNvPr id="23" name="tok-9"/>
          <p:cNvSpPr/>
          <p:nvPr/>
        </p:nvSpPr>
        <p:spPr>
          <a:xfrm>
            <a:off x="6233008" y="5440680"/>
            <a:ext cx="5410048" cy="868680"/>
          </a:xfrm>
          <a:prstGeom prst="roundRect">
            <a:avLst>
              <a:gd name="adj" fmla="val 12632"/>
            </a:avLst>
          </a:prstGeom>
          <a:solidFill>
            <a:schemeClr val="bg1"/>
          </a:solidFill>
          <a:ln/>
        </p:spPr>
      </p:sp>
      <p:sp>
        <p:nvSpPr>
          <p:cNvPr id="24" name="tok-9-t"/>
          <p:cNvSpPr txBox="1"/>
          <p:nvPr/>
        </p:nvSpPr>
        <p:spPr>
          <a:xfrm>
            <a:off x="6461608" y="5440680"/>
            <a:ext cx="4952848" cy="868680"/>
          </a:xfrm>
          <a:prstGeom prst="rect">
            <a:avLst/>
          </a:prstGeom>
          <a:noFill/>
          <a:ln/>
        </p:spPr>
        <p:txBody>
          <a:bodyPr wrap="square" lIns="0" tIns="0" rIns="0" bIns="0" rtlCol="0" anchor="ctr"/>
          <a:lstStyle/>
          <a:p>
            <a:pPr indent="0" marL="0">
              <a:buNone/>
            </a:pPr>
            <a:r>
              <a:rPr lang="en-US" sz="1400" b="1" dirty="0">
                <a:solidFill>
                  <a:schemeClr val="tx1"/>
                </a:solidFill>
              </a:rPr>
              <a:t>Reuse skills and links</a:t>
            </a:r>
            <a:endParaRPr lang="en-US" sz="1400" dirty="0"/>
          </a:p>
          <a:p>
            <a:pPr indent="0" marL="0">
              <a:buNone/>
            </a:pPr>
            <a:r>
              <a:rPr lang="en-US" sz="1200" dirty="0">
                <a:solidFill>
                  <a:schemeClr val="tx2"/>
                </a:solidFill>
              </a:rPr>
              <a:t>Long standing instructions live in an AIP skill, not retyped every session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GEMINI ON SKYWISE</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Pick the Gemini model by the job</a:t>
            </a:r>
            <a:endParaRPr lang="en-US" sz="3600" dirty="0"/>
          </a:p>
        </p:txBody>
      </p:sp>
      <p:sp>
        <p:nvSpPr>
          <p:cNvPr id="4" name="gm-sub"/>
          <p:cNvSpPr txBox="1"/>
          <p:nvPr/>
        </p:nvSpPr>
        <p:spPr>
          <a:xfrm>
            <a:off x="548640" y="1143000"/>
            <a:ext cx="11094415" cy="320040"/>
          </a:xfrm>
          <a:prstGeom prst="rect">
            <a:avLst/>
          </a:prstGeom>
          <a:noFill/>
          <a:ln/>
        </p:spPr>
        <p:txBody>
          <a:bodyPr wrap="square" lIns="0" tIns="0" rIns="0" bIns="0" rtlCol="0" anchor="t"/>
          <a:lstStyle/>
          <a:p>
            <a:pPr indent="0" marL="0">
              <a:buNone/>
            </a:pPr>
            <a:r>
              <a:rPr lang="en-US" sz="1400" dirty="0">
                <a:solidFill>
                  <a:schemeClr val="tx2"/>
                </a:solidFill>
              </a:rPr>
              <a:t>We only use Gemini models. Choose from the ones enabled on our Skywise enrollment in the model picker.</a:t>
            </a:r>
            <a:endParaRPr lang="en-US" sz="1400" dirty="0"/>
          </a:p>
        </p:txBody>
      </p:sp>
      <p:sp>
        <p:nvSpPr>
          <p:cNvPr id="5" name="gm-0"/>
          <p:cNvSpPr/>
          <p:nvPr/>
        </p:nvSpPr>
        <p:spPr>
          <a:xfrm>
            <a:off x="548640" y="1645920"/>
            <a:ext cx="5410048" cy="3291840"/>
          </a:xfrm>
          <a:prstGeom prst="roundRect">
            <a:avLst>
              <a:gd name="adj" fmla="val 3333"/>
            </a:avLst>
          </a:prstGeom>
          <a:solidFill>
            <a:schemeClr val="bg2"/>
          </a:solidFill>
          <a:ln/>
        </p:spPr>
      </p:sp>
      <p:sp>
        <p:nvSpPr>
          <p:cNvPr id="6" name="gm-0-t"/>
          <p:cNvSpPr txBox="1"/>
          <p:nvPr/>
        </p:nvSpPr>
        <p:spPr>
          <a:xfrm>
            <a:off x="868680" y="1783080"/>
            <a:ext cx="4769968" cy="3017520"/>
          </a:xfrm>
          <a:prstGeom prst="rect">
            <a:avLst/>
          </a:prstGeom>
          <a:noFill/>
          <a:ln/>
        </p:spPr>
        <p:txBody>
          <a:bodyPr wrap="square" lIns="0" tIns="0" rIns="0" bIns="0" rtlCol="0" anchor="t"/>
          <a:lstStyle/>
          <a:p>
            <a:pPr indent="0" marL="0">
              <a:buNone/>
            </a:pPr>
            <a:r>
              <a:rPr lang="en-US" sz="1900" b="1" dirty="0">
                <a:solidFill>
                  <a:schemeClr val="tx1"/>
                </a:solidFill>
              </a:rPr>
              <a:t>Fast model (Flash)</a:t>
            </a:r>
            <a:endParaRPr lang="en-US" sz="1900" dirty="0"/>
          </a:p>
          <a:p>
            <a:pPr indent="0" marL="0">
              <a:buNone/>
            </a:pPr>
            <a:r>
              <a:rPr lang="en-US" sz="1300" dirty="0">
                <a:solidFill>
                  <a:schemeClr val="tx2"/>
                </a:solidFill>
              </a:rPr>
              <a:t>Cheapest and quickest</a:t>
            </a:r>
            <a:endParaRPr lang="en-US" sz="1900" dirty="0"/>
          </a:p>
          <a:p>
            <a:pPr indent="0" marL="0">
              <a:buNone/>
            </a:pPr>
            <a:r>
              <a:rPr lang="en-US" sz="800" dirty="0">
                <a:solidFill>
                  <a:srgbClr val="000000"/>
                </a:solidFill>
              </a:rPr>
              <a:t> </a:t>
            </a:r>
            <a:endParaRPr lang="en-US" sz="1900" dirty="0"/>
          </a:p>
          <a:p>
            <a:pPr marL="342900" indent="-342900">
              <a:spcAft>
                <a:spcPts val="600"/>
              </a:spcAft>
              <a:buSzPct val="100000"/>
              <a:buChar char="•"/>
            </a:pPr>
            <a:r>
              <a:rPr lang="en-US" sz="1500" dirty="0">
                <a:solidFill>
                  <a:schemeClr val="tx1"/>
                </a:solidFill>
              </a:rPr>
              <a:t>Platform Q&amp;A</a:t>
            </a:r>
            <a:endParaRPr lang="en-US" sz="1900" dirty="0"/>
          </a:p>
          <a:p>
            <a:pPr marL="342900" indent="-342900">
              <a:spcAft>
                <a:spcPts val="600"/>
              </a:spcAft>
              <a:buSzPct val="100000"/>
              <a:buChar char="•"/>
            </a:pPr>
            <a:r>
              <a:rPr lang="en-US" sz="1500" dirty="0">
                <a:solidFill>
                  <a:schemeClr val="tx1"/>
                </a:solidFill>
              </a:rPr>
              <a:t>Exploration and lineage questions</a:t>
            </a:r>
            <a:endParaRPr lang="en-US" sz="1900" dirty="0"/>
          </a:p>
          <a:p>
            <a:pPr marL="342900" indent="-342900">
              <a:spcAft>
                <a:spcPts val="600"/>
              </a:spcAft>
              <a:buSzPct val="100000"/>
              <a:buChar char="•"/>
            </a:pPr>
            <a:r>
              <a:rPr lang="en-US" sz="1500" dirty="0">
                <a:solidFill>
                  <a:schemeClr val="tx1"/>
                </a:solidFill>
              </a:rPr>
              <a:t>Summarising logs and resources</a:t>
            </a:r>
            <a:endParaRPr lang="en-US" sz="1900" dirty="0"/>
          </a:p>
          <a:p>
            <a:pPr marL="342900" indent="-342900">
              <a:spcAft>
                <a:spcPts val="600"/>
              </a:spcAft>
              <a:buSzPct val="100000"/>
              <a:buChar char="•"/>
            </a:pPr>
            <a:r>
              <a:rPr lang="en-US" sz="1500" dirty="0">
                <a:solidFill>
                  <a:schemeClr val="tx1"/>
                </a:solidFill>
              </a:rPr>
              <a:t>Governance look-ups</a:t>
            </a:r>
            <a:endParaRPr lang="en-US" sz="1900" dirty="0"/>
          </a:p>
        </p:txBody>
      </p:sp>
      <p:sp>
        <p:nvSpPr>
          <p:cNvPr id="7" name="gm-1"/>
          <p:cNvSpPr/>
          <p:nvPr/>
        </p:nvSpPr>
        <p:spPr>
          <a:xfrm>
            <a:off x="6233008" y="1645920"/>
            <a:ext cx="5410048" cy="3291840"/>
          </a:xfrm>
          <a:prstGeom prst="roundRect">
            <a:avLst>
              <a:gd name="adj" fmla="val 3333"/>
            </a:avLst>
          </a:prstGeom>
          <a:solidFill>
            <a:schemeClr val="tx1"/>
          </a:solidFill>
          <a:ln/>
        </p:spPr>
      </p:sp>
      <p:sp>
        <p:nvSpPr>
          <p:cNvPr id="8" name="gm-1-t"/>
          <p:cNvSpPr txBox="1"/>
          <p:nvPr/>
        </p:nvSpPr>
        <p:spPr>
          <a:xfrm>
            <a:off x="6553048" y="1783080"/>
            <a:ext cx="4769968" cy="3017520"/>
          </a:xfrm>
          <a:prstGeom prst="rect">
            <a:avLst/>
          </a:prstGeom>
          <a:noFill/>
          <a:ln/>
        </p:spPr>
        <p:txBody>
          <a:bodyPr wrap="square" lIns="0" tIns="0" rIns="0" bIns="0" rtlCol="0" anchor="t"/>
          <a:lstStyle/>
          <a:p>
            <a:pPr indent="0" marL="0">
              <a:buNone/>
            </a:pPr>
            <a:r>
              <a:rPr lang="en-US" sz="1900" b="1" dirty="0">
                <a:solidFill>
                  <a:schemeClr val="bg1"/>
                </a:solidFill>
              </a:rPr>
              <a:t>Strongest reasoning model (Pro / Thinking)</a:t>
            </a:r>
            <a:endParaRPr lang="en-US" sz="1900" dirty="0"/>
          </a:p>
          <a:p>
            <a:pPr indent="0" marL="0">
              <a:buNone/>
            </a:pPr>
            <a:r>
              <a:rPr lang="en-US" sz="1300" dirty="0">
                <a:solidFill>
                  <a:schemeClr val="accent5"/>
                </a:solidFill>
              </a:rPr>
              <a:t>Slower, more tokens per turn, far fewer mistakes</a:t>
            </a:r>
            <a:endParaRPr lang="en-US" sz="1900" dirty="0"/>
          </a:p>
          <a:p>
            <a:pPr indent="0" marL="0">
              <a:buNone/>
            </a:pPr>
            <a:r>
              <a:rPr lang="en-US" sz="800" dirty="0">
                <a:solidFill>
                  <a:srgbClr val="000000"/>
                </a:solidFill>
              </a:rPr>
              <a:t> </a:t>
            </a:r>
            <a:endParaRPr lang="en-US" sz="1900" dirty="0"/>
          </a:p>
          <a:p>
            <a:pPr marL="342900" indent="-342900">
              <a:spcAft>
                <a:spcPts val="600"/>
              </a:spcAft>
              <a:buSzPct val="100000"/>
              <a:buChar char="•"/>
            </a:pPr>
            <a:r>
              <a:rPr lang="en-US" sz="1500" dirty="0">
                <a:solidFill>
                  <a:schemeClr val="bg1"/>
                </a:solidFill>
              </a:rPr>
              <a:t>Pipelines and transforms</a:t>
            </a:r>
            <a:endParaRPr lang="en-US" sz="1900" dirty="0"/>
          </a:p>
          <a:p>
            <a:pPr marL="342900" indent="-342900">
              <a:spcAft>
                <a:spcPts val="600"/>
              </a:spcAft>
              <a:buSzPct val="100000"/>
              <a:buChar char="•"/>
            </a:pPr>
            <a:r>
              <a:rPr lang="en-US" sz="1500" dirty="0">
                <a:solidFill>
                  <a:schemeClr val="bg1"/>
                </a:solidFill>
              </a:rPr>
              <a:t>Ontology design and actions</a:t>
            </a:r>
            <a:endParaRPr lang="en-US" sz="1900" dirty="0"/>
          </a:p>
          <a:p>
            <a:pPr marL="342900" indent="-342900">
              <a:spcAft>
                <a:spcPts val="600"/>
              </a:spcAft>
              <a:buSzPct val="100000"/>
              <a:buChar char="•"/>
            </a:pPr>
            <a:r>
              <a:rPr lang="en-US" sz="1500" dirty="0">
                <a:solidFill>
                  <a:schemeClr val="bg1"/>
                </a:solidFill>
              </a:rPr>
              <a:t>Functions and Logic</a:t>
            </a:r>
            <a:endParaRPr lang="en-US" sz="1900" dirty="0"/>
          </a:p>
          <a:p>
            <a:pPr marL="342900" indent="-342900">
              <a:spcAft>
                <a:spcPts val="600"/>
              </a:spcAft>
              <a:buSzPct val="100000"/>
              <a:buChar char="•"/>
            </a:pPr>
            <a:r>
              <a:rPr lang="en-US" sz="1500" dirty="0">
                <a:solidFill>
                  <a:schemeClr val="bg1"/>
                </a:solidFill>
              </a:rPr>
              <a:t>Debugging failed builds, multi-step plans</a:t>
            </a:r>
            <a:endParaRPr lang="en-US" sz="1900" dirty="0"/>
          </a:p>
        </p:txBody>
      </p:sp>
      <p:sp>
        <p:nvSpPr>
          <p:cNvPr id="9" name="gm-rule"/>
          <p:cNvSpPr/>
          <p:nvPr/>
        </p:nvSpPr>
        <p:spPr>
          <a:xfrm>
            <a:off x="548640" y="5212080"/>
            <a:ext cx="11094415" cy="1143000"/>
          </a:xfrm>
          <a:prstGeom prst="roundRect">
            <a:avLst>
              <a:gd name="adj" fmla="val 9600"/>
            </a:avLst>
          </a:prstGeom>
          <a:solidFill>
            <a:schemeClr val="accent4"/>
          </a:solidFill>
          <a:ln/>
        </p:spPr>
      </p:sp>
      <p:sp>
        <p:nvSpPr>
          <p:cNvPr id="10" name="gm-rule-t"/>
          <p:cNvSpPr txBox="1"/>
          <p:nvPr/>
        </p:nvSpPr>
        <p:spPr>
          <a:xfrm>
            <a:off x="868680" y="5212080"/>
            <a:ext cx="10454335" cy="1143000"/>
          </a:xfrm>
          <a:prstGeom prst="rect">
            <a:avLst/>
          </a:prstGeom>
          <a:noFill/>
          <a:ln/>
        </p:spPr>
        <p:txBody>
          <a:bodyPr wrap="square" lIns="0" tIns="0" rIns="0" bIns="0" rtlCol="0" anchor="ctr"/>
          <a:lstStyle/>
          <a:p>
            <a:pPr indent="0" marL="0">
              <a:buNone/>
            </a:pPr>
            <a:r>
              <a:rPr lang="en-US" sz="1500" b="1" dirty="0">
                <a:solidFill>
                  <a:schemeClr val="bg1"/>
                </a:solidFill>
              </a:rPr>
              <a:t>Rule of thumb  </a:t>
            </a:r>
            <a:pPr indent="0" marL="0">
              <a:buNone/>
            </a:pPr>
            <a:r>
              <a:rPr lang="en-US" sz="1500" dirty="0">
                <a:solidFill>
                  <a:schemeClr val="bg1"/>
                </a:solidFill>
              </a:rPr>
              <a:t>Explore and ask with the fast model; switch to the strong model when it starts changing things. A cheap model that needs three tries costs more than a strong one that gets it right once.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3"/>
                </a:solidFill>
              </a:rPr>
              <a:t>CHECKLIST</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Before, during and after every session</a:t>
            </a:r>
            <a:endParaRPr lang="en-US" sz="3600" dirty="0"/>
          </a:p>
        </p:txBody>
      </p:sp>
      <p:sp>
        <p:nvSpPr>
          <p:cNvPr id="4" name="ck-0"/>
          <p:cNvSpPr/>
          <p:nvPr/>
        </p:nvSpPr>
        <p:spPr>
          <a:xfrm>
            <a:off x="548640" y="1417320"/>
            <a:ext cx="3515258" cy="4937760"/>
          </a:xfrm>
          <a:prstGeom prst="roundRect">
            <a:avLst>
              <a:gd name="adj" fmla="val 3121"/>
            </a:avLst>
          </a:prstGeom>
          <a:solidFill>
            <a:schemeClr val="bg1"/>
          </a:solidFill>
          <a:ln/>
        </p:spPr>
      </p:sp>
      <p:sp>
        <p:nvSpPr>
          <p:cNvPr id="5" name="ck-0-bar"/>
          <p:cNvSpPr/>
          <p:nvPr/>
        </p:nvSpPr>
        <p:spPr>
          <a:xfrm>
            <a:off x="548640" y="1417320"/>
            <a:ext cx="3515258" cy="109728"/>
          </a:xfrm>
          <a:prstGeom prst="rect">
            <a:avLst/>
          </a:prstGeom>
          <a:solidFill>
            <a:schemeClr val="accent1"/>
          </a:solidFill>
          <a:ln/>
        </p:spPr>
      </p:sp>
      <p:sp>
        <p:nvSpPr>
          <p:cNvPr id="6" name="ck-0-h"/>
          <p:cNvSpPr txBox="1"/>
          <p:nvPr/>
        </p:nvSpPr>
        <p:spPr>
          <a:xfrm>
            <a:off x="822960" y="1691640"/>
            <a:ext cx="2966618" cy="365760"/>
          </a:xfrm>
          <a:prstGeom prst="rect">
            <a:avLst/>
          </a:prstGeom>
          <a:noFill/>
          <a:ln/>
        </p:spPr>
        <p:txBody>
          <a:bodyPr wrap="square" lIns="0" tIns="0" rIns="0" bIns="0" rtlCol="0" anchor="t"/>
          <a:lstStyle/>
          <a:p>
            <a:pPr indent="0" marL="0">
              <a:buNone/>
            </a:pPr>
            <a:r>
              <a:rPr lang="en-US" sz="1800" b="1" spc="200" kern="0" dirty="0">
                <a:solidFill>
                  <a:schemeClr val="accent1"/>
                </a:solidFill>
              </a:rPr>
              <a:t>BEFORE</a:t>
            </a:r>
            <a:endParaRPr lang="en-US" sz="1800" dirty="0"/>
          </a:p>
        </p:txBody>
      </p:sp>
      <p:sp>
        <p:nvSpPr>
          <p:cNvPr id="7" name="ck-0-l"/>
          <p:cNvSpPr txBox="1"/>
          <p:nvPr/>
        </p:nvSpPr>
        <p:spPr>
          <a:xfrm>
            <a:off x="822960" y="2194560"/>
            <a:ext cx="2966618" cy="4023360"/>
          </a:xfrm>
          <a:prstGeom prst="rect">
            <a:avLst/>
          </a:prstGeom>
          <a:noFill/>
          <a:ln/>
        </p:spPr>
        <p:txBody>
          <a:bodyPr wrap="square" lIns="0" tIns="0" rIns="0" bIns="0" rtlCol="0" anchor="t"/>
          <a:lstStyle/>
          <a:p>
            <a:pPr indent="0" marL="0">
              <a:spcAft>
                <a:spcPts val="1400"/>
              </a:spcAft>
              <a:buNone/>
            </a:pPr>
            <a:r>
              <a:rPr lang="en-US" sz="1500" dirty="0">
                <a:solidFill>
                  <a:schemeClr val="tx1"/>
                </a:solidFill>
              </a:rPr>
              <a:t>☐  New session, right mode</a:t>
            </a:r>
            <a:endParaRPr lang="en-US" sz="1500" dirty="0"/>
          </a:p>
          <a:p>
            <a:pPr indent="0" marL="0">
              <a:spcAft>
                <a:spcPts val="1400"/>
              </a:spcAft>
              <a:buNone/>
            </a:pPr>
            <a:r>
              <a:rPr lang="en-US" sz="1500" dirty="0">
                <a:solidFill>
                  <a:schemeClr val="tx1"/>
                </a:solidFill>
              </a:rPr>
              <a:t>☐  Attach only the resources needed</a:t>
            </a:r>
            <a:endParaRPr lang="en-US" sz="1500" dirty="0"/>
          </a:p>
          <a:p>
            <a:pPr indent="0" marL="0">
              <a:spcAft>
                <a:spcPts val="1400"/>
              </a:spcAft>
              <a:buNone/>
            </a:pPr>
            <a:r>
              <a:rPr lang="en-US" sz="1500" dirty="0">
                <a:solidFill>
                  <a:schemeClr val="tx1"/>
                </a:solidFill>
              </a:rPr>
              <a:t>☐  Switch off unused tools</a:t>
            </a:r>
            <a:endParaRPr lang="en-US" sz="1500" dirty="0"/>
          </a:p>
          <a:p>
            <a:pPr indent="0" marL="0">
              <a:spcAft>
                <a:spcPts val="1400"/>
              </a:spcAft>
              <a:buNone/>
            </a:pPr>
            <a:r>
              <a:rPr lang="en-US" sz="1500" dirty="0">
                <a:solidFill>
                  <a:schemeClr val="tx1"/>
                </a:solidFill>
              </a:rPr>
              <a:t>☐  Gemini model to match the task</a:t>
            </a:r>
            <a:endParaRPr lang="en-US" sz="1500" dirty="0"/>
          </a:p>
          <a:p>
            <a:pPr indent="0" marL="0">
              <a:spcAft>
                <a:spcPts val="1400"/>
              </a:spcAft>
              <a:buNone/>
            </a:pPr>
            <a:r>
              <a:rPr lang="en-US" sz="1500" dirty="0">
                <a:solidFill>
                  <a:schemeClr val="tx1"/>
                </a:solidFill>
              </a:rPr>
              <a:t>☐  Write the goal, rules and checks</a:t>
            </a:r>
            <a:endParaRPr lang="en-US" sz="1500" dirty="0"/>
          </a:p>
        </p:txBody>
      </p:sp>
      <p:sp>
        <p:nvSpPr>
          <p:cNvPr id="8" name="ck-1"/>
          <p:cNvSpPr/>
          <p:nvPr/>
        </p:nvSpPr>
        <p:spPr>
          <a:xfrm>
            <a:off x="4338218" y="1417320"/>
            <a:ext cx="3515258" cy="4937760"/>
          </a:xfrm>
          <a:prstGeom prst="roundRect">
            <a:avLst>
              <a:gd name="adj" fmla="val 3121"/>
            </a:avLst>
          </a:prstGeom>
          <a:solidFill>
            <a:schemeClr val="bg1"/>
          </a:solidFill>
          <a:ln/>
        </p:spPr>
      </p:sp>
      <p:sp>
        <p:nvSpPr>
          <p:cNvPr id="9" name="ck-1-bar"/>
          <p:cNvSpPr/>
          <p:nvPr/>
        </p:nvSpPr>
        <p:spPr>
          <a:xfrm>
            <a:off x="4338218" y="1417320"/>
            <a:ext cx="3515258" cy="109728"/>
          </a:xfrm>
          <a:prstGeom prst="rect">
            <a:avLst/>
          </a:prstGeom>
          <a:solidFill>
            <a:schemeClr val="accent2"/>
          </a:solidFill>
          <a:ln/>
        </p:spPr>
      </p:sp>
      <p:sp>
        <p:nvSpPr>
          <p:cNvPr id="10" name="ck-1-h"/>
          <p:cNvSpPr txBox="1"/>
          <p:nvPr/>
        </p:nvSpPr>
        <p:spPr>
          <a:xfrm>
            <a:off x="4612538" y="1691640"/>
            <a:ext cx="2966618" cy="365760"/>
          </a:xfrm>
          <a:prstGeom prst="rect">
            <a:avLst/>
          </a:prstGeom>
          <a:noFill/>
          <a:ln/>
        </p:spPr>
        <p:txBody>
          <a:bodyPr wrap="square" lIns="0" tIns="0" rIns="0" bIns="0" rtlCol="0" anchor="t"/>
          <a:lstStyle/>
          <a:p>
            <a:pPr indent="0" marL="0">
              <a:buNone/>
            </a:pPr>
            <a:r>
              <a:rPr lang="en-US" sz="1800" b="1" spc="200" kern="0" dirty="0">
                <a:solidFill>
                  <a:schemeClr val="accent2"/>
                </a:solidFill>
              </a:rPr>
              <a:t>DURING</a:t>
            </a:r>
            <a:endParaRPr lang="en-US" sz="1800" dirty="0"/>
          </a:p>
        </p:txBody>
      </p:sp>
      <p:sp>
        <p:nvSpPr>
          <p:cNvPr id="11" name="ck-1-l"/>
          <p:cNvSpPr txBox="1"/>
          <p:nvPr/>
        </p:nvSpPr>
        <p:spPr>
          <a:xfrm>
            <a:off x="4612538" y="2194560"/>
            <a:ext cx="2966618" cy="4023360"/>
          </a:xfrm>
          <a:prstGeom prst="rect">
            <a:avLst/>
          </a:prstGeom>
          <a:noFill/>
          <a:ln/>
        </p:spPr>
        <p:txBody>
          <a:bodyPr wrap="square" lIns="0" tIns="0" rIns="0" bIns="0" rtlCol="0" anchor="t"/>
          <a:lstStyle/>
          <a:p>
            <a:pPr indent="0" marL="0">
              <a:spcAft>
                <a:spcPts val="1400"/>
              </a:spcAft>
              <a:buNone/>
            </a:pPr>
            <a:r>
              <a:rPr lang="en-US" sz="1500" dirty="0">
                <a:solidFill>
                  <a:schemeClr val="tx1"/>
                </a:solidFill>
              </a:rPr>
              <a:t>☐  Ask for a plan; review it</a:t>
            </a:r>
            <a:endParaRPr lang="en-US" sz="1500" dirty="0"/>
          </a:p>
          <a:p>
            <a:pPr indent="0" marL="0">
              <a:spcAft>
                <a:spcPts val="1400"/>
              </a:spcAft>
              <a:buNone/>
            </a:pPr>
            <a:r>
              <a:rPr lang="en-US" sz="1500" dirty="0">
                <a:solidFill>
                  <a:schemeClr val="tx1"/>
                </a:solidFill>
              </a:rPr>
              <a:t>☐  Read every approval before clicking</a:t>
            </a:r>
            <a:endParaRPr lang="en-US" sz="1500" dirty="0"/>
          </a:p>
          <a:p>
            <a:pPr indent="0" marL="0">
              <a:spcAft>
                <a:spcPts val="1400"/>
              </a:spcAft>
              <a:buNone/>
            </a:pPr>
            <a:r>
              <a:rPr lang="en-US" sz="1500" dirty="0">
                <a:solidFill>
                  <a:schemeClr val="tx1"/>
                </a:solidFill>
              </a:rPr>
              <a:t>☐  Keep steps small</a:t>
            </a:r>
            <a:endParaRPr lang="en-US" sz="1500" dirty="0"/>
          </a:p>
          <a:p>
            <a:pPr indent="0" marL="0">
              <a:spcAft>
                <a:spcPts val="1400"/>
              </a:spcAft>
              <a:buNone/>
            </a:pPr>
            <a:r>
              <a:rPr lang="en-US" sz="1500" dirty="0">
                <a:solidFill>
                  <a:schemeClr val="tx1"/>
                </a:solidFill>
              </a:rPr>
              <a:t>☐  Watch token counts; compact</a:t>
            </a:r>
            <a:endParaRPr lang="en-US" sz="1500" dirty="0"/>
          </a:p>
          <a:p>
            <a:pPr indent="0" marL="0">
              <a:spcAft>
                <a:spcPts val="1400"/>
              </a:spcAft>
              <a:buNone/>
            </a:pPr>
            <a:r>
              <a:rPr lang="en-US" sz="1500" dirty="0">
                <a:solidFill>
                  <a:schemeClr val="tx1"/>
                </a:solidFill>
              </a:rPr>
              <a:t>☐  Stop it if it goes in circles</a:t>
            </a:r>
            <a:endParaRPr lang="en-US" sz="1500" dirty="0"/>
          </a:p>
        </p:txBody>
      </p:sp>
      <p:sp>
        <p:nvSpPr>
          <p:cNvPr id="12" name="ck-2"/>
          <p:cNvSpPr/>
          <p:nvPr/>
        </p:nvSpPr>
        <p:spPr>
          <a:xfrm>
            <a:off x="8127797" y="1417320"/>
            <a:ext cx="3515258" cy="4937760"/>
          </a:xfrm>
          <a:prstGeom prst="roundRect">
            <a:avLst>
              <a:gd name="adj" fmla="val 3121"/>
            </a:avLst>
          </a:prstGeom>
          <a:solidFill>
            <a:schemeClr val="bg1"/>
          </a:solidFill>
          <a:ln/>
        </p:spPr>
      </p:sp>
      <p:sp>
        <p:nvSpPr>
          <p:cNvPr id="13" name="ck-2-bar"/>
          <p:cNvSpPr/>
          <p:nvPr/>
        </p:nvSpPr>
        <p:spPr>
          <a:xfrm>
            <a:off x="8127797" y="1417320"/>
            <a:ext cx="3515258" cy="109728"/>
          </a:xfrm>
          <a:prstGeom prst="rect">
            <a:avLst/>
          </a:prstGeom>
          <a:solidFill>
            <a:schemeClr val="accent4"/>
          </a:solidFill>
          <a:ln/>
        </p:spPr>
      </p:sp>
      <p:sp>
        <p:nvSpPr>
          <p:cNvPr id="14" name="ck-2-h"/>
          <p:cNvSpPr txBox="1"/>
          <p:nvPr/>
        </p:nvSpPr>
        <p:spPr>
          <a:xfrm>
            <a:off x="8402117" y="1691640"/>
            <a:ext cx="2966618" cy="365760"/>
          </a:xfrm>
          <a:prstGeom prst="rect">
            <a:avLst/>
          </a:prstGeom>
          <a:noFill/>
          <a:ln/>
        </p:spPr>
        <p:txBody>
          <a:bodyPr wrap="square" lIns="0" tIns="0" rIns="0" bIns="0" rtlCol="0" anchor="t"/>
          <a:lstStyle/>
          <a:p>
            <a:pPr indent="0" marL="0">
              <a:buNone/>
            </a:pPr>
            <a:r>
              <a:rPr lang="en-US" sz="1800" b="1" spc="200" kern="0" dirty="0">
                <a:solidFill>
                  <a:schemeClr val="accent4"/>
                </a:solidFill>
              </a:rPr>
              <a:t>AFTER</a:t>
            </a:r>
            <a:endParaRPr lang="en-US" sz="1800" dirty="0"/>
          </a:p>
        </p:txBody>
      </p:sp>
      <p:sp>
        <p:nvSpPr>
          <p:cNvPr id="15" name="ck-2-l"/>
          <p:cNvSpPr txBox="1"/>
          <p:nvPr/>
        </p:nvSpPr>
        <p:spPr>
          <a:xfrm>
            <a:off x="8402117" y="2194560"/>
            <a:ext cx="2966618" cy="4023360"/>
          </a:xfrm>
          <a:prstGeom prst="rect">
            <a:avLst/>
          </a:prstGeom>
          <a:noFill/>
          <a:ln/>
        </p:spPr>
        <p:txBody>
          <a:bodyPr wrap="square" lIns="0" tIns="0" rIns="0" bIns="0" rtlCol="0" anchor="t"/>
          <a:lstStyle/>
          <a:p>
            <a:pPr indent="0" marL="0">
              <a:spcAft>
                <a:spcPts val="1400"/>
              </a:spcAft>
              <a:buNone/>
            </a:pPr>
            <a:r>
              <a:rPr lang="en-US" sz="1500" dirty="0">
                <a:solidFill>
                  <a:schemeClr val="tx1"/>
                </a:solidFill>
              </a:rPr>
              <a:t>☐  Review the proposal or pull request</a:t>
            </a:r>
            <a:endParaRPr lang="en-US" sz="1500" dirty="0"/>
          </a:p>
          <a:p>
            <a:pPr indent="0" marL="0">
              <a:spcAft>
                <a:spcPts val="1400"/>
              </a:spcAft>
              <a:buNone/>
            </a:pPr>
            <a:r>
              <a:rPr lang="en-US" sz="1500" dirty="0">
                <a:solidFill>
                  <a:schemeClr val="tx1"/>
                </a:solidFill>
              </a:rPr>
              <a:t>☐  Test on representative sample data</a:t>
            </a:r>
            <a:endParaRPr lang="en-US" sz="1500" dirty="0"/>
          </a:p>
          <a:p>
            <a:pPr indent="0" marL="0">
              <a:spcAft>
                <a:spcPts val="1400"/>
              </a:spcAft>
              <a:buNone/>
            </a:pPr>
            <a:r>
              <a:rPr lang="en-US" sz="1500" dirty="0">
                <a:solidFill>
                  <a:schemeClr val="tx1"/>
                </a:solidFill>
              </a:rPr>
              <a:t>☐  AIP Evals for functions</a:t>
            </a:r>
            <a:endParaRPr lang="en-US" sz="1500" dirty="0"/>
          </a:p>
          <a:p>
            <a:pPr indent="0" marL="0">
              <a:spcAft>
                <a:spcPts val="1400"/>
              </a:spcAft>
              <a:buNone/>
            </a:pPr>
            <a:r>
              <a:rPr lang="en-US" sz="1500" dirty="0">
                <a:solidFill>
                  <a:schemeClr val="tx1"/>
                </a:solidFill>
              </a:rPr>
              <a:t>☐  Merge only what you understand</a:t>
            </a:r>
            <a:endParaRPr lang="en-US" sz="1500" dirty="0"/>
          </a:p>
          <a:p>
            <a:pPr indent="0" marL="0">
              <a:spcAft>
                <a:spcPts val="1400"/>
              </a:spcAft>
              <a:buNone/>
            </a:pPr>
            <a:r>
              <a:rPr lang="en-US" sz="1500" dirty="0">
                <a:solidFill>
                  <a:schemeClr val="tx1"/>
                </a:solidFill>
              </a:rPr>
              <a:t>☐  Save good prompts as skills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riterion"/>
          <p:cNvSpPr txBox="1"/>
          <p:nvPr/>
        </p:nvSpPr>
        <p:spPr>
          <a:xfrm>
            <a:off x="548640" y="201168"/>
            <a:ext cx="5486400" cy="256032"/>
          </a:xfrm>
          <a:prstGeom prst="rect">
            <a:avLst/>
          </a:prstGeom>
          <a:noFill/>
          <a:ln/>
        </p:spPr>
        <p:txBody>
          <a:bodyPr wrap="square" lIns="0" tIns="0" rIns="0" bIns="0" rtlCol="0" anchor="t"/>
          <a:lstStyle/>
          <a:p>
            <a:pPr indent="0" marL="0">
              <a:buNone/>
            </a:pPr>
            <a:r>
              <a:rPr lang="en-US" sz="1100" b="1" spc="200" kern="0" dirty="0">
                <a:solidFill>
                  <a:schemeClr val="accent5"/>
                </a:solidFill>
              </a:rPr>
              <a:t>TAKEAWAYS</a:t>
            </a:r>
            <a:endParaRPr lang="en-US" sz="1100" dirty="0"/>
          </a:p>
        </p:txBody>
      </p:sp>
      <p:sp>
        <p:nvSpPr>
          <p:cNvPr id="3" name="Text 1"/>
          <p:cNvSpPr/>
          <p:nvPr>
            <p:ph idx="101" type="title" hasCustomPrompt="1"/>
          </p:nvPr>
        </p:nvSpPr>
        <p:spPr>
          <a:xfrm>
            <a:off x="548640" y="502920"/>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An engineer you direct, not an autopilot</a:t>
            </a:r>
            <a:endParaRPr lang="en-US" sz="3600" dirty="0"/>
          </a:p>
        </p:txBody>
      </p:sp>
      <p:sp>
        <p:nvSpPr>
          <p:cNvPr id="4" name="tk-0"/>
          <p:cNvSpPr/>
          <p:nvPr/>
        </p:nvSpPr>
        <p:spPr>
          <a:xfrm>
            <a:off x="548640" y="1645920"/>
            <a:ext cx="2567864" cy="2377440"/>
          </a:xfrm>
          <a:prstGeom prst="roundRect">
            <a:avLst>
              <a:gd name="adj" fmla="val 4615"/>
            </a:avLst>
          </a:prstGeom>
          <a:solidFill>
            <a:schemeClr val="accent1"/>
          </a:solidFill>
          <a:ln/>
        </p:spPr>
      </p:sp>
      <p:sp>
        <p:nvSpPr>
          <p:cNvPr id="5" name="tk-0-t"/>
          <p:cNvSpPr txBox="1"/>
          <p:nvPr/>
        </p:nvSpPr>
        <p:spPr>
          <a:xfrm>
            <a:off x="822960" y="1783080"/>
            <a:ext cx="2019224" cy="2103120"/>
          </a:xfrm>
          <a:prstGeom prst="rect">
            <a:avLst/>
          </a:prstGeom>
          <a:noFill/>
          <a:ln/>
        </p:spPr>
        <p:txBody>
          <a:bodyPr wrap="square" lIns="0" tIns="0" rIns="0" bIns="0" rtlCol="0" anchor="t"/>
          <a:lstStyle/>
          <a:p>
            <a:pPr indent="0" marL="0">
              <a:buNone/>
            </a:pPr>
            <a:r>
              <a:rPr lang="en-US" sz="1900" b="1" dirty="0">
                <a:solidFill>
                  <a:schemeClr val="bg1"/>
                </a:solidFill>
              </a:rPr>
              <a:t>Small and specific</a:t>
            </a:r>
            <a:endParaRPr lang="en-US" sz="1900" dirty="0"/>
          </a:p>
          <a:p>
            <a:pPr indent="0" marL="0">
              <a:buNone/>
            </a:pPr>
            <a:r>
              <a:rPr lang="en-US" sz="600" dirty="0">
                <a:solidFill>
                  <a:srgbClr val="000000"/>
                </a:solidFill>
              </a:rPr>
              <a:t> </a:t>
            </a:r>
            <a:endParaRPr lang="en-US" sz="1900" dirty="0"/>
          </a:p>
          <a:p>
            <a:pPr indent="0" marL="0">
              <a:buNone/>
            </a:pPr>
            <a:r>
              <a:rPr lang="en-US" sz="1400" dirty="0">
                <a:solidFill>
                  <a:schemeClr val="bg1"/>
                </a:solidFill>
              </a:rPr>
              <a:t>One task, the right mode, exactly the context it needs</a:t>
            </a:r>
            <a:endParaRPr lang="en-US" sz="1900" dirty="0"/>
          </a:p>
        </p:txBody>
      </p:sp>
      <p:sp>
        <p:nvSpPr>
          <p:cNvPr id="6" name="tk-1"/>
          <p:cNvSpPr/>
          <p:nvPr/>
        </p:nvSpPr>
        <p:spPr>
          <a:xfrm>
            <a:off x="3390824" y="1645920"/>
            <a:ext cx="2567864" cy="2377440"/>
          </a:xfrm>
          <a:prstGeom prst="roundRect">
            <a:avLst>
              <a:gd name="adj" fmla="val 4615"/>
            </a:avLst>
          </a:prstGeom>
          <a:solidFill>
            <a:schemeClr val="accent2"/>
          </a:solidFill>
          <a:ln/>
        </p:spPr>
      </p:sp>
      <p:sp>
        <p:nvSpPr>
          <p:cNvPr id="7" name="tk-1-t"/>
          <p:cNvSpPr txBox="1"/>
          <p:nvPr/>
        </p:nvSpPr>
        <p:spPr>
          <a:xfrm>
            <a:off x="3665144" y="1783080"/>
            <a:ext cx="2019224" cy="2103120"/>
          </a:xfrm>
          <a:prstGeom prst="rect">
            <a:avLst/>
          </a:prstGeom>
          <a:noFill/>
          <a:ln/>
        </p:spPr>
        <p:txBody>
          <a:bodyPr wrap="square" lIns="0" tIns="0" rIns="0" bIns="0" rtlCol="0" anchor="t"/>
          <a:lstStyle/>
          <a:p>
            <a:pPr indent="0" marL="0">
              <a:buNone/>
            </a:pPr>
            <a:r>
              <a:rPr lang="en-US" sz="1900" b="1" dirty="0">
                <a:solidFill>
                  <a:schemeClr val="bg1"/>
                </a:solidFill>
              </a:rPr>
              <a:t>Plan, then act</a:t>
            </a:r>
            <a:endParaRPr lang="en-US" sz="1900" dirty="0"/>
          </a:p>
          <a:p>
            <a:pPr indent="0" marL="0">
              <a:buNone/>
            </a:pPr>
            <a:r>
              <a:rPr lang="en-US" sz="600" dirty="0">
                <a:solidFill>
                  <a:srgbClr val="000000"/>
                </a:solidFill>
              </a:rPr>
              <a:t> </a:t>
            </a:r>
            <a:endParaRPr lang="en-US" sz="1900" dirty="0"/>
          </a:p>
          <a:p>
            <a:pPr indent="0" marL="0">
              <a:buNone/>
            </a:pPr>
            <a:r>
              <a:rPr lang="en-US" sz="1400" dirty="0">
                <a:solidFill>
                  <a:schemeClr val="bg1"/>
                </a:solidFill>
              </a:rPr>
              <a:t>Review the plan and every approval</a:t>
            </a:r>
            <a:endParaRPr lang="en-US" sz="1900" dirty="0"/>
          </a:p>
        </p:txBody>
      </p:sp>
      <p:sp>
        <p:nvSpPr>
          <p:cNvPr id="8" name="tk-2"/>
          <p:cNvSpPr/>
          <p:nvPr/>
        </p:nvSpPr>
        <p:spPr>
          <a:xfrm>
            <a:off x="6233008" y="1645920"/>
            <a:ext cx="2567864" cy="2377440"/>
          </a:xfrm>
          <a:prstGeom prst="roundRect">
            <a:avLst>
              <a:gd name="adj" fmla="val 4615"/>
            </a:avLst>
          </a:prstGeom>
          <a:solidFill>
            <a:schemeClr val="accent4"/>
          </a:solidFill>
          <a:ln/>
        </p:spPr>
      </p:sp>
      <p:sp>
        <p:nvSpPr>
          <p:cNvPr id="9" name="tk-2-t"/>
          <p:cNvSpPr txBox="1"/>
          <p:nvPr/>
        </p:nvSpPr>
        <p:spPr>
          <a:xfrm>
            <a:off x="6507328" y="1783080"/>
            <a:ext cx="2019224" cy="2103120"/>
          </a:xfrm>
          <a:prstGeom prst="rect">
            <a:avLst/>
          </a:prstGeom>
          <a:noFill/>
          <a:ln/>
        </p:spPr>
        <p:txBody>
          <a:bodyPr wrap="square" lIns="0" tIns="0" rIns="0" bIns="0" rtlCol="0" anchor="t"/>
          <a:lstStyle/>
          <a:p>
            <a:pPr indent="0" marL="0">
              <a:buNone/>
            </a:pPr>
            <a:r>
              <a:rPr lang="en-US" sz="1900" b="1" dirty="0">
                <a:solidFill>
                  <a:schemeClr val="bg1"/>
                </a:solidFill>
              </a:rPr>
              <a:t>Verify before merge</a:t>
            </a:r>
            <a:endParaRPr lang="en-US" sz="1900" dirty="0"/>
          </a:p>
          <a:p>
            <a:pPr indent="0" marL="0">
              <a:buNone/>
            </a:pPr>
            <a:r>
              <a:rPr lang="en-US" sz="600" dirty="0">
                <a:solidFill>
                  <a:srgbClr val="000000"/>
                </a:solidFill>
              </a:rPr>
              <a:t> </a:t>
            </a:r>
            <a:endParaRPr lang="en-US" sz="1900" dirty="0"/>
          </a:p>
          <a:p>
            <a:pPr indent="0" marL="0">
              <a:buNone/>
            </a:pPr>
            <a:r>
              <a:rPr lang="en-US" sz="1400" dirty="0">
                <a:solidFill>
                  <a:schemeClr val="bg1"/>
                </a:solidFill>
              </a:rPr>
              <a:t>Branch, sample data, AIP Evals</a:t>
            </a:r>
            <a:endParaRPr lang="en-US" sz="1900" dirty="0"/>
          </a:p>
        </p:txBody>
      </p:sp>
      <p:sp>
        <p:nvSpPr>
          <p:cNvPr id="10" name="tk-3"/>
          <p:cNvSpPr/>
          <p:nvPr/>
        </p:nvSpPr>
        <p:spPr>
          <a:xfrm>
            <a:off x="9075191" y="1645920"/>
            <a:ext cx="2567864" cy="2377440"/>
          </a:xfrm>
          <a:prstGeom prst="roundRect">
            <a:avLst>
              <a:gd name="adj" fmla="val 4615"/>
            </a:avLst>
          </a:prstGeom>
          <a:solidFill>
            <a:schemeClr val="bg1"/>
          </a:solidFill>
          <a:ln/>
        </p:spPr>
      </p:sp>
      <p:sp>
        <p:nvSpPr>
          <p:cNvPr id="11" name="tk-3-t"/>
          <p:cNvSpPr txBox="1"/>
          <p:nvPr/>
        </p:nvSpPr>
        <p:spPr>
          <a:xfrm>
            <a:off x="9349511" y="1783080"/>
            <a:ext cx="2019224" cy="2103120"/>
          </a:xfrm>
          <a:prstGeom prst="rect">
            <a:avLst/>
          </a:prstGeom>
          <a:noFill/>
          <a:ln/>
        </p:spPr>
        <p:txBody>
          <a:bodyPr wrap="square" lIns="0" tIns="0" rIns="0" bIns="0" rtlCol="0" anchor="t"/>
          <a:lstStyle/>
          <a:p>
            <a:pPr indent="0" marL="0">
              <a:buNone/>
            </a:pPr>
            <a:r>
              <a:rPr lang="en-US" sz="1900" b="1" dirty="0">
                <a:solidFill>
                  <a:schemeClr val="tx1"/>
                </a:solidFill>
              </a:rPr>
              <a:t>Mind the tokens</a:t>
            </a:r>
            <a:endParaRPr lang="en-US" sz="1900" dirty="0"/>
          </a:p>
          <a:p>
            <a:pPr indent="0" marL="0">
              <a:buNone/>
            </a:pPr>
            <a:r>
              <a:rPr lang="en-US" sz="600" dirty="0">
                <a:solidFill>
                  <a:srgbClr val="000000"/>
                </a:solidFill>
              </a:rPr>
              <a:t> </a:t>
            </a:r>
            <a:endParaRPr lang="en-US" sz="1900" dirty="0"/>
          </a:p>
          <a:p>
            <a:pPr indent="0" marL="0">
              <a:buNone/>
            </a:pPr>
            <a:r>
              <a:rPr lang="en-US" sz="1400" dirty="0">
                <a:solidFill>
                  <a:schemeClr val="tx2"/>
                </a:solidFill>
              </a:rPr>
              <a:t>Short sessions, compaction, the right Gemini model</a:t>
            </a:r>
            <a:endParaRPr lang="en-US" sz="1900" dirty="0"/>
          </a:p>
        </p:txBody>
      </p:sp>
      <p:sp>
        <p:nvSpPr>
          <p:cNvPr id="12" name="tk-doc"/>
          <p:cNvSpPr txBox="1"/>
          <p:nvPr/>
        </p:nvSpPr>
        <p:spPr>
          <a:xfrm>
            <a:off x="548640" y="4434840"/>
            <a:ext cx="11094415" cy="457200"/>
          </a:xfrm>
          <a:prstGeom prst="rect">
            <a:avLst/>
          </a:prstGeom>
          <a:noFill/>
          <a:ln/>
        </p:spPr>
        <p:txBody>
          <a:bodyPr wrap="square" lIns="0" tIns="0" rIns="0" bIns="0" rtlCol="0" anchor="t"/>
          <a:lstStyle/>
          <a:p>
            <a:pPr indent="0" marL="0">
              <a:buNone/>
            </a:pPr>
            <a:r>
              <a:rPr lang="en-US" sz="1600" dirty="0">
                <a:solidFill>
                  <a:schemeClr val="accent5"/>
                </a:solidFill>
              </a:rPr>
              <a:t>The full best-practice guide is shared with this deck: Skywise-AI-FDE-Best-Practices.docx</a:t>
            </a:r>
            <a:endParaRPr lang="en-US" sz="1600" dirty="0"/>
          </a:p>
        </p:txBody>
      </p:sp>
      <p:sp>
        <p:nvSpPr>
          <p:cNvPr id="13" name="closing"/>
          <p:cNvSpPr txBox="1"/>
          <p:nvPr/>
        </p:nvSpPr>
        <p:spPr>
          <a:xfrm>
            <a:off x="548640" y="5303520"/>
            <a:ext cx="11094415" cy="731520"/>
          </a:xfrm>
          <a:prstGeom prst="rect">
            <a:avLst/>
          </a:prstGeom>
          <a:noFill/>
          <a:ln/>
        </p:spPr>
        <p:txBody>
          <a:bodyPr wrap="square" lIns="0" tIns="0" rIns="0" bIns="0" rtlCol="0" anchor="t"/>
          <a:lstStyle/>
          <a:p>
            <a:pPr indent="0" marL="0">
              <a:buNone/>
            </a:pPr>
            <a:r>
              <a:rPr lang="en-US" sz="3200" b="1" dirty="0">
                <a:solidFill>
                  <a:schemeClr val="bg1"/>
                </a:solidFill>
              </a:rPr>
              <a:t>Questions?</a:t>
            </a:r>
            <a:endParaRPr lang="en-US" sz="3200" dirty="0"/>
          </a:p>
        </p:txBody>
      </p:sp>
    </p:spTree>
  </p:cSld>
  <p:clrMapOvr>
    <a:masterClrMapping/>
  </p:clrMapOvr>
</p:sld>
</file>

<file path=ppt/theme/theme1.xml><?xml version="1.0" encoding="utf-8"?>
<a:theme xmlns:a="http://schemas.openxmlformats.org/drawingml/2006/main" name="ERM Migration Airbus">
  <a:themeElements>
    <a:clrScheme name="ERM Migration Airbus">
      <a:dk1>
        <a:srgbClr val="00205B"/>
      </a:dk1>
      <a:lt1>
        <a:srgbClr val="FFFFFF"/>
      </a:lt1>
      <a:dk2>
        <a:srgbClr val="4A5568"/>
      </a:dk2>
      <a:lt2>
        <a:srgbClr val="EEF1F7"/>
      </a:lt2>
      <a:accent1>
        <a:srgbClr val="C8326C"/>
      </a:accent1>
      <a:accent2>
        <a:srgbClr val="0085CA"/>
      </a:accent2>
      <a:accent3>
        <a:srgbClr val="B0245A"/>
      </a:accent3>
      <a:accent4>
        <a:srgbClr val="5F3A8F"/>
      </a:accent4>
      <a:accent5>
        <a:srgbClr val="C9D6EA"/>
      </a:accent5>
      <a:accent6>
        <a:srgbClr val="DCE3EE"/>
      </a:accent6>
      <a:hlink>
        <a:srgbClr val="0085CA"/>
      </a:hlink>
      <a:folHlink>
        <a:srgbClr val="5F3A8F"/>
      </a:folHlink>
    </a:clrScheme>
    <a:fontScheme name="ERM Migration Airb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Skywise AI FDE: best practices</dc:title>
  <dc:subject>PptxGenJS Presentation</dc:subject>
  <dc:creator>PptxGenJS</dc:creator>
  <cp:lastModifiedBy>PptxGenJS</cp:lastModifiedBy>
  <cp:revision>1</cp:revision>
  <dcterms:created xsi:type="dcterms:W3CDTF">2026-10-13T04:03:52Z</dcterms:created>
  <dcterms:modified xsi:type="dcterms:W3CDTF">2026-10-13T04:03:52Z</dcterms:modified>
</cp:coreProperties>
</file>