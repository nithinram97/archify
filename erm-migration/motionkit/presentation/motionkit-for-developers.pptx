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d90fa76c-6ebd-1f48-ac90-b5d9b5ba8dcf}">
          <p14:sldIdLst>
            <p14:sldId id="256"/>
            <p14:sldId id="257"/>
          </p14:sldIdLst>
        </p14:section>
        <p14:section name="How" id="{0d878a66-8558-54cc-3aaa-3acf18e8086e}">
          <p14:sldIdLst>
            <p14:sldId id="258"/>
            <p14:sldId id="259"/>
          </p14:sldIdLst>
        </p14:section>
        <p14:section name="Demo" id="{eb219706-f201-ce80-4ba8-75c98d555e04}">
          <p14:sldIdLst>
            <p14:sldId id="260"/>
            <p14:sldId id="261"/>
            <p14:sldId id="262"/>
          </p14:sldIdLst>
        </p14:section>
        <p14:section name="Gemini" id="{ebed9020-8f2b-e925-6976-043fbcf0a96d}">
          <p14:sldIdLst>
            <p14:sldId id="263"/>
            <p14:sldId id="264"/>
          </p14:sldIdLst>
        </p14:section>
        <p14:section name="Start" id="{2ed886a5-fd83-33b5-9606-447df5a44527}">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show you how you can make videos like our ERM trailer yourselves, without learning Blender.
What you see behind me is rendered by a twenty-five line Python script. By the end of this session you'll have run it, changed it, and asked Gemini to write a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the trailer took one Blender script of about sixteen hundred lines, and most of that wasn't creative work. It was fighting Blender: keyframes that behaved differently in Blender 5, glow that needed the compositor, camera maths, frame counting.
So we took everything we learned and packaged it as a library called motionkit. The creative part stays with you. The Blender part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flow. You start with an idea. You can turn it into a Shot Script, a plain-language plan that says what appears, when, and what the camera does. The Gemini gem we set up, motionkit Director, turns that into Python. The Python uses motionkit, and Blender 5 renders it with EEVEE.
You can skip the gem and write the Python directly. As you'll see, it reads almost like the storyboard.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everything in the box. A Movie object sets up the scene and rendering. Fifteen ready-made assets: text, counters, screenshots, logos, rings, a globe, bar charts, a screen wall and the portal from the trailer. Every asset shares the same motions, so once you know fade_in or pop_in, you know them for everything.
The camera works like a director: stand here, look there. The overlay handles captions and titles on screen. And there are transitions and effects for the finishing touches. All of it is documented in the docs folder, with an API reference listing every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demo, examples/01_hello_title.py. Read it top to bottom: a movie of eight seconds. Stars and a glowing grid for depth. A ring that draws itself and turns. The title pops in and floats. The camera orbits around it. A caption, fades in and out, and the glow.
Every line is one idea, and there's no Blender knowledge in it: no materials, no keyframes, no frames. On the right is exactly what it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only need three commands, all in PowerShell from the motionkit folder. The still is the one you'll use most: a single frame renders in seconds, so check every change that way. Then a preview MP4 to judge the timing, then the final render.
The last one opens Blender itself with the scene already built, if you want to scrub through or adjust something by hand.
Live: run the still command now, then change the title text and run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is where videos come alive, so it gets the richest API. You never set rotation angles: you say where to stand and what to look at, and the kit keeps it pointed there.
Transitions combine a camera move with an overlay effect. Pick by feel: fade through black for a calm chapter change, flash cut for energy, through_portal for the trailer's signature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you'd rather not write code at all, use the gem. In Gemini it's called motionkit Director, and it knows the whole library because we uploaded the documentation as its knowledge.
You write a Shot Script like the one on the left: plain words, at-signs for times, a few verbs. The gem answers with the Python on the right, plus the commands to run it and a list of the files it needs.
You don't even need the Shot Script: type /idea and describe the video in your own words, and it drafts the Shot Script for you to check first. /fix takes an error message, /tweak takes a change like 'slower' or 'make the title gold', and /vertical converts it for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examples in the examples folder, and they're the best starting point for your own videos: copy one and change it.
The product reveal is the closest to our trailer: a wall of old screens, a portal opens, we fly through it to the new app, then a bar chart and a counter, and an end title. It shows shots, transitions and music. The globe tour turns the globe to each site and pins it. And the hello title is the demo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quality, because you'll build on this. It's tested on Blender 5.0.1 with EEVEE: a smoke test builds every asset, motion, camera move and transition and renders frames, and a second test runs every cookbook recipe so the docs can't drift from the code. Every Blender-version difference lives in one file, so when Blender 5.1 changes something, there's one place to fix.
Why EEVEE: our style is self-lit objects with glow, so there's nothing for a path tracer like Cycles to add. EEVEE gives the same look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ten minutes. Have PowerShell open in the motionkit folder and Gemini open with the gem.
One: render a frame of the demo with --still 3.5 and open the PNG.
Two: change the title text and colour in the script, run the same command, show the difference.
Three: in Gemini, type the /idea line on the slide. Read out the Shot Script it drafts, say yes, and paste the code into examples/my_sting.py. If it asks for a logo file, use examples/assets/react_heat.png or any PNG.
Four: render a preview and play it.
Backup if anything fails live: the rendered demo GIF is on the demo slide, and examples/render holds the outputs from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started: install Blender 5, take the motionkit folder from the repo, run the demo, and open the gem. The getting-started guide in the docs folder walks through exactly this.
My suggestion: make one short video this week, even a five-second logo sting. Once you've done one, the rest is just more of the same.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AL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img" descr="/tmp/claude-0/-home-user-archify/c55ec104-845e-5eb5-96c0-f59db47d1002/scratchpad/pptx-mk/img/cover_crop.jpg">    </p:cNvPr>
          <p:cNvPicPr>
            <a:picLocks noChangeAspect="1"/>
          </p:cNvPicPr>
          <p:nvPr/>
        </p:nvPicPr>
        <p:blipFill>
          <a:blip r:embed="rId1"/>
          <a:stretch>
            <a:fillRect/>
          </a:stretch>
        </p:blipFill>
        <p:spPr>
          <a:xfrm>
            <a:off x="5120640" y="0"/>
            <a:ext cx="7071055" cy="6858000"/>
          </a:xfrm>
          <a:prstGeom prst="rect">
            <a:avLst/>
          </a:prstGeom>
        </p:spPr>
      </p:pic>
      <p:sp>
        <p:nvSpPr>
          <p:cNvPr id="3" name="eyebrow"/>
          <p:cNvSpPr txBox="1"/>
          <p:nvPr/>
        </p:nvSpPr>
        <p:spPr>
          <a:xfrm>
            <a:off x="548640" y="2011680"/>
            <a:ext cx="4389120" cy="320040"/>
          </a:xfrm>
          <a:prstGeom prst="rect">
            <a:avLst/>
          </a:prstGeom>
          <a:noFill/>
          <a:ln/>
        </p:spPr>
        <p:txBody>
          <a:bodyPr wrap="square" lIns="0" tIns="0" rIns="0" bIns="0" rtlCol="0" anchor="t"/>
          <a:lstStyle/>
          <a:p>
            <a:pPr indent="0" marL="0">
              <a:buNone/>
            </a:pPr>
            <a:r>
              <a:rPr lang="en-US" sz="1400" b="1" spc="200" kern="0" dirty="0">
                <a:solidFill>
                  <a:schemeClr val="accent5"/>
                </a:solidFill>
              </a:rPr>
              <a:t>DEVELOPER SESSION</a:t>
            </a:r>
            <a:endParaRPr lang="en-US" sz="1400" dirty="0"/>
          </a:p>
        </p:txBody>
      </p:sp>
      <p:sp>
        <p:nvSpPr>
          <p:cNvPr id="4" name="cover-title"/>
          <p:cNvSpPr txBox="1"/>
          <p:nvPr/>
        </p:nvSpPr>
        <p:spPr>
          <a:xfrm>
            <a:off x="548640" y="2377440"/>
            <a:ext cx="5852160" cy="822960"/>
          </a:xfrm>
          <a:prstGeom prst="rect">
            <a:avLst/>
          </a:prstGeom>
          <a:noFill/>
          <a:ln/>
        </p:spPr>
        <p:txBody>
          <a:bodyPr wrap="square" lIns="0" tIns="0" rIns="0" bIns="0" rtlCol="0" anchor="t"/>
          <a:lstStyle/>
          <a:p>
            <a:pPr indent="0" marL="0">
              <a:buNone/>
            </a:pPr>
            <a:r>
              <a:rPr lang="en-US" sz="4800" b="1" dirty="0">
                <a:solidFill>
                  <a:schemeClr val="bg1"/>
                </a:solidFill>
              </a:rPr>
              <a:t>motionkit</a:t>
            </a:r>
            <a:endParaRPr lang="en-US" sz="4800" dirty="0"/>
          </a:p>
        </p:txBody>
      </p:sp>
      <p:sp>
        <p:nvSpPr>
          <p:cNvPr id="5" name="cover-sub"/>
          <p:cNvSpPr txBox="1"/>
          <p:nvPr/>
        </p:nvSpPr>
        <p:spPr>
          <a:xfrm>
            <a:off x="548640" y="3291840"/>
            <a:ext cx="4297680" cy="1463040"/>
          </a:xfrm>
          <a:prstGeom prst="rect">
            <a:avLst/>
          </a:prstGeom>
          <a:noFill/>
          <a:ln/>
        </p:spPr>
        <p:txBody>
          <a:bodyPr wrap="square" lIns="0" tIns="0" rIns="0" bIns="0" rtlCol="0" anchor="t"/>
          <a:lstStyle/>
          <a:p>
            <a:pPr indent="0" marL="0">
              <a:buNone/>
            </a:pPr>
            <a:r>
              <a:rPr lang="en-US" sz="2000" dirty="0">
                <a:solidFill>
                  <a:schemeClr val="bg1"/>
                </a:solidFill>
              </a:rPr>
              <a:t>Make motion-graphics videos in Blender 5 with a few lines of Python, or just ask Gemini to write them</a:t>
            </a:r>
            <a:endParaRPr lang="en-US" sz="2000" dirty="0"/>
          </a:p>
        </p:txBody>
      </p:sp>
      <p:sp>
        <p:nvSpPr>
          <p:cNvPr id="6" name="presenters"/>
          <p:cNvSpPr txBox="1"/>
          <p:nvPr/>
        </p:nvSpPr>
        <p:spPr>
          <a:xfrm>
            <a:off x="548640" y="5852160"/>
            <a:ext cx="5486400" cy="365760"/>
          </a:xfrm>
          <a:prstGeom prst="rect">
            <a:avLst/>
          </a:prstGeom>
          <a:noFill/>
          <a:ln/>
        </p:spPr>
        <p:txBody>
          <a:bodyPr wrap="square" lIns="0" tIns="0" rIns="0" bIns="0" rtlCol="0" anchor="t"/>
          <a:lstStyle/>
          <a:p>
            <a:pPr indent="0" marL="0">
              <a:buNone/>
            </a:pPr>
            <a:r>
              <a:rPr lang="en-US" sz="1400" dirty="0">
                <a:solidFill>
                  <a:schemeClr val="accent5"/>
                </a:solidFill>
              </a:rPr>
              <a:t>[Presenter] · [Team] · [Date]</a:t>
            </a:r>
            <a:endParaRPr lang="en-US" sz="1400" dirty="0"/>
          </a:p>
        </p:txBody>
      </p:sp>
      <p:sp>
        <p:nvSpPr>
          <p:cNvPr id="8"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WHY</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The trailer taught us what's hard</a:t>
            </a:r>
            <a:endParaRPr lang="en-US" sz="3600" dirty="0"/>
          </a:p>
        </p:txBody>
      </p:sp>
      <p:sp>
        <p:nvSpPr>
          <p:cNvPr id="4" name="stat-0"/>
          <p:cNvSpPr/>
          <p:nvPr/>
        </p:nvSpPr>
        <p:spPr>
          <a:xfrm>
            <a:off x="548640" y="1463040"/>
            <a:ext cx="4206240" cy="1371600"/>
          </a:xfrm>
          <a:prstGeom prst="roundRect">
            <a:avLst>
              <a:gd name="adj" fmla="val 8000"/>
            </a:avLst>
          </a:prstGeom>
          <a:solidFill>
            <a:schemeClr val="tx1"/>
          </a:solidFill>
          <a:ln/>
        </p:spPr>
      </p:sp>
      <p:sp>
        <p:nvSpPr>
          <p:cNvPr id="5" name="stat-0-text"/>
          <p:cNvSpPr txBox="1"/>
          <p:nvPr/>
        </p:nvSpPr>
        <p:spPr>
          <a:xfrm>
            <a:off x="822960" y="1463040"/>
            <a:ext cx="3657600" cy="1371600"/>
          </a:xfrm>
          <a:prstGeom prst="rect">
            <a:avLst/>
          </a:prstGeom>
          <a:noFill/>
          <a:ln/>
        </p:spPr>
        <p:txBody>
          <a:bodyPr wrap="square" lIns="0" tIns="0" rIns="0" bIns="0" rtlCol="0" anchor="ctr"/>
          <a:lstStyle/>
          <a:p>
            <a:pPr indent="0" marL="0">
              <a:buNone/>
            </a:pPr>
            <a:r>
              <a:rPr lang="en-US" sz="4000" b="1" dirty="0">
                <a:solidFill>
                  <a:schemeClr val="bg1"/>
                </a:solidFill>
              </a:rPr>
              <a:t>1,661</a:t>
            </a:r>
            <a:endParaRPr lang="en-US" sz="4000" dirty="0"/>
          </a:p>
          <a:p>
            <a:pPr indent="0" marL="0">
              <a:buNone/>
            </a:pPr>
            <a:r>
              <a:rPr lang="en-US" sz="1300" dirty="0">
                <a:solidFill>
                  <a:schemeClr val="bg1"/>
                </a:solidFill>
              </a:rPr>
              <a:t>lines of Blender Python in the ERM trailer script</a:t>
            </a:r>
            <a:endParaRPr lang="en-US" sz="4000" dirty="0"/>
          </a:p>
        </p:txBody>
      </p:sp>
      <p:sp>
        <p:nvSpPr>
          <p:cNvPr id="6" name="stat-1"/>
          <p:cNvSpPr/>
          <p:nvPr/>
        </p:nvSpPr>
        <p:spPr>
          <a:xfrm>
            <a:off x="548640" y="3063240"/>
            <a:ext cx="4206240" cy="1371600"/>
          </a:xfrm>
          <a:prstGeom prst="roundRect">
            <a:avLst>
              <a:gd name="adj" fmla="val 8000"/>
            </a:avLst>
          </a:prstGeom>
          <a:solidFill>
            <a:schemeClr val="accent1"/>
          </a:solidFill>
          <a:ln/>
        </p:spPr>
      </p:sp>
      <p:sp>
        <p:nvSpPr>
          <p:cNvPr id="7" name="stat-1-text"/>
          <p:cNvSpPr txBox="1"/>
          <p:nvPr/>
        </p:nvSpPr>
        <p:spPr>
          <a:xfrm>
            <a:off x="822960" y="3063240"/>
            <a:ext cx="3657600" cy="1371600"/>
          </a:xfrm>
          <a:prstGeom prst="rect">
            <a:avLst/>
          </a:prstGeom>
          <a:noFill/>
          <a:ln/>
        </p:spPr>
        <p:txBody>
          <a:bodyPr wrap="square" lIns="0" tIns="0" rIns="0" bIns="0" rtlCol="0" anchor="ctr"/>
          <a:lstStyle/>
          <a:p>
            <a:pPr indent="0" marL="0">
              <a:buNone/>
            </a:pPr>
            <a:r>
              <a:rPr lang="en-US" sz="4000" b="1" dirty="0">
                <a:solidFill>
                  <a:schemeClr val="bg1"/>
                </a:solidFill>
              </a:rPr>
              <a:t>25</a:t>
            </a:r>
            <a:endParaRPr lang="en-US" sz="4000" dirty="0"/>
          </a:p>
          <a:p>
            <a:pPr indent="0" marL="0">
              <a:buNone/>
            </a:pPr>
            <a:r>
              <a:rPr lang="en-US" sz="1300" dirty="0">
                <a:solidFill>
                  <a:schemeClr val="bg1"/>
                </a:solidFill>
              </a:rPr>
              <a:t>lines for a polished title shot with motionkit</a:t>
            </a:r>
            <a:endParaRPr lang="en-US" sz="4000" dirty="0"/>
          </a:p>
        </p:txBody>
      </p:sp>
      <p:sp>
        <p:nvSpPr>
          <p:cNvPr id="8" name="stat-2"/>
          <p:cNvSpPr/>
          <p:nvPr/>
        </p:nvSpPr>
        <p:spPr>
          <a:xfrm>
            <a:off x="548640" y="4663440"/>
            <a:ext cx="4206240" cy="1371600"/>
          </a:xfrm>
          <a:prstGeom prst="roundRect">
            <a:avLst>
              <a:gd name="adj" fmla="val 8000"/>
            </a:avLst>
          </a:prstGeom>
          <a:solidFill>
            <a:schemeClr val="accent4"/>
          </a:solidFill>
          <a:ln/>
        </p:spPr>
      </p:sp>
      <p:sp>
        <p:nvSpPr>
          <p:cNvPr id="9" name="stat-2-text"/>
          <p:cNvSpPr txBox="1"/>
          <p:nvPr/>
        </p:nvSpPr>
        <p:spPr>
          <a:xfrm>
            <a:off x="822960" y="4663440"/>
            <a:ext cx="3657600" cy="1371600"/>
          </a:xfrm>
          <a:prstGeom prst="rect">
            <a:avLst/>
          </a:prstGeom>
          <a:noFill/>
          <a:ln/>
        </p:spPr>
        <p:txBody>
          <a:bodyPr wrap="square" lIns="0" tIns="0" rIns="0" bIns="0" rtlCol="0" anchor="ctr"/>
          <a:lstStyle/>
          <a:p>
            <a:pPr indent="0" marL="0">
              <a:buNone/>
            </a:pPr>
            <a:r>
              <a:rPr lang="en-US" sz="4000" b="1" dirty="0">
                <a:solidFill>
                  <a:schemeClr val="bg1"/>
                </a:solidFill>
              </a:rPr>
              <a:t>0</a:t>
            </a:r>
            <a:endParaRPr lang="en-US" sz="4000" dirty="0"/>
          </a:p>
          <a:p>
            <a:pPr indent="0" marL="0">
              <a:buNone/>
            </a:pPr>
            <a:r>
              <a:rPr lang="en-US" sz="1300" dirty="0">
                <a:solidFill>
                  <a:schemeClr val="bg1"/>
                </a:solidFill>
              </a:rPr>
              <a:t>Blender knowledge needed to start</a:t>
            </a:r>
            <a:endParaRPr lang="en-US" sz="4000" dirty="0"/>
          </a:p>
        </p:txBody>
      </p:sp>
      <p:sp>
        <p:nvSpPr>
          <p:cNvPr id="10" name="hard-card"/>
          <p:cNvSpPr/>
          <p:nvPr/>
        </p:nvSpPr>
        <p:spPr>
          <a:xfrm>
            <a:off x="5120640" y="1463040"/>
            <a:ext cx="6522415" cy="4572000"/>
          </a:xfrm>
          <a:prstGeom prst="roundRect">
            <a:avLst>
              <a:gd name="adj" fmla="val 2400"/>
            </a:avLst>
          </a:prstGeom>
          <a:solidFill>
            <a:schemeClr val="bg2"/>
          </a:solidFill>
          <a:ln/>
        </p:spPr>
      </p:sp>
      <p:sp>
        <p:nvSpPr>
          <p:cNvPr id="11" name="hard-title"/>
          <p:cNvSpPr txBox="1"/>
          <p:nvPr/>
        </p:nvSpPr>
        <p:spPr>
          <a:xfrm>
            <a:off x="5440680" y="1645920"/>
            <a:ext cx="5882335"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WHAT USED TO BE HARD, NOW HANDLED BY THE KIT</a:t>
            </a:r>
            <a:endParaRPr lang="en-US" sz="1100" dirty="0"/>
          </a:p>
        </p:txBody>
      </p:sp>
      <p:sp>
        <p:nvSpPr>
          <p:cNvPr id="12" name="hard-list"/>
          <p:cNvSpPr txBox="1"/>
          <p:nvPr/>
        </p:nvSpPr>
        <p:spPr>
          <a:xfrm>
            <a:off x="5440680" y="2057400"/>
            <a:ext cx="5882335" cy="3840480"/>
          </a:xfrm>
          <a:prstGeom prst="rect">
            <a:avLst/>
          </a:prstGeom>
          <a:noFill/>
          <a:ln/>
        </p:spPr>
        <p:txBody>
          <a:bodyPr wrap="square" lIns="0" tIns="0" rIns="0" bIns="0" rtlCol="0" anchor="t"/>
          <a:lstStyle/>
          <a:p>
            <a:pPr indent="0" marL="0">
              <a:buNone/>
            </a:pPr>
            <a:r>
              <a:rPr lang="en-US" sz="1500" b="1" dirty="0">
                <a:solidFill>
                  <a:schemeClr val="tx1"/>
                </a:solidFill>
              </a:rPr>
              <a:t>Blender version quirks</a:t>
            </a:r>
            <a:endParaRPr lang="en-US" sz="1500" dirty="0"/>
          </a:p>
          <a:p>
            <a:pPr indent="0" marL="0">
              <a:spcAft>
                <a:spcPts val="1000"/>
              </a:spcAft>
              <a:buNone/>
            </a:pPr>
            <a:r>
              <a:rPr lang="en-US" sz="1250" dirty="0">
                <a:solidFill>
                  <a:schemeClr val="tx2"/>
                </a:solidFill>
              </a:rPr>
              <a:t>Keyframes, compositor, EEVEE and the sequencer changed between 4.x and 5.x: one compatibility file absorbs it</a:t>
            </a:r>
            <a:endParaRPr lang="en-US" sz="1500" dirty="0"/>
          </a:p>
          <a:p>
            <a:pPr indent="0" marL="0">
              <a:buNone/>
            </a:pPr>
            <a:r>
              <a:rPr lang="en-US" sz="1500" b="1" dirty="0">
                <a:solidFill>
                  <a:schemeClr val="tx1"/>
                </a:solidFill>
              </a:rPr>
              <a:t>Materials and glow</a:t>
            </a:r>
            <a:endParaRPr lang="en-US" sz="1500" dirty="0"/>
          </a:p>
          <a:p>
            <a:pPr indent="0" marL="0">
              <a:spcAft>
                <a:spcPts val="1000"/>
              </a:spcAft>
              <a:buNone/>
            </a:pPr>
            <a:r>
              <a:rPr lang="en-US" sz="1250" dirty="0">
                <a:solidFill>
                  <a:schemeClr val="tx2"/>
                </a:solidFill>
              </a:rPr>
              <a:t>Self-lit materials with fade, glow and colour you can animate, plus bloom</a:t>
            </a:r>
            <a:endParaRPr lang="en-US" sz="1500" dirty="0"/>
          </a:p>
          <a:p>
            <a:pPr indent="0" marL="0">
              <a:buNone/>
            </a:pPr>
            <a:r>
              <a:rPr lang="en-US" sz="1500" b="1" dirty="0">
                <a:solidFill>
                  <a:schemeClr val="tx1"/>
                </a:solidFill>
              </a:rPr>
              <a:t>Camera maths</a:t>
            </a:r>
            <a:endParaRPr lang="en-US" sz="1500" dirty="0"/>
          </a:p>
          <a:p>
            <a:pPr indent="0" marL="0">
              <a:spcAft>
                <a:spcPts val="1000"/>
              </a:spcAft>
              <a:buNone/>
            </a:pPr>
            <a:r>
              <a:rPr lang="en-US" sz="1250" dirty="0">
                <a:solidFill>
                  <a:schemeClr val="tx2"/>
                </a:solidFill>
              </a:rPr>
              <a:t>Say where to stand and what to look at; orbits, push-ins and cuts are one line</a:t>
            </a:r>
            <a:endParaRPr lang="en-US" sz="1500" dirty="0"/>
          </a:p>
          <a:p>
            <a:pPr indent="0" marL="0">
              <a:buNone/>
            </a:pPr>
            <a:r>
              <a:rPr lang="en-US" sz="1500" b="1" dirty="0">
                <a:solidFill>
                  <a:schemeClr val="tx1"/>
                </a:solidFill>
              </a:rPr>
              <a:t>Frames and easing</a:t>
            </a:r>
            <a:endParaRPr lang="en-US" sz="1500" dirty="0"/>
          </a:p>
          <a:p>
            <a:pPr indent="0" marL="0">
              <a:spcAft>
                <a:spcPts val="1000"/>
              </a:spcAft>
              <a:buNone/>
            </a:pPr>
            <a:r>
              <a:rPr lang="en-US" sz="1250" dirty="0">
                <a:solidFill>
                  <a:schemeClr val="tx2"/>
                </a:solidFill>
              </a:rPr>
              <a:t>Think in seconds and named eases: "smooth", "back", "bounce"</a:t>
            </a:r>
            <a:endParaRPr lang="en-US" sz="1500" dirty="0"/>
          </a:p>
          <a:p>
            <a:pPr indent="0" marL="0">
              <a:buNone/>
            </a:pPr>
            <a:r>
              <a:rPr lang="en-US" sz="1500" b="1" dirty="0">
                <a:solidFill>
                  <a:schemeClr val="tx1"/>
                </a:solidFill>
              </a:rPr>
              <a:t>Rendering</a:t>
            </a:r>
            <a:endParaRPr lang="en-US" sz="1500" dirty="0"/>
          </a:p>
          <a:p>
            <a:pPr indent="0" marL="0">
              <a:spcAft>
                <a:spcPts val="1000"/>
              </a:spcAft>
              <a:buNone/>
            </a:pPr>
            <a:r>
              <a:rPr lang="en-US" sz="1250" dirty="0">
                <a:solidFill>
                  <a:schemeClr val="tx2"/>
                </a:solidFill>
              </a:rPr>
              <a:t>One command for a still, a preview or the final MP4 with music</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HOW IT WORKS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From an idea to an MP4 in four hops</a:t>
            </a:r>
            <a:endParaRPr lang="en-US" sz="3600" dirty="0"/>
          </a:p>
        </p:txBody>
      </p:sp>
      <p:sp>
        <p:nvSpPr>
          <p:cNvPr id="4" name="hop-0"/>
          <p:cNvSpPr/>
          <p:nvPr/>
        </p:nvSpPr>
        <p:spPr>
          <a:xfrm>
            <a:off x="548640" y="1828800"/>
            <a:ext cx="1962851" cy="2377440"/>
          </a:xfrm>
          <a:prstGeom prst="roundRect">
            <a:avLst>
              <a:gd name="adj" fmla="val 5590"/>
            </a:avLst>
          </a:prstGeom>
          <a:solidFill>
            <a:schemeClr val="bg1"/>
          </a:solidFill>
          <a:ln w="12700">
            <a:solidFill>
              <a:schemeClr val="accent5"/>
            </a:solidFill>
            <a:prstDash val="solid"/>
          </a:ln>
        </p:spPr>
      </p:sp>
      <p:sp>
        <p:nvSpPr>
          <p:cNvPr id="5" name="hop-0-text"/>
          <p:cNvSpPr txBox="1"/>
          <p:nvPr/>
        </p:nvSpPr>
        <p:spPr>
          <a:xfrm>
            <a:off x="731520" y="1965960"/>
            <a:ext cx="1597091" cy="2103120"/>
          </a:xfrm>
          <a:prstGeom prst="rect">
            <a:avLst/>
          </a:prstGeom>
          <a:noFill/>
          <a:ln/>
        </p:spPr>
        <p:txBody>
          <a:bodyPr wrap="square" lIns="0" tIns="0" rIns="0" bIns="0" rtlCol="0" anchor="t"/>
          <a:lstStyle/>
          <a:p>
            <a:pPr indent="0" marL="0">
              <a:buNone/>
            </a:pPr>
            <a:r>
              <a:rPr lang="en-US" sz="2600" b="1" dirty="0">
                <a:solidFill>
                  <a:schemeClr val="tx1"/>
                </a:solidFill>
              </a:rPr>
              <a:t>1</a:t>
            </a:r>
            <a:endParaRPr lang="en-US" sz="2600" dirty="0"/>
          </a:p>
          <a:p>
            <a:pPr indent="0" marL="0">
              <a:buNone/>
            </a:pPr>
            <a:r>
              <a:rPr lang="en-US" sz="1800" b="1" dirty="0">
                <a:solidFill>
                  <a:schemeClr val="tx1"/>
                </a:solidFill>
              </a:rPr>
              <a:t>Idea</a:t>
            </a:r>
            <a:endParaRPr lang="en-US" sz="2600" dirty="0"/>
          </a:p>
          <a:p>
            <a:pPr indent="0" marL="0">
              <a:buNone/>
            </a:pPr>
            <a:r>
              <a:rPr lang="en-US" sz="600" dirty="0">
                <a:solidFill>
                  <a:srgbClr val="000000"/>
                </a:solidFill>
              </a:rPr>
              <a:t> </a:t>
            </a:r>
            <a:endParaRPr lang="en-US" sz="2600" dirty="0"/>
          </a:p>
          <a:p>
            <a:pPr indent="0" marL="0">
              <a:buNone/>
            </a:pPr>
            <a:r>
              <a:rPr lang="en-US" sz="1250" dirty="0">
                <a:solidFill>
                  <a:schemeClr val="tx1"/>
                </a:solidFill>
              </a:rPr>
              <a:t>"A 10-second intro: our name types itself among stars"</a:t>
            </a:r>
            <a:endParaRPr lang="en-US" sz="2600" dirty="0"/>
          </a:p>
        </p:txBody>
      </p:sp>
      <p:sp>
        <p:nvSpPr>
          <p:cNvPr id="6" name="hop-0-arrow"/>
          <p:cNvSpPr/>
          <p:nvPr/>
        </p:nvSpPr>
        <p:spPr>
          <a:xfrm>
            <a:off x="2548067" y="3017520"/>
            <a:ext cx="246888" cy="0"/>
          </a:xfrm>
          <a:prstGeom prst="line">
            <a:avLst/>
          </a:prstGeom>
          <a:noFill/>
          <a:ln w="19050">
            <a:solidFill>
              <a:schemeClr val="tx2"/>
            </a:solidFill>
            <a:prstDash val="solid"/>
            <a:tailEnd type="triangle"/>
          </a:ln>
        </p:spPr>
      </p:sp>
      <p:sp>
        <p:nvSpPr>
          <p:cNvPr id="7" name="hop-1"/>
          <p:cNvSpPr/>
          <p:nvPr/>
        </p:nvSpPr>
        <p:spPr>
          <a:xfrm>
            <a:off x="2831531" y="1828800"/>
            <a:ext cx="1962851" cy="2377440"/>
          </a:xfrm>
          <a:prstGeom prst="roundRect">
            <a:avLst>
              <a:gd name="adj" fmla="val 5590"/>
            </a:avLst>
          </a:prstGeom>
          <a:solidFill>
            <a:schemeClr val="bg1"/>
          </a:solidFill>
          <a:ln w="12700">
            <a:solidFill>
              <a:schemeClr val="accent5"/>
            </a:solidFill>
            <a:prstDash val="solid"/>
          </a:ln>
        </p:spPr>
      </p:sp>
      <p:sp>
        <p:nvSpPr>
          <p:cNvPr id="8" name="hop-1-text"/>
          <p:cNvSpPr txBox="1"/>
          <p:nvPr/>
        </p:nvSpPr>
        <p:spPr>
          <a:xfrm>
            <a:off x="3014411" y="1965960"/>
            <a:ext cx="1597091" cy="2103120"/>
          </a:xfrm>
          <a:prstGeom prst="rect">
            <a:avLst/>
          </a:prstGeom>
          <a:noFill/>
          <a:ln/>
        </p:spPr>
        <p:txBody>
          <a:bodyPr wrap="square" lIns="0" tIns="0" rIns="0" bIns="0" rtlCol="0" anchor="t"/>
          <a:lstStyle/>
          <a:p>
            <a:pPr indent="0" marL="0">
              <a:buNone/>
            </a:pPr>
            <a:r>
              <a:rPr lang="en-US" sz="2600" b="1" dirty="0">
                <a:solidFill>
                  <a:schemeClr val="tx1"/>
                </a:solidFill>
              </a:rPr>
              <a:t>2</a:t>
            </a:r>
            <a:endParaRPr lang="en-US" sz="2600" dirty="0"/>
          </a:p>
          <a:p>
            <a:pPr indent="0" marL="0">
              <a:buNone/>
            </a:pPr>
            <a:r>
              <a:rPr lang="en-US" sz="1800" b="1" dirty="0">
                <a:solidFill>
                  <a:schemeClr val="tx1"/>
                </a:solidFill>
              </a:rPr>
              <a:t>Shot Script</a:t>
            </a:r>
            <a:endParaRPr lang="en-US" sz="2600" dirty="0"/>
          </a:p>
          <a:p>
            <a:pPr indent="0" marL="0">
              <a:buNone/>
            </a:pPr>
            <a:r>
              <a:rPr lang="en-US" sz="600" dirty="0">
                <a:solidFill>
                  <a:srgbClr val="000000"/>
                </a:solidFill>
              </a:rPr>
              <a:t> </a:t>
            </a:r>
            <a:endParaRPr lang="en-US" sz="2600" dirty="0"/>
          </a:p>
          <a:p>
            <a:pPr indent="0" marL="0">
              <a:buNone/>
            </a:pPr>
            <a:r>
              <a:rPr lang="en-US" sz="1250" dirty="0">
                <a:solidFill>
                  <a:schemeClr val="tx1"/>
                </a:solidFill>
              </a:rPr>
              <a:t>Plain-language plan: what, when, camera, transitions</a:t>
            </a:r>
            <a:endParaRPr lang="en-US" sz="2600" dirty="0"/>
          </a:p>
        </p:txBody>
      </p:sp>
      <p:sp>
        <p:nvSpPr>
          <p:cNvPr id="9" name="hop-1-arrow"/>
          <p:cNvSpPr/>
          <p:nvPr/>
        </p:nvSpPr>
        <p:spPr>
          <a:xfrm>
            <a:off x="4830958" y="3017520"/>
            <a:ext cx="246888" cy="0"/>
          </a:xfrm>
          <a:prstGeom prst="line">
            <a:avLst/>
          </a:prstGeom>
          <a:noFill/>
          <a:ln w="19050">
            <a:solidFill>
              <a:schemeClr val="tx2"/>
            </a:solidFill>
            <a:prstDash val="solid"/>
            <a:tailEnd type="triangle"/>
          </a:ln>
        </p:spPr>
      </p:sp>
      <p:sp>
        <p:nvSpPr>
          <p:cNvPr id="10" name="hop-2"/>
          <p:cNvSpPr/>
          <p:nvPr/>
        </p:nvSpPr>
        <p:spPr>
          <a:xfrm>
            <a:off x="5114422" y="1828800"/>
            <a:ext cx="1962851" cy="2377440"/>
          </a:xfrm>
          <a:prstGeom prst="roundRect">
            <a:avLst>
              <a:gd name="adj" fmla="val 5590"/>
            </a:avLst>
          </a:prstGeom>
          <a:solidFill>
            <a:schemeClr val="accent4"/>
          </a:solidFill>
          <a:ln/>
        </p:spPr>
      </p:sp>
      <p:sp>
        <p:nvSpPr>
          <p:cNvPr id="11" name="hop-2-text"/>
          <p:cNvSpPr txBox="1"/>
          <p:nvPr/>
        </p:nvSpPr>
        <p:spPr>
          <a:xfrm>
            <a:off x="5297302" y="1965960"/>
            <a:ext cx="1597091" cy="2103120"/>
          </a:xfrm>
          <a:prstGeom prst="rect">
            <a:avLst/>
          </a:prstGeom>
          <a:noFill/>
          <a:ln/>
        </p:spPr>
        <p:txBody>
          <a:bodyPr wrap="square" lIns="0" tIns="0" rIns="0" bIns="0" rtlCol="0" anchor="t"/>
          <a:lstStyle/>
          <a:p>
            <a:pPr indent="0" marL="0">
              <a:buNone/>
            </a:pPr>
            <a:r>
              <a:rPr lang="en-US" sz="2600" b="1" dirty="0">
                <a:solidFill>
                  <a:schemeClr val="bg1"/>
                </a:solidFill>
              </a:rPr>
              <a:t>3</a:t>
            </a:r>
            <a:endParaRPr lang="en-US" sz="2600" dirty="0"/>
          </a:p>
          <a:p>
            <a:pPr indent="0" marL="0">
              <a:buNone/>
            </a:pPr>
            <a:r>
              <a:rPr lang="en-US" sz="1800" b="1" dirty="0">
                <a:solidFill>
                  <a:schemeClr val="bg1"/>
                </a:solidFill>
              </a:rPr>
              <a:t>Gemini gem</a:t>
            </a:r>
            <a:endParaRPr lang="en-US" sz="2600" dirty="0"/>
          </a:p>
          <a:p>
            <a:pPr indent="0" marL="0">
              <a:buNone/>
            </a:pPr>
            <a:r>
              <a:rPr lang="en-US" sz="600" dirty="0">
                <a:solidFill>
                  <a:srgbClr val="000000"/>
                </a:solidFill>
              </a:rPr>
              <a:t> </a:t>
            </a:r>
            <a:endParaRPr lang="en-US" sz="2600" dirty="0"/>
          </a:p>
          <a:p>
            <a:pPr indent="0" marL="0">
              <a:buNone/>
            </a:pPr>
            <a:r>
              <a:rPr lang="en-US" sz="1250" dirty="0">
                <a:solidFill>
                  <a:schemeClr val="bg1"/>
                </a:solidFill>
              </a:rPr>
              <a:t>motionkit Director writes the Python for you</a:t>
            </a:r>
            <a:endParaRPr lang="en-US" sz="2600" dirty="0"/>
          </a:p>
        </p:txBody>
      </p:sp>
      <p:sp>
        <p:nvSpPr>
          <p:cNvPr id="12" name="hop-2-arrow"/>
          <p:cNvSpPr/>
          <p:nvPr/>
        </p:nvSpPr>
        <p:spPr>
          <a:xfrm>
            <a:off x="7113849" y="3017520"/>
            <a:ext cx="246888" cy="0"/>
          </a:xfrm>
          <a:prstGeom prst="line">
            <a:avLst/>
          </a:prstGeom>
          <a:noFill/>
          <a:ln w="19050">
            <a:solidFill>
              <a:schemeClr val="tx2"/>
            </a:solidFill>
            <a:prstDash val="solid"/>
            <a:tailEnd type="triangle"/>
          </a:ln>
        </p:spPr>
      </p:sp>
      <p:sp>
        <p:nvSpPr>
          <p:cNvPr id="13" name="hop-3"/>
          <p:cNvSpPr/>
          <p:nvPr/>
        </p:nvSpPr>
        <p:spPr>
          <a:xfrm>
            <a:off x="7397313" y="1828800"/>
            <a:ext cx="1962851" cy="2377440"/>
          </a:xfrm>
          <a:prstGeom prst="roundRect">
            <a:avLst>
              <a:gd name="adj" fmla="val 5590"/>
            </a:avLst>
          </a:prstGeom>
          <a:solidFill>
            <a:schemeClr val="accent1"/>
          </a:solidFill>
          <a:ln/>
        </p:spPr>
      </p:sp>
      <p:sp>
        <p:nvSpPr>
          <p:cNvPr id="14" name="hop-3-text"/>
          <p:cNvSpPr txBox="1"/>
          <p:nvPr/>
        </p:nvSpPr>
        <p:spPr>
          <a:xfrm>
            <a:off x="7580193" y="1965960"/>
            <a:ext cx="1597091" cy="2103120"/>
          </a:xfrm>
          <a:prstGeom prst="rect">
            <a:avLst/>
          </a:prstGeom>
          <a:noFill/>
          <a:ln/>
        </p:spPr>
        <p:txBody>
          <a:bodyPr wrap="square" lIns="0" tIns="0" rIns="0" bIns="0" rtlCol="0" anchor="t"/>
          <a:lstStyle/>
          <a:p>
            <a:pPr indent="0" marL="0">
              <a:buNone/>
            </a:pPr>
            <a:r>
              <a:rPr lang="en-US" sz="2600" b="1" dirty="0">
                <a:solidFill>
                  <a:schemeClr val="bg1"/>
                </a:solidFill>
              </a:rPr>
              <a:t>4</a:t>
            </a:r>
            <a:endParaRPr lang="en-US" sz="2600" dirty="0"/>
          </a:p>
          <a:p>
            <a:pPr indent="0" marL="0">
              <a:buNone/>
            </a:pPr>
            <a:r>
              <a:rPr lang="en-US" sz="1800" b="1" dirty="0">
                <a:solidFill>
                  <a:schemeClr val="bg1"/>
                </a:solidFill>
              </a:rPr>
              <a:t>motionkit</a:t>
            </a:r>
            <a:endParaRPr lang="en-US" sz="2600" dirty="0"/>
          </a:p>
          <a:p>
            <a:pPr indent="0" marL="0">
              <a:buNone/>
            </a:pPr>
            <a:r>
              <a:rPr lang="en-US" sz="600" dirty="0">
                <a:solidFill>
                  <a:srgbClr val="000000"/>
                </a:solidFill>
              </a:rPr>
              <a:t> </a:t>
            </a:r>
            <a:endParaRPr lang="en-US" sz="2600" dirty="0"/>
          </a:p>
          <a:p>
            <a:pPr indent="0" marL="0">
              <a:buNone/>
            </a:pPr>
            <a:r>
              <a:rPr lang="en-US" sz="1250" dirty="0">
                <a:solidFill>
                  <a:schemeClr val="bg1"/>
                </a:solidFill>
              </a:rPr>
              <a:t>Your script: assets, motions, camera, overlay</a:t>
            </a:r>
            <a:endParaRPr lang="en-US" sz="2600" dirty="0"/>
          </a:p>
        </p:txBody>
      </p:sp>
      <p:sp>
        <p:nvSpPr>
          <p:cNvPr id="15" name="hop-3-arrow"/>
          <p:cNvSpPr/>
          <p:nvPr/>
        </p:nvSpPr>
        <p:spPr>
          <a:xfrm>
            <a:off x="9396740" y="3017520"/>
            <a:ext cx="246888" cy="0"/>
          </a:xfrm>
          <a:prstGeom prst="line">
            <a:avLst/>
          </a:prstGeom>
          <a:noFill/>
          <a:ln w="19050">
            <a:solidFill>
              <a:schemeClr val="tx2"/>
            </a:solidFill>
            <a:prstDash val="solid"/>
            <a:tailEnd type="triangle"/>
          </a:ln>
        </p:spPr>
      </p:sp>
      <p:sp>
        <p:nvSpPr>
          <p:cNvPr id="16" name="hop-4"/>
          <p:cNvSpPr/>
          <p:nvPr/>
        </p:nvSpPr>
        <p:spPr>
          <a:xfrm>
            <a:off x="9680204" y="1828800"/>
            <a:ext cx="1962851" cy="2377440"/>
          </a:xfrm>
          <a:prstGeom prst="roundRect">
            <a:avLst>
              <a:gd name="adj" fmla="val 5590"/>
            </a:avLst>
          </a:prstGeom>
          <a:solidFill>
            <a:schemeClr val="tx1"/>
          </a:solidFill>
          <a:ln/>
        </p:spPr>
      </p:sp>
      <p:sp>
        <p:nvSpPr>
          <p:cNvPr id="17" name="hop-4-text"/>
          <p:cNvSpPr txBox="1"/>
          <p:nvPr/>
        </p:nvSpPr>
        <p:spPr>
          <a:xfrm>
            <a:off x="9863084" y="1965960"/>
            <a:ext cx="1597091" cy="2103120"/>
          </a:xfrm>
          <a:prstGeom prst="rect">
            <a:avLst/>
          </a:prstGeom>
          <a:noFill/>
          <a:ln/>
        </p:spPr>
        <p:txBody>
          <a:bodyPr wrap="square" lIns="0" tIns="0" rIns="0" bIns="0" rtlCol="0" anchor="t"/>
          <a:lstStyle/>
          <a:p>
            <a:pPr indent="0" marL="0">
              <a:buNone/>
            </a:pPr>
            <a:r>
              <a:rPr lang="en-US" sz="2600" b="1" dirty="0">
                <a:solidFill>
                  <a:schemeClr val="bg1"/>
                </a:solidFill>
              </a:rPr>
              <a:t>5</a:t>
            </a:r>
            <a:endParaRPr lang="en-US" sz="2600" dirty="0"/>
          </a:p>
          <a:p>
            <a:pPr indent="0" marL="0">
              <a:buNone/>
            </a:pPr>
            <a:r>
              <a:rPr lang="en-US" sz="1800" b="1" dirty="0">
                <a:solidFill>
                  <a:schemeClr val="bg1"/>
                </a:solidFill>
              </a:rPr>
              <a:t>Blender 5</a:t>
            </a:r>
            <a:endParaRPr lang="en-US" sz="2600" dirty="0"/>
          </a:p>
          <a:p>
            <a:pPr indent="0" marL="0">
              <a:buNone/>
            </a:pPr>
            <a:r>
              <a:rPr lang="en-US" sz="600" dirty="0">
                <a:solidFill>
                  <a:srgbClr val="000000"/>
                </a:solidFill>
              </a:rPr>
              <a:t> </a:t>
            </a:r>
            <a:endParaRPr lang="en-US" sz="2600" dirty="0"/>
          </a:p>
          <a:p>
            <a:pPr indent="0" marL="0">
              <a:buNone/>
            </a:pPr>
            <a:r>
              <a:rPr lang="en-US" sz="1250" dirty="0">
                <a:solidFill>
                  <a:schemeClr val="bg1"/>
                </a:solidFill>
              </a:rPr>
              <a:t>EEVEE renders it: still, preview or final MP4</a:t>
            </a:r>
            <a:endParaRPr lang="en-US" sz="2600" dirty="0"/>
          </a:p>
        </p:txBody>
      </p:sp>
      <p:sp>
        <p:nvSpPr>
          <p:cNvPr id="18" name="skip-card"/>
          <p:cNvSpPr/>
          <p:nvPr/>
        </p:nvSpPr>
        <p:spPr>
          <a:xfrm>
            <a:off x="548640" y="4617720"/>
            <a:ext cx="11094415" cy="1371600"/>
          </a:xfrm>
          <a:prstGeom prst="roundRect">
            <a:avLst>
              <a:gd name="adj" fmla="val 8000"/>
            </a:avLst>
          </a:prstGeom>
          <a:solidFill>
            <a:schemeClr val="bg1"/>
          </a:solidFill>
          <a:ln/>
        </p:spPr>
      </p:sp>
      <p:sp>
        <p:nvSpPr>
          <p:cNvPr id="19" name="skip-text"/>
          <p:cNvSpPr txBox="1"/>
          <p:nvPr/>
        </p:nvSpPr>
        <p:spPr>
          <a:xfrm>
            <a:off x="868680" y="4617720"/>
            <a:ext cx="10454335" cy="1371600"/>
          </a:xfrm>
          <a:prstGeom prst="rect">
            <a:avLst/>
          </a:prstGeom>
          <a:noFill/>
          <a:ln/>
        </p:spPr>
        <p:txBody>
          <a:bodyPr wrap="square" lIns="0" tIns="0" rIns="0" bIns="0" rtlCol="0" anchor="ctr"/>
          <a:lstStyle/>
          <a:p>
            <a:pPr indent="0" marL="0">
              <a:buNone/>
            </a:pPr>
            <a:r>
              <a:rPr lang="en-US" sz="1600" b="1" dirty="0">
                <a:solidFill>
                  <a:schemeClr val="accent3"/>
                </a:solidFill>
              </a:rPr>
              <a:t>Two ways in. </a:t>
            </a:r>
            <a:pPr indent="0" marL="0">
              <a:buNone/>
            </a:pPr>
            <a:r>
              <a:rPr lang="en-US" sz="1500" dirty="0">
                <a:solidFill>
                  <a:schemeClr val="tx1"/>
                </a:solidFill>
              </a:rPr>
              <a:t>Write the motionkit script yourself (it reads like a storyboard), or describe the video to the gem and paste its code. Either way, the result is a normal Python file you can read, change and keep in git.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WHAT'S INSIDE</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Reusable components for everything we needed</a:t>
            </a:r>
            <a:endParaRPr lang="en-US" sz="3600" dirty="0"/>
          </a:p>
        </p:txBody>
      </p:sp>
      <p:sp>
        <p:nvSpPr>
          <p:cNvPr id="4" name="grp-0"/>
          <p:cNvSpPr/>
          <p:nvPr/>
        </p:nvSpPr>
        <p:spPr>
          <a:xfrm>
            <a:off x="548640" y="1417320"/>
            <a:ext cx="3515258" cy="2240280"/>
          </a:xfrm>
          <a:prstGeom prst="roundRect">
            <a:avLst>
              <a:gd name="adj" fmla="val 4898"/>
            </a:avLst>
          </a:prstGeom>
          <a:solidFill>
            <a:schemeClr val="bg2"/>
          </a:solidFill>
          <a:ln/>
        </p:spPr>
      </p:sp>
      <p:sp>
        <p:nvSpPr>
          <p:cNvPr id="5" name="grp-0-bar"/>
          <p:cNvSpPr/>
          <p:nvPr/>
        </p:nvSpPr>
        <p:spPr>
          <a:xfrm>
            <a:off x="548640" y="1417320"/>
            <a:ext cx="73152" cy="2240280"/>
          </a:xfrm>
          <a:prstGeom prst="rect">
            <a:avLst/>
          </a:prstGeom>
          <a:solidFill>
            <a:schemeClr val="accent1"/>
          </a:solidFill>
          <a:ln/>
        </p:spPr>
      </p:sp>
      <p:sp>
        <p:nvSpPr>
          <p:cNvPr id="6" name="grp-0-text"/>
          <p:cNvSpPr txBox="1"/>
          <p:nvPr/>
        </p:nvSpPr>
        <p:spPr>
          <a:xfrm>
            <a:off x="822960" y="1554480"/>
            <a:ext cx="3058058" cy="1554480"/>
          </a:xfrm>
          <a:prstGeom prst="rect">
            <a:avLst/>
          </a:prstGeom>
          <a:noFill/>
          <a:ln/>
        </p:spPr>
        <p:txBody>
          <a:bodyPr wrap="square" lIns="0" tIns="0" rIns="0" bIns="0" rtlCol="0" anchor="t"/>
          <a:lstStyle/>
          <a:p>
            <a:pPr indent="0" marL="0">
              <a:buNone/>
            </a:pPr>
            <a:r>
              <a:rPr lang="en-US" sz="1600" b="1" dirty="0">
                <a:solidFill>
                  <a:schemeClr val="tx1"/>
                </a:solidFill>
              </a:rPr>
              <a:t>Movie</a:t>
            </a:r>
            <a:endParaRPr lang="en-US" sz="1600" dirty="0"/>
          </a:p>
          <a:p>
            <a:pPr indent="0" marL="0">
              <a:buNone/>
            </a:pPr>
            <a:r>
              <a:rPr lang="en-US" sz="1200" dirty="0">
                <a:solidFill>
                  <a:schemeClr val="tx2"/>
                </a:solidFill>
              </a:rPr>
              <a:t>Clean scene, EEVEE settings, shots, music, still / preview / render from the command line</a:t>
            </a:r>
            <a:endParaRPr lang="en-US" sz="1600" dirty="0"/>
          </a:p>
        </p:txBody>
      </p:sp>
      <p:sp>
        <p:nvSpPr>
          <p:cNvPr id="7" name="grp-0-code"/>
          <p:cNvSpPr txBox="1"/>
          <p:nvPr/>
        </p:nvSpPr>
        <p:spPr>
          <a:xfrm>
            <a:off x="822960" y="3154680"/>
            <a:ext cx="3058058"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mk.Movie("intro", length=10)</a:t>
            </a:r>
            <a:endParaRPr lang="en-US" sz="1100" dirty="0"/>
          </a:p>
        </p:txBody>
      </p:sp>
      <p:sp>
        <p:nvSpPr>
          <p:cNvPr id="8" name="grp-1"/>
          <p:cNvSpPr/>
          <p:nvPr/>
        </p:nvSpPr>
        <p:spPr>
          <a:xfrm>
            <a:off x="4338218" y="1417320"/>
            <a:ext cx="3515258" cy="2240280"/>
          </a:xfrm>
          <a:prstGeom prst="roundRect">
            <a:avLst>
              <a:gd name="adj" fmla="val 4898"/>
            </a:avLst>
          </a:prstGeom>
          <a:solidFill>
            <a:schemeClr val="bg2"/>
          </a:solidFill>
          <a:ln/>
        </p:spPr>
      </p:sp>
      <p:sp>
        <p:nvSpPr>
          <p:cNvPr id="9" name="grp-1-bar"/>
          <p:cNvSpPr/>
          <p:nvPr/>
        </p:nvSpPr>
        <p:spPr>
          <a:xfrm>
            <a:off x="4338218" y="1417320"/>
            <a:ext cx="73152" cy="2240280"/>
          </a:xfrm>
          <a:prstGeom prst="rect">
            <a:avLst/>
          </a:prstGeom>
          <a:solidFill>
            <a:schemeClr val="accent2"/>
          </a:solidFill>
          <a:ln/>
        </p:spPr>
      </p:sp>
      <p:sp>
        <p:nvSpPr>
          <p:cNvPr id="10" name="grp-1-text"/>
          <p:cNvSpPr txBox="1"/>
          <p:nvPr/>
        </p:nvSpPr>
        <p:spPr>
          <a:xfrm>
            <a:off x="4612538" y="1554480"/>
            <a:ext cx="3058058" cy="1554480"/>
          </a:xfrm>
          <a:prstGeom prst="rect">
            <a:avLst/>
          </a:prstGeom>
          <a:noFill/>
          <a:ln/>
        </p:spPr>
        <p:txBody>
          <a:bodyPr wrap="square" lIns="0" tIns="0" rIns="0" bIns="0" rtlCol="0" anchor="t"/>
          <a:lstStyle/>
          <a:p>
            <a:pPr indent="0" marL="0">
              <a:buNone/>
            </a:pPr>
            <a:r>
              <a:rPr lang="en-US" sz="1600" b="1" dirty="0">
                <a:solidFill>
                  <a:schemeClr val="tx1"/>
                </a:solidFill>
              </a:rPr>
              <a:t>Assets</a:t>
            </a:r>
            <a:endParaRPr lang="en-US" sz="1600" dirty="0"/>
          </a:p>
          <a:p>
            <a:pPr indent="0" marL="0">
              <a:buNone/>
            </a:pPr>
            <a:r>
              <a:rPr lang="en-US" sz="1200" dirty="0">
                <a:solidFill>
                  <a:schemeClr val="tx2"/>
                </a:solidFill>
              </a:rPr>
              <a:t>Text3D · Counter · Card · Screen · Logo · Sphere · Ring · Arc · Line · Starfield · GridFloor · Globe · BarChart · ScreenWall · Portal · Group</a:t>
            </a:r>
            <a:endParaRPr lang="en-US" sz="1600" dirty="0"/>
          </a:p>
        </p:txBody>
      </p:sp>
      <p:sp>
        <p:nvSpPr>
          <p:cNvPr id="11" name="grp-1-code"/>
          <p:cNvSpPr txBox="1"/>
          <p:nvPr/>
        </p:nvSpPr>
        <p:spPr>
          <a:xfrm>
            <a:off x="4612538" y="3154680"/>
            <a:ext cx="3058058"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mk.Globe().focus(43.6, 1.4, at=2)</a:t>
            </a:r>
            <a:endParaRPr lang="en-US" sz="1100" dirty="0"/>
          </a:p>
        </p:txBody>
      </p:sp>
      <p:sp>
        <p:nvSpPr>
          <p:cNvPr id="12" name="grp-2"/>
          <p:cNvSpPr/>
          <p:nvPr/>
        </p:nvSpPr>
        <p:spPr>
          <a:xfrm>
            <a:off x="8127797" y="1417320"/>
            <a:ext cx="3515258" cy="2240280"/>
          </a:xfrm>
          <a:prstGeom prst="roundRect">
            <a:avLst>
              <a:gd name="adj" fmla="val 4898"/>
            </a:avLst>
          </a:prstGeom>
          <a:solidFill>
            <a:schemeClr val="bg2"/>
          </a:solidFill>
          <a:ln/>
        </p:spPr>
      </p:sp>
      <p:sp>
        <p:nvSpPr>
          <p:cNvPr id="13" name="grp-2-bar"/>
          <p:cNvSpPr/>
          <p:nvPr/>
        </p:nvSpPr>
        <p:spPr>
          <a:xfrm>
            <a:off x="8127797" y="1417320"/>
            <a:ext cx="73152" cy="2240280"/>
          </a:xfrm>
          <a:prstGeom prst="rect">
            <a:avLst/>
          </a:prstGeom>
          <a:solidFill>
            <a:schemeClr val="accent4"/>
          </a:solidFill>
          <a:ln/>
        </p:spPr>
      </p:sp>
      <p:sp>
        <p:nvSpPr>
          <p:cNvPr id="14" name="grp-2-text"/>
          <p:cNvSpPr txBox="1"/>
          <p:nvPr/>
        </p:nvSpPr>
        <p:spPr>
          <a:xfrm>
            <a:off x="8402117" y="1554480"/>
            <a:ext cx="3058058" cy="1554480"/>
          </a:xfrm>
          <a:prstGeom prst="rect">
            <a:avLst/>
          </a:prstGeom>
          <a:noFill/>
          <a:ln/>
        </p:spPr>
        <p:txBody>
          <a:bodyPr wrap="square" lIns="0" tIns="0" rIns="0" bIns="0" rtlCol="0" anchor="t"/>
          <a:lstStyle/>
          <a:p>
            <a:pPr indent="0" marL="0">
              <a:buNone/>
            </a:pPr>
            <a:r>
              <a:rPr lang="en-US" sz="1600" b="1" dirty="0">
                <a:solidFill>
                  <a:schemeClr val="tx1"/>
                </a:solidFill>
              </a:rPr>
              <a:t>Motions (every asset)</a:t>
            </a:r>
            <a:endParaRPr lang="en-US" sz="1600" dirty="0"/>
          </a:p>
          <a:p>
            <a:pPr indent="0" marL="0">
              <a:buNone/>
            </a:pPr>
            <a:r>
              <a:rPr lang="en-US" sz="1200" dirty="0">
                <a:solidFill>
                  <a:schemeClr val="tx2"/>
                </a:solidFill>
              </a:rPr>
              <a:t>fade · pop · slide · rise · move · scale · rotate · spin · float · pulse · glow · colour · draw-on · type-on</a:t>
            </a:r>
            <a:endParaRPr lang="en-US" sz="1600" dirty="0"/>
          </a:p>
        </p:txBody>
      </p:sp>
      <p:sp>
        <p:nvSpPr>
          <p:cNvPr id="15" name="grp-2-code"/>
          <p:cNvSpPr txBox="1"/>
          <p:nvPr/>
        </p:nvSpPr>
        <p:spPr>
          <a:xfrm>
            <a:off x="8402117" y="3154680"/>
            <a:ext cx="3058058"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.pop_in(at=0.5).float(1, 6)</a:t>
            </a:r>
            <a:endParaRPr lang="en-US" sz="1100" dirty="0"/>
          </a:p>
        </p:txBody>
      </p:sp>
      <p:sp>
        <p:nvSpPr>
          <p:cNvPr id="16" name="grp-3"/>
          <p:cNvSpPr/>
          <p:nvPr/>
        </p:nvSpPr>
        <p:spPr>
          <a:xfrm>
            <a:off x="548640" y="3886200"/>
            <a:ext cx="3515258" cy="2240280"/>
          </a:xfrm>
          <a:prstGeom prst="roundRect">
            <a:avLst>
              <a:gd name="adj" fmla="val 4898"/>
            </a:avLst>
          </a:prstGeom>
          <a:solidFill>
            <a:schemeClr val="bg2"/>
          </a:solidFill>
          <a:ln/>
        </p:spPr>
      </p:sp>
      <p:sp>
        <p:nvSpPr>
          <p:cNvPr id="17" name="grp-3-bar"/>
          <p:cNvSpPr/>
          <p:nvPr/>
        </p:nvSpPr>
        <p:spPr>
          <a:xfrm>
            <a:off x="548640" y="3886200"/>
            <a:ext cx="73152" cy="2240280"/>
          </a:xfrm>
          <a:prstGeom prst="rect">
            <a:avLst/>
          </a:prstGeom>
          <a:solidFill>
            <a:schemeClr val="accent1"/>
          </a:solidFill>
          <a:ln/>
        </p:spPr>
      </p:sp>
      <p:sp>
        <p:nvSpPr>
          <p:cNvPr id="18" name="grp-3-text"/>
          <p:cNvSpPr txBox="1"/>
          <p:nvPr/>
        </p:nvSpPr>
        <p:spPr>
          <a:xfrm>
            <a:off x="822960" y="4023360"/>
            <a:ext cx="3058058" cy="1554480"/>
          </a:xfrm>
          <a:prstGeom prst="rect">
            <a:avLst/>
          </a:prstGeom>
          <a:noFill/>
          <a:ln/>
        </p:spPr>
        <p:txBody>
          <a:bodyPr wrap="square" lIns="0" tIns="0" rIns="0" bIns="0" rtlCol="0" anchor="t"/>
          <a:lstStyle/>
          <a:p>
            <a:pPr indent="0" marL="0">
              <a:buNone/>
            </a:pPr>
            <a:r>
              <a:rPr lang="en-US" sz="1600" b="1" dirty="0">
                <a:solidFill>
                  <a:schemeClr val="tx1"/>
                </a:solidFill>
              </a:rPr>
              <a:t>Camera</a:t>
            </a:r>
            <a:endParaRPr lang="en-US" sz="1600" dirty="0"/>
          </a:p>
          <a:p>
            <a:pPr indent="0" marL="0">
              <a:buNone/>
            </a:pPr>
            <a:r>
              <a:rPr lang="en-US" sz="1200" dirty="0">
                <a:solidFill>
                  <a:schemeClr val="tx2"/>
                </a:solidFill>
              </a:rPr>
              <a:t>place · move · cut · push-in · pull-out · orbit · crane · path · shake · zoom · dolly-zoom · focus</a:t>
            </a:r>
            <a:endParaRPr lang="en-US" sz="1600" dirty="0"/>
          </a:p>
        </p:txBody>
      </p:sp>
      <p:sp>
        <p:nvSpPr>
          <p:cNvPr id="19" name="grp-3-code"/>
          <p:cNvSpPr txBox="1"/>
          <p:nvPr/>
        </p:nvSpPr>
        <p:spPr>
          <a:xfrm>
            <a:off x="822960" y="5623560"/>
            <a:ext cx="3058058"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camera.orbit(radius=9, at=2)</a:t>
            </a:r>
            <a:endParaRPr lang="en-US" sz="1100" dirty="0"/>
          </a:p>
        </p:txBody>
      </p:sp>
      <p:sp>
        <p:nvSpPr>
          <p:cNvPr id="20" name="grp-4"/>
          <p:cNvSpPr/>
          <p:nvPr/>
        </p:nvSpPr>
        <p:spPr>
          <a:xfrm>
            <a:off x="4338218" y="3886200"/>
            <a:ext cx="3515258" cy="2240280"/>
          </a:xfrm>
          <a:prstGeom prst="roundRect">
            <a:avLst>
              <a:gd name="adj" fmla="val 4898"/>
            </a:avLst>
          </a:prstGeom>
          <a:solidFill>
            <a:schemeClr val="bg2"/>
          </a:solidFill>
          <a:ln/>
        </p:spPr>
      </p:sp>
      <p:sp>
        <p:nvSpPr>
          <p:cNvPr id="21" name="grp-4-bar"/>
          <p:cNvSpPr/>
          <p:nvPr/>
        </p:nvSpPr>
        <p:spPr>
          <a:xfrm>
            <a:off x="4338218" y="3886200"/>
            <a:ext cx="73152" cy="2240280"/>
          </a:xfrm>
          <a:prstGeom prst="rect">
            <a:avLst/>
          </a:prstGeom>
          <a:solidFill>
            <a:schemeClr val="accent2"/>
          </a:solidFill>
          <a:ln/>
        </p:spPr>
      </p:sp>
      <p:sp>
        <p:nvSpPr>
          <p:cNvPr id="22" name="grp-4-text"/>
          <p:cNvSpPr txBox="1"/>
          <p:nvPr/>
        </p:nvSpPr>
        <p:spPr>
          <a:xfrm>
            <a:off x="4612538" y="4023360"/>
            <a:ext cx="3058058" cy="1554480"/>
          </a:xfrm>
          <a:prstGeom prst="rect">
            <a:avLst/>
          </a:prstGeom>
          <a:noFill/>
          <a:ln/>
        </p:spPr>
        <p:txBody>
          <a:bodyPr wrap="square" lIns="0" tIns="0" rIns="0" bIns="0" rtlCol="0" anchor="t"/>
          <a:lstStyle/>
          <a:p>
            <a:pPr indent="0" marL="0">
              <a:buNone/>
            </a:pPr>
            <a:r>
              <a:rPr lang="en-US" sz="1600" b="1" dirty="0">
                <a:solidFill>
                  <a:schemeClr val="tx1"/>
                </a:solidFill>
              </a:rPr>
              <a:t>Overlay</a:t>
            </a:r>
            <a:endParaRPr lang="en-US" sz="1600" dirty="0"/>
          </a:p>
          <a:p>
            <a:pPr indent="0" marL="0">
              <a:buNone/>
            </a:pPr>
            <a:r>
              <a:rPr lang="en-US" sz="1200" dirty="0">
                <a:solidFill>
                  <a:schemeClr val="tx2"/>
                </a:solidFill>
              </a:rPr>
              <a:t>caption · title · lower third · text · image · box · letterbox · fades · flash</a:t>
            </a:r>
            <a:endParaRPr lang="en-US" sz="1600" dirty="0"/>
          </a:p>
        </p:txBody>
      </p:sp>
      <p:sp>
        <p:nvSpPr>
          <p:cNvPr id="23" name="grp-4-code"/>
          <p:cNvSpPr txBox="1"/>
          <p:nvPr/>
        </p:nvSpPr>
        <p:spPr>
          <a:xfrm>
            <a:off x="4612538" y="5623560"/>
            <a:ext cx="3058058"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overlay.caption("Hi", at=1)</a:t>
            </a:r>
            <a:endParaRPr lang="en-US" sz="1100" dirty="0"/>
          </a:p>
        </p:txBody>
      </p:sp>
      <p:sp>
        <p:nvSpPr>
          <p:cNvPr id="24" name="grp-5"/>
          <p:cNvSpPr/>
          <p:nvPr/>
        </p:nvSpPr>
        <p:spPr>
          <a:xfrm>
            <a:off x="8127797" y="3886200"/>
            <a:ext cx="3515258" cy="2240280"/>
          </a:xfrm>
          <a:prstGeom prst="roundRect">
            <a:avLst>
              <a:gd name="adj" fmla="val 4898"/>
            </a:avLst>
          </a:prstGeom>
          <a:solidFill>
            <a:schemeClr val="bg2"/>
          </a:solidFill>
          <a:ln/>
        </p:spPr>
      </p:sp>
      <p:sp>
        <p:nvSpPr>
          <p:cNvPr id="25" name="grp-5-bar"/>
          <p:cNvSpPr/>
          <p:nvPr/>
        </p:nvSpPr>
        <p:spPr>
          <a:xfrm>
            <a:off x="8127797" y="3886200"/>
            <a:ext cx="73152" cy="2240280"/>
          </a:xfrm>
          <a:prstGeom prst="rect">
            <a:avLst/>
          </a:prstGeom>
          <a:solidFill>
            <a:schemeClr val="accent4"/>
          </a:solidFill>
          <a:ln/>
        </p:spPr>
      </p:sp>
      <p:sp>
        <p:nvSpPr>
          <p:cNvPr id="26" name="grp-5-text"/>
          <p:cNvSpPr txBox="1"/>
          <p:nvPr/>
        </p:nvSpPr>
        <p:spPr>
          <a:xfrm>
            <a:off x="8402117" y="4023360"/>
            <a:ext cx="3058058" cy="1554480"/>
          </a:xfrm>
          <a:prstGeom prst="rect">
            <a:avLst/>
          </a:prstGeom>
          <a:noFill/>
          <a:ln/>
        </p:spPr>
        <p:txBody>
          <a:bodyPr wrap="square" lIns="0" tIns="0" rIns="0" bIns="0" rtlCol="0" anchor="t"/>
          <a:lstStyle/>
          <a:p>
            <a:pPr indent="0" marL="0">
              <a:buNone/>
            </a:pPr>
            <a:r>
              <a:rPr lang="en-US" sz="1600" b="1" dirty="0">
                <a:solidFill>
                  <a:schemeClr val="tx1"/>
                </a:solidFill>
              </a:rPr>
              <a:t>Transitions + effects</a:t>
            </a:r>
            <a:endParaRPr lang="en-US" sz="1600" dirty="0"/>
          </a:p>
          <a:p>
            <a:pPr indent="0" marL="0">
              <a:buNone/>
            </a:pPr>
            <a:r>
              <a:rPr lang="en-US" sz="1200" dirty="0">
                <a:solidFill>
                  <a:schemeClr val="tx2"/>
                </a:solidFill>
              </a:rPr>
              <a:t>cut · fade through black · dip · flash cut · whip pan · push through · through portal · glow · vignette · motion blur</a:t>
            </a:r>
            <a:endParaRPr lang="en-US" sz="1600" dirty="0"/>
          </a:p>
        </p:txBody>
      </p:sp>
      <p:sp>
        <p:nvSpPr>
          <p:cNvPr id="27" name="grp-5-code"/>
          <p:cNvSpPr txBox="1"/>
          <p:nvPr/>
        </p:nvSpPr>
        <p:spPr>
          <a:xfrm>
            <a:off x="8402117" y="5623560"/>
            <a:ext cx="3058058"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tr.flash_cut(movie, at=5,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THE EASY DEMO</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25 lines, 8 seconds of video</a:t>
            </a:r>
            <a:endParaRPr lang="en-US" sz="3600" dirty="0"/>
          </a:p>
        </p:txBody>
      </p:sp>
      <p:sp>
        <p:nvSpPr>
          <p:cNvPr id="4" name="demo-code-card"/>
          <p:cNvSpPr/>
          <p:nvPr/>
        </p:nvSpPr>
        <p:spPr>
          <a:xfrm>
            <a:off x="548640" y="1371600"/>
            <a:ext cx="6537960" cy="5029200"/>
          </a:xfrm>
          <a:prstGeom prst="roundRect">
            <a:avLst>
              <a:gd name="adj" fmla="val 1455"/>
            </a:avLst>
          </a:prstGeom>
          <a:solidFill>
            <a:srgbClr val="0B1530"/>
          </a:solidFill>
          <a:ln/>
        </p:spPr>
      </p:sp>
      <p:sp>
        <p:nvSpPr>
          <p:cNvPr id="5" name="demo-code"/>
          <p:cNvSpPr txBox="1"/>
          <p:nvPr/>
        </p:nvSpPr>
        <p:spPr>
          <a:xfrm>
            <a:off x="777240" y="1554480"/>
            <a:ext cx="6080760" cy="466344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movie = mk.Movie("hello_title", length=8)</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mk.Starfield()</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mk.GridFloor(height=-1.6)</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ring = mk.Ring(radius=2.6, color="indigo", glow=3).at(0, 1.5, 0.3)</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ring.draw_on(at=0.3, duration=1.2).spin(turns=0.25, start=1.5, end=8, axis="Y")</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title = mk.Text3D("Hello DMS", size=1.1, color="pink", glow=3, depth=0.12).at(0, 0, 0.3)</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title.pop_in(at=0.8, duration=0.7).float(start=1.5, end=8, height=0.08)</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movie.camera.place((0, -14, 1.5), look_at=(0, 0, 0.3))</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movie.camera.orbit(center=(0, 0, 0.3), radius=11, start=-25, end=12,</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height=1.0, at=0, duration=8)</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movie.overlay.caption("Built with motionkit in 25 lines", eyebrow="Demo", at=3, until=6.6)</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movie.overlay.fade_from_black(at=0, duration=1)</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movie.overlay.fade_to_black(at=7.2, duration=0.8)</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movie.effects.glow().vignette(0.3)</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movie.run()</a:t>
            </a:r>
            <a:endParaRPr lang="en-US" sz="1000" dirty="0"/>
          </a:p>
        </p:txBody>
      </p:sp>
      <p:pic>
        <p:nvPicPr>
          <p:cNvPr id="6" name="demo-gif" descr="The rendered demo: a glowing ring draws itself, 'Hello DMS' pops in, the camera orbits">    </p:cNvPr>
          <p:cNvPicPr>
            <a:picLocks noChangeAspect="1"/>
          </p:cNvPicPr>
          <p:nvPr/>
        </p:nvPicPr>
        <p:blipFill>
          <a:blip r:embed="rId1"/>
          <a:stretch>
            <a:fillRect/>
          </a:stretch>
        </p:blipFill>
        <p:spPr>
          <a:xfrm>
            <a:off x="7315200" y="1371600"/>
            <a:ext cx="4327855" cy="2434419"/>
          </a:xfrm>
          <a:prstGeom prst="rect">
            <a:avLst/>
          </a:prstGeom>
        </p:spPr>
      </p:pic>
      <p:sp>
        <p:nvSpPr>
          <p:cNvPr id="7" name="demo-caption"/>
          <p:cNvSpPr txBox="1"/>
          <p:nvPr/>
        </p:nvSpPr>
        <p:spPr>
          <a:xfrm>
            <a:off x="7315200" y="4034619"/>
            <a:ext cx="4327855" cy="1188720"/>
          </a:xfrm>
          <a:prstGeom prst="rect">
            <a:avLst/>
          </a:prstGeom>
          <a:noFill/>
          <a:ln/>
        </p:spPr>
        <p:txBody>
          <a:bodyPr wrap="square" lIns="0" tIns="0" rIns="0" bIns="0" rtlCol="0" anchor="t"/>
          <a:lstStyle/>
          <a:p>
            <a:pPr indent="0" marL="0">
              <a:buNone/>
            </a:pPr>
            <a:r>
              <a:rPr lang="en-US" sz="1500" b="1" dirty="0">
                <a:solidFill>
                  <a:schemeClr val="bg1"/>
                </a:solidFill>
              </a:rPr>
              <a:t>Create · place · animate</a:t>
            </a:r>
            <a:endParaRPr lang="en-US" sz="1500" dirty="0"/>
          </a:p>
          <a:p>
            <a:pPr indent="0" marL="0">
              <a:buNone/>
            </a:pPr>
            <a:r>
              <a:rPr lang="en-US" sz="1300" dirty="0">
                <a:solidFill>
                  <a:schemeClr val="accent5"/>
                </a:solidFill>
              </a:rPr>
              <a:t>Every line is one idea. Times are seconds. Motions chain. The camera looks at a point.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RUN IT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Three commands cover everything</a:t>
            </a:r>
            <a:endParaRPr lang="en-US" sz="3600" dirty="0"/>
          </a:p>
        </p:txBody>
      </p:sp>
      <p:sp>
        <p:nvSpPr>
          <p:cNvPr id="4" name="cmd-0"/>
          <p:cNvSpPr/>
          <p:nvPr/>
        </p:nvSpPr>
        <p:spPr>
          <a:xfrm>
            <a:off x="548640" y="1463040"/>
            <a:ext cx="6949440" cy="822960"/>
          </a:xfrm>
          <a:prstGeom prst="roundRect">
            <a:avLst>
              <a:gd name="adj" fmla="val 8889"/>
            </a:avLst>
          </a:prstGeom>
          <a:solidFill>
            <a:srgbClr val="0B1530"/>
          </a:solidFill>
          <a:ln/>
        </p:spPr>
      </p:sp>
      <p:sp>
        <p:nvSpPr>
          <p:cNvPr id="5" name="cmd-0-code"/>
          <p:cNvSpPr txBox="1"/>
          <p:nvPr/>
        </p:nvSpPr>
        <p:spPr>
          <a:xfrm>
            <a:off x="777240" y="1463040"/>
            <a:ext cx="6583680" cy="82296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blender -b -P examples/01_hello_title.py -- --still 3.5</a:t>
            </a:r>
            <a:endParaRPr lang="en-US" sz="1200" dirty="0"/>
          </a:p>
        </p:txBody>
      </p:sp>
      <p:sp>
        <p:nvSpPr>
          <p:cNvPr id="6" name="cmd-0-desc"/>
          <p:cNvSpPr txBox="1"/>
          <p:nvPr/>
        </p:nvSpPr>
        <p:spPr>
          <a:xfrm>
            <a:off x="7726680" y="1463040"/>
            <a:ext cx="3916375" cy="822960"/>
          </a:xfrm>
          <a:prstGeom prst="rect">
            <a:avLst/>
          </a:prstGeom>
          <a:noFill/>
          <a:ln/>
        </p:spPr>
        <p:txBody>
          <a:bodyPr wrap="square" lIns="0" tIns="0" rIns="0" bIns="0" rtlCol="0" anchor="ctr"/>
          <a:lstStyle/>
          <a:p>
            <a:pPr indent="0" marL="0">
              <a:buNone/>
            </a:pPr>
            <a:r>
              <a:rPr lang="en-US" sz="1400" dirty="0">
                <a:solidFill>
                  <a:schemeClr val="tx1"/>
                </a:solidFill>
              </a:rPr>
              <a:t>One PNG at 3.5 s. Seconds, so check every change this way</a:t>
            </a:r>
            <a:endParaRPr lang="en-US" sz="1400" dirty="0"/>
          </a:p>
        </p:txBody>
      </p:sp>
      <p:sp>
        <p:nvSpPr>
          <p:cNvPr id="7" name="cmd-1"/>
          <p:cNvSpPr/>
          <p:nvPr/>
        </p:nvSpPr>
        <p:spPr>
          <a:xfrm>
            <a:off x="548640" y="2487168"/>
            <a:ext cx="6949440" cy="822960"/>
          </a:xfrm>
          <a:prstGeom prst="roundRect">
            <a:avLst>
              <a:gd name="adj" fmla="val 8889"/>
            </a:avLst>
          </a:prstGeom>
          <a:solidFill>
            <a:srgbClr val="0B1530"/>
          </a:solidFill>
          <a:ln/>
        </p:spPr>
      </p:sp>
      <p:sp>
        <p:nvSpPr>
          <p:cNvPr id="8" name="cmd-1-code"/>
          <p:cNvSpPr txBox="1"/>
          <p:nvPr/>
        </p:nvSpPr>
        <p:spPr>
          <a:xfrm>
            <a:off x="777240" y="2487168"/>
            <a:ext cx="6583680" cy="82296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blender -b -P examples/01_hello_title.py -- --preview --render</a:t>
            </a:r>
            <a:endParaRPr lang="en-US" sz="1200" dirty="0"/>
          </a:p>
        </p:txBody>
      </p:sp>
      <p:sp>
        <p:nvSpPr>
          <p:cNvPr id="9" name="cmd-1-desc"/>
          <p:cNvSpPr txBox="1"/>
          <p:nvPr/>
        </p:nvSpPr>
        <p:spPr>
          <a:xfrm>
            <a:off x="7726680" y="2487168"/>
            <a:ext cx="3916375" cy="822960"/>
          </a:xfrm>
          <a:prstGeom prst="rect">
            <a:avLst/>
          </a:prstGeom>
          <a:noFill/>
          <a:ln/>
        </p:spPr>
        <p:txBody>
          <a:bodyPr wrap="square" lIns="0" tIns="0" rIns="0" bIns="0" rtlCol="0" anchor="ctr"/>
          <a:lstStyle/>
          <a:p>
            <a:pPr indent="0" marL="0">
              <a:buNone/>
            </a:pPr>
            <a:r>
              <a:rPr lang="en-US" sz="1400" dirty="0">
                <a:solidFill>
                  <a:schemeClr val="tx1"/>
                </a:solidFill>
              </a:rPr>
              <a:t>Half-size MP4: watch the timing</a:t>
            </a:r>
            <a:endParaRPr lang="en-US" sz="1400" dirty="0"/>
          </a:p>
        </p:txBody>
      </p:sp>
      <p:sp>
        <p:nvSpPr>
          <p:cNvPr id="10" name="cmd-2"/>
          <p:cNvSpPr/>
          <p:nvPr/>
        </p:nvSpPr>
        <p:spPr>
          <a:xfrm>
            <a:off x="548640" y="3511296"/>
            <a:ext cx="6949440" cy="822960"/>
          </a:xfrm>
          <a:prstGeom prst="roundRect">
            <a:avLst>
              <a:gd name="adj" fmla="val 8889"/>
            </a:avLst>
          </a:prstGeom>
          <a:solidFill>
            <a:srgbClr val="0B1530"/>
          </a:solidFill>
          <a:ln/>
        </p:spPr>
      </p:sp>
      <p:sp>
        <p:nvSpPr>
          <p:cNvPr id="11" name="cmd-2-code"/>
          <p:cNvSpPr txBox="1"/>
          <p:nvPr/>
        </p:nvSpPr>
        <p:spPr>
          <a:xfrm>
            <a:off x="777240" y="3511296"/>
            <a:ext cx="6583680" cy="82296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blender -b -P examples/01_hello_title.py -- --render</a:t>
            </a:r>
            <a:endParaRPr lang="en-US" sz="1200" dirty="0"/>
          </a:p>
        </p:txBody>
      </p:sp>
      <p:sp>
        <p:nvSpPr>
          <p:cNvPr id="12" name="cmd-2-desc"/>
          <p:cNvSpPr txBox="1"/>
          <p:nvPr/>
        </p:nvSpPr>
        <p:spPr>
          <a:xfrm>
            <a:off x="7726680" y="3511296"/>
            <a:ext cx="3916375" cy="822960"/>
          </a:xfrm>
          <a:prstGeom prst="rect">
            <a:avLst/>
          </a:prstGeom>
          <a:noFill/>
          <a:ln/>
        </p:spPr>
        <p:txBody>
          <a:bodyPr wrap="square" lIns="0" tIns="0" rIns="0" bIns="0" rtlCol="0" anchor="ctr"/>
          <a:lstStyle/>
          <a:p>
            <a:pPr indent="0" marL="0">
              <a:buNone/>
            </a:pPr>
            <a:r>
              <a:rPr lang="en-US" sz="1400" dirty="0">
                <a:solidFill>
                  <a:schemeClr val="tx1"/>
                </a:solidFill>
              </a:rPr>
              <a:t>Final 1080p MP4 (with music if added)</a:t>
            </a:r>
            <a:endParaRPr lang="en-US" sz="1400" dirty="0"/>
          </a:p>
        </p:txBody>
      </p:sp>
      <p:sp>
        <p:nvSpPr>
          <p:cNvPr id="13" name="cmd-3"/>
          <p:cNvSpPr/>
          <p:nvPr/>
        </p:nvSpPr>
        <p:spPr>
          <a:xfrm>
            <a:off x="548640" y="4535424"/>
            <a:ext cx="6949440" cy="822960"/>
          </a:xfrm>
          <a:prstGeom prst="roundRect">
            <a:avLst>
              <a:gd name="adj" fmla="val 8889"/>
            </a:avLst>
          </a:prstGeom>
          <a:solidFill>
            <a:srgbClr val="0B1530"/>
          </a:solidFill>
          <a:ln/>
        </p:spPr>
      </p:sp>
      <p:sp>
        <p:nvSpPr>
          <p:cNvPr id="14" name="cmd-3-code"/>
          <p:cNvSpPr txBox="1"/>
          <p:nvPr/>
        </p:nvSpPr>
        <p:spPr>
          <a:xfrm>
            <a:off x="777240" y="4535424"/>
            <a:ext cx="6583680" cy="822960"/>
          </a:xfrm>
          <a:prstGeom prst="rect">
            <a:avLst/>
          </a:prstGeom>
          <a:noFill/>
          <a:ln/>
        </p:spPr>
        <p:txBody>
          <a:bodyPr wrap="square" lIns="0" tIns="0" rIns="0" bIns="0" rtlCol="0" anchor="ctr"/>
          <a:lstStyle/>
          <a:p>
            <a:pPr indent="0" marL="0">
              <a:buNone/>
            </a:pPr>
            <a:r>
              <a:rPr lang="en-US" sz="1200" dirty="0">
                <a:solidFill>
                  <a:srgbClr val="E2E8F0"/>
                </a:solidFill>
                <a:latin typeface="Courier New" pitchFamily="34" charset="0"/>
                <a:ea typeface="Courier New" pitchFamily="34" charset="-122"/>
                <a:cs typeface="Courier New" pitchFamily="34" charset="-120"/>
              </a:rPr>
              <a:t>blender -P examples/01_hello_title.py</a:t>
            </a:r>
            <a:endParaRPr lang="en-US" sz="1200" dirty="0"/>
          </a:p>
        </p:txBody>
      </p:sp>
      <p:sp>
        <p:nvSpPr>
          <p:cNvPr id="15" name="cmd-3-desc"/>
          <p:cNvSpPr txBox="1"/>
          <p:nvPr/>
        </p:nvSpPr>
        <p:spPr>
          <a:xfrm>
            <a:off x="7726680" y="4535424"/>
            <a:ext cx="3916375" cy="822960"/>
          </a:xfrm>
          <a:prstGeom prst="rect">
            <a:avLst/>
          </a:prstGeom>
          <a:noFill/>
          <a:ln/>
        </p:spPr>
        <p:txBody>
          <a:bodyPr wrap="square" lIns="0" tIns="0" rIns="0" bIns="0" rtlCol="0" anchor="ctr"/>
          <a:lstStyle/>
          <a:p>
            <a:pPr indent="0" marL="0">
              <a:buNone/>
            </a:pPr>
            <a:r>
              <a:rPr lang="en-US" sz="1400" dirty="0">
                <a:solidFill>
                  <a:schemeClr val="tx1"/>
                </a:solidFill>
              </a:rPr>
              <a:t>Open Blender with the scene built: scrub, play, tweak by hand</a:t>
            </a:r>
            <a:endParaRPr lang="en-US" sz="1400" dirty="0"/>
          </a:p>
        </p:txBody>
      </p:sp>
      <p:sp>
        <p:nvSpPr>
          <p:cNvPr id="16" name="flags-card"/>
          <p:cNvSpPr/>
          <p:nvPr/>
        </p:nvSpPr>
        <p:spPr>
          <a:xfrm>
            <a:off x="548640" y="5623560"/>
            <a:ext cx="11094415" cy="777240"/>
          </a:xfrm>
          <a:prstGeom prst="roundRect">
            <a:avLst>
              <a:gd name="adj" fmla="val 14118"/>
            </a:avLst>
          </a:prstGeom>
          <a:solidFill>
            <a:schemeClr val="bg2"/>
          </a:solidFill>
          <a:ln/>
        </p:spPr>
      </p:sp>
      <p:sp>
        <p:nvSpPr>
          <p:cNvPr id="17" name="flags-text"/>
          <p:cNvSpPr txBox="1"/>
          <p:nvPr/>
        </p:nvSpPr>
        <p:spPr>
          <a:xfrm>
            <a:off x="822960" y="5623560"/>
            <a:ext cx="10545775" cy="777240"/>
          </a:xfrm>
          <a:prstGeom prst="rect">
            <a:avLst/>
          </a:prstGeom>
          <a:noFill/>
          <a:ln/>
        </p:spPr>
        <p:txBody>
          <a:bodyPr wrap="square" lIns="0" tIns="0" rIns="0" bIns="0" rtlCol="0" anchor="ctr"/>
          <a:lstStyle/>
          <a:p>
            <a:pPr indent="0" marL="0">
              <a:buNone/>
            </a:pPr>
            <a:r>
              <a:rPr lang="en-US" sz="1300" b="1" dirty="0">
                <a:solidFill>
                  <a:schemeClr val="accent3"/>
                </a:solidFill>
                <a:latin typeface="Courier New" pitchFamily="34" charset="0"/>
                <a:ea typeface="Courier New" pitchFamily="34" charset="-122"/>
                <a:cs typeface="Courier New" pitchFamily="34" charset="-120"/>
              </a:rPr>
              <a:t>-b </a:t>
            </a:r>
            <a:pPr indent="0" marL="0">
              <a:buNone/>
            </a:pPr>
            <a:r>
              <a:rPr lang="en-US" sz="1300" dirty="0">
                <a:solidFill>
                  <a:schemeClr val="tx2"/>
                </a:solidFill>
              </a:rPr>
              <a:t>no window   </a:t>
            </a:r>
            <a:pPr indent="0" marL="0">
              <a:buNone/>
            </a:pPr>
            <a:r>
              <a:rPr lang="en-US" sz="1300" b="1" dirty="0">
                <a:solidFill>
                  <a:schemeClr val="accent3"/>
                </a:solidFill>
                <a:latin typeface="Courier New" pitchFamily="34" charset="0"/>
                <a:ea typeface="Courier New" pitchFamily="34" charset="-122"/>
                <a:cs typeface="Courier New" pitchFamily="34" charset="-120"/>
              </a:rPr>
              <a:t>-P </a:t>
            </a:r>
            <a:pPr indent="0" marL="0">
              <a:buNone/>
            </a:pPr>
            <a:r>
              <a:rPr lang="en-US" sz="1300" dirty="0">
                <a:solidFill>
                  <a:schemeClr val="tx2"/>
                </a:solidFill>
              </a:rPr>
              <a:t>run the script   </a:t>
            </a:r>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tx2"/>
                </a:solidFill>
              </a:rPr>
              <a:t>options for motionkit   </a:t>
            </a:r>
            <a:pPr indent="0" marL="0">
              <a:buNone/>
            </a:pPr>
            <a:r>
              <a:rPr lang="en-US" sz="1300" b="1" dirty="0">
                <a:solidFill>
                  <a:schemeClr val="accent3"/>
                </a:solidFill>
                <a:latin typeface="Courier New" pitchFamily="34" charset="0"/>
                <a:ea typeface="Courier New" pitchFamily="34" charset="-122"/>
                <a:cs typeface="Courier New" pitchFamily="34" charset="-120"/>
              </a:rPr>
              <a:t>--percent 25 </a:t>
            </a:r>
            <a:pPr indent="0" marL="0">
              <a:buNone/>
            </a:pPr>
            <a:r>
              <a:rPr lang="en-US" sz="1300" dirty="0">
                <a:solidFill>
                  <a:schemeClr val="tx2"/>
                </a:solidFill>
              </a:rPr>
              <a:t>tiny, fast test renders   </a:t>
            </a:r>
            <a:pPr indent="0" marL="0">
              <a:buNone/>
            </a:pPr>
            <a:r>
              <a:rPr lang="en-US" sz="1300" b="1" dirty="0">
                <a:solidFill>
                  <a:schemeClr val="tx1"/>
                </a:solidFill>
              </a:rPr>
              <a:t>Output: </a:t>
            </a:r>
            <a:pPr indent="0" marL="0">
              <a:buNone/>
            </a:pPr>
            <a:r>
              <a:rPr lang="en-US" sz="1300" dirty="0">
                <a:solidFill>
                  <a:schemeClr val="tx1"/>
                </a:solidFill>
                <a:latin typeface="Courier New" pitchFamily="34" charset="0"/>
                <a:ea typeface="Courier New" pitchFamily="34" charset="-122"/>
                <a:cs typeface="Courier New" pitchFamily="34" charset="-120"/>
              </a:rPr>
              <a:t>examples/render/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DIRECT THE CAMERA</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Camera moves and transitions, one line each</a:t>
            </a:r>
            <a:endParaRPr lang="en-US" sz="3600" dirty="0"/>
          </a:p>
        </p:txBody>
      </p:sp>
      <p:sp>
        <p:nvSpPr>
          <p:cNvPr id="4" name="cam-card"/>
          <p:cNvSpPr/>
          <p:nvPr/>
        </p:nvSpPr>
        <p:spPr>
          <a:xfrm>
            <a:off x="548640" y="1417320"/>
            <a:ext cx="5394960" cy="4983480"/>
          </a:xfrm>
          <a:prstGeom prst="roundRect">
            <a:avLst>
              <a:gd name="adj" fmla="val 2202"/>
            </a:avLst>
          </a:prstGeom>
          <a:solidFill>
            <a:schemeClr val="bg1"/>
          </a:solidFill>
          <a:ln/>
        </p:spPr>
      </p:sp>
      <p:sp>
        <p:nvSpPr>
          <p:cNvPr id="5" name="cam-head"/>
          <p:cNvSpPr txBox="1"/>
          <p:nvPr/>
        </p:nvSpPr>
        <p:spPr>
          <a:xfrm>
            <a:off x="822960" y="1554480"/>
            <a:ext cx="48463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movie.camera.…</a:t>
            </a:r>
            <a:endParaRPr lang="en-US" sz="1100" dirty="0"/>
          </a:p>
        </p:txBody>
      </p:sp>
      <p:sp>
        <p:nvSpPr>
          <p:cNvPr id="6" name="cam-list"/>
          <p:cNvSpPr txBox="1"/>
          <p:nvPr/>
        </p:nvSpPr>
        <p:spPr>
          <a:xfrm>
            <a:off x="822960" y="1920240"/>
            <a:ext cx="4846320" cy="43891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place / move</a:t>
            </a:r>
            <a:endParaRPr lang="en-US" sz="1300" dirty="0"/>
          </a:p>
          <a:p>
            <a:pPr indent="0" marL="0">
              <a:spcAft>
                <a:spcPts val="700"/>
              </a:spcAft>
              <a:buNone/>
            </a:pPr>
            <a:r>
              <a:rPr lang="en-US" sz="1250" dirty="0">
                <a:solidFill>
                  <a:schemeClr val="tx2"/>
                </a:solidFill>
              </a:rPr>
              <a:t>stand here, look there; travel</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push_in / pull_out</a:t>
            </a:r>
            <a:endParaRPr lang="en-US" sz="1300" dirty="0"/>
          </a:p>
          <a:p>
            <a:pPr indent="0" marL="0">
              <a:spcAft>
                <a:spcPts val="700"/>
              </a:spcAft>
              <a:buNone/>
            </a:pPr>
            <a:r>
              <a:rPr lang="en-US" sz="1250" dirty="0">
                <a:solidFill>
                  <a:schemeClr val="tx2"/>
                </a:solidFill>
              </a:rPr>
              <a:t>closer for emphasis, away to reveal</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orbit</a:t>
            </a:r>
            <a:endParaRPr lang="en-US" sz="1300" dirty="0"/>
          </a:p>
          <a:p>
            <a:pPr indent="0" marL="0">
              <a:spcAft>
                <a:spcPts val="700"/>
              </a:spcAft>
              <a:buNone/>
            </a:pPr>
            <a:r>
              <a:rPr lang="en-US" sz="1250" dirty="0">
                <a:solidFill>
                  <a:schemeClr val="tx2"/>
                </a:solidFill>
              </a:rPr>
              <a:t>circle the subject</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crane</a:t>
            </a:r>
            <a:endParaRPr lang="en-US" sz="1300" dirty="0"/>
          </a:p>
          <a:p>
            <a:pPr indent="0" marL="0">
              <a:spcAft>
                <a:spcPts val="700"/>
              </a:spcAft>
              <a:buNone/>
            </a:pPr>
            <a:r>
              <a:rPr lang="en-US" sz="1250" dirty="0">
                <a:solidFill>
                  <a:schemeClr val="tx2"/>
                </a:solidFill>
              </a:rPr>
              <a:t>rise or sink</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follow_path</a:t>
            </a:r>
            <a:endParaRPr lang="en-US" sz="1300" dirty="0"/>
          </a:p>
          <a:p>
            <a:pPr indent="0" marL="0">
              <a:spcAft>
                <a:spcPts val="700"/>
              </a:spcAft>
              <a:buNone/>
            </a:pPr>
            <a:r>
              <a:rPr lang="en-US" sz="1250" dirty="0">
                <a:solidFill>
                  <a:schemeClr val="tx2"/>
                </a:solidFill>
              </a:rPr>
              <a:t>fly through points</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shake</a:t>
            </a:r>
            <a:endParaRPr lang="en-US" sz="1300" dirty="0"/>
          </a:p>
          <a:p>
            <a:pPr indent="0" marL="0">
              <a:spcAft>
                <a:spcPts val="700"/>
              </a:spcAft>
              <a:buNone/>
            </a:pPr>
            <a:r>
              <a:rPr lang="en-US" sz="1250" dirty="0">
                <a:solidFill>
                  <a:schemeClr val="tx2"/>
                </a:solidFill>
              </a:rPr>
              <a:t>impact, handheld</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zoom / dolly_zoom</a:t>
            </a:r>
            <a:endParaRPr lang="en-US" sz="1300" dirty="0"/>
          </a:p>
          <a:p>
            <a:pPr indent="0" marL="0">
              <a:spcAft>
                <a:spcPts val="700"/>
              </a:spcAft>
              <a:buNone/>
            </a:pPr>
            <a:r>
              <a:rPr lang="en-US" sz="1250" dirty="0">
                <a:solidFill>
                  <a:schemeClr val="tx2"/>
                </a:solidFill>
              </a:rPr>
              <a:t>lens change, vertigo</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cut_to</a:t>
            </a:r>
            <a:endParaRPr lang="en-US" sz="1300" dirty="0"/>
          </a:p>
          <a:p>
            <a:pPr indent="0" marL="0">
              <a:spcAft>
                <a:spcPts val="700"/>
              </a:spcAft>
              <a:buNone/>
            </a:pPr>
            <a:r>
              <a:rPr lang="en-US" sz="1250" dirty="0">
                <a:solidFill>
                  <a:schemeClr val="tx2"/>
                </a:solidFill>
              </a:rPr>
              <a:t>hard cut</a:t>
            </a:r>
            <a:endParaRPr lang="en-US" sz="1300" dirty="0"/>
          </a:p>
        </p:txBody>
      </p:sp>
      <p:sp>
        <p:nvSpPr>
          <p:cNvPr id="7" name="tr-card"/>
          <p:cNvSpPr/>
          <p:nvPr/>
        </p:nvSpPr>
        <p:spPr>
          <a:xfrm>
            <a:off x="6217920" y="1417320"/>
            <a:ext cx="5425135" cy="4983480"/>
          </a:xfrm>
          <a:prstGeom prst="roundRect">
            <a:avLst>
              <a:gd name="adj" fmla="val 2202"/>
            </a:avLst>
          </a:prstGeom>
          <a:solidFill>
            <a:schemeClr val="bg1"/>
          </a:solidFill>
          <a:ln/>
        </p:spPr>
      </p:sp>
      <p:sp>
        <p:nvSpPr>
          <p:cNvPr id="8" name="tr-head"/>
          <p:cNvSpPr txBox="1"/>
          <p:nvPr/>
        </p:nvSpPr>
        <p:spPr>
          <a:xfrm>
            <a:off x="6492240" y="1554480"/>
            <a:ext cx="4876495"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tr.…(movie, at=…, to=shot.point(…), look_at=…)</a:t>
            </a:r>
            <a:endParaRPr lang="en-US" sz="1100" dirty="0"/>
          </a:p>
        </p:txBody>
      </p:sp>
      <p:sp>
        <p:nvSpPr>
          <p:cNvPr id="9" name="tr-list"/>
          <p:cNvSpPr txBox="1"/>
          <p:nvPr/>
        </p:nvSpPr>
        <p:spPr>
          <a:xfrm>
            <a:off x="6492240" y="1920240"/>
            <a:ext cx="4876495" cy="43891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fade_through_black</a:t>
            </a:r>
            <a:endParaRPr lang="en-US" sz="1300" dirty="0"/>
          </a:p>
          <a:p>
            <a:pPr indent="0" marL="0">
              <a:spcAft>
                <a:spcPts val="700"/>
              </a:spcAft>
              <a:buNone/>
            </a:pPr>
            <a:r>
              <a:rPr lang="en-US" sz="1250" dirty="0">
                <a:solidFill>
                  <a:schemeClr val="tx2"/>
                </a:solidFill>
              </a:rPr>
              <a:t>calm chapter change</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dip_to_color</a:t>
            </a:r>
            <a:endParaRPr lang="en-US" sz="1300" dirty="0"/>
          </a:p>
          <a:p>
            <a:pPr indent="0" marL="0">
              <a:spcAft>
                <a:spcPts val="700"/>
              </a:spcAft>
              <a:buNone/>
            </a:pPr>
            <a:r>
              <a:rPr lang="en-US" sz="1250" dirty="0">
                <a:solidFill>
                  <a:schemeClr val="tx2"/>
                </a:solidFill>
              </a:rPr>
              <a:t>soft reveal</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flash_cut</a:t>
            </a:r>
            <a:endParaRPr lang="en-US" sz="1300" dirty="0"/>
          </a:p>
          <a:p>
            <a:pPr indent="0" marL="0">
              <a:spcAft>
                <a:spcPts val="700"/>
              </a:spcAft>
              <a:buNone/>
            </a:pPr>
            <a:r>
              <a:rPr lang="en-US" sz="1250" dirty="0">
                <a:solidFill>
                  <a:schemeClr val="tx2"/>
                </a:solidFill>
              </a:rPr>
              <a:t>energy, a beat in the music</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whip_pan</a:t>
            </a:r>
            <a:endParaRPr lang="en-US" sz="1300" dirty="0"/>
          </a:p>
          <a:p>
            <a:pPr indent="0" marL="0">
              <a:spcAft>
                <a:spcPts val="700"/>
              </a:spcAft>
              <a:buNone/>
            </a:pPr>
            <a:r>
              <a:rPr lang="en-US" sz="1250" dirty="0">
                <a:solidFill>
                  <a:schemeClr val="tx2"/>
                </a:solidFill>
              </a:rPr>
              <a:t>fast sideways smear</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push_through</a:t>
            </a:r>
            <a:endParaRPr lang="en-US" sz="1300" dirty="0"/>
          </a:p>
          <a:p>
            <a:pPr indent="0" marL="0">
              <a:spcAft>
                <a:spcPts val="700"/>
              </a:spcAft>
              <a:buNone/>
            </a:pPr>
            <a:r>
              <a:rPr lang="en-US" sz="1250" dirty="0">
                <a:solidFill>
                  <a:schemeClr val="tx2"/>
                </a:solidFill>
              </a:rPr>
              <a:t>rush into the next shot</a:t>
            </a:r>
            <a:endParaRPr lang="en-US" sz="1300" dirty="0"/>
          </a:p>
          <a:p>
            <a:pPr indent="0" marL="0">
              <a:buNone/>
            </a:pPr>
            <a:r>
              <a:rPr lang="en-US" sz="1300" b="1" dirty="0">
                <a:solidFill>
                  <a:schemeClr val="tx1"/>
                </a:solidFill>
                <a:latin typeface="Courier New" pitchFamily="34" charset="0"/>
                <a:ea typeface="Courier New" pitchFamily="34" charset="-122"/>
                <a:cs typeface="Courier New" pitchFamily="34" charset="-120"/>
              </a:rPr>
              <a:t>through_portal</a:t>
            </a:r>
            <a:endParaRPr lang="en-US" sz="1300" dirty="0"/>
          </a:p>
          <a:p>
            <a:pPr indent="0" marL="0">
              <a:spcAft>
                <a:spcPts val="700"/>
              </a:spcAft>
              <a:buNone/>
            </a:pPr>
            <a:r>
              <a:rPr lang="en-US" sz="1250" dirty="0">
                <a:solidFill>
                  <a:schemeClr val="tx2"/>
                </a:solidFill>
              </a:rPr>
              <a:t>fly through a gate (the trailer)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ASK GEMINI</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Describe the video; the gem writes the code</a:t>
            </a:r>
            <a:endParaRPr lang="en-US" sz="3600" dirty="0"/>
          </a:p>
        </p:txBody>
      </p:sp>
      <p:sp>
        <p:nvSpPr>
          <p:cNvPr id="4" name="ss-head"/>
          <p:cNvSpPr txBox="1"/>
          <p:nvPr/>
        </p:nvSpPr>
        <p:spPr>
          <a:xfrm>
            <a:off x="548640" y="1325880"/>
            <a:ext cx="50292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YOU TYPE (SHOT SCRIPT)</a:t>
            </a:r>
            <a:endParaRPr lang="en-US" sz="1100" dirty="0"/>
          </a:p>
        </p:txBody>
      </p:sp>
      <p:sp>
        <p:nvSpPr>
          <p:cNvPr id="5" name="ss-card"/>
          <p:cNvSpPr/>
          <p:nvPr/>
        </p:nvSpPr>
        <p:spPr>
          <a:xfrm>
            <a:off x="548640" y="1645920"/>
            <a:ext cx="5029200" cy="3429000"/>
          </a:xfrm>
          <a:prstGeom prst="roundRect">
            <a:avLst>
              <a:gd name="adj" fmla="val 2133"/>
            </a:avLst>
          </a:prstGeom>
          <a:solidFill>
            <a:srgbClr val="0B1530"/>
          </a:solidFill>
          <a:ln/>
        </p:spPr>
      </p:sp>
      <p:sp>
        <p:nvSpPr>
          <p:cNvPr id="6" name="ss"/>
          <p:cNvSpPr txBox="1"/>
          <p:nvPr/>
        </p:nvSpPr>
        <p:spPr>
          <a:xfrm>
            <a:off x="777240" y="1828800"/>
            <a:ext cx="4572000" cy="306324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/script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MOVIE "kpi_story" 12s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SHOT data 0s-12s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ADD chart "bars" 345,120,95,60</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labels B,O,P,A at 0,2,-1.4</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bars: grow @0.5 | highlight 0 @2.5</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ADD counter "users" to 892</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suffix " users" @1 for 1.5s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CAMERA place 0,-12,1 look 0,1,0</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CAMERA push-in to 0,-9,0.6 @0 for 12s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CAPTION "Used by 892 people" @3 until 10</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EFFECTS glow</a:t>
            </a:r>
            <a:endParaRPr lang="en-US" sz="1100" dirty="0"/>
          </a:p>
        </p:txBody>
      </p:sp>
      <p:sp>
        <p:nvSpPr>
          <p:cNvPr id="7" name="ss-arrow"/>
          <p:cNvSpPr/>
          <p:nvPr/>
        </p:nvSpPr>
        <p:spPr>
          <a:xfrm>
            <a:off x="5669280" y="3337560"/>
            <a:ext cx="457200" cy="0"/>
          </a:xfrm>
          <a:prstGeom prst="line">
            <a:avLst/>
          </a:prstGeom>
          <a:noFill/>
          <a:ln w="19050">
            <a:solidFill>
              <a:schemeClr val="tx2"/>
            </a:solidFill>
            <a:prstDash val="solid"/>
            <a:tailEnd type="triangle"/>
          </a:ln>
        </p:spPr>
      </p:sp>
      <p:sp>
        <p:nvSpPr>
          <p:cNvPr id="8" name="py-head"/>
          <p:cNvSpPr txBox="1"/>
          <p:nvPr/>
        </p:nvSpPr>
        <p:spPr>
          <a:xfrm>
            <a:off x="6217920" y="1325880"/>
            <a:ext cx="539496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THE GEM ANSWERS (PYTHON)</a:t>
            </a:r>
            <a:endParaRPr lang="en-US" sz="1100" dirty="0"/>
          </a:p>
        </p:txBody>
      </p:sp>
      <p:sp>
        <p:nvSpPr>
          <p:cNvPr id="9" name="py-card"/>
          <p:cNvSpPr/>
          <p:nvPr/>
        </p:nvSpPr>
        <p:spPr>
          <a:xfrm>
            <a:off x="6217920" y="1645920"/>
            <a:ext cx="5425135" cy="3429000"/>
          </a:xfrm>
          <a:prstGeom prst="roundRect">
            <a:avLst>
              <a:gd name="adj" fmla="val 2133"/>
            </a:avLst>
          </a:prstGeom>
          <a:solidFill>
            <a:srgbClr val="0B1530"/>
          </a:solidFill>
          <a:ln/>
        </p:spPr>
      </p:sp>
      <p:sp>
        <p:nvSpPr>
          <p:cNvPr id="10" name="py"/>
          <p:cNvSpPr txBox="1"/>
          <p:nvPr/>
        </p:nvSpPr>
        <p:spPr>
          <a:xfrm>
            <a:off x="6446520" y="1828800"/>
            <a:ext cx="4967935" cy="3063240"/>
          </a:xfrm>
          <a:prstGeom prst="rect">
            <a:avLst/>
          </a:prstGeom>
          <a:noFill/>
          <a:ln/>
        </p:spPr>
        <p:txBody>
          <a:bodyPr wrap="square" lIns="0" tIns="0" rIns="0" bIns="0" rtlCol="0" anchor="t"/>
          <a:lstStyle/>
          <a:p>
            <a:pPr indent="0" marL="0">
              <a:buNone/>
            </a:pPr>
            <a:r>
              <a:rPr lang="en-US" sz="1050" dirty="0">
                <a:solidFill>
                  <a:srgbClr val="E2E8F0"/>
                </a:solidFill>
                <a:latin typeface="Courier New" pitchFamily="34" charset="0"/>
                <a:ea typeface="Courier New" pitchFamily="34" charset="-122"/>
                <a:cs typeface="Courier New" pitchFamily="34" charset="-120"/>
              </a:rPr>
              <a:t>movie = mk.Movie("kpi_story", length=12)</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with movie.shot("data", 0, 12):</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bars = mk.BarChart([345, 120, 95, 60],</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labels=["B", "O", "P", "A"]).at(0, 2, -1.4)</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bars.grow(at=0.5).highlight(0, at=2.5)</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mk.Counter(892, at=1, duration=1.5,</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suffix=" users").at(3.5, 1.5, 0.5)</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movie.camera.place((0, -12, 1), look_at=(0, 1, 0))</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movie.camera.push_in(to=(0, -9, 0.6), at=0, duration=12)</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movie.overlay.caption("Used by 892 people", at=3, until=10)</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movie.effects.glow()</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movie.run()</a:t>
            </a:r>
            <a:endParaRPr lang="en-US" sz="1050" dirty="0"/>
          </a:p>
        </p:txBody>
      </p:sp>
      <p:sp>
        <p:nvSpPr>
          <p:cNvPr id="11" name="gcmd-0"/>
          <p:cNvSpPr/>
          <p:nvPr/>
        </p:nvSpPr>
        <p:spPr>
          <a:xfrm>
            <a:off x="548640" y="5349240"/>
            <a:ext cx="1734769" cy="384048"/>
          </a:xfrm>
          <a:prstGeom prst="roundRect">
            <a:avLst>
              <a:gd name="adj" fmla="val 50000"/>
            </a:avLst>
          </a:prstGeom>
          <a:solidFill>
            <a:schemeClr val="tx1"/>
          </a:solidFill>
          <a:ln/>
        </p:spPr>
      </p:sp>
      <p:sp>
        <p:nvSpPr>
          <p:cNvPr id="12" name="gcmd-0-text"/>
          <p:cNvSpPr txBox="1"/>
          <p:nvPr/>
        </p:nvSpPr>
        <p:spPr>
          <a:xfrm>
            <a:off x="548640" y="5349240"/>
            <a:ext cx="1734769"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/idea</a:t>
            </a:r>
            <a:endParaRPr lang="en-US" sz="1200" dirty="0"/>
          </a:p>
        </p:txBody>
      </p:sp>
      <p:sp>
        <p:nvSpPr>
          <p:cNvPr id="13" name="gcmd-0-desc"/>
          <p:cNvSpPr txBox="1"/>
          <p:nvPr/>
        </p:nvSpPr>
        <p:spPr>
          <a:xfrm>
            <a:off x="548640" y="5806440"/>
            <a:ext cx="1734769" cy="502920"/>
          </a:xfrm>
          <a:prstGeom prst="rect">
            <a:avLst/>
          </a:prstGeom>
          <a:noFill/>
          <a:ln/>
        </p:spPr>
        <p:txBody>
          <a:bodyPr wrap="square" lIns="0" tIns="0" rIns="0" bIns="0" rtlCol="0" anchor="t"/>
          <a:lstStyle/>
          <a:p>
            <a:pPr algn="ctr" indent="0" marL="0">
              <a:buNone/>
            </a:pPr>
            <a:r>
              <a:rPr lang="en-US" sz="1150" dirty="0">
                <a:solidFill>
                  <a:schemeClr val="tx2"/>
                </a:solidFill>
              </a:rPr>
              <a:t>free text → Shot Script</a:t>
            </a:r>
            <a:endParaRPr lang="en-US" sz="1150" dirty="0"/>
          </a:p>
        </p:txBody>
      </p:sp>
      <p:sp>
        <p:nvSpPr>
          <p:cNvPr id="14" name="gcmd-1"/>
          <p:cNvSpPr/>
          <p:nvPr/>
        </p:nvSpPr>
        <p:spPr>
          <a:xfrm>
            <a:off x="2420569" y="5349240"/>
            <a:ext cx="1734769" cy="384048"/>
          </a:xfrm>
          <a:prstGeom prst="roundRect">
            <a:avLst>
              <a:gd name="adj" fmla="val 50000"/>
            </a:avLst>
          </a:prstGeom>
          <a:solidFill>
            <a:schemeClr val="tx1"/>
          </a:solidFill>
          <a:ln/>
        </p:spPr>
      </p:sp>
      <p:sp>
        <p:nvSpPr>
          <p:cNvPr id="15" name="gcmd-1-text"/>
          <p:cNvSpPr txBox="1"/>
          <p:nvPr/>
        </p:nvSpPr>
        <p:spPr>
          <a:xfrm>
            <a:off x="2420569" y="5349240"/>
            <a:ext cx="1734769"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/script</a:t>
            </a:r>
            <a:endParaRPr lang="en-US" sz="1200" dirty="0"/>
          </a:p>
        </p:txBody>
      </p:sp>
      <p:sp>
        <p:nvSpPr>
          <p:cNvPr id="16" name="gcmd-1-desc"/>
          <p:cNvSpPr txBox="1"/>
          <p:nvPr/>
        </p:nvSpPr>
        <p:spPr>
          <a:xfrm>
            <a:off x="2420569" y="5806440"/>
            <a:ext cx="1734769" cy="502920"/>
          </a:xfrm>
          <a:prstGeom prst="rect">
            <a:avLst/>
          </a:prstGeom>
          <a:noFill/>
          <a:ln/>
        </p:spPr>
        <p:txBody>
          <a:bodyPr wrap="square" lIns="0" tIns="0" rIns="0" bIns="0" rtlCol="0" anchor="t"/>
          <a:lstStyle/>
          <a:p>
            <a:pPr algn="ctr" indent="0" marL="0">
              <a:buNone/>
            </a:pPr>
            <a:r>
              <a:rPr lang="en-US" sz="1150" dirty="0">
                <a:solidFill>
                  <a:schemeClr val="tx2"/>
                </a:solidFill>
              </a:rPr>
              <a:t>Shot Script → Python</a:t>
            </a:r>
            <a:endParaRPr lang="en-US" sz="1150" dirty="0"/>
          </a:p>
        </p:txBody>
      </p:sp>
      <p:sp>
        <p:nvSpPr>
          <p:cNvPr id="17" name="gcmd-2"/>
          <p:cNvSpPr/>
          <p:nvPr/>
        </p:nvSpPr>
        <p:spPr>
          <a:xfrm>
            <a:off x="4292498" y="5349240"/>
            <a:ext cx="1734769" cy="384048"/>
          </a:xfrm>
          <a:prstGeom prst="roundRect">
            <a:avLst>
              <a:gd name="adj" fmla="val 50000"/>
            </a:avLst>
          </a:prstGeom>
          <a:solidFill>
            <a:schemeClr val="tx1"/>
          </a:solidFill>
          <a:ln/>
        </p:spPr>
      </p:sp>
      <p:sp>
        <p:nvSpPr>
          <p:cNvPr id="18" name="gcmd-2-text"/>
          <p:cNvSpPr txBox="1"/>
          <p:nvPr/>
        </p:nvSpPr>
        <p:spPr>
          <a:xfrm>
            <a:off x="4292498" y="5349240"/>
            <a:ext cx="1734769"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/storyboard</a:t>
            </a:r>
            <a:endParaRPr lang="en-US" sz="1200" dirty="0"/>
          </a:p>
        </p:txBody>
      </p:sp>
      <p:sp>
        <p:nvSpPr>
          <p:cNvPr id="19" name="gcmd-2-desc"/>
          <p:cNvSpPr txBox="1"/>
          <p:nvPr/>
        </p:nvSpPr>
        <p:spPr>
          <a:xfrm>
            <a:off x="4292498" y="5806440"/>
            <a:ext cx="1734769" cy="502920"/>
          </a:xfrm>
          <a:prstGeom prst="rect">
            <a:avLst/>
          </a:prstGeom>
          <a:noFill/>
          <a:ln/>
        </p:spPr>
        <p:txBody>
          <a:bodyPr wrap="square" lIns="0" tIns="0" rIns="0" bIns="0" rtlCol="0" anchor="t"/>
          <a:lstStyle/>
          <a:p>
            <a:pPr algn="ctr" indent="0" marL="0">
              <a:buNone/>
            </a:pPr>
            <a:r>
              <a:rPr lang="en-US" sz="1150" dirty="0">
                <a:solidFill>
                  <a:schemeClr val="tx2"/>
                </a:solidFill>
              </a:rPr>
              <a:t>shot table</a:t>
            </a:r>
            <a:endParaRPr lang="en-US" sz="1150" dirty="0"/>
          </a:p>
        </p:txBody>
      </p:sp>
      <p:sp>
        <p:nvSpPr>
          <p:cNvPr id="20" name="gcmd-3"/>
          <p:cNvSpPr/>
          <p:nvPr/>
        </p:nvSpPr>
        <p:spPr>
          <a:xfrm>
            <a:off x="6164428" y="5349240"/>
            <a:ext cx="1734769" cy="384048"/>
          </a:xfrm>
          <a:prstGeom prst="roundRect">
            <a:avLst>
              <a:gd name="adj" fmla="val 50000"/>
            </a:avLst>
          </a:prstGeom>
          <a:solidFill>
            <a:schemeClr val="tx1"/>
          </a:solidFill>
          <a:ln/>
        </p:spPr>
      </p:sp>
      <p:sp>
        <p:nvSpPr>
          <p:cNvPr id="21" name="gcmd-3-text"/>
          <p:cNvSpPr txBox="1"/>
          <p:nvPr/>
        </p:nvSpPr>
        <p:spPr>
          <a:xfrm>
            <a:off x="6164428" y="5349240"/>
            <a:ext cx="1734769"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/fix</a:t>
            </a:r>
            <a:endParaRPr lang="en-US" sz="1200" dirty="0"/>
          </a:p>
        </p:txBody>
      </p:sp>
      <p:sp>
        <p:nvSpPr>
          <p:cNvPr id="22" name="gcmd-3-desc"/>
          <p:cNvSpPr txBox="1"/>
          <p:nvPr/>
        </p:nvSpPr>
        <p:spPr>
          <a:xfrm>
            <a:off x="6164428" y="5806440"/>
            <a:ext cx="1734769" cy="502920"/>
          </a:xfrm>
          <a:prstGeom prst="rect">
            <a:avLst/>
          </a:prstGeom>
          <a:noFill/>
          <a:ln/>
        </p:spPr>
        <p:txBody>
          <a:bodyPr wrap="square" lIns="0" tIns="0" rIns="0" bIns="0" rtlCol="0" anchor="t"/>
          <a:lstStyle/>
          <a:p>
            <a:pPr algn="ctr" indent="0" marL="0">
              <a:buNone/>
            </a:pPr>
            <a:r>
              <a:rPr lang="en-US" sz="1150" dirty="0">
                <a:solidFill>
                  <a:schemeClr val="tx2"/>
                </a:solidFill>
              </a:rPr>
              <a:t>paste an error</a:t>
            </a:r>
            <a:endParaRPr lang="en-US" sz="1150" dirty="0"/>
          </a:p>
        </p:txBody>
      </p:sp>
      <p:sp>
        <p:nvSpPr>
          <p:cNvPr id="23" name="gcmd-4"/>
          <p:cNvSpPr/>
          <p:nvPr/>
        </p:nvSpPr>
        <p:spPr>
          <a:xfrm>
            <a:off x="8036357" y="5349240"/>
            <a:ext cx="1734769" cy="384048"/>
          </a:xfrm>
          <a:prstGeom prst="roundRect">
            <a:avLst>
              <a:gd name="adj" fmla="val 50000"/>
            </a:avLst>
          </a:prstGeom>
          <a:solidFill>
            <a:schemeClr val="tx1"/>
          </a:solidFill>
          <a:ln/>
        </p:spPr>
      </p:sp>
      <p:sp>
        <p:nvSpPr>
          <p:cNvPr id="24" name="gcmd-4-text"/>
          <p:cNvSpPr txBox="1"/>
          <p:nvPr/>
        </p:nvSpPr>
        <p:spPr>
          <a:xfrm>
            <a:off x="8036357" y="5349240"/>
            <a:ext cx="1734769"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/tweak</a:t>
            </a:r>
            <a:endParaRPr lang="en-US" sz="1200" dirty="0"/>
          </a:p>
        </p:txBody>
      </p:sp>
      <p:sp>
        <p:nvSpPr>
          <p:cNvPr id="25" name="gcmd-4-desc"/>
          <p:cNvSpPr txBox="1"/>
          <p:nvPr/>
        </p:nvSpPr>
        <p:spPr>
          <a:xfrm>
            <a:off x="8036357" y="5806440"/>
            <a:ext cx="1734769" cy="502920"/>
          </a:xfrm>
          <a:prstGeom prst="rect">
            <a:avLst/>
          </a:prstGeom>
          <a:noFill/>
          <a:ln/>
        </p:spPr>
        <p:txBody>
          <a:bodyPr wrap="square" lIns="0" tIns="0" rIns="0" bIns="0" rtlCol="0" anchor="t"/>
          <a:lstStyle/>
          <a:p>
            <a:pPr algn="ctr" indent="0" marL="0">
              <a:buNone/>
            </a:pPr>
            <a:r>
              <a:rPr lang="en-US" sz="1150" dirty="0">
                <a:solidFill>
                  <a:schemeClr val="tx2"/>
                </a:solidFill>
              </a:rPr>
              <a:t>"slower", "gold title"</a:t>
            </a:r>
            <a:endParaRPr lang="en-US" sz="1150" dirty="0"/>
          </a:p>
        </p:txBody>
      </p:sp>
      <p:sp>
        <p:nvSpPr>
          <p:cNvPr id="26" name="gcmd-5"/>
          <p:cNvSpPr/>
          <p:nvPr/>
        </p:nvSpPr>
        <p:spPr>
          <a:xfrm>
            <a:off x="9908286" y="5349240"/>
            <a:ext cx="1734769" cy="384048"/>
          </a:xfrm>
          <a:prstGeom prst="roundRect">
            <a:avLst>
              <a:gd name="adj" fmla="val 50000"/>
            </a:avLst>
          </a:prstGeom>
          <a:solidFill>
            <a:schemeClr val="tx1"/>
          </a:solidFill>
          <a:ln/>
        </p:spPr>
      </p:sp>
      <p:sp>
        <p:nvSpPr>
          <p:cNvPr id="27" name="gcmd-5-text"/>
          <p:cNvSpPr txBox="1"/>
          <p:nvPr/>
        </p:nvSpPr>
        <p:spPr>
          <a:xfrm>
            <a:off x="9908286" y="5349240"/>
            <a:ext cx="1734769"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/vertical</a:t>
            </a:r>
            <a:endParaRPr lang="en-US" sz="1200" dirty="0"/>
          </a:p>
        </p:txBody>
      </p:sp>
      <p:sp>
        <p:nvSpPr>
          <p:cNvPr id="28" name="gcmd-5-desc"/>
          <p:cNvSpPr txBox="1"/>
          <p:nvPr/>
        </p:nvSpPr>
        <p:spPr>
          <a:xfrm>
            <a:off x="9908286" y="5806440"/>
            <a:ext cx="1734769" cy="502920"/>
          </a:xfrm>
          <a:prstGeom prst="rect">
            <a:avLst/>
          </a:prstGeom>
          <a:noFill/>
          <a:ln/>
        </p:spPr>
        <p:txBody>
          <a:bodyPr wrap="square" lIns="0" tIns="0" rIns="0" bIns="0" rtlCol="0" anchor="t"/>
          <a:lstStyle/>
          <a:p>
            <a:pPr algn="ctr" indent="0" marL="0">
              <a:buNone/>
            </a:pPr>
            <a:r>
              <a:rPr lang="en-US" sz="1150" dirty="0">
                <a:solidFill>
                  <a:schemeClr val="tx2"/>
                </a:solidFill>
              </a:rPr>
              <a:t>phone format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EXAMPLES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Three examples to copy from</a:t>
            </a:r>
            <a:endParaRPr lang="en-US" sz="3600" dirty="0"/>
          </a:p>
        </p:txBody>
      </p:sp>
      <p:pic>
        <p:nvPicPr>
          <p:cNvPr id="4" name="ex-pr-0" descr="/tmp/claude-0/-home-user-archify/c55ec104-845e-5eb5-96c0-f59db47d1002/scratchpad/pptx-mk/img/pr_wall.png">    </p:cNvPr>
          <p:cNvPicPr>
            <a:picLocks noChangeAspect="1"/>
          </p:cNvPicPr>
          <p:nvPr/>
        </p:nvPicPr>
        <p:blipFill>
          <a:blip r:embed="rId1"/>
          <a:stretch>
            <a:fillRect/>
          </a:stretch>
        </p:blipFill>
        <p:spPr>
          <a:xfrm>
            <a:off x="548640" y="1417320"/>
            <a:ext cx="3515258" cy="1977333"/>
          </a:xfrm>
          <a:prstGeom prst="rect">
            <a:avLst/>
          </a:prstGeom>
        </p:spPr>
      </p:pic>
      <p:pic>
        <p:nvPicPr>
          <p:cNvPr id="5" name="ex-pr-1" descr="/tmp/claude-0/-home-user-archify/c55ec104-845e-5eb5-96c0-f59db47d1002/scratchpad/pptx-mk/img/pr_app.png">    </p:cNvPr>
          <p:cNvPicPr>
            <a:picLocks noChangeAspect="1"/>
          </p:cNvPicPr>
          <p:nvPr/>
        </p:nvPicPr>
        <p:blipFill>
          <a:blip r:embed="rId2"/>
          <a:stretch>
            <a:fillRect/>
          </a:stretch>
        </p:blipFill>
        <p:spPr>
          <a:xfrm>
            <a:off x="4338218" y="1417320"/>
            <a:ext cx="3515258" cy="1977333"/>
          </a:xfrm>
          <a:prstGeom prst="rect">
            <a:avLst/>
          </a:prstGeom>
        </p:spPr>
      </p:pic>
      <p:pic>
        <p:nvPicPr>
          <p:cNvPr id="6" name="ex-pr-2" descr="/tmp/claude-0/-home-user-archify/c55ec104-845e-5eb5-96c0-f59db47d1002/scratchpad/pptx-mk/img/pr_chart.png">    </p:cNvPr>
          <p:cNvPicPr>
            <a:picLocks noChangeAspect="1"/>
          </p:cNvPicPr>
          <p:nvPr/>
        </p:nvPicPr>
        <p:blipFill>
          <a:blip r:embed="rId3"/>
          <a:stretch>
            <a:fillRect/>
          </a:stretch>
        </p:blipFill>
        <p:spPr>
          <a:xfrm>
            <a:off x="8127797" y="1417320"/>
            <a:ext cx="3515258" cy="1977333"/>
          </a:xfrm>
          <a:prstGeom prst="rect">
            <a:avLst/>
          </a:prstGeom>
        </p:spPr>
      </p:pic>
      <p:sp>
        <p:nvSpPr>
          <p:cNvPr id="7" name="ex-pr-cap"/>
          <p:cNvSpPr txBox="1"/>
          <p:nvPr/>
        </p:nvSpPr>
        <p:spPr>
          <a:xfrm>
            <a:off x="548640" y="3440373"/>
            <a:ext cx="11094415" cy="411480"/>
          </a:xfrm>
          <a:prstGeom prst="rect">
            <a:avLst/>
          </a:prstGeom>
          <a:noFill/>
          <a:ln/>
        </p:spPr>
        <p:txBody>
          <a:bodyPr wrap="square" lIns="0" tIns="0" rIns="0" bIns="0" rtlCol="0" anchor="t"/>
          <a:lstStyle/>
          <a:p>
            <a:pPr indent="0" marL="0">
              <a:buNone/>
            </a:pPr>
            <a:r>
              <a:rPr lang="en-US" sz="1300" b="1" dirty="0">
                <a:solidFill>
                  <a:schemeClr val="bg1"/>
                </a:solidFill>
              </a:rPr>
              <a:t>02 · Product reveal (16 s)  </a:t>
            </a:r>
            <a:pPr indent="0" marL="0">
              <a:buNone/>
            </a:pPr>
            <a:r>
              <a:rPr lang="en-US" sz="1300" dirty="0">
                <a:solidFill>
                  <a:schemeClr val="accent5"/>
                </a:solidFill>
              </a:rPr>
              <a:t>screen wall → portal → new app → chart and counter → end title. Shots, transitions, music.</a:t>
            </a:r>
            <a:endParaRPr lang="en-US" sz="1300" dirty="0"/>
          </a:p>
        </p:txBody>
      </p:sp>
      <p:pic>
        <p:nvPicPr>
          <p:cNvPr id="8" name="ex-globe" descr="/tmp/claude-0/-home-user-archify/c55ec104-845e-5eb5-96c0-f59db47d1002/scratchpad/pptx-mk/img/globe.png">    </p:cNvPr>
          <p:cNvPicPr>
            <a:picLocks noChangeAspect="1"/>
          </p:cNvPicPr>
          <p:nvPr/>
        </p:nvPicPr>
        <p:blipFill>
          <a:blip r:embed="rId4"/>
          <a:stretch>
            <a:fillRect/>
          </a:stretch>
        </p:blipFill>
        <p:spPr>
          <a:xfrm>
            <a:off x="548640" y="4034733"/>
            <a:ext cx="4287622" cy="2411787"/>
          </a:xfrm>
          <a:prstGeom prst="rect">
            <a:avLst/>
          </a:prstGeom>
        </p:spPr>
      </p:pic>
      <p:sp>
        <p:nvSpPr>
          <p:cNvPr id="9" name="ex-side"/>
          <p:cNvSpPr txBox="1"/>
          <p:nvPr/>
        </p:nvSpPr>
        <p:spPr>
          <a:xfrm>
            <a:off x="5156302" y="4034733"/>
            <a:ext cx="6486754" cy="2411787"/>
          </a:xfrm>
          <a:prstGeom prst="rect">
            <a:avLst/>
          </a:prstGeom>
          <a:noFill/>
          <a:ln/>
        </p:spPr>
        <p:txBody>
          <a:bodyPr wrap="square" lIns="0" tIns="0" rIns="0" bIns="0" rtlCol="0" anchor="ctr"/>
          <a:lstStyle/>
          <a:p>
            <a:pPr indent="0" marL="0">
              <a:buNone/>
            </a:pPr>
            <a:r>
              <a:rPr lang="en-US" sz="1500" b="1" dirty="0">
                <a:solidFill>
                  <a:schemeClr val="bg1"/>
                </a:solidFill>
              </a:rPr>
              <a:t>03 · Globe tour (10 s)</a:t>
            </a:r>
            <a:endParaRPr lang="en-US" sz="1500" dirty="0"/>
          </a:p>
          <a:p>
            <a:pPr indent="0" marL="0">
              <a:buNone/>
            </a:pPr>
            <a:r>
              <a:rPr lang="en-US" sz="1300" dirty="0">
                <a:solidFill>
                  <a:schemeClr val="accent5"/>
                </a:solidFill>
              </a:rPr>
              <a:t>The globe turns to each site; pins pop in with labels.</a:t>
            </a:r>
            <a:endParaRPr lang="en-US" sz="1500" dirty="0"/>
          </a:p>
          <a:p>
            <a:pPr indent="0" marL="0">
              <a:buNone/>
            </a:pPr>
            <a:r>
              <a:rPr lang="en-US" sz="800" dirty="0">
                <a:solidFill>
                  <a:srgbClr val="000000"/>
                </a:solidFill>
              </a:rPr>
              <a:t> </a:t>
            </a:r>
            <a:endParaRPr lang="en-US" sz="1500" dirty="0"/>
          </a:p>
          <a:p>
            <a:pPr indent="0" marL="0">
              <a:buNone/>
            </a:pPr>
            <a:r>
              <a:rPr lang="en-US" sz="1500" b="1" dirty="0">
                <a:solidFill>
                  <a:schemeClr val="bg1"/>
                </a:solidFill>
              </a:rPr>
              <a:t>01 · Hello title (8 s)</a:t>
            </a:r>
            <a:endParaRPr lang="en-US" sz="1500" dirty="0"/>
          </a:p>
          <a:p>
            <a:pPr indent="0" marL="0">
              <a:buNone/>
            </a:pPr>
            <a:r>
              <a:rPr lang="en-US" sz="1300" dirty="0">
                <a:solidFill>
                  <a:schemeClr val="accent5"/>
                </a:solidFill>
              </a:rPr>
              <a:t>The 25-line demo you just saw.</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BUILT TO LAST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Tested on Blender 5, documented, easy to extend</a:t>
            </a:r>
            <a:endParaRPr lang="en-US" sz="3600" dirty="0"/>
          </a:p>
        </p:txBody>
      </p:sp>
      <p:sp>
        <p:nvSpPr>
          <p:cNvPr id="4" name="bf-0"/>
          <p:cNvSpPr/>
          <p:nvPr/>
        </p:nvSpPr>
        <p:spPr>
          <a:xfrm>
            <a:off x="548640" y="1463040"/>
            <a:ext cx="2567864" cy="1554480"/>
          </a:xfrm>
          <a:prstGeom prst="roundRect">
            <a:avLst>
              <a:gd name="adj" fmla="val 7059"/>
            </a:avLst>
          </a:prstGeom>
          <a:solidFill>
            <a:schemeClr val="tx1"/>
          </a:solidFill>
          <a:ln/>
        </p:spPr>
      </p:sp>
      <p:sp>
        <p:nvSpPr>
          <p:cNvPr id="5" name="bf-0-text"/>
          <p:cNvSpPr txBox="1"/>
          <p:nvPr/>
        </p:nvSpPr>
        <p:spPr>
          <a:xfrm>
            <a:off x="777240" y="1463040"/>
            <a:ext cx="2110664" cy="1554480"/>
          </a:xfrm>
          <a:prstGeom prst="rect">
            <a:avLst/>
          </a:prstGeom>
          <a:noFill/>
          <a:ln/>
        </p:spPr>
        <p:txBody>
          <a:bodyPr wrap="square" lIns="0" tIns="0" rIns="0" bIns="0" rtlCol="0" anchor="ctr"/>
          <a:lstStyle/>
          <a:p>
            <a:pPr indent="0" marL="0">
              <a:buNone/>
            </a:pPr>
            <a:r>
              <a:rPr lang="en-US" sz="3200" b="1" dirty="0">
                <a:solidFill>
                  <a:schemeClr val="bg1"/>
                </a:solidFill>
              </a:rPr>
              <a:t>5.0.1</a:t>
            </a:r>
            <a:endParaRPr lang="en-US" sz="3200" dirty="0"/>
          </a:p>
          <a:p>
            <a:pPr indent="0" marL="0">
              <a:buNone/>
            </a:pPr>
            <a:r>
              <a:rPr lang="en-US" sz="1250" dirty="0">
                <a:solidFill>
                  <a:schemeClr val="accent5"/>
                </a:solidFill>
              </a:rPr>
              <a:t>Blender version it's tested on (EEVEE); 4.2+ also works</a:t>
            </a:r>
            <a:endParaRPr lang="en-US" sz="3200" dirty="0"/>
          </a:p>
        </p:txBody>
      </p:sp>
      <p:sp>
        <p:nvSpPr>
          <p:cNvPr id="6" name="bf-1"/>
          <p:cNvSpPr/>
          <p:nvPr/>
        </p:nvSpPr>
        <p:spPr>
          <a:xfrm>
            <a:off x="3390824" y="1463040"/>
            <a:ext cx="2567864" cy="1554480"/>
          </a:xfrm>
          <a:prstGeom prst="roundRect">
            <a:avLst>
              <a:gd name="adj" fmla="val 7059"/>
            </a:avLst>
          </a:prstGeom>
          <a:solidFill>
            <a:schemeClr val="bg1"/>
          </a:solidFill>
          <a:ln/>
        </p:spPr>
      </p:sp>
      <p:sp>
        <p:nvSpPr>
          <p:cNvPr id="7" name="bf-1-text"/>
          <p:cNvSpPr txBox="1"/>
          <p:nvPr/>
        </p:nvSpPr>
        <p:spPr>
          <a:xfrm>
            <a:off x="3619424" y="1463040"/>
            <a:ext cx="2110664" cy="1554480"/>
          </a:xfrm>
          <a:prstGeom prst="rect">
            <a:avLst/>
          </a:prstGeom>
          <a:noFill/>
          <a:ln/>
        </p:spPr>
        <p:txBody>
          <a:bodyPr wrap="square" lIns="0" tIns="0" rIns="0" bIns="0" rtlCol="0" anchor="ctr"/>
          <a:lstStyle/>
          <a:p>
            <a:pPr indent="0" marL="0">
              <a:buNone/>
            </a:pPr>
            <a:r>
              <a:rPr lang="en-US" sz="3200" b="1" dirty="0">
                <a:solidFill>
                  <a:schemeClr val="tx1"/>
                </a:solidFill>
              </a:rPr>
              <a:t>25</a:t>
            </a:r>
            <a:endParaRPr lang="en-US" sz="3200" dirty="0"/>
          </a:p>
          <a:p>
            <a:pPr indent="0" marL="0">
              <a:buNone/>
            </a:pPr>
            <a:r>
              <a:rPr lang="en-US" sz="1250" dirty="0">
                <a:solidFill>
                  <a:schemeClr val="tx2"/>
                </a:solidFill>
              </a:rPr>
              <a:t>checks in the smoke test: every asset, motion, move, transition</a:t>
            </a:r>
            <a:endParaRPr lang="en-US" sz="3200" dirty="0"/>
          </a:p>
        </p:txBody>
      </p:sp>
      <p:sp>
        <p:nvSpPr>
          <p:cNvPr id="8" name="bf-2"/>
          <p:cNvSpPr/>
          <p:nvPr/>
        </p:nvSpPr>
        <p:spPr>
          <a:xfrm>
            <a:off x="6233008" y="1463040"/>
            <a:ext cx="2567864" cy="1554480"/>
          </a:xfrm>
          <a:prstGeom prst="roundRect">
            <a:avLst>
              <a:gd name="adj" fmla="val 7059"/>
            </a:avLst>
          </a:prstGeom>
          <a:solidFill>
            <a:schemeClr val="bg1"/>
          </a:solidFill>
          <a:ln/>
        </p:spPr>
      </p:sp>
      <p:sp>
        <p:nvSpPr>
          <p:cNvPr id="9" name="bf-2-text"/>
          <p:cNvSpPr txBox="1"/>
          <p:nvPr/>
        </p:nvSpPr>
        <p:spPr>
          <a:xfrm>
            <a:off x="6461608" y="1463040"/>
            <a:ext cx="2110664" cy="1554480"/>
          </a:xfrm>
          <a:prstGeom prst="rect">
            <a:avLst/>
          </a:prstGeom>
          <a:noFill/>
          <a:ln/>
        </p:spPr>
        <p:txBody>
          <a:bodyPr wrap="square" lIns="0" tIns="0" rIns="0" bIns="0" rtlCol="0" anchor="ctr"/>
          <a:lstStyle/>
          <a:p>
            <a:pPr indent="0" marL="0">
              <a:buNone/>
            </a:pPr>
            <a:r>
              <a:rPr lang="en-US" sz="3200" b="1" dirty="0">
                <a:solidFill>
                  <a:schemeClr val="tx1"/>
                </a:solidFill>
              </a:rPr>
              <a:t>11</a:t>
            </a:r>
            <a:endParaRPr lang="en-US" sz="3200" dirty="0"/>
          </a:p>
          <a:p>
            <a:pPr indent="0" marL="0">
              <a:buNone/>
            </a:pPr>
            <a:r>
              <a:rPr lang="en-US" sz="1250" dirty="0">
                <a:solidFill>
                  <a:schemeClr val="tx2"/>
                </a:solidFill>
              </a:rPr>
              <a:t>cookbook recipes, each run by a test so the docs stay true</a:t>
            </a:r>
            <a:endParaRPr lang="en-US" sz="3200" dirty="0"/>
          </a:p>
        </p:txBody>
      </p:sp>
      <p:sp>
        <p:nvSpPr>
          <p:cNvPr id="10" name="bf-3"/>
          <p:cNvSpPr/>
          <p:nvPr/>
        </p:nvSpPr>
        <p:spPr>
          <a:xfrm>
            <a:off x="9075191" y="1463040"/>
            <a:ext cx="2567864" cy="1554480"/>
          </a:xfrm>
          <a:prstGeom prst="roundRect">
            <a:avLst>
              <a:gd name="adj" fmla="val 7059"/>
            </a:avLst>
          </a:prstGeom>
          <a:solidFill>
            <a:schemeClr val="bg1"/>
          </a:solidFill>
          <a:ln/>
        </p:spPr>
      </p:sp>
      <p:sp>
        <p:nvSpPr>
          <p:cNvPr id="11" name="bf-3-text"/>
          <p:cNvSpPr txBox="1"/>
          <p:nvPr/>
        </p:nvSpPr>
        <p:spPr>
          <a:xfrm>
            <a:off x="9303791" y="1463040"/>
            <a:ext cx="2110664" cy="1554480"/>
          </a:xfrm>
          <a:prstGeom prst="rect">
            <a:avLst/>
          </a:prstGeom>
          <a:noFill/>
          <a:ln/>
        </p:spPr>
        <p:txBody>
          <a:bodyPr wrap="square" lIns="0" tIns="0" rIns="0" bIns="0" rtlCol="0" anchor="ctr"/>
          <a:lstStyle/>
          <a:p>
            <a:pPr indent="0" marL="0">
              <a:buNone/>
            </a:pPr>
            <a:r>
              <a:rPr lang="en-US" sz="3200" b="1" dirty="0">
                <a:solidFill>
                  <a:schemeClr val="tx1"/>
                </a:solidFill>
              </a:rPr>
              <a:t>1</a:t>
            </a:r>
            <a:endParaRPr lang="en-US" sz="3200" dirty="0"/>
          </a:p>
          <a:p>
            <a:pPr indent="0" marL="0">
              <a:buNone/>
            </a:pPr>
            <a:r>
              <a:rPr lang="en-US" sz="1250" dirty="0">
                <a:solidFill>
                  <a:schemeClr val="tx2"/>
                </a:solidFill>
              </a:rPr>
              <a:t>file holds every Blender-version difference (_compat.py)</a:t>
            </a:r>
            <a:endParaRPr lang="en-US" sz="3200" dirty="0"/>
          </a:p>
        </p:txBody>
      </p:sp>
      <p:sp>
        <p:nvSpPr>
          <p:cNvPr id="12" name="docs-card"/>
          <p:cNvSpPr/>
          <p:nvPr/>
        </p:nvSpPr>
        <p:spPr>
          <a:xfrm>
            <a:off x="548640" y="3291840"/>
            <a:ext cx="5486400" cy="3108960"/>
          </a:xfrm>
          <a:prstGeom prst="roundRect">
            <a:avLst>
              <a:gd name="adj" fmla="val 3529"/>
            </a:avLst>
          </a:prstGeom>
          <a:solidFill>
            <a:schemeClr val="bg1"/>
          </a:solidFill>
          <a:ln/>
        </p:spPr>
      </p:sp>
      <p:sp>
        <p:nvSpPr>
          <p:cNvPr id="13" name="docs-head"/>
          <p:cNvSpPr txBox="1"/>
          <p:nvPr/>
        </p:nvSpPr>
        <p:spPr>
          <a:xfrm>
            <a:off x="822960" y="3429000"/>
            <a:ext cx="493776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DOCUMENTATION (docs/)</a:t>
            </a:r>
            <a:endParaRPr lang="en-US" sz="1100" dirty="0"/>
          </a:p>
        </p:txBody>
      </p:sp>
      <p:sp>
        <p:nvSpPr>
          <p:cNvPr id="14" name="docs-list"/>
          <p:cNvSpPr txBox="1"/>
          <p:nvPr/>
        </p:nvSpPr>
        <p:spPr>
          <a:xfrm>
            <a:off x="822960" y="3749040"/>
            <a:ext cx="4937760" cy="2560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getting-started.md</a:t>
            </a:r>
            <a:endParaRPr lang="en-US" sz="1200" dirty="0"/>
          </a:p>
          <a:p>
            <a:pPr indent="0" marL="0">
              <a:spcAft>
                <a:spcPts val="500"/>
              </a:spcAft>
              <a:buNone/>
            </a:pPr>
            <a:r>
              <a:rPr lang="en-US" sz="1200" dirty="0">
                <a:solidFill>
                  <a:schemeClr val="tx2"/>
                </a:solidFill>
              </a:rPr>
              <a:t>install, run, first change</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concepts.md</a:t>
            </a:r>
            <a:endParaRPr lang="en-US" sz="1200" dirty="0"/>
          </a:p>
          <a:p>
            <a:pPr indent="0" marL="0">
              <a:spcAft>
                <a:spcPts val="500"/>
              </a:spcAft>
              <a:buNone/>
            </a:pPr>
            <a:r>
              <a:rPr lang="en-US" sz="1200" dirty="0">
                <a:solidFill>
                  <a:schemeClr val="tx2"/>
                </a:solidFill>
              </a:rPr>
              <a:t>the six ideas behind the kit</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api-reference.md</a:t>
            </a:r>
            <a:endParaRPr lang="en-US" sz="1200" dirty="0"/>
          </a:p>
          <a:p>
            <a:pPr indent="0" marL="0">
              <a:spcAft>
                <a:spcPts val="500"/>
              </a:spcAft>
              <a:buNone/>
            </a:pPr>
            <a:r>
              <a:rPr lang="en-US" sz="1200" dirty="0">
                <a:solidFill>
                  <a:schemeClr val="tx2"/>
                </a:solidFill>
              </a:rPr>
              <a:t>every class, method and argument</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cookbook.md</a:t>
            </a:r>
            <a:endParaRPr lang="en-US" sz="1200" dirty="0"/>
          </a:p>
          <a:p>
            <a:pPr indent="0" marL="0">
              <a:spcAft>
                <a:spcPts val="500"/>
              </a:spcAft>
              <a:buNone/>
            </a:pPr>
            <a:r>
              <a:rPr lang="en-US" sz="1200" dirty="0">
                <a:solidFill>
                  <a:schemeClr val="tx2"/>
                </a:solidFill>
              </a:rPr>
              <a:t>copy-paste recipes</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shot-script.md</a:t>
            </a:r>
            <a:endParaRPr lang="en-US" sz="1200" dirty="0"/>
          </a:p>
          <a:p>
            <a:pPr indent="0" marL="0">
              <a:spcAft>
                <a:spcPts val="500"/>
              </a:spcAft>
              <a:buNone/>
            </a:pPr>
            <a:r>
              <a:rPr lang="en-US" sz="1200" dirty="0">
                <a:solidFill>
                  <a:schemeClr val="tx2"/>
                </a:solidFill>
              </a:rPr>
              <a:t>the format for Gemini</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troubleshooting.md · extending.md</a:t>
            </a:r>
            <a:endParaRPr lang="en-US" sz="1200" dirty="0"/>
          </a:p>
          <a:p>
            <a:pPr indent="0" marL="0">
              <a:spcAft>
                <a:spcPts val="500"/>
              </a:spcAft>
              <a:buNone/>
            </a:pPr>
            <a:r>
              <a:rPr lang="en-US" sz="1200" dirty="0">
                <a:solidFill>
                  <a:schemeClr val="tx2"/>
                </a:solidFill>
              </a:rPr>
              <a:t>fixes; adding your own assets</a:t>
            </a:r>
            <a:endParaRPr lang="en-US" sz="1200" dirty="0"/>
          </a:p>
        </p:txBody>
      </p:sp>
      <p:sp>
        <p:nvSpPr>
          <p:cNvPr id="15" name="eevee-card"/>
          <p:cNvSpPr/>
          <p:nvPr/>
        </p:nvSpPr>
        <p:spPr>
          <a:xfrm>
            <a:off x="6309360" y="3291840"/>
            <a:ext cx="5333695" cy="3108960"/>
          </a:xfrm>
          <a:prstGeom prst="roundRect">
            <a:avLst>
              <a:gd name="adj" fmla="val 3529"/>
            </a:avLst>
          </a:prstGeom>
          <a:solidFill>
            <a:schemeClr val="accent4"/>
          </a:solidFill>
          <a:ln/>
        </p:spPr>
      </p:sp>
      <p:sp>
        <p:nvSpPr>
          <p:cNvPr id="16" name="eevee-text"/>
          <p:cNvSpPr txBox="1"/>
          <p:nvPr/>
        </p:nvSpPr>
        <p:spPr>
          <a:xfrm>
            <a:off x="6583680" y="3429000"/>
            <a:ext cx="4785055" cy="2834640"/>
          </a:xfrm>
          <a:prstGeom prst="rect">
            <a:avLst/>
          </a:prstGeom>
          <a:noFill/>
          <a:ln/>
        </p:spPr>
        <p:txBody>
          <a:bodyPr wrap="square" lIns="0" tIns="0" rIns="0" bIns="0" rtlCol="0" anchor="t"/>
          <a:lstStyle/>
          <a:p>
            <a:pPr indent="0" marL="0">
              <a:buNone/>
            </a:pPr>
            <a:r>
              <a:rPr lang="en-US" sz="1800" b="1" dirty="0">
                <a:solidFill>
                  <a:schemeClr val="bg1"/>
                </a:solidFill>
              </a:rPr>
              <a:t>Why EEVEE</a:t>
            </a:r>
            <a:endParaRPr lang="en-US" sz="1800" dirty="0"/>
          </a:p>
          <a:p>
            <a:pPr indent="0" marL="0">
              <a:buNone/>
            </a:pPr>
            <a:r>
              <a:rPr lang="en-US" sz="600" dirty="0">
                <a:solidFill>
                  <a:srgbClr val="000000"/>
                </a:solidFill>
              </a:rPr>
              <a:t> </a:t>
            </a:r>
            <a:endParaRPr lang="en-US" sz="1800" dirty="0"/>
          </a:p>
          <a:p>
            <a:pPr indent="0" marL="0">
              <a:buNone/>
            </a:pPr>
            <a:r>
              <a:rPr lang="en-US" sz="1300" dirty="0">
                <a:solidFill>
                  <a:schemeClr val="bg1"/>
                </a:solidFill>
              </a:rPr>
              <a:t>Our look is self-lit objects plus glow: no light bounces to simulate. EEVEE renders it in real time and looks the same as Cycles here, many times faster.</a:t>
            </a:r>
            <a:endParaRPr lang="en-US" sz="1800" dirty="0"/>
          </a:p>
          <a:p>
            <a:pPr indent="0" marL="0">
              <a:buNone/>
            </a:pPr>
            <a:r>
              <a:rPr lang="en-US" sz="600" dirty="0">
                <a:solidFill>
                  <a:srgbClr val="000000"/>
                </a:solidFill>
              </a:rPr>
              <a:t> </a:t>
            </a:r>
            <a:endParaRPr lang="en-US" sz="1800" dirty="0"/>
          </a:p>
          <a:p>
            <a:pPr indent="0" marL="0">
              <a:buNone/>
            </a:pPr>
            <a:r>
              <a:rPr lang="en-US" sz="1300" dirty="0">
                <a:solidFill>
                  <a:schemeClr val="accent5"/>
                </a:solidFill>
              </a:rPr>
              <a:t>The kit switches off what we don't use (shadows, ray tracing, volumes), uses 64 samples for finals and 16 for previews, and does the glow in the GPU compositor.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LIVE DEMO</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Ten minutes, four steps</a:t>
            </a:r>
            <a:endParaRPr lang="en-US" sz="3600" dirty="0"/>
          </a:p>
        </p:txBody>
      </p:sp>
      <p:sp>
        <p:nvSpPr>
          <p:cNvPr id="4" name="ld-0-dot"/>
          <p:cNvSpPr/>
          <p:nvPr/>
        </p:nvSpPr>
        <p:spPr>
          <a:xfrm>
            <a:off x="548640" y="1554480"/>
            <a:ext cx="685800" cy="685800"/>
          </a:xfrm>
          <a:prstGeom prst="ellipse">
            <a:avLst/>
          </a:prstGeom>
          <a:solidFill>
            <a:schemeClr val="accent1"/>
          </a:solidFill>
          <a:ln/>
        </p:spPr>
      </p:sp>
      <p:sp>
        <p:nvSpPr>
          <p:cNvPr id="5" name="ld-0-n"/>
          <p:cNvSpPr txBox="1"/>
          <p:nvPr/>
        </p:nvSpPr>
        <p:spPr>
          <a:xfrm>
            <a:off x="548640" y="1554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ld-0-h"/>
          <p:cNvSpPr txBox="1"/>
          <p:nvPr/>
        </p:nvSpPr>
        <p:spPr>
          <a:xfrm>
            <a:off x="1463040" y="1417320"/>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Render a frame</a:t>
            </a:r>
            <a:endParaRPr lang="en-US" sz="1800" dirty="0"/>
          </a:p>
        </p:txBody>
      </p:sp>
      <p:sp>
        <p:nvSpPr>
          <p:cNvPr id="7" name="ld-0-code"/>
          <p:cNvSpPr/>
          <p:nvPr/>
        </p:nvSpPr>
        <p:spPr>
          <a:xfrm>
            <a:off x="4206240" y="1490472"/>
            <a:ext cx="4937760" cy="822960"/>
          </a:xfrm>
          <a:prstGeom prst="roundRect">
            <a:avLst>
              <a:gd name="adj" fmla="val 8889"/>
            </a:avLst>
          </a:prstGeom>
          <a:solidFill>
            <a:srgbClr val="0B1530"/>
          </a:solidFill>
          <a:ln/>
        </p:spPr>
      </p:sp>
      <p:sp>
        <p:nvSpPr>
          <p:cNvPr id="8" name="ld-0-c"/>
          <p:cNvSpPr txBox="1"/>
          <p:nvPr/>
        </p:nvSpPr>
        <p:spPr>
          <a:xfrm>
            <a:off x="4389120" y="1490472"/>
            <a:ext cx="4572000" cy="82296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blender -b -P examples/01_hello_title.py -- --still 3.5</a:t>
            </a:r>
            <a:endParaRPr lang="en-US" sz="1100" dirty="0"/>
          </a:p>
        </p:txBody>
      </p:sp>
      <p:sp>
        <p:nvSpPr>
          <p:cNvPr id="9" name="ld-0-d"/>
          <p:cNvSpPr txBox="1"/>
          <p:nvPr/>
        </p:nvSpPr>
        <p:spPr>
          <a:xfrm>
            <a:off x="9326880" y="1417320"/>
            <a:ext cx="2316175" cy="960120"/>
          </a:xfrm>
          <a:prstGeom prst="rect">
            <a:avLst/>
          </a:prstGeom>
          <a:noFill/>
          <a:ln/>
        </p:spPr>
        <p:txBody>
          <a:bodyPr wrap="square" lIns="0" tIns="0" rIns="0" bIns="0" rtlCol="0" anchor="ctr"/>
          <a:lstStyle/>
          <a:p>
            <a:pPr indent="0" marL="0">
              <a:buNone/>
            </a:pPr>
            <a:r>
              <a:rPr lang="en-US" sz="1300" dirty="0">
                <a:solidFill>
                  <a:schemeClr val="tx2"/>
                </a:solidFill>
              </a:rPr>
              <a:t>The picture appears in examples/render/</a:t>
            </a:r>
            <a:endParaRPr lang="en-US" sz="1300" dirty="0"/>
          </a:p>
        </p:txBody>
      </p:sp>
      <p:sp>
        <p:nvSpPr>
          <p:cNvPr id="10" name="ld-1-dot"/>
          <p:cNvSpPr/>
          <p:nvPr/>
        </p:nvSpPr>
        <p:spPr>
          <a:xfrm>
            <a:off x="548640" y="2770632"/>
            <a:ext cx="685800" cy="685800"/>
          </a:xfrm>
          <a:prstGeom prst="ellipse">
            <a:avLst/>
          </a:prstGeom>
          <a:solidFill>
            <a:schemeClr val="accent2"/>
          </a:solidFill>
          <a:ln/>
        </p:spPr>
      </p:sp>
      <p:sp>
        <p:nvSpPr>
          <p:cNvPr id="11" name="ld-1-n"/>
          <p:cNvSpPr txBox="1"/>
          <p:nvPr/>
        </p:nvSpPr>
        <p:spPr>
          <a:xfrm>
            <a:off x="548640" y="2770632"/>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ld-1-h"/>
          <p:cNvSpPr txBox="1"/>
          <p:nvPr/>
        </p:nvSpPr>
        <p:spPr>
          <a:xfrm>
            <a:off x="1463040" y="2633472"/>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Change it</a:t>
            </a:r>
            <a:endParaRPr lang="en-US" sz="1800" dirty="0"/>
          </a:p>
        </p:txBody>
      </p:sp>
      <p:sp>
        <p:nvSpPr>
          <p:cNvPr id="13" name="ld-1-code"/>
          <p:cNvSpPr/>
          <p:nvPr/>
        </p:nvSpPr>
        <p:spPr>
          <a:xfrm>
            <a:off x="4206240" y="2706624"/>
            <a:ext cx="4937760" cy="822960"/>
          </a:xfrm>
          <a:prstGeom prst="roundRect">
            <a:avLst>
              <a:gd name="adj" fmla="val 8889"/>
            </a:avLst>
          </a:prstGeom>
          <a:solidFill>
            <a:srgbClr val="0B1530"/>
          </a:solidFill>
          <a:ln/>
        </p:spPr>
      </p:sp>
      <p:sp>
        <p:nvSpPr>
          <p:cNvPr id="14" name="ld-1-c"/>
          <p:cNvSpPr txBox="1"/>
          <p:nvPr/>
        </p:nvSpPr>
        <p:spPr>
          <a:xfrm>
            <a:off x="4389120" y="2706624"/>
            <a:ext cx="4572000" cy="82296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Text3D("Hello DMS", ...)  →  Text3D("Hello &lt;your team&gt;", color="cyan")</a:t>
            </a:r>
            <a:endParaRPr lang="en-US" sz="1100" dirty="0"/>
          </a:p>
        </p:txBody>
      </p:sp>
      <p:sp>
        <p:nvSpPr>
          <p:cNvPr id="15" name="ld-1-d"/>
          <p:cNvSpPr txBox="1"/>
          <p:nvPr/>
        </p:nvSpPr>
        <p:spPr>
          <a:xfrm>
            <a:off x="9326880" y="2633472"/>
            <a:ext cx="2316175" cy="960120"/>
          </a:xfrm>
          <a:prstGeom prst="rect">
            <a:avLst/>
          </a:prstGeom>
          <a:noFill/>
          <a:ln/>
        </p:spPr>
        <p:txBody>
          <a:bodyPr wrap="square" lIns="0" tIns="0" rIns="0" bIns="0" rtlCol="0" anchor="ctr"/>
          <a:lstStyle/>
          <a:p>
            <a:pPr indent="0" marL="0">
              <a:buNone/>
            </a:pPr>
            <a:r>
              <a:rPr lang="en-US" sz="1300" dirty="0">
                <a:solidFill>
                  <a:schemeClr val="tx2"/>
                </a:solidFill>
              </a:rPr>
              <a:t>Run the still again: the change shows in seconds</a:t>
            </a:r>
            <a:endParaRPr lang="en-US" sz="1300" dirty="0"/>
          </a:p>
        </p:txBody>
      </p:sp>
      <p:sp>
        <p:nvSpPr>
          <p:cNvPr id="16" name="ld-2-dot"/>
          <p:cNvSpPr/>
          <p:nvPr/>
        </p:nvSpPr>
        <p:spPr>
          <a:xfrm>
            <a:off x="548640" y="3986784"/>
            <a:ext cx="685800" cy="685800"/>
          </a:xfrm>
          <a:prstGeom prst="ellipse">
            <a:avLst/>
          </a:prstGeom>
          <a:solidFill>
            <a:schemeClr val="accent4"/>
          </a:solidFill>
          <a:ln/>
        </p:spPr>
      </p:sp>
      <p:sp>
        <p:nvSpPr>
          <p:cNvPr id="17" name="ld-2-n"/>
          <p:cNvSpPr txBox="1"/>
          <p:nvPr/>
        </p:nvSpPr>
        <p:spPr>
          <a:xfrm>
            <a:off x="548640" y="3986784"/>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ld-2-h"/>
          <p:cNvSpPr txBox="1"/>
          <p:nvPr/>
        </p:nvSpPr>
        <p:spPr>
          <a:xfrm>
            <a:off x="1463040" y="3849624"/>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Ask the gem</a:t>
            </a:r>
            <a:endParaRPr lang="en-US" sz="1800" dirty="0"/>
          </a:p>
        </p:txBody>
      </p:sp>
      <p:sp>
        <p:nvSpPr>
          <p:cNvPr id="19" name="ld-2-code"/>
          <p:cNvSpPr/>
          <p:nvPr/>
        </p:nvSpPr>
        <p:spPr>
          <a:xfrm>
            <a:off x="4206240" y="3922776"/>
            <a:ext cx="4937760" cy="822960"/>
          </a:xfrm>
          <a:prstGeom prst="roundRect">
            <a:avLst>
              <a:gd name="adj" fmla="val 8889"/>
            </a:avLst>
          </a:prstGeom>
          <a:solidFill>
            <a:srgbClr val="0B1530"/>
          </a:solidFill>
          <a:ln/>
        </p:spPr>
      </p:sp>
      <p:sp>
        <p:nvSpPr>
          <p:cNvPr id="20" name="ld-2-c"/>
          <p:cNvSpPr txBox="1"/>
          <p:nvPr/>
        </p:nvSpPr>
        <p:spPr>
          <a:xfrm>
            <a:off x="4389120" y="3922776"/>
            <a:ext cx="4572000" cy="82296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/idea A 6-second sting: our logo appears among stars, a ring draws around it, flash, end</a:t>
            </a:r>
            <a:endParaRPr lang="en-US" sz="1100" dirty="0"/>
          </a:p>
        </p:txBody>
      </p:sp>
      <p:sp>
        <p:nvSpPr>
          <p:cNvPr id="21" name="ld-2-d"/>
          <p:cNvSpPr txBox="1"/>
          <p:nvPr/>
        </p:nvSpPr>
        <p:spPr>
          <a:xfrm>
            <a:off x="9326880" y="3849624"/>
            <a:ext cx="2316175" cy="960120"/>
          </a:xfrm>
          <a:prstGeom prst="rect">
            <a:avLst/>
          </a:prstGeom>
          <a:noFill/>
          <a:ln/>
        </p:spPr>
        <p:txBody>
          <a:bodyPr wrap="square" lIns="0" tIns="0" rIns="0" bIns="0" rtlCol="0" anchor="ctr"/>
          <a:lstStyle/>
          <a:p>
            <a:pPr indent="0" marL="0">
              <a:buNone/>
            </a:pPr>
            <a:r>
              <a:rPr lang="en-US" sz="1300" dirty="0">
                <a:solidFill>
                  <a:schemeClr val="tx2"/>
                </a:solidFill>
              </a:rPr>
              <a:t>Paste the code into examples/my_sting.py</a:t>
            </a:r>
            <a:endParaRPr lang="en-US" sz="1300" dirty="0"/>
          </a:p>
        </p:txBody>
      </p:sp>
      <p:sp>
        <p:nvSpPr>
          <p:cNvPr id="22" name="ld-3-dot"/>
          <p:cNvSpPr/>
          <p:nvPr/>
        </p:nvSpPr>
        <p:spPr>
          <a:xfrm>
            <a:off x="548640" y="5202936"/>
            <a:ext cx="685800" cy="685800"/>
          </a:xfrm>
          <a:prstGeom prst="ellipse">
            <a:avLst/>
          </a:prstGeom>
          <a:solidFill>
            <a:schemeClr val="tx1"/>
          </a:solidFill>
          <a:ln/>
        </p:spPr>
      </p:sp>
      <p:sp>
        <p:nvSpPr>
          <p:cNvPr id="23" name="ld-3-n"/>
          <p:cNvSpPr txBox="1"/>
          <p:nvPr/>
        </p:nvSpPr>
        <p:spPr>
          <a:xfrm>
            <a:off x="548640" y="5202936"/>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4" name="ld-3-h"/>
          <p:cNvSpPr txBox="1"/>
          <p:nvPr/>
        </p:nvSpPr>
        <p:spPr>
          <a:xfrm>
            <a:off x="1463040" y="5065776"/>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Render a preview</a:t>
            </a:r>
            <a:endParaRPr lang="en-US" sz="1800" dirty="0"/>
          </a:p>
        </p:txBody>
      </p:sp>
      <p:sp>
        <p:nvSpPr>
          <p:cNvPr id="25" name="ld-3-code"/>
          <p:cNvSpPr/>
          <p:nvPr/>
        </p:nvSpPr>
        <p:spPr>
          <a:xfrm>
            <a:off x="4206240" y="5138928"/>
            <a:ext cx="4937760" cy="822960"/>
          </a:xfrm>
          <a:prstGeom prst="roundRect">
            <a:avLst>
              <a:gd name="adj" fmla="val 8889"/>
            </a:avLst>
          </a:prstGeom>
          <a:solidFill>
            <a:srgbClr val="0B1530"/>
          </a:solidFill>
          <a:ln/>
        </p:spPr>
      </p:sp>
      <p:sp>
        <p:nvSpPr>
          <p:cNvPr id="26" name="ld-3-c"/>
          <p:cNvSpPr txBox="1"/>
          <p:nvPr/>
        </p:nvSpPr>
        <p:spPr>
          <a:xfrm>
            <a:off x="4389120" y="5138928"/>
            <a:ext cx="4572000" cy="82296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blender -b -P examples/my_sting.py -- --preview --render</a:t>
            </a:r>
            <a:endParaRPr lang="en-US" sz="1100" dirty="0"/>
          </a:p>
        </p:txBody>
      </p:sp>
      <p:sp>
        <p:nvSpPr>
          <p:cNvPr id="27" name="ld-3-d"/>
          <p:cNvSpPr txBox="1"/>
          <p:nvPr/>
        </p:nvSpPr>
        <p:spPr>
          <a:xfrm>
            <a:off x="9326880" y="5065776"/>
            <a:ext cx="2316175" cy="960120"/>
          </a:xfrm>
          <a:prstGeom prst="rect">
            <a:avLst/>
          </a:prstGeom>
          <a:noFill/>
          <a:ln/>
        </p:spPr>
        <p:txBody>
          <a:bodyPr wrap="square" lIns="0" tIns="0" rIns="0" bIns="0" rtlCol="0" anchor="ctr"/>
          <a:lstStyle/>
          <a:p>
            <a:pPr indent="0" marL="0">
              <a:buNone/>
            </a:pPr>
            <a:r>
              <a:rPr lang="en-US" sz="1300" dirty="0">
                <a:solidFill>
                  <a:schemeClr val="tx2"/>
                </a:solidFill>
              </a:rPr>
              <a:t>Play the MP4</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GET STARTED</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Your first video this week</a:t>
            </a:r>
            <a:endParaRPr lang="en-US" sz="3600" dirty="0"/>
          </a:p>
        </p:txBody>
      </p:sp>
      <p:sp>
        <p:nvSpPr>
          <p:cNvPr id="4" name="gs-0-n"/>
          <p:cNvSpPr txBox="1"/>
          <p:nvPr/>
        </p:nvSpPr>
        <p:spPr>
          <a:xfrm>
            <a:off x="548640" y="1463040"/>
            <a:ext cx="548640" cy="777240"/>
          </a:xfrm>
          <a:prstGeom prst="rect">
            <a:avLst/>
          </a:prstGeom>
          <a:noFill/>
          <a:ln/>
        </p:spPr>
        <p:txBody>
          <a:bodyPr wrap="square" lIns="0" tIns="0" rIns="0" bIns="0" rtlCol="0" anchor="ctr"/>
          <a:lstStyle/>
          <a:p>
            <a:pPr indent="0" marL="0">
              <a:buNone/>
            </a:pPr>
            <a:r>
              <a:rPr lang="en-US" sz="3000" b="1" dirty="0">
                <a:solidFill>
                  <a:schemeClr val="accent1"/>
                </a:solidFill>
              </a:rPr>
              <a:t>1</a:t>
            </a:r>
            <a:endParaRPr lang="en-US" sz="3000" dirty="0"/>
          </a:p>
        </p:txBody>
      </p:sp>
      <p:sp>
        <p:nvSpPr>
          <p:cNvPr id="5" name="gs-0-t"/>
          <p:cNvSpPr txBox="1"/>
          <p:nvPr/>
        </p:nvSpPr>
        <p:spPr>
          <a:xfrm>
            <a:off x="1188720" y="1463040"/>
            <a:ext cx="6400800" cy="868680"/>
          </a:xfrm>
          <a:prstGeom prst="rect">
            <a:avLst/>
          </a:prstGeom>
          <a:noFill/>
          <a:ln/>
        </p:spPr>
        <p:txBody>
          <a:bodyPr wrap="square" lIns="0" tIns="0" rIns="0" bIns="0" rtlCol="0" anchor="ctr"/>
          <a:lstStyle/>
          <a:p>
            <a:pPr indent="0" marL="0">
              <a:buNone/>
            </a:pPr>
            <a:r>
              <a:rPr lang="en-US" sz="1800" b="1" dirty="0">
                <a:solidFill>
                  <a:schemeClr val="bg1"/>
                </a:solidFill>
              </a:rPr>
              <a:t>Install Blender 5</a:t>
            </a:r>
            <a:endParaRPr lang="en-US" sz="1800" dirty="0"/>
          </a:p>
          <a:p>
            <a:pPr indent="0" marL="0">
              <a:buNone/>
            </a:pPr>
            <a:r>
              <a:rPr lang="en-US" sz="1300" dirty="0">
                <a:solidFill>
                  <a:schemeClr val="accent5"/>
                </a:solidFill>
              </a:rPr>
              <a:t>blender.org, then check: blender --version</a:t>
            </a:r>
            <a:endParaRPr lang="en-US" sz="1800" dirty="0"/>
          </a:p>
        </p:txBody>
      </p:sp>
      <p:sp>
        <p:nvSpPr>
          <p:cNvPr id="6" name="gs-1-n"/>
          <p:cNvSpPr txBox="1"/>
          <p:nvPr/>
        </p:nvSpPr>
        <p:spPr>
          <a:xfrm>
            <a:off x="548640" y="2423160"/>
            <a:ext cx="548640" cy="777240"/>
          </a:xfrm>
          <a:prstGeom prst="rect">
            <a:avLst/>
          </a:prstGeom>
          <a:noFill/>
          <a:ln/>
        </p:spPr>
        <p:txBody>
          <a:bodyPr wrap="square" lIns="0" tIns="0" rIns="0" bIns="0" rtlCol="0" anchor="ctr"/>
          <a:lstStyle/>
          <a:p>
            <a:pPr indent="0" marL="0">
              <a:buNone/>
            </a:pPr>
            <a:r>
              <a:rPr lang="en-US" sz="3000" b="1" dirty="0">
                <a:solidFill>
                  <a:schemeClr val="accent1"/>
                </a:solidFill>
              </a:rPr>
              <a:t>2</a:t>
            </a:r>
            <a:endParaRPr lang="en-US" sz="3000" dirty="0"/>
          </a:p>
        </p:txBody>
      </p:sp>
      <p:sp>
        <p:nvSpPr>
          <p:cNvPr id="7" name="gs-1-t"/>
          <p:cNvSpPr txBox="1"/>
          <p:nvPr/>
        </p:nvSpPr>
        <p:spPr>
          <a:xfrm>
            <a:off x="1188720" y="2423160"/>
            <a:ext cx="6400800" cy="868680"/>
          </a:xfrm>
          <a:prstGeom prst="rect">
            <a:avLst/>
          </a:prstGeom>
          <a:noFill/>
          <a:ln/>
        </p:spPr>
        <p:txBody>
          <a:bodyPr wrap="square" lIns="0" tIns="0" rIns="0" bIns="0" rtlCol="0" anchor="ctr"/>
          <a:lstStyle/>
          <a:p>
            <a:pPr indent="0" marL="0">
              <a:buNone/>
            </a:pPr>
            <a:r>
              <a:rPr lang="en-US" sz="1800" b="1" dirty="0">
                <a:solidFill>
                  <a:schemeClr val="bg1"/>
                </a:solidFill>
              </a:rPr>
              <a:t>Get the kit</a:t>
            </a:r>
            <a:endParaRPr lang="en-US" sz="1800" dirty="0"/>
          </a:p>
          <a:p>
            <a:pPr indent="0" marL="0">
              <a:buNone/>
            </a:pPr>
            <a:r>
              <a:rPr lang="en-US" sz="1300" dirty="0">
                <a:solidFill>
                  <a:schemeClr val="accent5"/>
                </a:solidFill>
              </a:rPr>
              <a:t>repo folder erm-migration/motionkit</a:t>
            </a:r>
            <a:endParaRPr lang="en-US" sz="1800" dirty="0"/>
          </a:p>
        </p:txBody>
      </p:sp>
      <p:sp>
        <p:nvSpPr>
          <p:cNvPr id="8" name="gs-2-n"/>
          <p:cNvSpPr txBox="1"/>
          <p:nvPr/>
        </p:nvSpPr>
        <p:spPr>
          <a:xfrm>
            <a:off x="548640" y="3383280"/>
            <a:ext cx="548640" cy="777240"/>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9" name="gs-2-t"/>
          <p:cNvSpPr txBox="1"/>
          <p:nvPr/>
        </p:nvSpPr>
        <p:spPr>
          <a:xfrm>
            <a:off x="1188720" y="3383280"/>
            <a:ext cx="6400800" cy="868680"/>
          </a:xfrm>
          <a:prstGeom prst="rect">
            <a:avLst/>
          </a:prstGeom>
          <a:noFill/>
          <a:ln/>
        </p:spPr>
        <p:txBody>
          <a:bodyPr wrap="square" lIns="0" tIns="0" rIns="0" bIns="0" rtlCol="0" anchor="ctr"/>
          <a:lstStyle/>
          <a:p>
            <a:pPr indent="0" marL="0">
              <a:buNone/>
            </a:pPr>
            <a:r>
              <a:rPr lang="en-US" sz="1800" b="1" dirty="0">
                <a:solidFill>
                  <a:schemeClr val="bg1"/>
                </a:solidFill>
              </a:rPr>
              <a:t>Run the demo</a:t>
            </a:r>
            <a:endParaRPr lang="en-US" sz="1800" dirty="0"/>
          </a:p>
          <a:p>
            <a:pPr indent="0" marL="0">
              <a:buNone/>
            </a:pPr>
            <a:r>
              <a:rPr lang="en-US" sz="1300" dirty="0">
                <a:solidFill>
                  <a:schemeClr val="accent5"/>
                </a:solidFill>
                <a:latin typeface="Courier New" pitchFamily="34" charset="0"/>
                <a:ea typeface="Courier New" pitchFamily="34" charset="-122"/>
                <a:cs typeface="Courier New" pitchFamily="34" charset="-120"/>
              </a:rPr>
              <a:t>blender -b -P examples/01_hello_title.py -- --still 3.5</a:t>
            </a:r>
            <a:endParaRPr lang="en-US" sz="1800" dirty="0"/>
          </a:p>
        </p:txBody>
      </p:sp>
      <p:sp>
        <p:nvSpPr>
          <p:cNvPr id="10" name="gs-3-n"/>
          <p:cNvSpPr txBox="1"/>
          <p:nvPr/>
        </p:nvSpPr>
        <p:spPr>
          <a:xfrm>
            <a:off x="548640" y="4343400"/>
            <a:ext cx="548640" cy="777240"/>
          </a:xfrm>
          <a:prstGeom prst="rect">
            <a:avLst/>
          </a:prstGeom>
          <a:noFill/>
          <a:ln/>
        </p:spPr>
        <p:txBody>
          <a:bodyPr wrap="square" lIns="0" tIns="0" rIns="0" bIns="0" rtlCol="0" anchor="ctr"/>
          <a:lstStyle/>
          <a:p>
            <a:pPr indent="0" marL="0">
              <a:buNone/>
            </a:pPr>
            <a:r>
              <a:rPr lang="en-US" sz="3000" b="1" dirty="0">
                <a:solidFill>
                  <a:schemeClr val="accent1"/>
                </a:solidFill>
              </a:rPr>
              <a:t>4</a:t>
            </a:r>
            <a:endParaRPr lang="en-US" sz="3000" dirty="0"/>
          </a:p>
        </p:txBody>
      </p:sp>
      <p:sp>
        <p:nvSpPr>
          <p:cNvPr id="11" name="gs-3-t"/>
          <p:cNvSpPr txBox="1"/>
          <p:nvPr/>
        </p:nvSpPr>
        <p:spPr>
          <a:xfrm>
            <a:off x="1188720" y="4343400"/>
            <a:ext cx="6400800" cy="868680"/>
          </a:xfrm>
          <a:prstGeom prst="rect">
            <a:avLst/>
          </a:prstGeom>
          <a:noFill/>
          <a:ln/>
        </p:spPr>
        <p:txBody>
          <a:bodyPr wrap="square" lIns="0" tIns="0" rIns="0" bIns="0" rtlCol="0" anchor="ctr"/>
          <a:lstStyle/>
          <a:p>
            <a:pPr indent="0" marL="0">
              <a:buNone/>
            </a:pPr>
            <a:r>
              <a:rPr lang="en-US" sz="1800" b="1" dirty="0">
                <a:solidFill>
                  <a:schemeClr val="bg1"/>
                </a:solidFill>
              </a:rPr>
              <a:t>Open the gem</a:t>
            </a:r>
            <a:endParaRPr lang="en-US" sz="1800" dirty="0"/>
          </a:p>
          <a:p>
            <a:pPr indent="0" marL="0">
              <a:buNone/>
            </a:pPr>
            <a:r>
              <a:rPr lang="en-US" sz="1300" dirty="0">
                <a:solidFill>
                  <a:schemeClr val="accent5"/>
                </a:solidFill>
                <a:latin typeface="Courier New" pitchFamily="34" charset="0"/>
                <a:ea typeface="Courier New" pitchFamily="34" charset="-122"/>
                <a:cs typeface="Courier New" pitchFamily="34" charset="-120"/>
              </a:rPr>
              <a:t>Gemini › Gems › motionkit Director (setup in gemini-gem/GEM.md)</a:t>
            </a:r>
            <a:endParaRPr lang="en-US" sz="1800" dirty="0"/>
          </a:p>
        </p:txBody>
      </p:sp>
      <p:pic>
        <p:nvPicPr>
          <p:cNvPr id="12" name="gs-img" descr="/tmp/claude-0/-home-user-archify/c55ec104-845e-5eb5-96c0-f59db47d1002/scratchpad/pptx-mk/img/pr_app.png">    </p:cNvPr>
          <p:cNvPicPr>
            <a:picLocks noChangeAspect="1"/>
          </p:cNvPicPr>
          <p:nvPr/>
        </p:nvPicPr>
        <p:blipFill>
          <a:blip r:embed="rId1"/>
          <a:stretch>
            <a:fillRect/>
          </a:stretch>
        </p:blipFill>
        <p:spPr>
          <a:xfrm>
            <a:off x="7680960" y="1554480"/>
            <a:ext cx="3962095" cy="2228679"/>
          </a:xfrm>
          <a:prstGeom prst="rect">
            <a:avLst/>
          </a:prstGeom>
        </p:spPr>
      </p:pic>
      <p:sp>
        <p:nvSpPr>
          <p:cNvPr id="13" name="closing"/>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3000" b="1" dirty="0">
                <a:solidFill>
                  <a:schemeClr val="bg1"/>
                </a:solidFill>
              </a:rPr>
              <a:t>Questions?</a:t>
            </a:r>
            <a:endParaRPr lang="en-US" sz="3000" dirty="0"/>
          </a:p>
        </p:txBody>
      </p:sp>
    </p:spTree>
  </p:cSld>
  <p:clrMapOvr>
    <a:masterClrMapping/>
  </p:clrMapOvr>
</p:sld>
</file>

<file path=ppt/theme/theme1.xml><?xml version="1.0" encoding="utf-8"?>
<a:theme xmlns:a="http://schemas.openxmlformats.org/drawingml/2006/main" name="ERM Migration Airbus">
  <a:themeElements>
    <a:clrScheme name="ERM Migration Airbus">
      <a:dk1>
        <a:srgbClr val="00205B"/>
      </a:dk1>
      <a:lt1>
        <a:srgbClr val="FFFFFF"/>
      </a:lt1>
      <a:dk2>
        <a:srgbClr val="4A5568"/>
      </a:dk2>
      <a:lt2>
        <a:srgbClr val="EEF1F7"/>
      </a:lt2>
      <a:accent1>
        <a:srgbClr val="C8326C"/>
      </a:accent1>
      <a:accent2>
        <a:srgbClr val="0085CA"/>
      </a:accent2>
      <a:accent3>
        <a:srgbClr val="B0245A"/>
      </a:accent3>
      <a:accent4>
        <a:srgbClr val="5F3A8F"/>
      </a:accent4>
      <a:accent5>
        <a:srgbClr val="C9D6EA"/>
      </a:accent5>
      <a:accent6>
        <a:srgbClr val="DCE3EE"/>
      </a:accent6>
      <a:hlink>
        <a:srgbClr val="0085CA"/>
      </a:hlink>
      <a:folHlink>
        <a:srgbClr val="5F3A8F"/>
      </a:folHlink>
    </a:clrScheme>
    <a:fontScheme name="ERM Migration Airb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motionkit for developers</dc:title>
  <dc:subject>PptxGenJS Presentation</dc:subject>
  <dc:creator>PptxGenJS</dc:creator>
  <cp:lastModifiedBy>PptxGenJS</cp:lastModifiedBy>
  <cp:revision>1</cp:revision>
  <dcterms:created xsi:type="dcterms:W3CDTF">2026-10-12T17:47:31Z</dcterms:created>
  <dcterms:modified xsi:type="dcterms:W3CDTF">2026-10-12T17:47:31Z</dcterms:modified>
</cp:coreProperties>
</file>