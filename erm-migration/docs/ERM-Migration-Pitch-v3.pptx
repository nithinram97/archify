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0f132115-ceeb-9675-226e-97f49c066ae4}">
          <p14:sldIdLst>
            <p14:sldId id="256"/>
            <p14:sldId id="257"/>
            <p14:sldId id="258"/>
          </p14:sldIdLst>
        </p14:section>
        <p14:section name="Stakes" id="{ac8c774d-99c5-b1f5-cfbe-78b22598be49}">
          <p14:sldIdLst>
            <p14:sldId id="259"/>
          </p14:sldIdLst>
        </p14:section>
        <p14:section name="Transformation" id="{8f15c067-6239-72e4-a362-889e113bd218}">
          <p14:sldIdLst>
            <p14:sldId id="260"/>
            <p14:sldId id="261"/>
            <p14:sldId id="262"/>
          </p14:sldIdLst>
        </p14:section>
        <p14:section name="Fit and next" id="{8420ebd4-9a57-fc5a-c877-c5332c10eb2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having us. In the next few minutes I'd like to tell you the story of ERM: where it sits, how it grew, why it had become fragile, and how two of us turned it into a stable, industrial application in a single PI.
ERM is Enterprise Risk Management. It's where risk managers across Airbus keep track of their risks and opportunities, build dashboards on them and prepare their reviews.
Let me start with where it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DMS we run the Performance Management suite: KPIs and data products, dashboards, and ERM. ERM is an integral part of it, because it's where performance meets risk.
It takes risk and opportunity data from ARM, which runs on Riskonnect, and brings it to life on the Skywise platform. A risk manager opens the dashboard for their area, sees their risks on a heat map, updates them, and takes the one-pager or the report into their review. Every quarter the dashboards are validated and released, so management sees a governed picture.
But ERM didn't start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was built by Operations, as a Business Owned Tool in Slate. It worked, and other functions wanted it too, so it spread quickly beyond Operations. Today the business owner is FZR.
That growth is a good problem, but a tool built by the business isn't designed to carry the whole company. So we took it over. In 2024 we industrialised it: we standardised it, made it robust and kept improving it. In 2025 it scaled to more users and more functions, and that's when Slate started to show its limits. And in 2026 we migrated it: ERM 2.0, rebuilt and ready for go-live.
Before I show you how, let me show you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really is used. Close to nine hundred people have used ERM, around three hundred in a busy month, and there are more than sixteen hundred dashboards, some of them updated every day. It's used by many functions, mostly in France and Germany, and also in the UK, Spain and Canada.
So it isn't a side tool. If ERM breaks, risk reporting breaks. And under the surface, the Slate version was fragile.
— — —
Reference if asked: 892 lifetime unique users; 320+ active in a peak month; 1,600+ dashboards; 10+ updated every day. Largest function B (~345), then O, P, A, L, S, K and about a dozen smaller ones. France 314, Germany 205, UK 58, Spain 25, Canada 12;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and the solution on one picture.
On the left is the Slate app we inherited. It worked, but everything was tangled together: one click set off a chain reaction behind the scenes, so a small change in one place could break a dashboard somewhere else. Switching tabs was slow. And nothing was documented, so the knowledge of what it really did lived in configuration and in a few people's heads.
We took it through the portal: an AI-assisted migration. The AI did the heavy lifting of reading the old app and listing everything it does, and we checked every single feature on the other side.
What came out is ERM 2.0: the same app people know, but stable, faster, documented and easy to extend. Rather than describe it, let me show you.
— — —
Play the trailer here: 1 min 34 s, full screen, sound on. Let it run without talking over it. It shows sample data only and ends on "Coming soon", which matches where we are: the app isn't live yet.
Before you start: have docs/trailer-storyboard/erm2-trailer-1080p.mp4 open and cued, or embed it on this slide. Add about 1 min 40 s to your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was ERM 2.0. One PI, two developers. Every one of the hundred and five features people rely on was carried over and checked. On top of that there are eleven new ones, like custom one-pager layouts and a slideshow mode for reviews. It's faster to move around, seven security issues were found and fixed along the way, and the app went from no documentation to ten documents.
The number I'd like you to remember is this one: about seventy-six percent less effort than a traditional migration. Four sprints instead of roughly seventeen. That's around eighty thousand dollars saved, and roughly ten thousand a year less to maintain. These are estimates, and the basis is in the footnote.
And it keeps paying back. Before, every change was risky. Now each feature stands on its own, so changes are quick and safe, and any team can pick it up.
But I'd rather the business told you how it feels.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Security findings included unsafe rich text in five places and permission checks that were too loose;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That word, industrial, is exactly the journey I described at the start.
Another stakeholder calls it a tremendous addition to the ERM toolset, and says more and more people now prepare and run their risk reviews with it.
And a Risk and Opportunity Manager says the new features make navigation easier and give a much clearer view of their data, and that whenever something went wrong, it was fixed quickly.
So how does this fit where we're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lines up with four of our 2026 objectives.
First, using AI to solve business problems: the AI-assisted migration recovered every feature of an app nobody had documented.
Second, on time, on cost, on quality: one PI, two developers, about seventy-six percent less effort.
Third, operational performance: a business-critical tool is now stable, documented and ready to leave Slate.
Fourth, digital acumen: we wrote the method down as a playbook, so other teams can do the same.
And it was a team effort from start to finish: Operations built it, FZR owns it, business users confirmed every feature, and data and security owners made sure restricted views stayed restricted.
So, what's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way of working. Five steps: gather the whole app for the AI, catalogue what it does, compare old and new, fix the gaps, and document as you go. The tools for each step are ready today.
Next for ERM itself is go-live and the run phase with FZR. Beyond that, the same method fits any Slate app, and really any business-built tool where the knowledge lives in configuration and nobody wrote it down. There are plenty of those in our landscape.
So here's our ask. We'd like your support to make this playbook a standard way to move business-built tools to industrial apps. We've already aligned with [Architect] to propose it at the architecture sync. (If you have one, name the first team outside DMS.)
To sum up: from a business-built tool to an industrial product, and a method for the next app.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DMS · PERFORMANCE MANAGEMENT</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4000" b="1" dirty="0">
                <a:solidFill>
                  <a:schemeClr val="bg1"/>
                </a:solidFill>
              </a:rPr>
              <a:t>ERM 2.0</a:t>
            </a:r>
            <a:endParaRPr lang="en-US" sz="40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How a business-built tool became a stable, industrial app, rebuilt by 2 developers in one PI with AI-assisted migration</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part of DMS Performance Management</a:t>
            </a:r>
            <a:endParaRPr lang="en-US" sz="3600" dirty="0"/>
          </a:p>
        </p:txBody>
      </p:sp>
      <p:sp>
        <p:nvSpPr>
          <p:cNvPr id="4" name="tree-dms"/>
          <p:cNvSpPr/>
          <p:nvPr/>
        </p:nvSpPr>
        <p:spPr>
          <a:xfrm>
            <a:off x="3108960" y="1508760"/>
            <a:ext cx="1645920" cy="502920"/>
          </a:xfrm>
          <a:prstGeom prst="roundRect">
            <a:avLst>
              <a:gd name="adj" fmla="val 21818"/>
            </a:avLst>
          </a:prstGeom>
          <a:solidFill>
            <a:schemeClr val="tx1"/>
          </a:solidFill>
          <a:ln/>
        </p:spPr>
      </p:sp>
      <p:sp>
        <p:nvSpPr>
          <p:cNvPr id="5" name="tree-dms-text"/>
          <p:cNvSpPr txBox="1"/>
          <p:nvPr/>
        </p:nvSpPr>
        <p:spPr>
          <a:xfrm>
            <a:off x="3108960" y="1508760"/>
            <a:ext cx="1645920" cy="502920"/>
          </a:xfrm>
          <a:prstGeom prst="rect">
            <a:avLst/>
          </a:prstGeom>
          <a:noFill/>
          <a:ln/>
        </p:spPr>
        <p:txBody>
          <a:bodyPr wrap="square" lIns="0" tIns="0" rIns="0" bIns="0" rtlCol="0" anchor="ctr"/>
          <a:lstStyle/>
          <a:p>
            <a:pPr algn="ctr" indent="0" marL="0">
              <a:buNone/>
            </a:pPr>
            <a:r>
              <a:rPr lang="en-US" sz="1600" b="1" dirty="0">
                <a:solidFill>
                  <a:schemeClr val="bg1"/>
                </a:solidFill>
              </a:rPr>
              <a:t>DMS</a:t>
            </a:r>
            <a:endParaRPr lang="en-US" sz="1600" dirty="0"/>
          </a:p>
        </p:txBody>
      </p:sp>
      <p:sp>
        <p:nvSpPr>
          <p:cNvPr id="6" name="tree-l0"/>
          <p:cNvSpPr/>
          <p:nvPr/>
        </p:nvSpPr>
        <p:spPr>
          <a:xfrm>
            <a:off x="3931920" y="2011680"/>
            <a:ext cx="0" cy="320040"/>
          </a:xfrm>
          <a:prstGeom prst="line">
            <a:avLst/>
          </a:prstGeom>
          <a:noFill/>
          <a:ln w="22225">
            <a:solidFill>
              <a:schemeClr val="accent2"/>
            </a:solidFill>
            <a:prstDash val="solid"/>
          </a:ln>
        </p:spPr>
      </p:sp>
      <p:sp>
        <p:nvSpPr>
          <p:cNvPr id="7" name="tree-pm"/>
          <p:cNvSpPr/>
          <p:nvPr/>
        </p:nvSpPr>
        <p:spPr>
          <a:xfrm>
            <a:off x="2103120" y="2331720"/>
            <a:ext cx="3657600" cy="640080"/>
          </a:xfrm>
          <a:prstGeom prst="roundRect">
            <a:avLst>
              <a:gd name="adj" fmla="val 17143"/>
            </a:avLst>
          </a:prstGeom>
          <a:solidFill>
            <a:schemeClr val="accent2"/>
          </a:solidFill>
          <a:ln/>
        </p:spPr>
      </p:sp>
      <p:sp>
        <p:nvSpPr>
          <p:cNvPr id="8" name="tree-pm-text"/>
          <p:cNvSpPr txBox="1"/>
          <p:nvPr/>
        </p:nvSpPr>
        <p:spPr>
          <a:xfrm>
            <a:off x="2103120" y="2331720"/>
            <a:ext cx="3657600" cy="640080"/>
          </a:xfrm>
          <a:prstGeom prst="rect">
            <a:avLst/>
          </a:prstGeom>
          <a:noFill/>
          <a:ln/>
        </p:spPr>
        <p:txBody>
          <a:bodyPr wrap="square" lIns="0" tIns="0" rIns="0" bIns="0" rtlCol="0" anchor="ctr"/>
          <a:lstStyle/>
          <a:p>
            <a:pPr algn="ctr" indent="0" marL="0">
              <a:buNone/>
            </a:pPr>
            <a:r>
              <a:rPr lang="en-US" sz="1700" b="1" dirty="0">
                <a:solidFill>
                  <a:schemeClr val="bg1"/>
                </a:solidFill>
              </a:rPr>
              <a:t>Performance Management suite</a:t>
            </a:r>
            <a:endParaRPr lang="en-US" sz="1700" dirty="0"/>
          </a:p>
        </p:txBody>
      </p:sp>
      <p:sp>
        <p:nvSpPr>
          <p:cNvPr id="9" name="tree-l1"/>
          <p:cNvSpPr/>
          <p:nvPr/>
        </p:nvSpPr>
        <p:spPr>
          <a:xfrm>
            <a:off x="3931920" y="2971800"/>
            <a:ext cx="0" cy="228600"/>
          </a:xfrm>
          <a:prstGeom prst="line">
            <a:avLst/>
          </a:prstGeom>
          <a:noFill/>
          <a:ln w="22225">
            <a:solidFill>
              <a:schemeClr val="accent2"/>
            </a:solidFill>
            <a:prstDash val="solid"/>
          </a:ln>
        </p:spPr>
      </p:sp>
      <p:sp>
        <p:nvSpPr>
          <p:cNvPr id="10" name="tree-bar"/>
          <p:cNvSpPr/>
          <p:nvPr/>
        </p:nvSpPr>
        <p:spPr>
          <a:xfrm>
            <a:off x="1577340" y="3200400"/>
            <a:ext cx="4709160" cy="0"/>
          </a:xfrm>
          <a:prstGeom prst="line">
            <a:avLst/>
          </a:prstGeom>
          <a:noFill/>
          <a:ln w="22225">
            <a:solidFill>
              <a:schemeClr val="accent2"/>
            </a:solidFill>
            <a:prstDash val="solid"/>
          </a:ln>
        </p:spPr>
      </p:sp>
      <p:sp>
        <p:nvSpPr>
          <p:cNvPr id="11" name="tree-k0-l"/>
          <p:cNvSpPr/>
          <p:nvPr/>
        </p:nvSpPr>
        <p:spPr>
          <a:xfrm>
            <a:off x="1577340" y="3200400"/>
            <a:ext cx="0" cy="228600"/>
          </a:xfrm>
          <a:prstGeom prst="line">
            <a:avLst/>
          </a:prstGeom>
          <a:noFill/>
          <a:ln w="22225">
            <a:solidFill>
              <a:schemeClr val="accent2"/>
            </a:solidFill>
            <a:prstDash val="solid"/>
          </a:ln>
        </p:spPr>
      </p:sp>
      <p:sp>
        <p:nvSpPr>
          <p:cNvPr id="12" name="tree-k0"/>
          <p:cNvSpPr/>
          <p:nvPr/>
        </p:nvSpPr>
        <p:spPr>
          <a:xfrm>
            <a:off x="548640" y="3429000"/>
            <a:ext cx="2057400" cy="640080"/>
          </a:xfrm>
          <a:prstGeom prst="roundRect">
            <a:avLst>
              <a:gd name="adj" fmla="val 17143"/>
            </a:avLst>
          </a:prstGeom>
          <a:solidFill>
            <a:schemeClr val="bg2"/>
          </a:solidFill>
          <a:ln w="12700">
            <a:solidFill>
              <a:schemeClr val="accent5"/>
            </a:solidFill>
            <a:prstDash val="solid"/>
          </a:ln>
        </p:spPr>
      </p:sp>
      <p:sp>
        <p:nvSpPr>
          <p:cNvPr id="13" name="tree-k0-text"/>
          <p:cNvSpPr txBox="1"/>
          <p:nvPr/>
        </p:nvSpPr>
        <p:spPr>
          <a:xfrm>
            <a:off x="548640" y="3429000"/>
            <a:ext cx="2057400" cy="640080"/>
          </a:xfrm>
          <a:prstGeom prst="rect">
            <a:avLst/>
          </a:prstGeom>
          <a:noFill/>
          <a:ln/>
        </p:spPr>
        <p:txBody>
          <a:bodyPr wrap="square" lIns="0" tIns="0" rIns="0" bIns="0" rtlCol="0" anchor="ctr"/>
          <a:lstStyle/>
          <a:p>
            <a:pPr algn="ctr" indent="0" marL="0">
              <a:buNone/>
            </a:pPr>
            <a:r>
              <a:rPr lang="en-US" sz="1400" b="1" dirty="0">
                <a:solidFill>
                  <a:schemeClr val="tx1"/>
                </a:solidFill>
              </a:rPr>
              <a:t>KPIs / Data Products</a:t>
            </a:r>
            <a:endParaRPr lang="en-US" sz="1400" dirty="0"/>
          </a:p>
        </p:txBody>
      </p:sp>
      <p:sp>
        <p:nvSpPr>
          <p:cNvPr id="14" name="tree-k1-l"/>
          <p:cNvSpPr/>
          <p:nvPr/>
        </p:nvSpPr>
        <p:spPr>
          <a:xfrm>
            <a:off x="3931920" y="3200400"/>
            <a:ext cx="0" cy="228600"/>
          </a:xfrm>
          <a:prstGeom prst="line">
            <a:avLst/>
          </a:prstGeom>
          <a:noFill/>
          <a:ln w="22225">
            <a:solidFill>
              <a:schemeClr val="accent2"/>
            </a:solidFill>
            <a:prstDash val="solid"/>
          </a:ln>
        </p:spPr>
      </p:sp>
      <p:sp>
        <p:nvSpPr>
          <p:cNvPr id="15" name="tree-k1"/>
          <p:cNvSpPr/>
          <p:nvPr/>
        </p:nvSpPr>
        <p:spPr>
          <a:xfrm>
            <a:off x="2903220" y="3429000"/>
            <a:ext cx="2057400" cy="640080"/>
          </a:xfrm>
          <a:prstGeom prst="roundRect">
            <a:avLst>
              <a:gd name="adj" fmla="val 17143"/>
            </a:avLst>
          </a:prstGeom>
          <a:solidFill>
            <a:schemeClr val="bg2"/>
          </a:solidFill>
          <a:ln w="12700">
            <a:solidFill>
              <a:schemeClr val="accent5"/>
            </a:solidFill>
            <a:prstDash val="solid"/>
          </a:ln>
        </p:spPr>
      </p:sp>
      <p:sp>
        <p:nvSpPr>
          <p:cNvPr id="16" name="tree-k1-text"/>
          <p:cNvSpPr txBox="1"/>
          <p:nvPr/>
        </p:nvSpPr>
        <p:spPr>
          <a:xfrm>
            <a:off x="2903220" y="3429000"/>
            <a:ext cx="2057400" cy="640080"/>
          </a:xfrm>
          <a:prstGeom prst="rect">
            <a:avLst/>
          </a:prstGeom>
          <a:noFill/>
          <a:ln/>
        </p:spPr>
        <p:txBody>
          <a:bodyPr wrap="square" lIns="0" tIns="0" rIns="0" bIns="0" rtlCol="0" anchor="ctr"/>
          <a:lstStyle/>
          <a:p>
            <a:pPr algn="ctr" indent="0" marL="0">
              <a:buNone/>
            </a:pPr>
            <a:r>
              <a:rPr lang="en-US" sz="1400" b="1" dirty="0">
                <a:solidFill>
                  <a:schemeClr val="tx1"/>
                </a:solidFill>
              </a:rPr>
              <a:t>Dashboards</a:t>
            </a:r>
            <a:endParaRPr lang="en-US" sz="1400" dirty="0"/>
          </a:p>
        </p:txBody>
      </p:sp>
      <p:sp>
        <p:nvSpPr>
          <p:cNvPr id="17" name="tree-k2-l"/>
          <p:cNvSpPr/>
          <p:nvPr/>
        </p:nvSpPr>
        <p:spPr>
          <a:xfrm>
            <a:off x="6286500" y="3200400"/>
            <a:ext cx="0" cy="228600"/>
          </a:xfrm>
          <a:prstGeom prst="line">
            <a:avLst/>
          </a:prstGeom>
          <a:noFill/>
          <a:ln w="22225">
            <a:solidFill>
              <a:schemeClr val="accent2"/>
            </a:solidFill>
            <a:prstDash val="solid"/>
          </a:ln>
        </p:spPr>
      </p:sp>
      <p:sp>
        <p:nvSpPr>
          <p:cNvPr id="18" name="tree-k2"/>
          <p:cNvSpPr/>
          <p:nvPr/>
        </p:nvSpPr>
        <p:spPr>
          <a:xfrm>
            <a:off x="5257800" y="3429000"/>
            <a:ext cx="2057400" cy="640080"/>
          </a:xfrm>
          <a:prstGeom prst="roundRect">
            <a:avLst>
              <a:gd name="adj" fmla="val 17143"/>
            </a:avLst>
          </a:prstGeom>
          <a:solidFill>
            <a:schemeClr val="accent1"/>
          </a:solidFill>
          <a:ln/>
        </p:spPr>
      </p:sp>
      <p:sp>
        <p:nvSpPr>
          <p:cNvPr id="19" name="tree-k2-text"/>
          <p:cNvSpPr txBox="1"/>
          <p:nvPr/>
        </p:nvSpPr>
        <p:spPr>
          <a:xfrm>
            <a:off x="5257800" y="3429000"/>
            <a:ext cx="2057400" cy="640080"/>
          </a:xfrm>
          <a:prstGeom prst="rect">
            <a:avLst/>
          </a:prstGeom>
          <a:noFill/>
          <a:ln/>
        </p:spPr>
        <p:txBody>
          <a:bodyPr wrap="square" lIns="0" tIns="0" rIns="0" bIns="0" rtlCol="0" anchor="ctr"/>
          <a:lstStyle/>
          <a:p>
            <a:pPr algn="ctr" indent="0" marL="0">
              <a:buNone/>
            </a:pPr>
            <a:r>
              <a:rPr lang="en-US" sz="2000" b="1" dirty="0">
                <a:solidFill>
                  <a:schemeClr val="bg1"/>
                </a:solidFill>
              </a:rPr>
              <a:t>ERM</a:t>
            </a:r>
            <a:endParaRPr lang="en-US" sz="2000" dirty="0"/>
          </a:p>
        </p:txBody>
      </p:sp>
      <p:sp>
        <p:nvSpPr>
          <p:cNvPr id="20" name="tree-l2"/>
          <p:cNvSpPr/>
          <p:nvPr/>
        </p:nvSpPr>
        <p:spPr>
          <a:xfrm>
            <a:off x="6286500" y="4069080"/>
            <a:ext cx="0" cy="411480"/>
          </a:xfrm>
          <a:prstGeom prst="line">
            <a:avLst/>
          </a:prstGeom>
          <a:noFill/>
          <a:ln w="22225">
            <a:solidFill>
              <a:schemeClr val="accent2"/>
            </a:solidFill>
            <a:prstDash val="solid"/>
          </a:ln>
        </p:spPr>
      </p:sp>
      <p:sp>
        <p:nvSpPr>
          <p:cNvPr id="21" name="tree-fed"/>
          <p:cNvSpPr txBox="1"/>
          <p:nvPr/>
        </p:nvSpPr>
        <p:spPr>
          <a:xfrm>
            <a:off x="6377940" y="4142232"/>
            <a:ext cx="1097280" cy="274320"/>
          </a:xfrm>
          <a:prstGeom prst="rect">
            <a:avLst/>
          </a:prstGeom>
          <a:noFill/>
          <a:ln/>
        </p:spPr>
        <p:txBody>
          <a:bodyPr wrap="square" lIns="0" tIns="0" rIns="0" bIns="0" rtlCol="0" anchor="t"/>
          <a:lstStyle/>
          <a:p>
            <a:pPr indent="0" marL="0">
              <a:buNone/>
            </a:pPr>
            <a:r>
              <a:rPr lang="en-US" sz="1100" i="1" dirty="0">
                <a:solidFill>
                  <a:schemeClr val="tx2"/>
                </a:solidFill>
              </a:rPr>
              <a:t>fed by</a:t>
            </a:r>
            <a:endParaRPr lang="en-US" sz="1100" dirty="0"/>
          </a:p>
        </p:txBody>
      </p:sp>
      <p:sp>
        <p:nvSpPr>
          <p:cNvPr id="22" name="tree-arm"/>
          <p:cNvSpPr/>
          <p:nvPr/>
        </p:nvSpPr>
        <p:spPr>
          <a:xfrm>
            <a:off x="5257800" y="4480560"/>
            <a:ext cx="2057400" cy="594360"/>
          </a:xfrm>
          <a:prstGeom prst="roundRect">
            <a:avLst>
              <a:gd name="adj" fmla="val 18462"/>
            </a:avLst>
          </a:prstGeom>
          <a:solidFill>
            <a:schemeClr val="bg1"/>
          </a:solidFill>
          <a:ln w="12700">
            <a:solidFill>
              <a:schemeClr val="accent5"/>
            </a:solidFill>
            <a:prstDash val="solid"/>
          </a:ln>
        </p:spPr>
      </p:sp>
      <p:sp>
        <p:nvSpPr>
          <p:cNvPr id="23" name="tree-arm-text"/>
          <p:cNvSpPr txBox="1"/>
          <p:nvPr/>
        </p:nvSpPr>
        <p:spPr>
          <a:xfrm>
            <a:off x="5257800" y="4480560"/>
            <a:ext cx="2057400" cy="594360"/>
          </a:xfrm>
          <a:prstGeom prst="rect">
            <a:avLst/>
          </a:prstGeom>
          <a:noFill/>
          <a:ln/>
        </p:spPr>
        <p:txBody>
          <a:bodyPr wrap="square" lIns="0" tIns="0" rIns="0" bIns="0" rtlCol="0" anchor="ctr"/>
          <a:lstStyle/>
          <a:p>
            <a:pPr algn="ctr" indent="0" marL="0">
              <a:buNone/>
            </a:pPr>
            <a:r>
              <a:rPr lang="en-US" sz="1500" b="1" dirty="0">
                <a:solidFill>
                  <a:schemeClr val="tx1"/>
                </a:solidFill>
              </a:rPr>
              <a:t>ARM </a:t>
            </a:r>
            <a:pPr algn="ctr" indent="0" marL="0">
              <a:buNone/>
            </a:pPr>
            <a:r>
              <a:rPr lang="en-US" sz="1100" dirty="0">
                <a:solidFill>
                  <a:schemeClr val="tx2"/>
                </a:solidFill>
              </a:rPr>
              <a:t>(Riskonnect)</a:t>
            </a:r>
            <a:endParaRPr lang="en-US" sz="1500" dirty="0"/>
          </a:p>
        </p:txBody>
      </p:sp>
      <p:sp>
        <p:nvSpPr>
          <p:cNvPr id="24" name="tree-l3"/>
          <p:cNvSpPr/>
          <p:nvPr/>
        </p:nvSpPr>
        <p:spPr>
          <a:xfrm>
            <a:off x="6286500" y="5074920"/>
            <a:ext cx="0" cy="365760"/>
          </a:xfrm>
          <a:prstGeom prst="line">
            <a:avLst/>
          </a:prstGeom>
          <a:noFill/>
          <a:ln w="22225">
            <a:solidFill>
              <a:schemeClr val="accent2"/>
            </a:solidFill>
            <a:prstDash val="solid"/>
          </a:ln>
        </p:spPr>
      </p:sp>
      <p:sp>
        <p:nvSpPr>
          <p:cNvPr id="25" name="tree-on"/>
          <p:cNvSpPr txBox="1"/>
          <p:nvPr/>
        </p:nvSpPr>
        <p:spPr>
          <a:xfrm>
            <a:off x="6377940" y="5120640"/>
            <a:ext cx="1097280" cy="274320"/>
          </a:xfrm>
          <a:prstGeom prst="rect">
            <a:avLst/>
          </a:prstGeom>
          <a:noFill/>
          <a:ln/>
        </p:spPr>
        <p:txBody>
          <a:bodyPr wrap="square" lIns="0" tIns="0" rIns="0" bIns="0" rtlCol="0" anchor="t"/>
          <a:lstStyle/>
          <a:p>
            <a:pPr indent="0" marL="0">
              <a:buNone/>
            </a:pPr>
            <a:r>
              <a:rPr lang="en-US" sz="1100" i="1" dirty="0">
                <a:solidFill>
                  <a:schemeClr val="tx2"/>
                </a:solidFill>
              </a:rPr>
              <a:t>built on</a:t>
            </a:r>
            <a:endParaRPr lang="en-US" sz="1100" dirty="0"/>
          </a:p>
        </p:txBody>
      </p:sp>
      <p:sp>
        <p:nvSpPr>
          <p:cNvPr id="26" name="tree-sky"/>
          <p:cNvSpPr/>
          <p:nvPr/>
        </p:nvSpPr>
        <p:spPr>
          <a:xfrm>
            <a:off x="4343400" y="5440680"/>
            <a:ext cx="2971800" cy="868680"/>
          </a:xfrm>
          <a:prstGeom prst="roundRect">
            <a:avLst>
              <a:gd name="adj" fmla="val 12632"/>
            </a:avLst>
          </a:prstGeom>
          <a:solidFill>
            <a:schemeClr val="bg2"/>
          </a:solidFill>
          <a:ln w="15875">
            <a:solidFill>
              <a:schemeClr val="accent2"/>
            </a:solidFill>
            <a:prstDash val="solid"/>
          </a:ln>
        </p:spPr>
      </p:sp>
      <p:sp>
        <p:nvSpPr>
          <p:cNvPr id="27" name="tree-sky-text"/>
          <p:cNvSpPr txBox="1"/>
          <p:nvPr/>
        </p:nvSpPr>
        <p:spPr>
          <a:xfrm>
            <a:off x="4343400" y="5440680"/>
            <a:ext cx="2971800" cy="868680"/>
          </a:xfrm>
          <a:prstGeom prst="rect">
            <a:avLst/>
          </a:prstGeom>
          <a:noFill/>
          <a:ln/>
        </p:spPr>
        <p:txBody>
          <a:bodyPr wrap="square" lIns="0" tIns="0" rIns="0" bIns="0" rtlCol="0" anchor="ctr"/>
          <a:lstStyle/>
          <a:p>
            <a:pPr algn="ctr" indent="0" marL="0">
              <a:buNone/>
            </a:pPr>
            <a:r>
              <a:rPr lang="en-US" sz="1500" b="1" dirty="0">
                <a:solidFill>
                  <a:schemeClr val="tx1"/>
                </a:solidFill>
              </a:rPr>
              <a:t>Skywise Platform</a:t>
            </a:r>
            <a:endParaRPr lang="en-US" sz="1500" dirty="0"/>
          </a:p>
          <a:p>
            <a:pPr algn="ctr" indent="0" marL="0">
              <a:buNone/>
            </a:pPr>
            <a:r>
              <a:rPr lang="en-US" sz="1200" dirty="0">
                <a:solidFill>
                  <a:schemeClr val="accent2"/>
                </a:solidFill>
              </a:rPr>
              <a:t>Analytics &amp; Reporting</a:t>
            </a:r>
            <a:endParaRPr lang="en-US" sz="1500" dirty="0"/>
          </a:p>
        </p:txBody>
      </p:sp>
      <p:sp>
        <p:nvSpPr>
          <p:cNvPr id="28" name="does-card"/>
          <p:cNvSpPr/>
          <p:nvPr/>
        </p:nvSpPr>
        <p:spPr>
          <a:xfrm>
            <a:off x="7680960" y="1508760"/>
            <a:ext cx="3962095" cy="4800600"/>
          </a:xfrm>
          <a:prstGeom prst="roundRect">
            <a:avLst>
              <a:gd name="adj" fmla="val 2769"/>
            </a:avLst>
          </a:prstGeom>
          <a:solidFill>
            <a:schemeClr val="tx1"/>
          </a:solidFill>
          <a:ln/>
        </p:spPr>
      </p:sp>
      <p:sp>
        <p:nvSpPr>
          <p:cNvPr id="29" name="does-title"/>
          <p:cNvSpPr txBox="1"/>
          <p:nvPr/>
        </p:nvSpPr>
        <p:spPr>
          <a:xfrm>
            <a:off x="7955280" y="1737360"/>
            <a:ext cx="3413455"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WHAT ERM DOES</a:t>
            </a:r>
            <a:endParaRPr lang="en-US" sz="1100" dirty="0"/>
          </a:p>
        </p:txBody>
      </p:sp>
      <p:sp>
        <p:nvSpPr>
          <p:cNvPr id="30" name="does-list"/>
          <p:cNvSpPr txBox="1"/>
          <p:nvPr/>
        </p:nvSpPr>
        <p:spPr>
          <a:xfrm>
            <a:off x="7955280" y="2148840"/>
            <a:ext cx="3413455" cy="3977640"/>
          </a:xfrm>
          <a:prstGeom prst="rect">
            <a:avLst/>
          </a:prstGeom>
          <a:noFill/>
          <a:ln/>
        </p:spPr>
        <p:txBody>
          <a:bodyPr wrap="square" lIns="0" tIns="0" rIns="0" bIns="0" rtlCol="0" anchor="t"/>
          <a:lstStyle/>
          <a:p>
            <a:pPr indent="0" marL="0">
              <a:buNone/>
            </a:pPr>
            <a:r>
              <a:rPr lang="en-US" sz="1700" b="1" dirty="0">
                <a:solidFill>
                  <a:schemeClr val="bg1"/>
                </a:solidFill>
              </a:rPr>
              <a:t>One place for risks and opportunities</a:t>
            </a:r>
            <a:endParaRPr lang="en-US" sz="1700" dirty="0"/>
          </a:p>
          <a:p>
            <a:pPr indent="0" marL="0">
              <a:spcAft>
                <a:spcPts val="2600"/>
              </a:spcAft>
              <a:buNone/>
            </a:pPr>
            <a:r>
              <a:rPr lang="en-US" sz="1400" dirty="0">
                <a:solidFill>
                  <a:schemeClr val="accent5"/>
                </a:solidFill>
              </a:rPr>
              <a:t>Brings ARM data into dashboards for every area</a:t>
            </a:r>
            <a:endParaRPr lang="en-US" sz="1700" dirty="0"/>
          </a:p>
          <a:p>
            <a:pPr indent="0" marL="0">
              <a:buNone/>
            </a:pPr>
            <a:r>
              <a:rPr lang="en-US" sz="1700" b="1" dirty="0">
                <a:solidFill>
                  <a:schemeClr val="bg1"/>
                </a:solidFill>
              </a:rPr>
              <a:t>Ready for every review</a:t>
            </a:r>
            <a:endParaRPr lang="en-US" sz="1700" dirty="0"/>
          </a:p>
          <a:p>
            <a:pPr indent="0" marL="0">
              <a:spcAft>
                <a:spcPts val="2600"/>
              </a:spcAft>
              <a:buNone/>
            </a:pPr>
            <a:r>
              <a:rPr lang="en-US" sz="1400" dirty="0">
                <a:solidFill>
                  <a:schemeClr val="accent5"/>
                </a:solidFill>
              </a:rPr>
              <a:t>Heat maps, one-pagers, reports and action trackers</a:t>
            </a:r>
            <a:endParaRPr lang="en-US" sz="1700" dirty="0"/>
          </a:p>
          <a:p>
            <a:pPr indent="0" marL="0">
              <a:buNone/>
            </a:pPr>
            <a:r>
              <a:rPr lang="en-US" sz="1700" b="1" dirty="0">
                <a:solidFill>
                  <a:schemeClr val="bg1"/>
                </a:solidFill>
              </a:rPr>
              <a:t>A governed picture</a:t>
            </a:r>
            <a:endParaRPr lang="en-US" sz="1700" dirty="0"/>
          </a:p>
          <a:p>
            <a:pPr indent="0" marL="0">
              <a:spcAft>
                <a:spcPts val="2600"/>
              </a:spcAft>
              <a:buNone/>
            </a:pPr>
            <a:r>
              <a:rPr lang="en-US" sz="1400" dirty="0">
                <a:solidFill>
                  <a:schemeClr val="accent5"/>
                </a:solidFill>
              </a:rPr>
              <a:t>Dashboards are validated and released every quarter</a:t>
            </a:r>
            <a:endParaRPr lang="en-US" sz="1700" dirty="0"/>
          </a:p>
          <a:p>
            <a:pPr indent="0" marL="0">
              <a:buNone/>
            </a:pPr>
            <a:r>
              <a:rPr lang="en-US" sz="1700" b="1" dirty="0">
                <a:solidFill>
                  <a:schemeClr val="bg1"/>
                </a:solidFill>
              </a:rPr>
              <a:t>Shared across Airbus</a:t>
            </a:r>
            <a:endParaRPr lang="en-US" sz="1700" dirty="0"/>
          </a:p>
          <a:p>
            <a:pPr indent="0" marL="0">
              <a:spcAft>
                <a:spcPts val="2600"/>
              </a:spcAft>
              <a:buNone/>
            </a:pPr>
            <a:r>
              <a:rPr lang="en-US" sz="1400" dirty="0">
                <a:solidFill>
                  <a:schemeClr val="accent5"/>
                </a:solidFill>
              </a:rPr>
              <a:t>Used by many functions, across many sites</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9"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10" presetClass="entr" presetSubtype="0" fill="hold" grpId="0" nodeType="withEffect">
                                  <p:stCondLst>
                                    <p:cond delay="1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1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53" fill="hold">
                            <p:stCondLst>
                              <p:cond delay="700"/>
                            </p:stCondLst>
                            <p:childTnLst>
                              <p:par>
                                <p:cTn id="20" presetID="22" presetClass="entr" presetSubtype="8"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450"/>
                                        <p:tgtEl>
                                          <p:spTgt spid="10"/>
                                        </p:tgtEl>
                                      </p:cBhvr>
                                    </p:animEffect>
                                  </p:childTnLst>
                                </p:cTn>
                              </p:par>
                              <p:par>
                                <p:cTn id="26" presetID="22" presetClass="entr" presetSubtype="8" fill="hold" grpId="0" nodeType="withEffect">
                                  <p:stCondLst>
                                    <p:cond delay="10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450"/>
                                        <p:tgtEl>
                                          <p:spTgt spid="11"/>
                                        </p:tgtEl>
                                      </p:cBhvr>
                                    </p:animEffect>
                                  </p:childTnLst>
                                </p:cTn>
                              </p:par>
                              <p:par>
                                <p:cTn id="29" presetID="22" presetClass="entr" presetSubtype="8" fill="hold" grpId="0" nodeType="withEffect">
                                  <p:stCondLst>
                                    <p:cond delay="10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22" presetClass="entr" presetSubtype="8" fill="hold" grpId="0" nodeType="withEffect">
                                  <p:stCondLst>
                                    <p:cond delay="10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450"/>
                                        <p:tgtEl>
                                          <p:spTgt spid="17"/>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50"/>
                                        <p:tgtEl>
                                          <p:spTgt spid="11"/>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450"/>
                                        <p:tgtEl>
                                          <p:spTgt spid="12"/>
                                        </p:tgtEl>
                                      </p:cBhvr>
                                    </p:animEffect>
                                  </p:childTnLst>
                                </p:cTn>
                              </p:par>
                              <p:par>
                                <p:cTn id="41" presetID="10" presetClass="entr" presetSubtype="0" fill="hold" grpId="0" nodeType="withEffect">
                                  <p:stCondLst>
                                    <p:cond delay="2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50"/>
                                        <p:tgtEl>
                                          <p:spTgt spid="13"/>
                                        </p:tgtEl>
                                      </p:cBhvr>
                                    </p:animEffect>
                                  </p:childTnLst>
                                </p:cTn>
                              </p:par>
                              <p:par>
                                <p:cTn id="44" presetID="10" presetClass="entr" presetSubtype="0" fill="hold" grpId="0" nodeType="withEffect">
                                  <p:stCondLst>
                                    <p:cond delay="2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450"/>
                                        <p:tgtEl>
                                          <p:spTgt spid="14"/>
                                        </p:tgtEl>
                                      </p:cBhvr>
                                    </p:animEffect>
                                  </p:childTnLst>
                                </p:cTn>
                              </p:par>
                              <p:par>
                                <p:cTn id="47" presetID="10" presetClass="entr" presetSubtype="0" fill="hold" grpId="0" nodeType="withEffect">
                                  <p:stCondLst>
                                    <p:cond delay="2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childTnLst>
                                </p:cTn>
                              </p:par>
                              <p:par>
                                <p:cTn id="50" presetID="10" presetClass="entr" presetSubtype="0" fill="hold" grpId="0" nodeType="withEffect">
                                  <p:stCondLst>
                                    <p:cond delay="20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450"/>
                                        <p:tgtEl>
                                          <p:spTgt spid="16"/>
                                        </p:tgtEl>
                                      </p:cBhvr>
                                    </p:animEffect>
                                  </p:childTnLst>
                                </p:cTn>
                              </p:par>
                            </p:childTnLst>
                          </p:cTn>
                        </p:par>
                        <p:par>
                          <p:cTn id="60" fill="hold">
                            <p:stCondLst>
                              <p:cond delay="1050"/>
                            </p:stCondLst>
                            <p:childTnLst>
                              <p:par>
                                <p:cTn id="54" presetID="10" presetClass="entr" presetSubtype="0" fill="hold" grpId="0" nodeType="after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5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par>
                          <p:cTn id="73" fill="hold">
                            <p:stCondLst>
                              <p:cond delay="1400"/>
                            </p:stCondLst>
                            <p:childTnLst>
                              <p:par>
                                <p:cTn id="61" presetID="22" presetClass="entr" presetSubtype="8" fill="hold" grpId="0" nodeType="after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45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450"/>
                                        <p:tgtEl>
                                          <p:spTgt spid="21"/>
                                        </p:tgtEl>
                                      </p:cBhvr>
                                    </p:animEffect>
                                  </p:childTnLst>
                                </p:cTn>
                              </p:par>
                              <p:par>
                                <p:cTn id="67" presetID="10" presetClass="entr" presetSubtype="0" fill="hold" grpId="0" nodeType="withEffect">
                                  <p:stCondLst>
                                    <p:cond delay="15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450"/>
                                        <p:tgtEl>
                                          <p:spTgt spid="22"/>
                                        </p:tgtEl>
                                      </p:cBhvr>
                                    </p:animEffect>
                                  </p:childTnLst>
                                </p:cTn>
                              </p:par>
                              <p:par>
                                <p:cTn id="70" presetID="10" presetClass="entr" presetSubtype="0" fill="hold" grpId="0" nodeType="withEffect">
                                  <p:stCondLst>
                                    <p:cond delay="15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450"/>
                                        <p:tgtEl>
                                          <p:spTgt spid="23"/>
                                        </p:tgtEl>
                                      </p:cBhvr>
                                    </p:animEffect>
                                  </p:childTnLst>
                                </p:cTn>
                              </p:par>
                            </p:childTnLst>
                          </p:cTn>
                        </p:par>
                        <p:par>
                          <p:cTn id="86" fill="hold">
                            <p:stCondLst>
                              <p:cond delay="1750"/>
                            </p:stCondLst>
                            <p:childTnLst>
                              <p:par>
                                <p:cTn id="74" presetID="22" presetClass="entr" presetSubtype="8" fill="hold" grpId="0" nodeType="after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6" dur="450"/>
                                        <p:tgtEl>
                                          <p:spTgt spid="2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450"/>
                                        <p:tgtEl>
                                          <p:spTgt spid="25"/>
                                        </p:tgtEl>
                                      </p:cBhvr>
                                    </p:animEffect>
                                  </p:childTnLst>
                                </p:cTn>
                              </p:par>
                              <p:par>
                                <p:cTn id="80" presetID="10" presetClass="entr" presetSubtype="0" fill="hold" grpId="0" nodeType="withEffect">
                                  <p:stCondLst>
                                    <p:cond delay="15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50"/>
                                        <p:tgtEl>
                                          <p:spTgt spid="26"/>
                                        </p:tgtEl>
                                      </p:cBhvr>
                                    </p:animEffect>
                                  </p:childTnLst>
                                </p:cTn>
                              </p:par>
                              <p:par>
                                <p:cTn id="83" presetID="10" presetClass="entr" presetSubtype="0" fill="hold" grpId="0" nodeType="withEffect">
                                  <p:stCondLst>
                                    <p:cond delay="15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50"/>
                                        <p:tgtEl>
                                          <p:spTgt spid="27"/>
                                        </p:tgtEl>
                                      </p:cBhvr>
                                    </p:animEffect>
                                  </p:childTnLst>
                                </p:cTn>
                              </p:par>
                            </p:childTnLst>
                          </p:cTn>
                        </p:par>
                        <p:par>
                          <p:cTn id="96" fill="hold">
                            <p:stCondLst>
                              <p:cond delay="2100"/>
                            </p:stCondLst>
                            <p:childTnLst>
                              <p:par>
                                <p:cTn id="87" presetID="10" presetClass="entr" presetSubtype="0" fill="hold" grpId="0" nodeType="after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450"/>
                                        <p:tgtEl>
                                          <p:spTgt spid="2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45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4" grpId="0" animBg="1"/>
      <p:bldP spid="17"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JOURNEY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business tool to industrial product</a:t>
            </a:r>
            <a:endParaRPr lang="en-US" sz="3600" dirty="0"/>
          </a:p>
        </p:txBody>
      </p:sp>
      <p:sp>
        <p:nvSpPr>
          <p:cNvPr id="4" name="story-0-card"/>
          <p:cNvSpPr/>
          <p:nvPr/>
        </p:nvSpPr>
        <p:spPr>
          <a:xfrm>
            <a:off x="548640" y="1463040"/>
            <a:ext cx="2464994" cy="1371600"/>
          </a:xfrm>
          <a:prstGeom prst="roundRect">
            <a:avLst>
              <a:gd name="adj" fmla="val 8000"/>
            </a:avLst>
          </a:prstGeom>
          <a:solidFill>
            <a:schemeClr val="bg1"/>
          </a:solidFill>
          <a:ln/>
        </p:spPr>
      </p:sp>
      <p:sp>
        <p:nvSpPr>
          <p:cNvPr id="5" name="story-0-text"/>
          <p:cNvSpPr txBox="1"/>
          <p:nvPr/>
        </p:nvSpPr>
        <p:spPr>
          <a:xfrm>
            <a:off x="749808"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Built by Operations</a:t>
            </a:r>
            <a:endParaRPr lang="en-US" sz="1600" dirty="0"/>
          </a:p>
          <a:p>
            <a:pPr indent="0" marL="0">
              <a:buNone/>
            </a:pPr>
            <a:r>
              <a:rPr lang="en-US" sz="1300" dirty="0">
                <a:solidFill>
                  <a:schemeClr val="tx2"/>
                </a:solidFill>
              </a:rPr>
              <a:t>Started as a Business Owned Tool (BOT) in Slate</a:t>
            </a:r>
            <a:endParaRPr lang="en-US" sz="1600" dirty="0"/>
          </a:p>
        </p:txBody>
      </p:sp>
      <p:sp>
        <p:nvSpPr>
          <p:cNvPr id="6" name="story-0-arrow"/>
          <p:cNvSpPr/>
          <p:nvPr/>
        </p:nvSpPr>
        <p:spPr>
          <a:xfrm>
            <a:off x="3077642" y="2148840"/>
            <a:ext cx="283464" cy="0"/>
          </a:xfrm>
          <a:prstGeom prst="line">
            <a:avLst/>
          </a:prstGeom>
          <a:noFill/>
          <a:ln w="19050">
            <a:solidFill>
              <a:schemeClr val="tx2"/>
            </a:solidFill>
            <a:prstDash val="solid"/>
            <a:tailEnd type="triangle"/>
          </a:ln>
        </p:spPr>
      </p:sp>
      <p:sp>
        <p:nvSpPr>
          <p:cNvPr id="7" name="story-1-card"/>
          <p:cNvSpPr/>
          <p:nvPr/>
        </p:nvSpPr>
        <p:spPr>
          <a:xfrm>
            <a:off x="3425114" y="1463040"/>
            <a:ext cx="2464994" cy="1371600"/>
          </a:xfrm>
          <a:prstGeom prst="roundRect">
            <a:avLst>
              <a:gd name="adj" fmla="val 8000"/>
            </a:avLst>
          </a:prstGeom>
          <a:solidFill>
            <a:schemeClr val="bg1"/>
          </a:solidFill>
          <a:ln/>
        </p:spPr>
      </p:sp>
      <p:sp>
        <p:nvSpPr>
          <p:cNvPr id="8" name="story-1-text"/>
          <p:cNvSpPr txBox="1"/>
          <p:nvPr/>
        </p:nvSpPr>
        <p:spPr>
          <a:xfrm>
            <a:off x="3626282"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Adopted by other functions</a:t>
            </a:r>
            <a:endParaRPr lang="en-US" sz="1600" dirty="0"/>
          </a:p>
          <a:p>
            <a:pPr indent="0" marL="0">
              <a:buNone/>
            </a:pPr>
            <a:r>
              <a:rPr lang="en-US" sz="1300" dirty="0">
                <a:solidFill>
                  <a:schemeClr val="tx2"/>
                </a:solidFill>
              </a:rPr>
              <a:t>It grew fast, because people needed it</a:t>
            </a:r>
            <a:endParaRPr lang="en-US" sz="1600" dirty="0"/>
          </a:p>
        </p:txBody>
      </p:sp>
      <p:sp>
        <p:nvSpPr>
          <p:cNvPr id="9" name="story-1-arrow"/>
          <p:cNvSpPr/>
          <p:nvPr/>
        </p:nvSpPr>
        <p:spPr>
          <a:xfrm>
            <a:off x="5954116" y="2148840"/>
            <a:ext cx="283464" cy="0"/>
          </a:xfrm>
          <a:prstGeom prst="line">
            <a:avLst/>
          </a:prstGeom>
          <a:noFill/>
          <a:ln w="19050">
            <a:solidFill>
              <a:schemeClr val="tx2"/>
            </a:solidFill>
            <a:prstDash val="solid"/>
            <a:tailEnd type="triangle"/>
          </a:ln>
        </p:spPr>
      </p:sp>
      <p:sp>
        <p:nvSpPr>
          <p:cNvPr id="10" name="story-2-card"/>
          <p:cNvSpPr/>
          <p:nvPr/>
        </p:nvSpPr>
        <p:spPr>
          <a:xfrm>
            <a:off x="6301588" y="1463040"/>
            <a:ext cx="2464994" cy="1371600"/>
          </a:xfrm>
          <a:prstGeom prst="roundRect">
            <a:avLst>
              <a:gd name="adj" fmla="val 8000"/>
            </a:avLst>
          </a:prstGeom>
          <a:solidFill>
            <a:schemeClr val="bg1"/>
          </a:solidFill>
          <a:ln/>
        </p:spPr>
      </p:sp>
      <p:sp>
        <p:nvSpPr>
          <p:cNvPr id="11" name="story-2-text"/>
          <p:cNvSpPr txBox="1"/>
          <p:nvPr/>
        </p:nvSpPr>
        <p:spPr>
          <a:xfrm>
            <a:off x="6502756"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Owned by FZR</a:t>
            </a:r>
            <a:endParaRPr lang="en-US" sz="1600" dirty="0"/>
          </a:p>
          <a:p>
            <a:pPr indent="0" marL="0">
              <a:buNone/>
            </a:pPr>
            <a:r>
              <a:rPr lang="en-US" sz="1300" dirty="0">
                <a:solidFill>
                  <a:schemeClr val="tx2"/>
                </a:solidFill>
              </a:rPr>
              <a:t>FZR is the business owner today</a:t>
            </a:r>
            <a:endParaRPr lang="en-US" sz="1600" dirty="0"/>
          </a:p>
        </p:txBody>
      </p:sp>
      <p:sp>
        <p:nvSpPr>
          <p:cNvPr id="12" name="story-2-arrow"/>
          <p:cNvSpPr/>
          <p:nvPr/>
        </p:nvSpPr>
        <p:spPr>
          <a:xfrm>
            <a:off x="8830589" y="2148840"/>
            <a:ext cx="283464" cy="0"/>
          </a:xfrm>
          <a:prstGeom prst="line">
            <a:avLst/>
          </a:prstGeom>
          <a:noFill/>
          <a:ln w="19050">
            <a:solidFill>
              <a:schemeClr val="tx2"/>
            </a:solidFill>
            <a:prstDash val="solid"/>
            <a:tailEnd type="triangle"/>
          </a:ln>
        </p:spPr>
      </p:sp>
      <p:sp>
        <p:nvSpPr>
          <p:cNvPr id="13" name="story-3-card"/>
          <p:cNvSpPr/>
          <p:nvPr/>
        </p:nvSpPr>
        <p:spPr>
          <a:xfrm>
            <a:off x="9178061" y="1463040"/>
            <a:ext cx="2464994" cy="1371600"/>
          </a:xfrm>
          <a:prstGeom prst="roundRect">
            <a:avLst>
              <a:gd name="adj" fmla="val 8000"/>
            </a:avLst>
          </a:prstGeom>
          <a:solidFill>
            <a:schemeClr val="tx1"/>
          </a:solidFill>
          <a:ln/>
        </p:spPr>
      </p:sp>
      <p:sp>
        <p:nvSpPr>
          <p:cNvPr id="14" name="story-3-text"/>
          <p:cNvSpPr txBox="1"/>
          <p:nvPr/>
        </p:nvSpPr>
        <p:spPr>
          <a:xfrm>
            <a:off x="9379229" y="1554480"/>
            <a:ext cx="2062658" cy="1188720"/>
          </a:xfrm>
          <a:prstGeom prst="rect">
            <a:avLst/>
          </a:prstGeom>
          <a:noFill/>
          <a:ln/>
        </p:spPr>
        <p:txBody>
          <a:bodyPr wrap="square" lIns="0" tIns="0" rIns="0" bIns="0" rtlCol="0" anchor="ctr"/>
          <a:lstStyle/>
          <a:p>
            <a:pPr indent="0" marL="0">
              <a:buNone/>
            </a:pPr>
            <a:r>
              <a:rPr lang="en-US" sz="1600" b="1" dirty="0">
                <a:solidFill>
                  <a:schemeClr val="bg1"/>
                </a:solidFill>
              </a:rPr>
              <a:t>Industrialised and migrated</a:t>
            </a:r>
            <a:endParaRPr lang="en-US" sz="1600" dirty="0"/>
          </a:p>
          <a:p>
            <a:pPr indent="0" marL="0">
              <a:buNone/>
            </a:pPr>
            <a:r>
              <a:rPr lang="en-US" sz="1300" dirty="0">
                <a:solidFill>
                  <a:schemeClr val="accent5"/>
                </a:solidFill>
              </a:rPr>
              <a:t>We made it robust, then rebuilt it as ERM 2.0</a:t>
            </a:r>
            <a:endParaRPr lang="en-US" sz="1600" dirty="0"/>
          </a:p>
        </p:txBody>
      </p:sp>
      <p:sp>
        <p:nvSpPr>
          <p:cNvPr id="15" name="model-card"/>
          <p:cNvSpPr/>
          <p:nvPr/>
        </p:nvSpPr>
        <p:spPr>
          <a:xfrm>
            <a:off x="548640" y="3154680"/>
            <a:ext cx="4206240" cy="2880360"/>
          </a:xfrm>
          <a:prstGeom prst="roundRect">
            <a:avLst>
              <a:gd name="adj" fmla="val 3810"/>
            </a:avLst>
          </a:prstGeom>
          <a:solidFill>
            <a:schemeClr val="bg1"/>
          </a:solidFill>
          <a:ln/>
        </p:spPr>
      </p:sp>
      <p:sp>
        <p:nvSpPr>
          <p:cNvPr id="16" name="model-title"/>
          <p:cNvSpPr txBox="1"/>
          <p:nvPr/>
        </p:nvSpPr>
        <p:spPr>
          <a:xfrm>
            <a:off x="777240" y="3319272"/>
            <a:ext cx="3749040" cy="256032"/>
          </a:xfrm>
          <a:prstGeom prst="rect">
            <a:avLst/>
          </a:prstGeom>
          <a:noFill/>
          <a:ln/>
        </p:spPr>
        <p:txBody>
          <a:bodyPr wrap="square" lIns="0" tIns="0" rIns="0" bIns="0" rtlCol="0" anchor="t"/>
          <a:lstStyle/>
          <a:p>
            <a:pPr indent="0" marL="0">
              <a:buNone/>
            </a:pPr>
            <a:r>
              <a:rPr lang="en-US" sz="1100" b="1" spc="100" kern="0" dirty="0">
                <a:solidFill>
                  <a:schemeClr val="tx2"/>
                </a:solidFill>
              </a:rPr>
              <a:t>THE MODEL SHIFT</a:t>
            </a:r>
            <a:endParaRPr lang="en-US" sz="1100" dirty="0"/>
          </a:p>
        </p:txBody>
      </p:sp>
      <p:sp>
        <p:nvSpPr>
          <p:cNvPr id="17" name="model-pill-0"/>
          <p:cNvSpPr/>
          <p:nvPr/>
        </p:nvSpPr>
        <p:spPr>
          <a:xfrm>
            <a:off x="1463040" y="3703320"/>
            <a:ext cx="1143000" cy="384048"/>
          </a:xfrm>
          <a:prstGeom prst="roundRect">
            <a:avLst>
              <a:gd name="adj" fmla="val 50000"/>
            </a:avLst>
          </a:prstGeom>
          <a:solidFill>
            <a:schemeClr val="bg2"/>
          </a:solidFill>
          <a:ln/>
        </p:spPr>
      </p:sp>
      <p:sp>
        <p:nvSpPr>
          <p:cNvPr id="18" name="model-pill-0-text"/>
          <p:cNvSpPr txBox="1"/>
          <p:nvPr/>
        </p:nvSpPr>
        <p:spPr>
          <a:xfrm>
            <a:off x="146304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Operations</a:t>
            </a:r>
            <a:endParaRPr lang="en-US" sz="1200" dirty="0"/>
          </a:p>
        </p:txBody>
      </p:sp>
      <p:sp>
        <p:nvSpPr>
          <p:cNvPr id="19" name="model-pill-1"/>
          <p:cNvSpPr/>
          <p:nvPr/>
        </p:nvSpPr>
        <p:spPr>
          <a:xfrm>
            <a:off x="2743200" y="3703320"/>
            <a:ext cx="1143000" cy="384048"/>
          </a:xfrm>
          <a:prstGeom prst="roundRect">
            <a:avLst>
              <a:gd name="adj" fmla="val 50000"/>
            </a:avLst>
          </a:prstGeom>
          <a:solidFill>
            <a:schemeClr val="bg2"/>
          </a:solidFill>
          <a:ln/>
        </p:spPr>
      </p:sp>
      <p:sp>
        <p:nvSpPr>
          <p:cNvPr id="20" name="model-pill-1-text"/>
          <p:cNvSpPr txBox="1"/>
          <p:nvPr/>
        </p:nvSpPr>
        <p:spPr>
          <a:xfrm>
            <a:off x="274320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FZR</a:t>
            </a:r>
            <a:endParaRPr lang="en-US" sz="1200" dirty="0"/>
          </a:p>
        </p:txBody>
      </p:sp>
      <p:sp>
        <p:nvSpPr>
          <p:cNvPr id="21" name="model-a1"/>
          <p:cNvSpPr/>
          <p:nvPr/>
        </p:nvSpPr>
        <p:spPr>
          <a:xfrm>
            <a:off x="2651760" y="4133088"/>
            <a:ext cx="0" cy="274320"/>
          </a:xfrm>
          <a:prstGeom prst="line">
            <a:avLst/>
          </a:prstGeom>
          <a:noFill/>
          <a:ln w="19050">
            <a:solidFill>
              <a:schemeClr val="tx2"/>
            </a:solidFill>
            <a:prstDash val="solid"/>
            <a:tailEnd type="triangle"/>
          </a:ln>
        </p:spPr>
      </p:sp>
      <p:sp>
        <p:nvSpPr>
          <p:cNvPr id="22" name="model-bot"/>
          <p:cNvSpPr/>
          <p:nvPr/>
        </p:nvSpPr>
        <p:spPr>
          <a:xfrm>
            <a:off x="914400" y="4453128"/>
            <a:ext cx="3474720" cy="548640"/>
          </a:xfrm>
          <a:prstGeom prst="roundRect">
            <a:avLst>
              <a:gd name="adj" fmla="val 20000"/>
            </a:avLst>
          </a:prstGeom>
          <a:solidFill>
            <a:schemeClr val="accent2"/>
          </a:solidFill>
          <a:ln/>
        </p:spPr>
      </p:sp>
      <p:sp>
        <p:nvSpPr>
          <p:cNvPr id="23" name="model-bot-text"/>
          <p:cNvSpPr txBox="1"/>
          <p:nvPr/>
        </p:nvSpPr>
        <p:spPr>
          <a:xfrm>
            <a:off x="914400" y="44531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BOT model</a:t>
            </a:r>
            <a:endParaRPr lang="en-US" sz="1700" dirty="0"/>
          </a:p>
        </p:txBody>
      </p:sp>
      <p:sp>
        <p:nvSpPr>
          <p:cNvPr id="24" name="model-a2"/>
          <p:cNvSpPr/>
          <p:nvPr/>
        </p:nvSpPr>
        <p:spPr>
          <a:xfrm>
            <a:off x="2651760" y="5047488"/>
            <a:ext cx="0" cy="274320"/>
          </a:xfrm>
          <a:prstGeom prst="line">
            <a:avLst/>
          </a:prstGeom>
          <a:noFill/>
          <a:ln w="19050">
            <a:solidFill>
              <a:schemeClr val="tx2"/>
            </a:solidFill>
            <a:prstDash val="solid"/>
            <a:tailEnd type="triangle"/>
          </a:ln>
        </p:spPr>
      </p:sp>
      <p:sp>
        <p:nvSpPr>
          <p:cNvPr id="25" name="model-ind"/>
          <p:cNvSpPr/>
          <p:nvPr/>
        </p:nvSpPr>
        <p:spPr>
          <a:xfrm>
            <a:off x="914400" y="5367528"/>
            <a:ext cx="3474720" cy="548640"/>
          </a:xfrm>
          <a:prstGeom prst="roundRect">
            <a:avLst>
              <a:gd name="adj" fmla="val 20000"/>
            </a:avLst>
          </a:prstGeom>
          <a:solidFill>
            <a:srgbClr val="2E9E5B"/>
          </a:solidFill>
          <a:ln/>
        </p:spPr>
      </p:sp>
      <p:sp>
        <p:nvSpPr>
          <p:cNvPr id="26" name="model-ind-text"/>
          <p:cNvSpPr txBox="1"/>
          <p:nvPr/>
        </p:nvSpPr>
        <p:spPr>
          <a:xfrm>
            <a:off x="914400" y="53675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Industrialised state</a:t>
            </a:r>
            <a:endParaRPr lang="en-US" sz="1700" dirty="0"/>
          </a:p>
        </p:txBody>
      </p:sp>
      <p:sp>
        <p:nvSpPr>
          <p:cNvPr id="27" name="road-card"/>
          <p:cNvSpPr/>
          <p:nvPr/>
        </p:nvSpPr>
        <p:spPr>
          <a:xfrm>
            <a:off x="5029200" y="3154680"/>
            <a:ext cx="6613855" cy="2880360"/>
          </a:xfrm>
          <a:prstGeom prst="roundRect">
            <a:avLst>
              <a:gd name="adj" fmla="val 3810"/>
            </a:avLst>
          </a:prstGeom>
          <a:solidFill>
            <a:schemeClr val="bg1"/>
          </a:solidFill>
          <a:ln/>
        </p:spPr>
      </p:sp>
      <p:sp>
        <p:nvSpPr>
          <p:cNvPr id="28" name="road-title"/>
          <p:cNvSpPr txBox="1"/>
          <p:nvPr/>
        </p:nvSpPr>
        <p:spPr>
          <a:xfrm>
            <a:off x="5303520" y="3319272"/>
            <a:ext cx="6065215" cy="256032"/>
          </a:xfrm>
          <a:prstGeom prst="rect">
            <a:avLst/>
          </a:prstGeom>
          <a:noFill/>
          <a:ln/>
        </p:spPr>
        <p:txBody>
          <a:bodyPr wrap="square" lIns="0" tIns="0" rIns="0" bIns="0" rtlCol="0" anchor="t"/>
          <a:lstStyle/>
          <a:p>
            <a:pPr indent="0" marL="0">
              <a:buNone/>
            </a:pPr>
            <a:r>
              <a:rPr lang="en-US" sz="1100" b="1" spc="100" kern="0" dirty="0">
                <a:solidFill>
                  <a:schemeClr val="tx2"/>
                </a:solidFill>
              </a:rPr>
              <a:t>TRANSITION ROADMAP</a:t>
            </a:r>
            <a:endParaRPr lang="en-US" sz="1100" dirty="0"/>
          </a:p>
        </p:txBody>
      </p:sp>
      <p:sp>
        <p:nvSpPr>
          <p:cNvPr id="29" name="road-line"/>
          <p:cNvSpPr/>
          <p:nvPr/>
        </p:nvSpPr>
        <p:spPr>
          <a:xfrm>
            <a:off x="5486400" y="4251960"/>
            <a:ext cx="5699455" cy="0"/>
          </a:xfrm>
          <a:prstGeom prst="line">
            <a:avLst/>
          </a:prstGeom>
          <a:noFill/>
          <a:ln w="38100">
            <a:solidFill>
              <a:schemeClr val="accent5"/>
            </a:solidFill>
            <a:prstDash val="solid"/>
          </a:ln>
        </p:spPr>
      </p:sp>
      <p:sp>
        <p:nvSpPr>
          <p:cNvPr id="30" name="road-0-dot"/>
          <p:cNvSpPr/>
          <p:nvPr/>
        </p:nvSpPr>
        <p:spPr>
          <a:xfrm>
            <a:off x="6158941" y="4096512"/>
            <a:ext cx="310896" cy="310896"/>
          </a:xfrm>
          <a:prstGeom prst="ellipse">
            <a:avLst/>
          </a:prstGeom>
          <a:solidFill>
            <a:schemeClr val="accent2"/>
          </a:solidFill>
          <a:ln w="25400">
            <a:solidFill>
              <a:schemeClr val="bg1"/>
            </a:solidFill>
            <a:prstDash val="solid"/>
          </a:ln>
        </p:spPr>
      </p:sp>
      <p:sp>
        <p:nvSpPr>
          <p:cNvPr id="31" name="road-0-text"/>
          <p:cNvSpPr txBox="1"/>
          <p:nvPr/>
        </p:nvSpPr>
        <p:spPr>
          <a:xfrm>
            <a:off x="5394960"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2024</a:t>
            </a:r>
            <a:endParaRPr lang="en-US" sz="2200" dirty="0"/>
          </a:p>
          <a:p>
            <a:pPr algn="ctr" indent="0" marL="0">
              <a:buNone/>
            </a:pPr>
            <a:r>
              <a:rPr lang="en-US" sz="1400" b="1" dirty="0">
                <a:solidFill>
                  <a:schemeClr val="accent2"/>
                </a:solidFill>
              </a:rPr>
              <a:t>BOT industrialisation</a:t>
            </a:r>
            <a:endParaRPr lang="en-US" sz="2200" dirty="0"/>
          </a:p>
          <a:p>
            <a:pPr algn="ctr" indent="0" marL="0">
              <a:buNone/>
            </a:pPr>
            <a:r>
              <a:rPr lang="en-US" sz="1200" dirty="0">
                <a:solidFill>
                  <a:schemeClr val="tx2"/>
                </a:solidFill>
              </a:rPr>
              <a:t>We took it over, standardised and enhanced it</a:t>
            </a:r>
            <a:endParaRPr lang="en-US" sz="2200" dirty="0"/>
          </a:p>
        </p:txBody>
      </p:sp>
      <p:sp>
        <p:nvSpPr>
          <p:cNvPr id="32" name="road-1-dot"/>
          <p:cNvSpPr/>
          <p:nvPr/>
        </p:nvSpPr>
        <p:spPr>
          <a:xfrm>
            <a:off x="8180680" y="4096512"/>
            <a:ext cx="310896" cy="310896"/>
          </a:xfrm>
          <a:prstGeom prst="ellipse">
            <a:avLst/>
          </a:prstGeom>
          <a:solidFill>
            <a:schemeClr val="accent2"/>
          </a:solidFill>
          <a:ln w="25400">
            <a:solidFill>
              <a:schemeClr val="bg1"/>
            </a:solidFill>
            <a:prstDash val="solid"/>
          </a:ln>
        </p:spPr>
      </p:sp>
      <p:sp>
        <p:nvSpPr>
          <p:cNvPr id="33" name="road-1-text"/>
          <p:cNvSpPr txBox="1"/>
          <p:nvPr/>
        </p:nvSpPr>
        <p:spPr>
          <a:xfrm>
            <a:off x="7416698"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2025</a:t>
            </a:r>
            <a:endParaRPr lang="en-US" sz="2200" dirty="0"/>
          </a:p>
          <a:p>
            <a:pPr algn="ctr" indent="0" marL="0">
              <a:buNone/>
            </a:pPr>
            <a:r>
              <a:rPr lang="en-US" sz="1400" b="1" dirty="0">
                <a:solidFill>
                  <a:schemeClr val="accent2"/>
                </a:solidFill>
              </a:rPr>
              <a:t>Scale &amp; shift</a:t>
            </a:r>
            <a:endParaRPr lang="en-US" sz="2200" dirty="0"/>
          </a:p>
          <a:p>
            <a:pPr algn="ctr" indent="0" marL="0">
              <a:buNone/>
            </a:pPr>
            <a:r>
              <a:rPr lang="en-US" sz="1200" dirty="0">
                <a:solidFill>
                  <a:schemeClr val="tx2"/>
                </a:solidFill>
              </a:rPr>
              <a:t>More users and functions; Slate reaches its limits</a:t>
            </a:r>
            <a:endParaRPr lang="en-US" sz="2200" dirty="0"/>
          </a:p>
        </p:txBody>
      </p:sp>
      <p:sp>
        <p:nvSpPr>
          <p:cNvPr id="34" name="road-2-dot"/>
          <p:cNvSpPr/>
          <p:nvPr/>
        </p:nvSpPr>
        <p:spPr>
          <a:xfrm>
            <a:off x="10202418" y="4096512"/>
            <a:ext cx="310896" cy="310896"/>
          </a:xfrm>
          <a:prstGeom prst="ellipse">
            <a:avLst/>
          </a:prstGeom>
          <a:solidFill>
            <a:srgbClr val="2E9E5B"/>
          </a:solidFill>
          <a:ln w="25400">
            <a:solidFill>
              <a:schemeClr val="bg1"/>
            </a:solidFill>
            <a:prstDash val="solid"/>
          </a:ln>
        </p:spPr>
      </p:sp>
      <p:sp>
        <p:nvSpPr>
          <p:cNvPr id="35" name="road-2-text"/>
          <p:cNvSpPr txBox="1"/>
          <p:nvPr/>
        </p:nvSpPr>
        <p:spPr>
          <a:xfrm>
            <a:off x="9438437"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2026</a:t>
            </a:r>
            <a:endParaRPr lang="en-US" sz="2200" dirty="0"/>
          </a:p>
          <a:p>
            <a:pPr algn="ctr" indent="0" marL="0">
              <a:buNone/>
            </a:pPr>
            <a:r>
              <a:rPr lang="en-US" sz="1400" b="1" dirty="0">
                <a:solidFill>
                  <a:srgbClr val="2E9E5B"/>
                </a:solidFill>
              </a:rPr>
              <a:t>Run phase</a:t>
            </a:r>
            <a:endParaRPr lang="en-US" sz="2200" dirty="0"/>
          </a:p>
          <a:p>
            <a:pPr algn="ctr" indent="0" marL="0">
              <a:buNone/>
            </a:pPr>
            <a:r>
              <a:rPr lang="en-US" sz="1200" dirty="0">
                <a:solidFill>
                  <a:schemeClr val="tx2"/>
                </a:solidFill>
              </a:rPr>
              <a:t>ERM 2.0 rebuilt in React, ready for go-live</a:t>
            </a:r>
            <a:endParaRPr lang="en-US" sz="2200" dirty="0"/>
          </a:p>
        </p:txBody>
      </p:sp>
      <p:sp>
        <p:nvSpPr>
          <p:cNvPr id="36" name="journey-foot"/>
          <p:cNvSpPr txBox="1"/>
          <p:nvPr/>
        </p:nvSpPr>
        <p:spPr>
          <a:xfrm>
            <a:off x="548640" y="6172200"/>
            <a:ext cx="5486400" cy="274320"/>
          </a:xfrm>
          <a:prstGeom prst="rect">
            <a:avLst/>
          </a:prstGeom>
          <a:noFill/>
          <a:ln/>
        </p:spPr>
        <p:txBody>
          <a:bodyPr wrap="square" lIns="0" tIns="0" rIns="0" bIns="0" rtlCol="0" anchor="t"/>
          <a:lstStyle/>
          <a:p>
            <a:pPr indent="0" marL="0">
              <a:buNone/>
            </a:pPr>
            <a:r>
              <a:rPr lang="en-US" sz="1100" i="1" dirty="0">
                <a:solidFill>
                  <a:schemeClr val="tx2"/>
                </a:solidFill>
              </a:rPr>
              <a:t>BOT: Business Owned Tool</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9"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450"/>
                                        <p:tgtEl>
                                          <p:spTgt spid="6"/>
                                        </p:tgtEl>
                                      </p:cBhvr>
                                    </p:animEffect>
                                  </p:childTnLst>
                                </p:cTn>
                              </p:par>
                            </p:childTnLst>
                          </p:cTn>
                        </p:par>
                        <p:par>
                          <p:cTn id="29" fill="hold">
                            <p:stCondLst>
                              <p:cond delay="900"/>
                            </p:stCondLst>
                            <p:childTnLst>
                              <p:par>
                                <p:cTn id="20" presetID="10" presetClass="entr" presetSubtype="0" fill="hold" grpId="0" nodeType="after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450"/>
                                        <p:tgtEl>
                                          <p:spTgt spid="9"/>
                                        </p:tgtEl>
                                      </p:cBhvr>
                                    </p:animEffect>
                                  </p:childTnLst>
                                </p:cTn>
                              </p:par>
                            </p:childTnLst>
                          </p:cTn>
                        </p:par>
                        <p:par>
                          <p:cTn id="39" fill="hold">
                            <p:stCondLst>
                              <p:cond delay="1350"/>
                            </p:stCondLst>
                            <p:childTnLst>
                              <p:par>
                                <p:cTn id="30" presetID="10" presetClass="entr" presetSubtype="0" fill="hold" grpId="0" nodeType="after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450"/>
                                        <p:tgtEl>
                                          <p:spTgt spid="12"/>
                                        </p:tgtEl>
                                      </p:cBhvr>
                                    </p:animEffect>
                                  </p:childTnLst>
                                </p:cTn>
                              </p:par>
                            </p:childTnLst>
                          </p:cTn>
                        </p:par>
                        <p:par>
                          <p:cTn id="76" fill="hold">
                            <p:stCondLst>
                              <p:cond delay="180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5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childTnLst>
                          </p:cTn>
                        </p:par>
                        <p:par>
                          <p:cTn id="86" fill="hold">
                            <p:stCondLst>
                              <p:cond delay="2250"/>
                            </p:stCondLst>
                            <p:childTnLst>
                              <p:par>
                                <p:cTn id="77" presetID="10" presetClass="entr" presetSubtype="0" fill="hold" grpId="0" nodeType="after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50"/>
                                        <p:tgtEl>
                                          <p:spTgt spid="2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50"/>
                                        <p:tgtEl>
                                          <p:spTgt spid="28"/>
                                        </p:tgtEl>
                                      </p:cBhvr>
                                    </p:animEffect>
                                  </p:childTnLst>
                                </p:cTn>
                              </p:par>
                              <p:par>
                                <p:cTn id="83" presetID="22" presetClass="entr" presetSubtype="8"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wipe(left)">
                                      <p:cBhvr>
                                        <p:cTn id="85" dur="450"/>
                                        <p:tgtEl>
                                          <p:spTgt spid="29"/>
                                        </p:tgtEl>
                                      </p:cBhvr>
                                    </p:animEffect>
                                  </p:childTnLst>
                                </p:cTn>
                              </p:par>
                            </p:childTnLst>
                          </p:cTn>
                        </p:par>
                        <p:par>
                          <p:cTn id="93" fill="hold">
                            <p:stCondLst>
                              <p:cond delay="2700"/>
                            </p:stCondLst>
                            <p:childTnLst>
                              <p:par>
                                <p:cTn id="87" presetID="10" presetClass="entr" presetSubtype="0" fill="hold" grpId="0" nodeType="after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0"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childTnLst>
                          </p:cTn>
                        </p:par>
                        <p:par>
                          <p:cTn id="107" fill="hold">
                            <p:stCondLst>
                              <p:cond delay="3600"/>
                            </p:stCondLst>
                            <p:childTnLst>
                              <p:par>
                                <p:cTn id="101" presetID="10" presetClass="entr" presetSubtype="0" fill="hold" grpId="0" nodeType="afterEffect">
                                  <p:stCondLst>
                                    <p:cond delay="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450"/>
                                        <p:tgtEl>
                                          <p:spTgt spid="3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450"/>
                                        <p:tgtEl>
                                          <p:spTgt spid="35"/>
                                        </p:tgtEl>
                                      </p:cBhvr>
                                    </p:animEffect>
                                  </p:childTnLst>
                                </p:cTn>
                              </p:par>
                            </p:childTnLst>
                          </p:cTn>
                        </p:par>
                        <p:par>
                          <p:cTn id="111" fill="hold">
                            <p:stCondLst>
                              <p:cond delay="405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6" grpId="0" animBg="1"/>
      <p:bldP spid="10" grpId="0" animBg="1"/>
      <p:bldP spid="11" grpId="0" animBg="1"/>
      <p:bldP spid="9" grpId="0" animBg="1"/>
      <p:bldP spid="13" grpId="0" animBg="1"/>
      <p:bldP spid="14" grpId="0" animBg="1"/>
      <p:bldP spid="12"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FUNCTION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functions.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200400"/>
            <a:ext cx="1858975" cy="3108960"/>
          </a:xfrm>
          <a:prstGeom prst="rect">
            <a:avLst/>
          </a:prstGeom>
          <a:noFill/>
          <a:ln/>
        </p:spPr>
        <p:txBody>
          <a:bodyPr wrap="square" lIns="0" tIns="0" rIns="0" bIns="0" rtlCol="0" anchor="t"/>
          <a:lstStyle/>
          <a:p>
            <a:pPr indent="0" marL="0">
              <a:buNone/>
            </a:pPr>
            <a:r>
              <a:rPr lang="en-US" sz="1300" b="1" dirty="0">
                <a:solidFill>
                  <a:schemeClr val="bg1"/>
                </a:solidFill>
              </a:rPr>
              <a:t>France</a:t>
            </a:r>
            <a:endParaRPr lang="en-US" sz="1300" dirty="0"/>
          </a:p>
          <a:p>
            <a:pPr indent="0" marL="0">
              <a:spcAft>
                <a:spcPts val="900"/>
              </a:spcAft>
              <a:buNone/>
            </a:pPr>
            <a:r>
              <a:rPr lang="en-US" sz="1200" dirty="0">
                <a:solidFill>
                  <a:schemeClr val="accent5"/>
                </a:solidFill>
              </a:rPr>
              <a:t>Blagnac 271, Saint-Martin 43</a:t>
            </a:r>
            <a:endParaRPr lang="en-US" sz="1300" dirty="0"/>
          </a:p>
          <a:p>
            <a:pPr indent="0" marL="0">
              <a:buNone/>
            </a:pPr>
            <a:r>
              <a:rPr lang="en-US" sz="1300" b="1" dirty="0">
                <a:solidFill>
                  <a:schemeClr val="bg1"/>
                </a:solidFill>
              </a:rPr>
              <a:t>Germany</a:t>
            </a:r>
            <a:endParaRPr lang="en-US" sz="1300" dirty="0"/>
          </a:p>
          <a:p>
            <a:pPr indent="0" marL="0">
              <a:spcAft>
                <a:spcPts val="900"/>
              </a:spcAft>
              <a:buNone/>
            </a:pPr>
            <a:r>
              <a:rPr lang="en-US" sz="1200" dirty="0">
                <a:solidFill>
                  <a:schemeClr val="accent5"/>
                </a:solidFill>
              </a:rPr>
              <a:t>Hamburg 205</a:t>
            </a:r>
            <a:endParaRPr lang="en-US" sz="1300" dirty="0"/>
          </a:p>
          <a:p>
            <a:pPr indent="0" marL="0">
              <a:buNone/>
            </a:pPr>
            <a:r>
              <a:rPr lang="en-US" sz="1300" b="1" dirty="0">
                <a:solidFill>
                  <a:schemeClr val="bg1"/>
                </a:solidFill>
              </a:rPr>
              <a:t>United Kingdom</a:t>
            </a:r>
            <a:endParaRPr lang="en-US" sz="1300" dirty="0"/>
          </a:p>
          <a:p>
            <a:pPr indent="0" marL="0">
              <a:spcAft>
                <a:spcPts val="900"/>
              </a:spcAft>
              <a:buNone/>
            </a:pPr>
            <a:r>
              <a:rPr lang="en-US" sz="1200" dirty="0">
                <a:solidFill>
                  <a:schemeClr val="accent5"/>
                </a:solidFill>
              </a:rPr>
              <a:t>Broughton 32, Filton 26</a:t>
            </a:r>
            <a:endParaRPr lang="en-US" sz="1300" dirty="0"/>
          </a:p>
          <a:p>
            <a:pPr indent="0" marL="0">
              <a:buNone/>
            </a:pPr>
            <a:r>
              <a:rPr lang="en-US" sz="1300" b="1" dirty="0">
                <a:solidFill>
                  <a:schemeClr val="bg1"/>
                </a:solidFill>
              </a:rPr>
              <a:t>Spain</a:t>
            </a:r>
            <a:endParaRPr lang="en-US" sz="1300" dirty="0"/>
          </a:p>
          <a:p>
            <a:pPr indent="0" marL="0">
              <a:spcAft>
                <a:spcPts val="900"/>
              </a:spcAft>
              <a:buNone/>
            </a:pPr>
            <a:r>
              <a:rPr lang="en-US" sz="1200" dirty="0">
                <a:solidFill>
                  <a:schemeClr val="accent5"/>
                </a:solidFill>
              </a:rPr>
              <a:t>Getafe 25</a:t>
            </a:r>
            <a:endParaRPr lang="en-US" sz="1300" dirty="0"/>
          </a:p>
          <a:p>
            <a:pPr indent="0" marL="0">
              <a:buNone/>
            </a:pPr>
            <a:r>
              <a:rPr lang="en-US" sz="1300" b="1" dirty="0">
                <a:solidFill>
                  <a:schemeClr val="bg1"/>
                </a:solidFill>
              </a:rPr>
              <a:t>Canada</a:t>
            </a:r>
            <a:endParaRPr lang="en-US" sz="1300" dirty="0"/>
          </a:p>
          <a:p>
            <a:pPr indent="0" marL="0">
              <a:spcAft>
                <a:spcPts val="900"/>
              </a:spcAft>
              <a:buNone/>
            </a:pPr>
            <a:r>
              <a:rPr lang="en-US" sz="1200" dirty="0">
                <a:solidFill>
                  <a:schemeClr val="accent5"/>
                </a:solidFill>
              </a:rPr>
              <a:t>Mirabel 12</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THE TRANSFORMATION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From a fragile app to a stable ERM 2.0, in one PI</a:t>
            </a:r>
            <a:endParaRPr lang="en-US" sz="3600" dirty="0"/>
          </a:p>
        </p:txBody>
      </p:sp>
      <p:pic>
        <p:nvPicPr>
          <p:cNvPr id="4" name="portal-img" descr="Slate screens break apart into a glowing portal; ERM 2.0 screens come out the other side">    </p:cNvPr>
          <p:cNvPicPr>
            <a:picLocks noChangeAspect="1"/>
          </p:cNvPicPr>
          <p:nvPr/>
        </p:nvPicPr>
        <p:blipFill>
          <a:blip r:embed="rId1"/>
          <a:stretch>
            <a:fillRect/>
          </a:stretch>
        </p:blipFill>
        <p:spPr>
          <a:xfrm>
            <a:off x="0" y="1234440"/>
            <a:ext cx="12191695" cy="5120640"/>
          </a:xfrm>
          <a:prstGeom prst="rect">
            <a:avLst/>
          </a:prstGeom>
        </p:spPr>
      </p:pic>
      <p:sp>
        <p:nvSpPr>
          <p:cNvPr id="5" name="before-head"/>
          <p:cNvSpPr txBox="1"/>
          <p:nvPr/>
        </p:nvSpPr>
        <p:spPr>
          <a:xfrm>
            <a:off x="548640" y="1280160"/>
            <a:ext cx="3657600" cy="274320"/>
          </a:xfrm>
          <a:prstGeom prst="rect">
            <a:avLst/>
          </a:prstGeom>
          <a:noFill/>
          <a:ln/>
        </p:spPr>
        <p:txBody>
          <a:bodyPr wrap="square" lIns="0" tIns="0" rIns="0" bIns="0" rtlCol="0" anchor="t"/>
          <a:lstStyle/>
          <a:p>
            <a:pPr indent="0" marL="0">
              <a:buNone/>
            </a:pPr>
            <a:r>
              <a:rPr lang="en-US" sz="1200" b="1" spc="200" kern="0" dirty="0">
                <a:solidFill>
                  <a:srgbClr val="F28DB6"/>
                </a:solidFill>
              </a:rPr>
              <a:t>BEFORE · SLATE</a:t>
            </a:r>
            <a:endParaRPr lang="en-US" sz="1200" dirty="0"/>
          </a:p>
        </p:txBody>
      </p:sp>
      <p:sp>
        <p:nvSpPr>
          <p:cNvPr id="6" name="after-head"/>
          <p:cNvSpPr txBox="1"/>
          <p:nvPr/>
        </p:nvSpPr>
        <p:spPr>
          <a:xfrm>
            <a:off x="8092440" y="1280160"/>
            <a:ext cx="3547872" cy="274320"/>
          </a:xfrm>
          <a:prstGeom prst="rect">
            <a:avLst/>
          </a:prstGeom>
          <a:noFill/>
          <a:ln/>
        </p:spPr>
        <p:txBody>
          <a:bodyPr wrap="square" lIns="0" tIns="0" rIns="0" bIns="0" rtlCol="0" anchor="t"/>
          <a:lstStyle/>
          <a:p>
            <a:pPr algn="r" indent="0" marL="0">
              <a:buNone/>
            </a:pPr>
            <a:r>
              <a:rPr lang="en-US" sz="1200" b="1" spc="200" kern="0" dirty="0">
                <a:solidFill>
                  <a:srgbClr val="8FD0FF"/>
                </a:solidFill>
              </a:rPr>
              <a:t>AFTER · ERM 2.0</a:t>
            </a:r>
            <a:endParaRPr lang="en-US" sz="1200" dirty="0"/>
          </a:p>
        </p:txBody>
      </p:sp>
      <p:sp>
        <p:nvSpPr>
          <p:cNvPr id="7" name="bad-0"/>
          <p:cNvSpPr/>
          <p:nvPr/>
        </p:nvSpPr>
        <p:spPr>
          <a:xfrm>
            <a:off x="548640" y="5193792"/>
            <a:ext cx="3566160" cy="347472"/>
          </a:xfrm>
          <a:prstGeom prst="roundRect">
            <a:avLst>
              <a:gd name="adj" fmla="val 50000"/>
            </a:avLst>
          </a:prstGeom>
          <a:solidFill>
            <a:srgbClr val="0A1640">
              <a:alpha val="85000"/>
            </a:srgbClr>
          </a:solidFill>
          <a:ln w="15875">
            <a:solidFill>
              <a:srgbClr val="E8509A"/>
            </a:solidFill>
            <a:prstDash val="solid"/>
          </a:ln>
        </p:spPr>
      </p:sp>
      <p:sp>
        <p:nvSpPr>
          <p:cNvPr id="8" name="bad-0-text"/>
          <p:cNvSpPr txBox="1"/>
          <p:nvPr/>
        </p:nvSpPr>
        <p:spPr>
          <a:xfrm>
            <a:off x="548640"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One change could break another</a:t>
            </a:r>
            <a:endParaRPr lang="en-US" sz="1300" dirty="0"/>
          </a:p>
        </p:txBody>
      </p:sp>
      <p:sp>
        <p:nvSpPr>
          <p:cNvPr id="9" name="bad-1"/>
          <p:cNvSpPr/>
          <p:nvPr/>
        </p:nvSpPr>
        <p:spPr>
          <a:xfrm>
            <a:off x="548640" y="5605272"/>
            <a:ext cx="3566160" cy="347472"/>
          </a:xfrm>
          <a:prstGeom prst="roundRect">
            <a:avLst>
              <a:gd name="adj" fmla="val 50000"/>
            </a:avLst>
          </a:prstGeom>
          <a:solidFill>
            <a:srgbClr val="0A1640">
              <a:alpha val="85000"/>
            </a:srgbClr>
          </a:solidFill>
          <a:ln w="15875">
            <a:solidFill>
              <a:srgbClr val="E8509A"/>
            </a:solidFill>
            <a:prstDash val="solid"/>
          </a:ln>
        </p:spPr>
      </p:sp>
      <p:sp>
        <p:nvSpPr>
          <p:cNvPr id="10" name="bad-1-text"/>
          <p:cNvSpPr txBox="1"/>
          <p:nvPr/>
        </p:nvSpPr>
        <p:spPr>
          <a:xfrm>
            <a:off x="548640"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Slow to switch between tabs</a:t>
            </a:r>
            <a:endParaRPr lang="en-US" sz="1300" dirty="0"/>
          </a:p>
        </p:txBody>
      </p:sp>
      <p:sp>
        <p:nvSpPr>
          <p:cNvPr id="11" name="bad-2"/>
          <p:cNvSpPr/>
          <p:nvPr/>
        </p:nvSpPr>
        <p:spPr>
          <a:xfrm>
            <a:off x="548640" y="6016752"/>
            <a:ext cx="3566160" cy="347472"/>
          </a:xfrm>
          <a:prstGeom prst="roundRect">
            <a:avLst>
              <a:gd name="adj" fmla="val 50000"/>
            </a:avLst>
          </a:prstGeom>
          <a:solidFill>
            <a:srgbClr val="0A1640">
              <a:alpha val="85000"/>
            </a:srgbClr>
          </a:solidFill>
          <a:ln w="15875">
            <a:solidFill>
              <a:srgbClr val="E8509A"/>
            </a:solidFill>
            <a:prstDash val="solid"/>
          </a:ln>
        </p:spPr>
      </p:sp>
      <p:sp>
        <p:nvSpPr>
          <p:cNvPr id="12" name="bad-2-text"/>
          <p:cNvSpPr txBox="1"/>
          <p:nvPr/>
        </p:nvSpPr>
        <p:spPr>
          <a:xfrm>
            <a:off x="548640"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Nothing documented</a:t>
            </a:r>
            <a:endParaRPr lang="en-US" sz="1300" dirty="0"/>
          </a:p>
        </p:txBody>
      </p:sp>
      <p:sp>
        <p:nvSpPr>
          <p:cNvPr id="13" name="good-0"/>
          <p:cNvSpPr/>
          <p:nvPr/>
        </p:nvSpPr>
        <p:spPr>
          <a:xfrm>
            <a:off x="8074152" y="5193792"/>
            <a:ext cx="3566160" cy="347472"/>
          </a:xfrm>
          <a:prstGeom prst="roundRect">
            <a:avLst>
              <a:gd name="adj" fmla="val 50000"/>
            </a:avLst>
          </a:prstGeom>
          <a:solidFill>
            <a:srgbClr val="0A1640">
              <a:alpha val="85000"/>
            </a:srgbClr>
          </a:solidFill>
          <a:ln w="15875">
            <a:solidFill>
              <a:srgbClr val="4FB3FF"/>
            </a:solidFill>
            <a:prstDash val="solid"/>
          </a:ln>
        </p:spPr>
      </p:sp>
      <p:sp>
        <p:nvSpPr>
          <p:cNvPr id="14" name="good-0-text"/>
          <p:cNvSpPr txBox="1"/>
          <p:nvPr/>
        </p:nvSpPr>
        <p:spPr>
          <a:xfrm>
            <a:off x="8074152"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Stable: each feature stands alone</a:t>
            </a:r>
            <a:endParaRPr lang="en-US" sz="1300" dirty="0"/>
          </a:p>
        </p:txBody>
      </p:sp>
      <p:sp>
        <p:nvSpPr>
          <p:cNvPr id="15" name="good-1"/>
          <p:cNvSpPr/>
          <p:nvPr/>
        </p:nvSpPr>
        <p:spPr>
          <a:xfrm>
            <a:off x="8074152" y="5605272"/>
            <a:ext cx="3566160" cy="347472"/>
          </a:xfrm>
          <a:prstGeom prst="roundRect">
            <a:avLst>
              <a:gd name="adj" fmla="val 50000"/>
            </a:avLst>
          </a:prstGeom>
          <a:solidFill>
            <a:srgbClr val="0A1640">
              <a:alpha val="85000"/>
            </a:srgbClr>
          </a:solidFill>
          <a:ln w="15875">
            <a:solidFill>
              <a:srgbClr val="4FB3FF"/>
            </a:solidFill>
            <a:prstDash val="solid"/>
          </a:ln>
        </p:spPr>
      </p:sp>
      <p:sp>
        <p:nvSpPr>
          <p:cNvPr id="16" name="good-1-text"/>
          <p:cNvSpPr txBox="1"/>
          <p:nvPr/>
        </p:nvSpPr>
        <p:spPr>
          <a:xfrm>
            <a:off x="8074152"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Faster and smoother</a:t>
            </a:r>
            <a:endParaRPr lang="en-US" sz="1300" dirty="0"/>
          </a:p>
        </p:txBody>
      </p:sp>
      <p:sp>
        <p:nvSpPr>
          <p:cNvPr id="17" name="good-2"/>
          <p:cNvSpPr/>
          <p:nvPr/>
        </p:nvSpPr>
        <p:spPr>
          <a:xfrm>
            <a:off x="8074152" y="6016752"/>
            <a:ext cx="3566160" cy="347472"/>
          </a:xfrm>
          <a:prstGeom prst="roundRect">
            <a:avLst>
              <a:gd name="adj" fmla="val 50000"/>
            </a:avLst>
          </a:prstGeom>
          <a:solidFill>
            <a:srgbClr val="0A1640">
              <a:alpha val="85000"/>
            </a:srgbClr>
          </a:solidFill>
          <a:ln w="15875">
            <a:solidFill>
              <a:srgbClr val="4FB3FF"/>
            </a:solidFill>
            <a:prstDash val="solid"/>
          </a:ln>
        </p:spPr>
      </p:sp>
      <p:sp>
        <p:nvSpPr>
          <p:cNvPr id="18" name="good-2-text"/>
          <p:cNvSpPr txBox="1"/>
          <p:nvPr/>
        </p:nvSpPr>
        <p:spPr>
          <a:xfrm>
            <a:off x="8074152"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Documented, easy to extend</a:t>
            </a:r>
            <a:endParaRPr lang="en-US" sz="1300" dirty="0"/>
          </a:p>
        </p:txBody>
      </p:sp>
      <p:sp>
        <p:nvSpPr>
          <p:cNvPr id="19" name="portal-cap"/>
          <p:cNvSpPr txBox="1"/>
          <p:nvPr/>
        </p:nvSpPr>
        <p:spPr>
          <a:xfrm>
            <a:off x="4270248" y="5623560"/>
            <a:ext cx="3657600" cy="731520"/>
          </a:xfrm>
          <a:prstGeom prst="rect">
            <a:avLst/>
          </a:prstGeom>
          <a:noFill/>
          <a:ln/>
        </p:spPr>
        <p:txBody>
          <a:bodyPr wrap="square" lIns="0" tIns="0" rIns="0" bIns="0" rtlCol="0" anchor="t"/>
          <a:lstStyle/>
          <a:p>
            <a:pPr algn="ctr" indent="0" marL="0">
              <a:buNone/>
            </a:pPr>
            <a:r>
              <a:rPr lang="en-US" sz="2000" b="1" dirty="0">
                <a:solidFill>
                  <a:schemeClr val="bg1"/>
                </a:solidFill>
              </a:rPr>
              <a:t>AI-assisted migration</a:t>
            </a:r>
            <a:endParaRPr lang="en-US" sz="2000" dirty="0"/>
          </a:p>
          <a:p>
            <a:pPr algn="ctr" indent="0" marL="0">
              <a:buNone/>
            </a:pPr>
            <a:r>
              <a:rPr lang="en-US" sz="1300" dirty="0">
                <a:solidFill>
                  <a:schemeClr val="accent5"/>
                </a:solidFill>
              </a:rPr>
              <a:t>The AI does the heavy lifting, people verify every feature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28"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50"/>
                                        <p:tgtEl>
                                          <p:spTgt spid="9"/>
                                        </p:tgtEl>
                                      </p:cBhvr>
                                    </p:animEffect>
                                  </p:childTnLst>
                                </p:cTn>
                              </p:par>
                              <p:par>
                                <p:cTn id="19" presetID="10" presetClass="entr" presetSubtype="0" fill="hold" grpId="0" nodeType="withEffect">
                                  <p:stCondLst>
                                    <p:cond delay="15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50"/>
                                        <p:tgtEl>
                                          <p:spTgt spid="10"/>
                                        </p:tgtEl>
                                      </p:cBhvr>
                                    </p:animEffect>
                                  </p:childTnLst>
                                </p:cTn>
                              </p:par>
                              <p:par>
                                <p:cTn id="22"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50"/>
                                        <p:tgtEl>
                                          <p:spTgt spid="11"/>
                                        </p:tgtEl>
                                      </p:cBhvr>
                                    </p:animEffect>
                                  </p:childTnLst>
                                </p:cTn>
                              </p:par>
                              <p:par>
                                <p:cTn id="25" presetID="10"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childTnLst>
                          </p:cTn>
                        </p:par>
                        <p:par>
                          <p:cTn id="32"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50"/>
                                        <p:tgtEl>
                                          <p:spTgt spid="19"/>
                                        </p:tgtEl>
                                      </p:cBhvr>
                                    </p:animEffect>
                                  </p:childTnLst>
                                </p:cTn>
                              </p:par>
                            </p:childTnLst>
                          </p:cTn>
                        </p:par>
                        <p:par>
                          <p:cTn id="54" fill="hold">
                            <p:stCondLst>
                              <p:cond delay="1500"/>
                            </p:stCondLst>
                            <p:childTnLst>
                              <p:par>
                                <p:cTn id="33" presetID="10" presetClass="entr" presetSubtype="0" fill="hold" grpId="0" nodeType="after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450"/>
                                        <p:tgtEl>
                                          <p:spTgt spid="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15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15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3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9" grpId="0" animBg="1"/>
      <p:bldP spid="6" grpId="0" animBg="1"/>
      <p:bldP spid="13" grpId="0" animBg="1"/>
      <p:bldP spid="14" grpId="0" animBg="1"/>
      <p:bldP spid="15" grpId="0" animBg="1"/>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RESULTS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more stable, in one PI</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 PI</a:t>
            </a:r>
            <a:endParaRPr lang="en-US" sz="2400" dirty="0"/>
          </a:p>
        </p:txBody>
      </p:sp>
      <p:sp>
        <p:nvSpPr>
          <p:cNvPr id="6" name="fact-0-label"/>
          <p:cNvSpPr txBox="1"/>
          <p:nvPr/>
        </p:nvSpPr>
        <p:spPr>
          <a:xfrm>
            <a:off x="713232"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105</a:t>
            </a:r>
            <a:endParaRPr lang="en-US" sz="2400" dirty="0"/>
          </a:p>
        </p:txBody>
      </p:sp>
      <p:sp>
        <p:nvSpPr>
          <p:cNvPr id="9" name="fact-1-label"/>
          <p:cNvSpPr txBox="1"/>
          <p:nvPr/>
        </p:nvSpPr>
        <p:spPr>
          <a:xfrm>
            <a:off x="2592781"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11</a:t>
            </a:r>
            <a:endParaRPr lang="en-US" sz="2400" dirty="0"/>
          </a:p>
        </p:txBody>
      </p:sp>
      <p:sp>
        <p:nvSpPr>
          <p:cNvPr id="12" name="fact-2-label"/>
          <p:cNvSpPr txBox="1"/>
          <p:nvPr/>
        </p:nvSpPr>
        <p:spPr>
          <a:xfrm>
            <a:off x="447233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new features, like custom one-pager layouts and slideshow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Faster</a:t>
            </a:r>
            <a:endParaRPr lang="en-US" sz="2400" dirty="0"/>
          </a:p>
        </p:txBody>
      </p:sp>
      <p:sp>
        <p:nvSpPr>
          <p:cNvPr id="15" name="fact-3-label"/>
          <p:cNvSpPr txBox="1"/>
          <p:nvPr/>
        </p:nvSpPr>
        <p:spPr>
          <a:xfrm>
            <a:off x="635188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navigation between tabs</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7</a:t>
            </a:r>
            <a:endParaRPr lang="en-US" sz="2400" dirty="0"/>
          </a:p>
        </p:txBody>
      </p:sp>
      <p:sp>
        <p:nvSpPr>
          <p:cNvPr id="18" name="fact-4-label"/>
          <p:cNvSpPr txBox="1"/>
          <p:nvPr/>
        </p:nvSpPr>
        <p:spPr>
          <a:xfrm>
            <a:off x="8231429"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security issues found and fixed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0 → 10</a:t>
            </a:r>
            <a:endParaRPr lang="en-US" sz="2400" dirty="0"/>
          </a:p>
        </p:txBody>
      </p:sp>
      <p:sp>
        <p:nvSpPr>
          <p:cNvPr id="21" name="fact-5-label"/>
          <p:cNvSpPr txBox="1"/>
          <p:nvPr/>
        </p:nvSpPr>
        <p:spPr>
          <a:xfrm>
            <a:off x="10110978"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documents for future owners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tx2"/>
                </a:solidFill>
              </a:rPr>
              <a:t>BEFORE: SLATE</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tx1"/>
                </a:solidFill>
              </a:rPr>
              <a:t>Every change was risky and slow</a:t>
            </a:r>
            <a:endParaRPr lang="en-US" sz="1100" dirty="0"/>
          </a:p>
          <a:p>
            <a:pPr marL="342900" indent="-342900">
              <a:spcAft>
                <a:spcPts val="800"/>
              </a:spcAft>
              <a:buSzPct val="100000"/>
              <a:buChar char="•"/>
            </a:pPr>
            <a:r>
              <a:rPr lang="en-US" sz="1500" dirty="0">
                <a:solidFill>
                  <a:schemeClr val="tx1"/>
                </a:solidFill>
              </a:rPr>
              <a:t>One fix could break another dashboard</a:t>
            </a:r>
            <a:endParaRPr lang="en-US" sz="1100" dirty="0"/>
          </a:p>
          <a:p>
            <a:pPr marL="342900" indent="-342900">
              <a:spcAft>
                <a:spcPts val="800"/>
              </a:spcAft>
              <a:buSzPct val="100000"/>
              <a:buChar char="•"/>
            </a:pPr>
            <a:r>
              <a:rPr lang="en-US" sz="1500" dirty="0">
                <a:solidFill>
                  <a:schemeClr val="tx1"/>
                </a:solidFill>
              </a:rPr>
              <a:t>Knowledge lived in a few heads</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accent5"/>
                </a:solidFill>
              </a:rPr>
              <a:t>AFTER: ERM 2.0</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bg1"/>
                </a:solidFill>
              </a:rPr>
              <a:t>Each feature stands alone: changes are quick and safe</a:t>
            </a:r>
            <a:endParaRPr lang="en-US" sz="1100" dirty="0"/>
          </a:p>
          <a:p>
            <a:pPr marL="342900" indent="-342900">
              <a:spcAft>
                <a:spcPts val="800"/>
              </a:spcAft>
              <a:buSzPct val="100000"/>
              <a:buChar char="•"/>
            </a:pPr>
            <a:r>
              <a:rPr lang="en-US" sz="1500" dirty="0">
                <a:solidFill>
                  <a:schemeClr val="bg1"/>
                </a:solidFill>
              </a:rPr>
              <a:t>Faster, smoother navigation</a:t>
            </a:r>
            <a:endParaRPr lang="en-US" sz="1100" dirty="0"/>
          </a:p>
          <a:p>
            <a:pPr marL="342900" indent="-342900">
              <a:spcAft>
                <a:spcPts val="800"/>
              </a:spcAft>
              <a:buSzPct val="100000"/>
              <a:buChar char="•"/>
            </a:pPr>
            <a:r>
              <a:rPr lang="en-US" sz="1500" dirty="0">
                <a:solidFill>
                  <a:schemeClr val="bg1"/>
                </a:solidFill>
              </a:rPr>
              <a:t>Documented, on a standard stack any team can pick up</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4 sprints (≈ $25K) actual against ~17 sprints (≈ $105K) for a manual migration. Maintenance: ~20% of build effort a year (≈ $21K), assumed halved by modular,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[Name]</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[Name]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[Name]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400" b="1" dirty="0">
                <a:solidFill>
                  <a:schemeClr val="bg1"/>
                </a:solidFill>
              </a:rPr>
              <a:t>ERM 2.0</a:t>
            </a:r>
            <a:endParaRPr lang="en-US" sz="2400" dirty="0"/>
          </a:p>
          <a:p>
            <a:pPr indent="0" marL="0">
              <a:buNone/>
            </a:pPr>
            <a:r>
              <a:rPr lang="en-US" sz="1000" dirty="0">
                <a:solidFill>
                  <a:srgbClr val="000000"/>
                </a:solidFill>
              </a:rPr>
              <a:t> </a:t>
            </a:r>
            <a:endParaRPr lang="en-US" sz="2400" dirty="0"/>
          </a:p>
          <a:p>
            <a:pPr indent="0" marL="0">
              <a:buNone/>
            </a:pPr>
            <a:r>
              <a:rPr lang="en-US" sz="1400" dirty="0">
                <a:solidFill>
                  <a:schemeClr val="bg1"/>
                </a:solidFill>
              </a:rPr>
              <a:t>AI-assisted migration</a:t>
            </a:r>
            <a:endParaRPr lang="en-US" sz="2400" dirty="0"/>
          </a:p>
          <a:p>
            <a:pPr indent="0" marL="0">
              <a:buNone/>
            </a:pPr>
            <a:r>
              <a:rPr lang="en-US" sz="1400" dirty="0">
                <a:solidFill>
                  <a:schemeClr val="bg1"/>
                </a:solidFill>
              </a:rPr>
              <a:t>Slate to React</a:t>
            </a:r>
            <a:endParaRPr lang="en-US" sz="2400" dirty="0"/>
          </a:p>
          <a:p>
            <a:pPr indent="0" marL="0">
              <a:buNone/>
            </a:pPr>
            <a:r>
              <a:rPr lang="en-US" sz="1400" dirty="0">
                <a:solidFill>
                  <a:schemeClr val="bg1"/>
                </a:solidFill>
              </a:rPr>
              <a:t>2 developers · 1 PI</a:t>
            </a:r>
            <a:endParaRPr lang="en-US" sz="24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AI-assisted migration recovered all 105 features of an undocumented app</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 business-critical tool, now stable, documented and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A reusable playbook lets other teams do the same</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Operations built it · FZR owns it · Business users confirmed every feature · Data and security owners kept restricted views intact</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WHAT'S NEXT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Gather</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Catalogue</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A script that gives the AI the whole app at once</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ERM 2.0 go-live and run phase with FZR</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Support the playbook as a standard way to move business-built tools to industrial apps. We have aligned with [Architect] to propose it at the architecture sync.</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From a business-built tool to an industrial product, and a method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2.0: Digital Leaders</dc:title>
  <dc:subject>PptxGenJS Presentation</dc:subject>
  <dc:creator>PptxGenJS</dc:creator>
  <cp:lastModifiedBy>PptxGenJS</cp:lastModifiedBy>
  <cp:revision>1</cp:revision>
  <dcterms:created xsi:type="dcterms:W3CDTF">2026-10-11T09:39:35Z</dcterms:created>
  <dcterms:modified xsi:type="dcterms:W3CDTF">2026-10-11T09:39:35Z</dcterms:modified>
</cp:coreProperties>
</file>