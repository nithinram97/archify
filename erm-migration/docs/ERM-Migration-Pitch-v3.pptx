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88ced32f-1e07-2817-459e-087c76bfde46}">
          <p14:sldIdLst>
            <p14:sldId id="256"/>
            <p14:sldId id="257"/>
            <p14:sldId id="258"/>
            <p14:sldId id="259"/>
            <p14:sldId id="260"/>
            <p14:sldId id="261"/>
          </p14:sldIdLst>
        </p14:section>
        <p14:section name="Stakes" id="{01f2c5fe-3048-c1c5-d71b-2f6b66aaceee}">
          <p14:sldIdLst>
            <p14:sldId id="262"/>
          </p14:sldIdLst>
        </p14:section>
        <p14:section name="Transformation" id="{139d5b19-06b7-67e8-12b4-13d754b0d85b}">
          <p14:sldIdLst>
            <p14:sldId id="263"/>
            <p14:sldId id="264"/>
            <p14:sldId id="265"/>
          </p14:sldIdLst>
        </p14:section>
        <p14:section name="Fit and next" id="{4703f0dd-0d04-a562-4884-782c10d86812}">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Unique users</c:v>
                </c:pt>
              </c:strCache>
            </c:strRef>
          </c:tx>
          <c:spPr>
            <a:solidFill>
              <a:srgbClr val="0085CA"/>
            </a:solidFill>
            <a:ln w="25400" cap="flat">
              <a:solidFill>
                <a:srgbClr val="0085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0085CA"/>
              </a:solidFill>
              <a:ln w="9525" cap="flat">
                <a:solidFill>
                  <a:srgbClr val="0085CA"/>
                </a:solidFill>
                <a:prstDash val="solid"/>
                <a:round/>
              </a:ln>
              <a:effectLst/>
            </c:spPr>
          </c:marker>
          <c:cat>
            <c:strRef>
              <c:f>Sheet1!$A$2:$A$24</c:f>
              <c:strCache>
                <c:ptCount val="23"/>
                <c:pt idx="0">
                  <c:v>Aug 2024</c:v>
                </c:pt>
                <c:pt idx="1">
                  <c:v>Sep 2024</c:v>
                </c:pt>
                <c:pt idx="2">
                  <c:v>Oct 2024</c:v>
                </c:pt>
                <c:pt idx="3">
                  <c:v>Nov 2024</c:v>
                </c:pt>
                <c:pt idx="4">
                  <c:v>Dec 2024</c:v>
                </c:pt>
                <c:pt idx="5">
                  <c:v>Jan 2025</c:v>
                </c:pt>
                <c:pt idx="6">
                  <c:v>Feb 2025</c:v>
                </c:pt>
                <c:pt idx="7">
                  <c:v>Mar 2025</c:v>
                </c:pt>
                <c:pt idx="8">
                  <c:v>Apr 2025</c:v>
                </c:pt>
                <c:pt idx="9">
                  <c:v>May 2025</c:v>
                </c:pt>
                <c:pt idx="10">
                  <c:v>Jun 2025</c:v>
                </c:pt>
                <c:pt idx="11">
                  <c:v>Jul 2025</c:v>
                </c:pt>
                <c:pt idx="12">
                  <c:v>Aug 2025</c:v>
                </c:pt>
                <c:pt idx="13">
                  <c:v>Sep 2025</c:v>
                </c:pt>
                <c:pt idx="14">
                  <c:v>Oct 2025</c:v>
                </c:pt>
                <c:pt idx="15">
                  <c:v>Nov 2025</c:v>
                </c:pt>
                <c:pt idx="16">
                  <c:v>Dec 2025</c:v>
                </c:pt>
                <c:pt idx="17">
                  <c:v>Jan 2026</c:v>
                </c:pt>
                <c:pt idx="18">
                  <c:v>Feb 2026</c:v>
                </c:pt>
                <c:pt idx="19">
                  <c:v>Mar 2026</c:v>
                </c:pt>
                <c:pt idx="20">
                  <c:v>Apr 2026</c:v>
                </c:pt>
                <c:pt idx="21">
                  <c:v>May 2026</c:v>
                </c:pt>
                <c:pt idx="22">
                  <c:v>Jun 2026</c:v>
                </c:pt>
              </c:strCache>
            </c:strRef>
          </c:cat>
          <c:val>
            <c:numRef>
              <c:f>Sheet1!$B$2:$B$24</c:f>
              <c:numCache>
                <c:formatCode>General</c:formatCode>
                <c:ptCount val="23"/>
                <c:pt idx="0">
                  <c:v>0</c:v>
                </c:pt>
                <c:pt idx="1">
                  <c:v>50</c:v>
                </c:pt>
                <c:pt idx="2">
                  <c:v>95</c:v>
                </c:pt>
                <c:pt idx="3">
                  <c:v>105</c:v>
                </c:pt>
                <c:pt idx="4">
                  <c:v>65</c:v>
                </c:pt>
                <c:pt idx="5">
                  <c:v>110</c:v>
                </c:pt>
                <c:pt idx="6">
                  <c:v>135</c:v>
                </c:pt>
                <c:pt idx="7">
                  <c:v>125</c:v>
                </c:pt>
                <c:pt idx="8">
                  <c:v>150</c:v>
                </c:pt>
                <c:pt idx="9">
                  <c:v>245</c:v>
                </c:pt>
                <c:pt idx="10">
                  <c:v>220</c:v>
                </c:pt>
                <c:pt idx="11">
                  <c:v>230</c:v>
                </c:pt>
                <c:pt idx="12">
                  <c:v>240</c:v>
                </c:pt>
                <c:pt idx="13">
                  <c:v>265</c:v>
                </c:pt>
                <c:pt idx="14">
                  <c:v>230</c:v>
                </c:pt>
                <c:pt idx="15">
                  <c:v>300</c:v>
                </c:pt>
                <c:pt idx="16">
                  <c:v>190</c:v>
                </c:pt>
                <c:pt idx="17">
                  <c:v>210</c:v>
                </c:pt>
                <c:pt idx="18">
                  <c:v>340</c:v>
                </c:pt>
                <c:pt idx="19">
                  <c:v>280</c:v>
                </c:pt>
                <c:pt idx="20">
                  <c:v>220</c:v>
                </c:pt>
                <c:pt idx="21">
                  <c:v>305</c:v>
                </c:pt>
                <c:pt idx="22">
                  <c:v>310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568"/>
                </a:solidFill>
                <a:latin typeface="+mn-lt"/>
              </a:defRPr>
            </a:pPr>
            <a:endParaRPr lang="en-US"/>
          </a:p>
        </c:txPr>
        <c:crossAx val="2094734552"/>
        <c:crosses val="autoZero"/>
        <c:auto val="1"/>
        <c:lblAlgn val="ctr"/>
        <c:noMultiLvlLbl val="0"/>
        <c:tickLblSkip val="5"/>
      </c:catAx>
      <c:valAx>
        <c:axId val="2094734552"/>
        <c:scaling>
          <c:orientation val="minMax"/>
          <c:max val="350"/>
          <c:min val="0"/>
        </c:scaling>
        <c:delete val="0"/>
        <c:axPos val="l"/>
        <c:majorGridlines>
          <c:spPr>
            <a:ln w="9525" cap="flat">
              <a:solidFill>
                <a:srgbClr val="DCE3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568"/>
                </a:solidFill>
                <a:latin typeface="+mn-lt"/>
              </a:defRPr>
            </a:pPr>
            <a:endParaRPr lang="en-US"/>
          </a:p>
        </c:txPr>
        <c:crossAx val="2094734554"/>
        <c:crosses val="autoZero"/>
        <c:crossBetween val="between"/>
        <c:majorUnit val="1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Unique users</c:v>
                </c:pt>
              </c:strCache>
            </c:strRef>
          </c:tx>
          <c:spPr>
            <a:solidFill>
              <a:srgbClr val="0085CA"/>
            </a:solidFill>
            <a:effectLst/>
          </c:spPr>
          <c:invertIfNegative val="0"/>
          <c:dLbls>
            <c:numFmt formatCode="#,##0" sourceLinked="0"/>
            <c:txPr>
              <a:bodyPr/>
              <a:lstStyle/>
              <a:p>
                <a:pPr>
                  <a:defRPr b="0" i="0" strike="noStrike" sz="1000" u="none">
                    <a:solidFill>
                      <a:srgbClr val="00205B"/>
                    </a:solidFill>
                    <a:latin typeface="+mn-lt"/>
                  </a:defRPr>
                </a:pPr>
              </a:p>
            </c:txPr>
            <c:showLegendKey val="0"/>
            <c:showVal val="1"/>
            <c:showCatName val="0"/>
            <c:showSerName val="0"/>
            <c:showPercent val="0"/>
            <c:showBubbleSize val="0"/>
            <c:showLeaderLines val="0"/>
          </c:dLbls>
          <c:cat>
            <c:strRef>
              <c:f>Sheet1!$A$2:$A$8</c:f>
              <c:strCache>
                <c:ptCount val="7"/>
                <c:pt idx="0">
                  <c:v>B</c:v>
                </c:pt>
                <c:pt idx="1">
                  <c:v>O</c:v>
                </c:pt>
                <c:pt idx="2">
                  <c:v>P</c:v>
                </c:pt>
                <c:pt idx="3">
                  <c:v>A</c:v>
                </c:pt>
                <c:pt idx="4">
                  <c:v>L</c:v>
                </c:pt>
                <c:pt idx="5">
                  <c:v>S</c:v>
                </c:pt>
                <c:pt idx="6">
                  <c:v>K</c:v>
                </c:pt>
              </c:strCache>
            </c:strRef>
          </c:cat>
          <c:val>
            <c:numRef>
              <c:f>Sheet1!$B$2:$B$8</c:f>
              <c:numCache>
                <c:formatCode>General</c:formatCode>
                <c:ptCount val="7"/>
                <c:pt idx="0">
                  <c:v>345</c:v>
                </c:pt>
                <c:pt idx="1">
                  <c:v>120</c:v>
                </c:pt>
                <c:pt idx="2">
                  <c:v>95</c:v>
                </c:pt>
                <c:pt idx="3">
                  <c:v>60</c:v>
                </c:pt>
                <c:pt idx="4">
                  <c:v>55</c:v>
                </c:pt>
                <c:pt idx="5">
                  <c:v>55</c:v>
                </c:pt>
                <c:pt idx="6">
                  <c:v>50</c:v>
                </c:pt>
              </c:numCache>
            </c:numRef>
          </c:val>
        </c:ser>
        <c:dLbls>
          <c:numFmt formatCode="#,##0" sourceLinked="0"/>
          <c:txPr>
            <a:bodyPr/>
            <a:lstStyle/>
            <a:p>
              <a:pPr>
                <a:defRPr b="0" i="0" strike="noStrike" sz="1000" u="none">
                  <a:solidFill>
                    <a:srgbClr val="00205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0"/>
      </c:catAx>
      <c:valAx>
        <c:axId val="2094734552"/>
        <c:scaling>
          <c:orientation val="minMax"/>
          <c:max val="4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having us. In the next few minutes I'd like to tell you the story of ERM: where it sits, how it grew, why it had become fragile, and how two of us turned it into a stable, industrial application in a single PI.
ERM is Enterprise Risk Management. It's where risk managers across Airbus keep track of their risks and opportunities, build dashboards on them and prepare their reviews.
Let me start with where it 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big picture. In our Sustainability and Performance product line we run several product streams.
On the right are the sustainability streams: substances data, for regulated chemicals; environmental monitoring and reporting, for energy, water, waste and emissions; and the new energies market, with analytics on SAF and hydrogen.
On the left is company performance management: the tools that let the business monitor performance across the company and its organisations, from the performance dashboards to the KPI tree and KPI store. And then there are other Airbus tools we keep running, like the App Portal and the Skywise home page.
Today I want to zoom in on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ERM, Enterprise Risk Management. On a map like this it's one small box, but for the people who use it, it's where every risk review starts.
(Click: the box opens up into 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moves on by itself after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our company performance management stream sits the DMS Performance Management suite: KPIs and data products, dashboards, and ERM. ERM is an integral part of it, because it's where performance meets risk.
It takes risk and opportunity data from ARM, which runs on Riskonnect, and brings it to life on the Skywise platform. A risk manager opens the dashboard for their area, sees their risks on a heat map, updates them, and takes the one-pager or the report into their review. Every quarter the dashboards are validated and released, so management sees a governed picture.
But ERM didn't start with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ERM was built by Operations, as a Business Owned Tool in Slate. It worked, and other functions wanted it too, so it spread quickly beyond Operations. Today the business owner is FZR.
That growth is a good problem, but a tool built by the business isn't designed to carry the whole company. So we took it over. In 2024 we industrialised it: we standardised it, made it robust and kept improving it. In 2025 it scaled to more users and more functions, and that's when Slate started to show its limits. And in 2026 we migrated it: ERM 2.0, rebuilt and ready for go-live.
Before I show you how, let me show you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 really is used. Close to nine hundred people have used ERM, around three hundred in a busy month, and there are more than sixteen hundred dashboards, some of them updated every day. It's used by many functions, mostly in France and Germany, and also in the UK, Spain and Canada.
So it isn't a side tool. If ERM breaks, risk reporting breaks. And under the surface, the Slate version was fragile.
— — —
Reference if asked: 892 lifetime unique users; 320+ active in a peak month; 1,600+ dashboards; 10+ updated every day. Largest function B (~345), then O, P, A, L, S, K and about a dozen smaller ones. France 314, Germany 205, UK 58, Spain 25, Canada 12; top sites Blagnac 271 and Hamburg 205. Chart values are read from the usage dashboard, so they are approximate.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and the solution on one picture.
On the left is the Slate app we inherited. It worked, but everything was tangled together: one click set off a chain reaction behind the scenes, so a small change in one place could break a dashboard somewhere else. Switching tabs was slow. And nothing was documented, so the knowledge of what it really did lived in configuration and in a few people's heads.
We took it through the portal: an AI-assisted migration. The AI did the heavy lifting of reading the old app and listing everything it does, and we checked every single feature on the other side.
What came out is ERM 2.0: the same app people know, but stable, faster, documented and easy to extend. Rather than describe it, let me show you.
— — —
Play the trailer here: 1 min 34 s, full screen, sound on. Let it run without talking over it. It shows sample data only and ends on "Coming soon", which matches where we are: the app isn't live yet.
Before you start: have docs/trailer-storyboard/erm2-trailer-1080p.mp4 open and cued, or embed it on this slide. Add about 1 min 40 s to your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was ERM 2.0. One PI, two developers. Every one of the hundred and five features people rely on was carried over and checked. On top of that there are eleven new ones, like custom one-pager layouts and a slideshow mode for reviews. It's faster to move around, seven security issues were found and fixed along the way, and the app went from no documentation to ten documents.
The number I'd like you to remember is this one: about seventy-six percent less effort than a traditional migration. Four sprints instead of roughly seventeen. That's around eighty thousand dollars saved, and roughly ten thousand a year less to maintain. These are estimates, and the basis is in the footnote.
And it keeps paying back. Before, every change was risky. Now each feature stands on its own, so changes are quick and safe, and any team can pick it up.
But I'd rather the business told you how it feels.
— — —
Reference if asked. The 11 new features: permissions-only edit for locked versions; a web address per tab; a searchable dashboard switcher; a criticality-differs filter; category and impact-category filters; a fourth one-pager layout with custom slots; resizable columns saved per board; report classification and cover toggle; slideshow mode; one-pager selection shortcuts; showing risks by ID or title. Security findings included unsafe rich text in five places and permission checks that were too loose; the dashboard sharing-access fix is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came from ERM stakeholders in September, and they talk about the team and the tool as a whole.
The ERM Centre of Competence says that regular teamwork with the business, together with strong IT skills, turned an idea into a user-friendly industrial solution, and that the interface and performance have clearly improved. That word, industrial, is exactly the journey I described at the start.
Another stakeholder calls it a tremendous addition to the ERM toolset, and says more and more people now prepare and run their risk reviews with it.
And a Risk and Opportunity Manager says the new features make navigation easier and give a much clearer view of their data, and that whenever something went wrong, it was fixed quickly.
So how does this fit where we're heading?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lines up with four of our 2026 objectives.
First, using AI to solve business problems: the AI-assisted migration recovered every feature of an app nobody had documented.
Second, on time, on cost, on quality: one PI, two developers, about seventy-six percent less effort.
Third, operational performance: a business-critical tool is now stable, documented and ready to leave Slate.
Fourth, digital acumen: we wrote the method down as a playbook, so other teams can do the same.
And it was a team effort from start to finish: Operations built it, FZR owns it, business users confirmed every feature, and data and security owners made sure restricted views stayed restricted.
So, what's next?
— — —
Name the people and teams on the team strip if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we'd like to leave behind isn't only a new ERM, it's a way of working. Five steps: gather the whole app for the AI, catalogue what it does, compare old and new, fix the gaps, and document as you go. The tools for each step are ready today.
Next for ERM itself is go-live and the run phase with FZR. Beyond that, the same method fits any Slate app, and really any business-built tool where the knowledge lives in configuration and nobody wrote it down. There are plenty of those in our landscape.
So here's our ask. We'd like your support to make this playbook a standard way to move business-built tools to industrial apps. We've already aligned with [Architect] to propose it at the architecture sync. (If you have one, name the first team outside DMS.)
To sum up: from a business-built tool to an industrial product, and a method for the next app.
Thank you. I'm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9811512" y="182880"/>
            <a:ext cx="2194560" cy="274320"/>
          </a:xfrm>
          <a:prstGeom prst="rect">
            <a:avLst/>
          </a:prstGeom>
          <a:noFill/>
          <a:ln/>
        </p:spPr>
        <p:txBody>
          <a:bodyPr wrap="square" lIns="0" tIns="0" rIns="0" bIns="0" rtlCol="0" anchor="ctr"/>
          <a:lstStyle/>
          <a:p>
            <a:pPr algn="r" indent="0" marL="0">
              <a:buNone/>
            </a:pPr>
            <a:r>
              <a:rPr lang="en-US" sz="1000" dirty="0">
                <a:solidFill>
                  <a:srgbClr val="D2691E"/>
                </a:solidFill>
              </a:rPr>
              <a:t>Airbus Amber</a:t>
            </a:r>
            <a:endParaRPr lang="en-US" sz="1000" dirty="0"/>
          </a:p>
        </p:txBody>
      </p:sp>
      <p:sp>
        <p:nvSpPr>
          <p:cNvPr id="3" name="Text 1"/>
          <p:cNvSpPr/>
          <p:nvPr>
            <p:ph idx="101" type="title" hasCustomPrompt="1"/>
          </p:nvPr>
        </p:nvSpPr>
        <p:spPr>
          <a:xfrm>
            <a:off x="548640" y="502920"/>
            <a:ext cx="11094415"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9811512" y="182880"/>
            <a:ext cx="2194560" cy="274320"/>
          </a:xfrm>
          <a:prstGeom prst="rect">
            <a:avLst/>
          </a:prstGeom>
          <a:noFill/>
          <a:ln/>
        </p:spPr>
        <p:txBody>
          <a:bodyPr wrap="square" lIns="0" tIns="0" rIns="0" bIns="0" rtlCol="0" anchor="ctr"/>
          <a:lstStyle/>
          <a:p>
            <a:pPr algn="r" indent="0" marL="0">
              <a:buNone/>
            </a:pPr>
            <a:r>
              <a:rPr lang="en-US" sz="1000" dirty="0">
                <a:solidFill>
                  <a:srgbClr val="D2691E"/>
                </a:solidFill>
              </a:rPr>
              <a:t>Airbus Amber</a:t>
            </a:r>
            <a:endParaRPr lang="en-US" sz="1000" dirty="0"/>
          </a:p>
        </p:txBody>
      </p:sp>
      <p:sp>
        <p:nvSpPr>
          <p:cNvPr id="3" name="Text 1"/>
          <p:cNvSpPr/>
          <p:nvPr>
            <p:ph idx="101" type="title" hasCustomPrompt="1"/>
          </p:nvPr>
        </p:nvSpPr>
        <p:spPr>
          <a:xfrm>
            <a:off x="548640" y="502920"/>
            <a:ext cx="11094415"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AL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9811512" y="182880"/>
            <a:ext cx="2194560" cy="274320"/>
          </a:xfrm>
          <a:prstGeom prst="rect">
            <a:avLst/>
          </a:prstGeom>
          <a:noFill/>
          <a:ln/>
        </p:spPr>
        <p:txBody>
          <a:bodyPr wrap="square" lIns="0" tIns="0" rIns="0" bIns="0" rtlCol="0" anchor="ctr"/>
          <a:lstStyle/>
          <a:p>
            <a:pPr algn="r" indent="0" marL="0">
              <a:buNone/>
            </a:pPr>
            <a:r>
              <a:rPr lang="en-US" sz="1000" dirty="0">
                <a:solidFill>
                  <a:srgbClr val="D2691E"/>
                </a:solidFill>
              </a:rPr>
              <a:t>Airbus Amber</a:t>
            </a:r>
            <a:endParaRPr lang="en-US" sz="1000" dirty="0"/>
          </a:p>
        </p:txBody>
      </p:sp>
      <p:sp>
        <p:nvSpPr>
          <p:cNvPr id="3" name="Text 1"/>
          <p:cNvSpPr/>
          <p:nvPr>
            <p:ph idx="101" type="title" hasCustomPrompt="1"/>
          </p:nvPr>
        </p:nvSpPr>
        <p:spPr>
          <a:xfrm>
            <a:off x="548640" y="502920"/>
            <a:ext cx="11094415"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3383280" y="2514600"/>
            <a:ext cx="8229600" cy="320040"/>
          </a:xfrm>
          <a:prstGeom prst="rect">
            <a:avLst/>
          </a:prstGeom>
          <a:noFill/>
          <a:ln/>
        </p:spPr>
        <p:txBody>
          <a:bodyPr wrap="square" lIns="0" tIns="0" rIns="0" bIns="0" rtlCol="0" anchor="t"/>
          <a:lstStyle/>
          <a:p>
            <a:pPr indent="0" marL="0">
              <a:buNone/>
            </a:pPr>
            <a:r>
              <a:rPr lang="en-US" sz="1400" b="1" spc="200" kern="0" dirty="0">
                <a:solidFill>
                  <a:schemeClr val="bg1"/>
                </a:solidFill>
              </a:rPr>
              <a:t>DMS · PERFORMANCE MANAGEMENT</a:t>
            </a:r>
            <a:endParaRPr lang="en-US" sz="1400" dirty="0"/>
          </a:p>
        </p:txBody>
      </p:sp>
      <p:sp>
        <p:nvSpPr>
          <p:cNvPr id="3" name="cover-title"/>
          <p:cNvSpPr txBox="1"/>
          <p:nvPr/>
        </p:nvSpPr>
        <p:spPr>
          <a:xfrm>
            <a:off x="3383280" y="2880360"/>
            <a:ext cx="8503920" cy="685800"/>
          </a:xfrm>
          <a:prstGeom prst="rect">
            <a:avLst/>
          </a:prstGeom>
          <a:noFill/>
          <a:ln/>
        </p:spPr>
        <p:txBody>
          <a:bodyPr wrap="square" lIns="0" tIns="0" rIns="0" bIns="0" rtlCol="0" anchor="t"/>
          <a:lstStyle/>
          <a:p>
            <a:pPr indent="0" marL="0">
              <a:buNone/>
            </a:pPr>
            <a:r>
              <a:rPr lang="en-US" sz="4000" b="1" dirty="0">
                <a:solidFill>
                  <a:schemeClr val="bg1"/>
                </a:solidFill>
              </a:rPr>
              <a:t>ERM 2.0</a:t>
            </a:r>
            <a:endParaRPr lang="en-US" sz="4000" dirty="0"/>
          </a:p>
        </p:txBody>
      </p:sp>
      <p:sp>
        <p:nvSpPr>
          <p:cNvPr id="4" name="cover-answer"/>
          <p:cNvSpPr txBox="1"/>
          <p:nvPr/>
        </p:nvSpPr>
        <p:spPr>
          <a:xfrm>
            <a:off x="3383280" y="3611880"/>
            <a:ext cx="8321040" cy="914400"/>
          </a:xfrm>
          <a:prstGeom prst="rect">
            <a:avLst/>
          </a:prstGeom>
          <a:noFill/>
          <a:ln/>
        </p:spPr>
        <p:txBody>
          <a:bodyPr wrap="square" lIns="0" tIns="0" rIns="0" bIns="0" rtlCol="0" anchor="t"/>
          <a:lstStyle/>
          <a:p>
            <a:pPr indent="0" marL="0">
              <a:buNone/>
            </a:pPr>
            <a:r>
              <a:rPr lang="en-US" sz="2000" dirty="0">
                <a:solidFill>
                  <a:schemeClr val="bg1"/>
                </a:solidFill>
              </a:rPr>
              <a:t>How a business-built tool became a stable, industrial app, rebuilt by 2 developers in one PI with AI-assisted migration</a:t>
            </a:r>
            <a:endParaRPr lang="en-US" sz="2000" dirty="0"/>
          </a:p>
        </p:txBody>
      </p:sp>
      <p:sp>
        <p:nvSpPr>
          <p:cNvPr id="5" name="presenters"/>
          <p:cNvSpPr txBox="1"/>
          <p:nvPr/>
        </p:nvSpPr>
        <p:spPr>
          <a:xfrm>
            <a:off x="3383280" y="5806440"/>
            <a:ext cx="7315200" cy="365760"/>
          </a:xfrm>
          <a:prstGeom prst="rect">
            <a:avLst/>
          </a:prstGeom>
          <a:noFill/>
          <a:ln/>
        </p:spPr>
        <p:txBody>
          <a:bodyPr wrap="square" lIns="0" tIns="0" rIns="0" bIns="0" rtlCol="0" anchor="t"/>
          <a:lstStyle/>
          <a:p>
            <a:pPr indent="0" marL="0">
              <a:buNone/>
            </a:pPr>
            <a:r>
              <a:rPr lang="en-US" sz="1400" dirty="0">
                <a:solidFill>
                  <a:schemeClr val="bg1"/>
                </a:solidFill>
              </a:rPr>
              <a:t>[Team name] · [Presenter names] · [Date]</a:t>
            </a:r>
            <a:endParaRPr lang="en-US" sz="1400" dirty="0"/>
          </a:p>
        </p:txBody>
      </p:sp>
      <p:sp>
        <p:nvSpPr>
          <p:cNvPr id="7"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CONTEXT</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Product Streams Scope</a:t>
            </a:r>
            <a:endParaRPr lang="en-US" sz="3600" dirty="0"/>
          </a:p>
        </p:txBody>
      </p:sp>
      <p:sp>
        <p:nvSpPr>
          <p:cNvPr id="4" name="scope-left"/>
          <p:cNvSpPr/>
          <p:nvPr/>
        </p:nvSpPr>
        <p:spPr>
          <a:xfrm>
            <a:off x="411480" y="1325880"/>
            <a:ext cx="4800600" cy="4434840"/>
          </a:xfrm>
          <a:prstGeom prst="roundRect">
            <a:avLst>
              <a:gd name="adj" fmla="val 4124"/>
            </a:avLst>
          </a:prstGeom>
          <a:solidFill>
            <a:schemeClr val="bg1"/>
          </a:solidFill>
          <a:ln w="12700">
            <a:solidFill>
              <a:schemeClr val="accent5"/>
            </a:solidFill>
            <a:prstDash val="dash"/>
          </a:ln>
        </p:spPr>
      </p:sp>
      <p:sp>
        <p:nvSpPr>
          <p:cNvPr id="5" name="cpm-head"/>
          <p:cNvSpPr txBox="1"/>
          <p:nvPr/>
        </p:nvSpPr>
        <p:spPr>
          <a:xfrm>
            <a:off x="685800" y="1463040"/>
            <a:ext cx="3383280" cy="685800"/>
          </a:xfrm>
          <a:prstGeom prst="rect">
            <a:avLst/>
          </a:prstGeom>
          <a:noFill/>
          <a:ln/>
        </p:spPr>
        <p:txBody>
          <a:bodyPr wrap="square" lIns="0" tIns="0" rIns="0" bIns="0" rtlCol="0" anchor="t"/>
          <a:lstStyle/>
          <a:p>
            <a:pPr indent="0" marL="0">
              <a:buNone/>
            </a:pPr>
            <a:r>
              <a:rPr lang="en-US" sz="1400" b="1" dirty="0">
                <a:solidFill>
                  <a:schemeClr val="tx1"/>
                </a:solidFill>
              </a:rPr>
              <a:t>Company performance management</a:t>
            </a:r>
            <a:endParaRPr lang="en-US" sz="1400" dirty="0"/>
          </a:p>
          <a:p>
            <a:pPr indent="0" marL="0">
              <a:buNone/>
            </a:pPr>
            <a:r>
              <a:rPr lang="en-US" sz="1050" dirty="0">
                <a:solidFill>
                  <a:schemeClr val="tx2"/>
                </a:solidFill>
              </a:rPr>
              <a:t>Enable our business to monitor the company and organisations' TBO, TCO and TFO, and risk management</a:t>
            </a:r>
            <a:endParaRPr lang="en-US" sz="1400" dirty="0"/>
          </a:p>
        </p:txBody>
      </p:sp>
      <p:pic>
        <p:nvPicPr>
          <p:cNvPr id="6" name="cpm-icon" descr="/tmp/claude-0/-home-user-archify/c55ec104-845e-5eb5-96c0-f59db47d1002/scratchpad/pptx3/icons/target.png">    </p:cNvPr>
          <p:cNvPicPr>
            <a:picLocks noChangeAspect="1"/>
          </p:cNvPicPr>
          <p:nvPr/>
        </p:nvPicPr>
        <p:blipFill>
          <a:blip r:embed="rId1"/>
          <a:stretch>
            <a:fillRect/>
          </a:stretch>
        </p:blipFill>
        <p:spPr>
          <a:xfrm>
            <a:off x="4251960" y="1463040"/>
            <a:ext cx="777240" cy="777240"/>
          </a:xfrm>
          <a:prstGeom prst="rect">
            <a:avLst/>
          </a:prstGeom>
        </p:spPr>
      </p:pic>
      <p:sp>
        <p:nvSpPr>
          <p:cNvPr id="7" name="cpm-0-0"/>
          <p:cNvSpPr/>
          <p:nvPr/>
        </p:nvSpPr>
        <p:spPr>
          <a:xfrm>
            <a:off x="685800" y="2514600"/>
            <a:ext cx="1325880" cy="384048"/>
          </a:xfrm>
          <a:prstGeom prst="roundRect">
            <a:avLst>
              <a:gd name="adj" fmla="val 14286"/>
            </a:avLst>
          </a:prstGeom>
          <a:solidFill>
            <a:schemeClr val="bg2"/>
          </a:solidFill>
          <a:ln w="12700">
            <a:solidFill>
              <a:schemeClr val="accent5"/>
            </a:solidFill>
            <a:prstDash val="solid"/>
          </a:ln>
        </p:spPr>
      </p:sp>
      <p:sp>
        <p:nvSpPr>
          <p:cNvPr id="8" name="cpm-0-0-text"/>
          <p:cNvSpPr txBox="1"/>
          <p:nvPr/>
        </p:nvSpPr>
        <p:spPr>
          <a:xfrm>
            <a:off x="685800" y="251460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A Perfo</a:t>
            </a:r>
            <a:endParaRPr lang="en-US" sz="1000" dirty="0"/>
          </a:p>
        </p:txBody>
      </p:sp>
      <p:sp>
        <p:nvSpPr>
          <p:cNvPr id="9" name="cpm-0-1"/>
          <p:cNvSpPr/>
          <p:nvPr/>
        </p:nvSpPr>
        <p:spPr>
          <a:xfrm>
            <a:off x="2194560" y="2514600"/>
            <a:ext cx="1325880" cy="384048"/>
          </a:xfrm>
          <a:prstGeom prst="roundRect">
            <a:avLst>
              <a:gd name="adj" fmla="val 14286"/>
            </a:avLst>
          </a:prstGeom>
          <a:solidFill>
            <a:schemeClr val="bg2"/>
          </a:solidFill>
          <a:ln w="12700">
            <a:solidFill>
              <a:schemeClr val="accent5"/>
            </a:solidFill>
            <a:prstDash val="solid"/>
          </a:ln>
        </p:spPr>
      </p:sp>
      <p:sp>
        <p:nvSpPr>
          <p:cNvPr id="10" name="cpm-0-1-text"/>
          <p:cNvSpPr txBox="1"/>
          <p:nvPr/>
        </p:nvSpPr>
        <p:spPr>
          <a:xfrm>
            <a:off x="2194560" y="251460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BL Perfo</a:t>
            </a:r>
            <a:endParaRPr lang="en-US" sz="1000" dirty="0"/>
          </a:p>
        </p:txBody>
      </p:sp>
      <p:sp>
        <p:nvSpPr>
          <p:cNvPr id="11" name="cpm-0-2"/>
          <p:cNvSpPr/>
          <p:nvPr/>
        </p:nvSpPr>
        <p:spPr>
          <a:xfrm>
            <a:off x="3703320" y="2514600"/>
            <a:ext cx="1325880" cy="384048"/>
          </a:xfrm>
          <a:prstGeom prst="roundRect">
            <a:avLst>
              <a:gd name="adj" fmla="val 14286"/>
            </a:avLst>
          </a:prstGeom>
          <a:solidFill>
            <a:schemeClr val="bg2"/>
          </a:solidFill>
          <a:ln w="12700">
            <a:solidFill>
              <a:schemeClr val="accent5"/>
            </a:solidFill>
            <a:prstDash val="solid"/>
          </a:ln>
        </p:spPr>
      </p:sp>
      <p:sp>
        <p:nvSpPr>
          <p:cNvPr id="12" name="cpm-0-2-text"/>
          <p:cNvSpPr txBox="1"/>
          <p:nvPr/>
        </p:nvSpPr>
        <p:spPr>
          <a:xfrm>
            <a:off x="3703320" y="251460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Portfolio Analyser</a:t>
            </a:r>
            <a:endParaRPr lang="en-US" sz="1000" dirty="0"/>
          </a:p>
        </p:txBody>
      </p:sp>
      <p:sp>
        <p:nvSpPr>
          <p:cNvPr id="13" name="cpm-1-0"/>
          <p:cNvSpPr/>
          <p:nvPr/>
        </p:nvSpPr>
        <p:spPr>
          <a:xfrm>
            <a:off x="685800" y="3017520"/>
            <a:ext cx="1325880" cy="384048"/>
          </a:xfrm>
          <a:prstGeom prst="roundRect">
            <a:avLst>
              <a:gd name="adj" fmla="val 14286"/>
            </a:avLst>
          </a:prstGeom>
          <a:solidFill>
            <a:schemeClr val="bg2"/>
          </a:solidFill>
          <a:ln w="12700">
            <a:solidFill>
              <a:schemeClr val="accent5"/>
            </a:solidFill>
            <a:prstDash val="solid"/>
          </a:ln>
        </p:spPr>
      </p:sp>
      <p:sp>
        <p:nvSpPr>
          <p:cNvPr id="14" name="cpm-1-0-text"/>
          <p:cNvSpPr txBox="1"/>
          <p:nvPr/>
        </p:nvSpPr>
        <p:spPr>
          <a:xfrm>
            <a:off x="685800" y="301752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D Perfo</a:t>
            </a:r>
            <a:endParaRPr lang="en-US" sz="1000" dirty="0"/>
          </a:p>
        </p:txBody>
      </p:sp>
      <p:sp>
        <p:nvSpPr>
          <p:cNvPr id="15" name="cpm-1-1"/>
          <p:cNvSpPr/>
          <p:nvPr/>
        </p:nvSpPr>
        <p:spPr>
          <a:xfrm>
            <a:off x="2194560" y="3017520"/>
            <a:ext cx="1325880" cy="384048"/>
          </a:xfrm>
          <a:prstGeom prst="roundRect">
            <a:avLst>
              <a:gd name="adj" fmla="val 14286"/>
            </a:avLst>
          </a:prstGeom>
          <a:solidFill>
            <a:schemeClr val="bg2"/>
          </a:solidFill>
          <a:ln w="12700">
            <a:solidFill>
              <a:schemeClr val="accent5"/>
            </a:solidFill>
            <a:prstDash val="solid"/>
          </a:ln>
        </p:spPr>
      </p:sp>
      <p:sp>
        <p:nvSpPr>
          <p:cNvPr id="16" name="cpm-1-1-text"/>
          <p:cNvSpPr txBox="1"/>
          <p:nvPr/>
        </p:nvSpPr>
        <p:spPr>
          <a:xfrm>
            <a:off x="2194560" y="301752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HR Perfo</a:t>
            </a:r>
            <a:endParaRPr lang="en-US" sz="1000" dirty="0"/>
          </a:p>
        </p:txBody>
      </p:sp>
      <p:sp>
        <p:nvSpPr>
          <p:cNvPr id="17" name="cpm-2-0"/>
          <p:cNvSpPr/>
          <p:nvPr/>
        </p:nvSpPr>
        <p:spPr>
          <a:xfrm>
            <a:off x="685800" y="3520440"/>
            <a:ext cx="1325880" cy="384048"/>
          </a:xfrm>
          <a:prstGeom prst="roundRect">
            <a:avLst>
              <a:gd name="adj" fmla="val 14286"/>
            </a:avLst>
          </a:prstGeom>
          <a:solidFill>
            <a:schemeClr val="bg2"/>
          </a:solidFill>
          <a:ln w="12700">
            <a:solidFill>
              <a:schemeClr val="accent5"/>
            </a:solidFill>
            <a:prstDash val="solid"/>
          </a:ln>
        </p:spPr>
      </p:sp>
      <p:sp>
        <p:nvSpPr>
          <p:cNvPr id="18" name="cpm-2-0-text"/>
          <p:cNvSpPr txBox="1"/>
          <p:nvPr/>
        </p:nvSpPr>
        <p:spPr>
          <a:xfrm>
            <a:off x="685800" y="352044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B Perfo</a:t>
            </a:r>
            <a:endParaRPr lang="en-US" sz="1000" dirty="0"/>
          </a:p>
        </p:txBody>
      </p:sp>
      <p:sp>
        <p:nvSpPr>
          <p:cNvPr id="19" name="cpm-2-1"/>
          <p:cNvSpPr/>
          <p:nvPr/>
        </p:nvSpPr>
        <p:spPr>
          <a:xfrm>
            <a:off x="2194560" y="3520440"/>
            <a:ext cx="1325880" cy="384048"/>
          </a:xfrm>
          <a:prstGeom prst="roundRect">
            <a:avLst>
              <a:gd name="adj" fmla="val 14286"/>
            </a:avLst>
          </a:prstGeom>
          <a:solidFill>
            <a:schemeClr val="bg2"/>
          </a:solidFill>
          <a:ln w="12700">
            <a:solidFill>
              <a:schemeClr val="accent5"/>
            </a:solidFill>
            <a:prstDash val="solid"/>
          </a:ln>
        </p:spPr>
      </p:sp>
      <p:sp>
        <p:nvSpPr>
          <p:cNvPr id="20" name="cpm-2-1-text"/>
          <p:cNvSpPr txBox="1"/>
          <p:nvPr/>
        </p:nvSpPr>
        <p:spPr>
          <a:xfrm>
            <a:off x="2194560" y="352044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BS Perfo</a:t>
            </a:r>
            <a:endParaRPr lang="en-US" sz="1000" dirty="0"/>
          </a:p>
        </p:txBody>
      </p:sp>
      <p:sp>
        <p:nvSpPr>
          <p:cNvPr id="21" name="cpm-3-0"/>
          <p:cNvSpPr/>
          <p:nvPr/>
        </p:nvSpPr>
        <p:spPr>
          <a:xfrm>
            <a:off x="685800" y="4023360"/>
            <a:ext cx="1325880" cy="384048"/>
          </a:xfrm>
          <a:prstGeom prst="roundRect">
            <a:avLst>
              <a:gd name="adj" fmla="val 14286"/>
            </a:avLst>
          </a:prstGeom>
          <a:solidFill>
            <a:schemeClr val="bg2"/>
          </a:solidFill>
          <a:ln w="12700">
            <a:solidFill>
              <a:schemeClr val="accent5"/>
            </a:solidFill>
            <a:prstDash val="solid"/>
          </a:ln>
        </p:spPr>
      </p:sp>
      <p:sp>
        <p:nvSpPr>
          <p:cNvPr id="22" name="cpm-3-0-text"/>
          <p:cNvSpPr txBox="1"/>
          <p:nvPr/>
        </p:nvSpPr>
        <p:spPr>
          <a:xfrm>
            <a:off x="685800" y="402336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O Perfo</a:t>
            </a:r>
            <a:endParaRPr lang="en-US" sz="1000" dirty="0"/>
          </a:p>
        </p:txBody>
      </p:sp>
      <p:sp>
        <p:nvSpPr>
          <p:cNvPr id="23" name="cpm-3-1"/>
          <p:cNvSpPr/>
          <p:nvPr/>
        </p:nvSpPr>
        <p:spPr>
          <a:xfrm>
            <a:off x="2194560" y="4023360"/>
            <a:ext cx="1325880" cy="384048"/>
          </a:xfrm>
          <a:prstGeom prst="roundRect">
            <a:avLst>
              <a:gd name="adj" fmla="val 14286"/>
            </a:avLst>
          </a:prstGeom>
          <a:solidFill>
            <a:schemeClr val="bg2"/>
          </a:solidFill>
          <a:ln w="12700">
            <a:solidFill>
              <a:schemeClr val="accent5"/>
            </a:solidFill>
            <a:prstDash val="solid"/>
          </a:ln>
        </p:spPr>
      </p:sp>
      <p:sp>
        <p:nvSpPr>
          <p:cNvPr id="24" name="cpm-3-1-text"/>
          <p:cNvSpPr txBox="1"/>
          <p:nvPr/>
        </p:nvSpPr>
        <p:spPr>
          <a:xfrm>
            <a:off x="2194560" y="402336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Q Perfo</a:t>
            </a:r>
            <a:endParaRPr lang="en-US" sz="1000" dirty="0"/>
          </a:p>
        </p:txBody>
      </p:sp>
      <p:sp>
        <p:nvSpPr>
          <p:cNvPr id="25" name="cpm-4-0"/>
          <p:cNvSpPr/>
          <p:nvPr/>
        </p:nvSpPr>
        <p:spPr>
          <a:xfrm>
            <a:off x="685800" y="4526280"/>
            <a:ext cx="1325880" cy="384048"/>
          </a:xfrm>
          <a:prstGeom prst="roundRect">
            <a:avLst>
              <a:gd name="adj" fmla="val 14286"/>
            </a:avLst>
          </a:prstGeom>
          <a:solidFill>
            <a:schemeClr val="bg2"/>
          </a:solidFill>
          <a:ln w="12700">
            <a:solidFill>
              <a:schemeClr val="accent5"/>
            </a:solidFill>
            <a:prstDash val="solid"/>
          </a:ln>
        </p:spPr>
      </p:sp>
      <p:sp>
        <p:nvSpPr>
          <p:cNvPr id="26" name="cpm-4-0-text"/>
          <p:cNvSpPr txBox="1"/>
          <p:nvPr/>
        </p:nvSpPr>
        <p:spPr>
          <a:xfrm>
            <a:off x="685800" y="452628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KPI Tree</a:t>
            </a:r>
            <a:endParaRPr lang="en-US" sz="1000" dirty="0"/>
          </a:p>
        </p:txBody>
      </p:sp>
      <p:sp>
        <p:nvSpPr>
          <p:cNvPr id="27" name="cpm-4-1"/>
          <p:cNvSpPr/>
          <p:nvPr/>
        </p:nvSpPr>
        <p:spPr>
          <a:xfrm>
            <a:off x="2194560" y="4526280"/>
            <a:ext cx="1325880" cy="384048"/>
          </a:xfrm>
          <a:prstGeom prst="roundRect">
            <a:avLst>
              <a:gd name="adj" fmla="val 14286"/>
            </a:avLst>
          </a:prstGeom>
          <a:solidFill>
            <a:schemeClr val="bg2"/>
          </a:solidFill>
          <a:ln w="12700">
            <a:solidFill>
              <a:schemeClr val="accent5"/>
            </a:solidFill>
            <a:prstDash val="solid"/>
          </a:ln>
        </p:spPr>
      </p:sp>
      <p:sp>
        <p:nvSpPr>
          <p:cNvPr id="28" name="cpm-4-1-text"/>
          <p:cNvSpPr txBox="1"/>
          <p:nvPr/>
        </p:nvSpPr>
        <p:spPr>
          <a:xfrm>
            <a:off x="2194560" y="452628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KPI Store</a:t>
            </a:r>
            <a:endParaRPr lang="en-US" sz="1000" dirty="0"/>
          </a:p>
        </p:txBody>
      </p:sp>
      <p:sp>
        <p:nvSpPr>
          <p:cNvPr id="29" name="!!erm"/>
          <p:cNvSpPr/>
          <p:nvPr/>
        </p:nvSpPr>
        <p:spPr>
          <a:xfrm>
            <a:off x="685800" y="5029200"/>
            <a:ext cx="1325880" cy="384048"/>
          </a:xfrm>
          <a:prstGeom prst="roundRect">
            <a:avLst>
              <a:gd name="adj" fmla="val 14286"/>
            </a:avLst>
          </a:prstGeom>
          <a:solidFill>
            <a:schemeClr val="bg2"/>
          </a:solidFill>
          <a:ln w="12700">
            <a:solidFill>
              <a:schemeClr val="accent5"/>
            </a:solidFill>
            <a:prstDash val="solid"/>
          </a:ln>
        </p:spPr>
      </p:sp>
      <p:sp>
        <p:nvSpPr>
          <p:cNvPr id="30" name="!!ermtext"/>
          <p:cNvSpPr txBox="1"/>
          <p:nvPr/>
        </p:nvSpPr>
        <p:spPr>
          <a:xfrm>
            <a:off x="685800" y="502920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ERM</a:t>
            </a:r>
            <a:endParaRPr lang="en-US" sz="1000" dirty="0"/>
          </a:p>
        </p:txBody>
      </p:sp>
      <p:sp>
        <p:nvSpPr>
          <p:cNvPr id="31" name="cpm-5-1"/>
          <p:cNvSpPr/>
          <p:nvPr/>
        </p:nvSpPr>
        <p:spPr>
          <a:xfrm>
            <a:off x="2194560" y="5029200"/>
            <a:ext cx="1325880" cy="384048"/>
          </a:xfrm>
          <a:prstGeom prst="roundRect">
            <a:avLst>
              <a:gd name="adj" fmla="val 14286"/>
            </a:avLst>
          </a:prstGeom>
          <a:solidFill>
            <a:schemeClr val="bg2"/>
          </a:solidFill>
          <a:ln w="12700">
            <a:solidFill>
              <a:schemeClr val="accent5"/>
            </a:solidFill>
            <a:prstDash val="solid"/>
          </a:ln>
        </p:spPr>
      </p:sp>
      <p:sp>
        <p:nvSpPr>
          <p:cNvPr id="32" name="cpm-5-1-text"/>
          <p:cNvSpPr txBox="1"/>
          <p:nvPr/>
        </p:nvSpPr>
        <p:spPr>
          <a:xfrm>
            <a:off x="2194560" y="502920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IE MBR</a:t>
            </a:r>
            <a:endParaRPr lang="en-US" sz="1000" dirty="0"/>
          </a:p>
        </p:txBody>
      </p:sp>
      <p:sp>
        <p:nvSpPr>
          <p:cNvPr id="33" name="hub"/>
          <p:cNvSpPr/>
          <p:nvPr/>
        </p:nvSpPr>
        <p:spPr>
          <a:xfrm>
            <a:off x="5349240" y="2788920"/>
            <a:ext cx="1554480" cy="1143000"/>
          </a:xfrm>
          <a:prstGeom prst="roundRect">
            <a:avLst>
              <a:gd name="adj" fmla="val 9600"/>
            </a:avLst>
          </a:prstGeom>
          <a:solidFill>
            <a:schemeClr val="tx1"/>
          </a:solidFill>
          <a:ln/>
        </p:spPr>
      </p:sp>
      <p:sp>
        <p:nvSpPr>
          <p:cNvPr id="34" name="hub-text"/>
          <p:cNvSpPr txBox="1"/>
          <p:nvPr/>
        </p:nvSpPr>
        <p:spPr>
          <a:xfrm>
            <a:off x="5394960" y="2788920"/>
            <a:ext cx="1463040" cy="1143000"/>
          </a:xfrm>
          <a:prstGeom prst="rect">
            <a:avLst/>
          </a:prstGeom>
          <a:noFill/>
          <a:ln/>
        </p:spPr>
        <p:txBody>
          <a:bodyPr wrap="square" lIns="0" tIns="0" rIns="0" bIns="0" rtlCol="0" anchor="ctr"/>
          <a:lstStyle/>
          <a:p>
            <a:pPr algn="ctr" indent="0" marL="0">
              <a:buNone/>
            </a:pPr>
            <a:r>
              <a:rPr lang="en-US" sz="1500" b="1" dirty="0">
                <a:solidFill>
                  <a:schemeClr val="bg1"/>
                </a:solidFill>
              </a:rPr>
              <a:t>Sustainability &amp; Performance</a:t>
            </a:r>
            <a:endParaRPr lang="en-US" sz="1500" dirty="0"/>
          </a:p>
        </p:txBody>
      </p:sp>
      <p:sp>
        <p:nvSpPr>
          <p:cNvPr id="35" name="scope-right"/>
          <p:cNvSpPr/>
          <p:nvPr/>
        </p:nvSpPr>
        <p:spPr>
          <a:xfrm>
            <a:off x="7040880" y="1325880"/>
            <a:ext cx="4736592" cy="4434840"/>
          </a:xfrm>
          <a:prstGeom prst="roundRect">
            <a:avLst>
              <a:gd name="adj" fmla="val 4124"/>
            </a:avLst>
          </a:prstGeom>
          <a:solidFill>
            <a:schemeClr val="bg1"/>
          </a:solidFill>
          <a:ln w="12700">
            <a:solidFill>
              <a:schemeClr val="accent5"/>
            </a:solidFill>
            <a:prstDash val="dash"/>
          </a:ln>
        </p:spPr>
      </p:sp>
      <p:pic>
        <p:nvPicPr>
          <p:cNvPr id="36" name="sec-0-icon" descr="/tmp/claude-0/-home-user-archify/c55ec104-845e-5eb5-96c0-f59db47d1002/scratchpad/pptx3/icons/flask.png">    </p:cNvPr>
          <p:cNvPicPr>
            <a:picLocks noChangeAspect="1"/>
          </p:cNvPicPr>
          <p:nvPr/>
        </p:nvPicPr>
        <p:blipFill>
          <a:blip r:embed="rId2"/>
          <a:stretch>
            <a:fillRect/>
          </a:stretch>
        </p:blipFill>
        <p:spPr>
          <a:xfrm>
            <a:off x="7223760" y="1417320"/>
            <a:ext cx="640080" cy="640080"/>
          </a:xfrm>
          <a:prstGeom prst="rect">
            <a:avLst/>
          </a:prstGeom>
        </p:spPr>
      </p:pic>
      <p:sp>
        <p:nvSpPr>
          <p:cNvPr id="37" name="sec-0-head"/>
          <p:cNvSpPr txBox="1"/>
          <p:nvPr/>
        </p:nvSpPr>
        <p:spPr>
          <a:xfrm>
            <a:off x="8001000" y="1371600"/>
            <a:ext cx="3703320" cy="685800"/>
          </a:xfrm>
          <a:prstGeom prst="rect">
            <a:avLst/>
          </a:prstGeom>
          <a:noFill/>
          <a:ln/>
        </p:spPr>
        <p:txBody>
          <a:bodyPr wrap="square" lIns="0" tIns="0" rIns="0" bIns="0" rtlCol="0" anchor="t"/>
          <a:lstStyle/>
          <a:p>
            <a:pPr indent="0" marL="0">
              <a:buNone/>
            </a:pPr>
            <a:r>
              <a:rPr lang="en-US" sz="1400" b="1" dirty="0">
                <a:solidFill>
                  <a:schemeClr val="tx1"/>
                </a:solidFill>
              </a:rPr>
              <a:t>Substances Data</a:t>
            </a:r>
            <a:endParaRPr lang="en-US" sz="1400" dirty="0"/>
          </a:p>
          <a:p>
            <a:pPr indent="0" marL="0">
              <a:buNone/>
            </a:pPr>
            <a:r>
              <a:rPr lang="en-US" sz="1050" dirty="0">
                <a:solidFill>
                  <a:schemeClr val="tx2"/>
                </a:solidFill>
              </a:rPr>
              <a:t>Regulated chemical substances: traceability, compliance and declaration</a:t>
            </a:r>
            <a:endParaRPr lang="en-US" sz="1400" dirty="0"/>
          </a:p>
        </p:txBody>
      </p:sp>
      <p:sp>
        <p:nvSpPr>
          <p:cNvPr id="38" name="sec-0-link"/>
          <p:cNvSpPr/>
          <p:nvPr/>
        </p:nvSpPr>
        <p:spPr>
          <a:xfrm flipV="1">
            <a:off x="6903720" y="3355848"/>
            <a:ext cx="320040" cy="-1618488"/>
          </a:xfrm>
          <a:prstGeom prst="line">
            <a:avLst/>
          </a:prstGeom>
          <a:noFill/>
          <a:ln w="19050">
            <a:solidFill>
              <a:schemeClr val="accent2"/>
            </a:solidFill>
            <a:prstDash val="sysDot"/>
          </a:ln>
        </p:spPr>
      </p:sp>
      <p:sp>
        <p:nvSpPr>
          <p:cNvPr id="39" name="sec-0-0-0"/>
          <p:cNvSpPr/>
          <p:nvPr/>
        </p:nvSpPr>
        <p:spPr>
          <a:xfrm>
            <a:off x="8001000" y="2075688"/>
            <a:ext cx="1188720" cy="402336"/>
          </a:xfrm>
          <a:prstGeom prst="roundRect">
            <a:avLst>
              <a:gd name="adj" fmla="val 13636"/>
            </a:avLst>
          </a:prstGeom>
          <a:solidFill>
            <a:schemeClr val="bg2"/>
          </a:solidFill>
          <a:ln w="12700">
            <a:solidFill>
              <a:schemeClr val="accent5"/>
            </a:solidFill>
            <a:prstDash val="solid"/>
          </a:ln>
        </p:spPr>
      </p:sp>
      <p:sp>
        <p:nvSpPr>
          <p:cNvPr id="40" name="sec-0-0-0-text"/>
          <p:cNvSpPr txBox="1"/>
          <p:nvPr/>
        </p:nvSpPr>
        <p:spPr>
          <a:xfrm>
            <a:off x="8001000" y="2075688"/>
            <a:ext cx="1188720" cy="402336"/>
          </a:xfrm>
          <a:prstGeom prst="rect">
            <a:avLst/>
          </a:prstGeom>
          <a:noFill/>
          <a:ln/>
        </p:spPr>
        <p:txBody>
          <a:bodyPr wrap="square" lIns="0" tIns="0" rIns="0" bIns="0" rtlCol="0" anchor="ctr"/>
          <a:lstStyle/>
          <a:p>
            <a:pPr algn="ctr" indent="0" marL="0">
              <a:buNone/>
            </a:pPr>
            <a:r>
              <a:rPr lang="en-US" sz="900" b="1" dirty="0">
                <a:solidFill>
                  <a:schemeClr val="tx1"/>
                </a:solidFill>
              </a:rPr>
              <a:t>Halon Stock Management</a:t>
            </a:r>
            <a:endParaRPr lang="en-US" sz="900" dirty="0"/>
          </a:p>
        </p:txBody>
      </p:sp>
      <p:sp>
        <p:nvSpPr>
          <p:cNvPr id="41" name="sec-0-0-1"/>
          <p:cNvSpPr/>
          <p:nvPr/>
        </p:nvSpPr>
        <p:spPr>
          <a:xfrm>
            <a:off x="9244584" y="2075688"/>
            <a:ext cx="1188720" cy="402336"/>
          </a:xfrm>
          <a:prstGeom prst="roundRect">
            <a:avLst>
              <a:gd name="adj" fmla="val 13636"/>
            </a:avLst>
          </a:prstGeom>
          <a:solidFill>
            <a:schemeClr val="bg2"/>
          </a:solidFill>
          <a:ln w="12700">
            <a:solidFill>
              <a:schemeClr val="accent5"/>
            </a:solidFill>
            <a:prstDash val="solid"/>
          </a:ln>
        </p:spPr>
      </p:sp>
      <p:sp>
        <p:nvSpPr>
          <p:cNvPr id="42" name="sec-0-0-1-text"/>
          <p:cNvSpPr txBox="1"/>
          <p:nvPr/>
        </p:nvSpPr>
        <p:spPr>
          <a:xfrm>
            <a:off x="9244584" y="2075688"/>
            <a:ext cx="1188720" cy="402336"/>
          </a:xfrm>
          <a:prstGeom prst="rect">
            <a:avLst/>
          </a:prstGeom>
          <a:noFill/>
          <a:ln/>
        </p:spPr>
        <p:txBody>
          <a:bodyPr wrap="square" lIns="0" tIns="0" rIns="0" bIns="0" rtlCol="0" anchor="ctr"/>
          <a:lstStyle/>
          <a:p>
            <a:pPr algn="ctr" indent="0" marL="0">
              <a:buNone/>
            </a:pPr>
            <a:r>
              <a:rPr lang="en-US" sz="900" b="1" dirty="0">
                <a:solidFill>
                  <a:schemeClr val="tx1"/>
                </a:solidFill>
              </a:rPr>
              <a:t>Banned Substances</a:t>
            </a:r>
            <a:endParaRPr lang="en-US" sz="900" dirty="0"/>
          </a:p>
        </p:txBody>
      </p:sp>
      <p:sp>
        <p:nvSpPr>
          <p:cNvPr id="43" name="sec-0-0-2"/>
          <p:cNvSpPr/>
          <p:nvPr/>
        </p:nvSpPr>
        <p:spPr>
          <a:xfrm>
            <a:off x="10488168" y="2075688"/>
            <a:ext cx="1188720" cy="402336"/>
          </a:xfrm>
          <a:prstGeom prst="roundRect">
            <a:avLst>
              <a:gd name="adj" fmla="val 13636"/>
            </a:avLst>
          </a:prstGeom>
          <a:solidFill>
            <a:schemeClr val="bg2"/>
          </a:solidFill>
          <a:ln w="12700">
            <a:solidFill>
              <a:schemeClr val="accent5"/>
            </a:solidFill>
            <a:prstDash val="solid"/>
          </a:ln>
        </p:spPr>
      </p:sp>
      <p:sp>
        <p:nvSpPr>
          <p:cNvPr id="44" name="sec-0-0-2-text"/>
          <p:cNvSpPr txBox="1"/>
          <p:nvPr/>
        </p:nvSpPr>
        <p:spPr>
          <a:xfrm>
            <a:off x="10488168" y="2075688"/>
            <a:ext cx="1188720" cy="402336"/>
          </a:xfrm>
          <a:prstGeom prst="rect">
            <a:avLst/>
          </a:prstGeom>
          <a:noFill/>
          <a:ln/>
        </p:spPr>
        <p:txBody>
          <a:bodyPr wrap="square" lIns="0" tIns="0" rIns="0" bIns="0" rtlCol="0" anchor="ctr"/>
          <a:lstStyle/>
          <a:p>
            <a:pPr algn="ctr" indent="0" marL="0">
              <a:buNone/>
            </a:pPr>
            <a:r>
              <a:rPr lang="en-US" sz="900" b="1" dirty="0">
                <a:solidFill>
                  <a:schemeClr val="tx1"/>
                </a:solidFill>
              </a:rPr>
              <a:t>HazMat DP</a:t>
            </a:r>
            <a:endParaRPr lang="en-US" sz="900" dirty="0"/>
          </a:p>
        </p:txBody>
      </p:sp>
      <p:sp>
        <p:nvSpPr>
          <p:cNvPr id="45" name="sec-0-1-0"/>
          <p:cNvSpPr/>
          <p:nvPr/>
        </p:nvSpPr>
        <p:spPr>
          <a:xfrm>
            <a:off x="8001000" y="2523744"/>
            <a:ext cx="1188720" cy="402336"/>
          </a:xfrm>
          <a:prstGeom prst="roundRect">
            <a:avLst>
              <a:gd name="adj" fmla="val 13636"/>
            </a:avLst>
          </a:prstGeom>
          <a:solidFill>
            <a:schemeClr val="bg2"/>
          </a:solidFill>
          <a:ln w="12700">
            <a:solidFill>
              <a:schemeClr val="accent5"/>
            </a:solidFill>
            <a:prstDash val="solid"/>
          </a:ln>
        </p:spPr>
      </p:sp>
      <p:sp>
        <p:nvSpPr>
          <p:cNvPr id="46" name="sec-0-1-0-text"/>
          <p:cNvSpPr txBox="1"/>
          <p:nvPr/>
        </p:nvSpPr>
        <p:spPr>
          <a:xfrm>
            <a:off x="8001000" y="2523744"/>
            <a:ext cx="1188720" cy="402336"/>
          </a:xfrm>
          <a:prstGeom prst="rect">
            <a:avLst/>
          </a:prstGeom>
          <a:noFill/>
          <a:ln/>
        </p:spPr>
        <p:txBody>
          <a:bodyPr wrap="square" lIns="0" tIns="0" rIns="0" bIns="0" rtlCol="0" anchor="ctr"/>
          <a:lstStyle/>
          <a:p>
            <a:pPr algn="ctr" indent="0" marL="0">
              <a:buNone/>
            </a:pPr>
            <a:r>
              <a:rPr lang="en-US" sz="900" b="1" dirty="0">
                <a:solidFill>
                  <a:schemeClr val="tx1"/>
                </a:solidFill>
              </a:rPr>
              <a:t>Batteries &amp; Conformity Reporting</a:t>
            </a:r>
            <a:endParaRPr lang="en-US" sz="900" dirty="0"/>
          </a:p>
        </p:txBody>
      </p:sp>
      <p:sp>
        <p:nvSpPr>
          <p:cNvPr id="47" name="sec-0-1-1"/>
          <p:cNvSpPr/>
          <p:nvPr/>
        </p:nvSpPr>
        <p:spPr>
          <a:xfrm>
            <a:off x="9244584" y="2523744"/>
            <a:ext cx="1188720" cy="402336"/>
          </a:xfrm>
          <a:prstGeom prst="roundRect">
            <a:avLst>
              <a:gd name="adj" fmla="val 13636"/>
            </a:avLst>
          </a:prstGeom>
          <a:solidFill>
            <a:schemeClr val="bg2"/>
          </a:solidFill>
          <a:ln w="12700">
            <a:solidFill>
              <a:schemeClr val="accent5"/>
            </a:solidFill>
            <a:prstDash val="solid"/>
          </a:ln>
        </p:spPr>
      </p:sp>
      <p:sp>
        <p:nvSpPr>
          <p:cNvPr id="48" name="sec-0-1-1-text"/>
          <p:cNvSpPr txBox="1"/>
          <p:nvPr/>
        </p:nvSpPr>
        <p:spPr>
          <a:xfrm>
            <a:off x="9244584" y="2523744"/>
            <a:ext cx="1188720" cy="402336"/>
          </a:xfrm>
          <a:prstGeom prst="rect">
            <a:avLst/>
          </a:prstGeom>
          <a:noFill/>
          <a:ln/>
        </p:spPr>
        <p:txBody>
          <a:bodyPr wrap="square" lIns="0" tIns="0" rIns="0" bIns="0" rtlCol="0" anchor="ctr"/>
          <a:lstStyle/>
          <a:p>
            <a:pPr algn="ctr" indent="0" marL="0">
              <a:buNone/>
            </a:pPr>
            <a:r>
              <a:rPr lang="en-US" sz="900" b="1" dirty="0">
                <a:solidFill>
                  <a:schemeClr val="tx1"/>
                </a:solidFill>
              </a:rPr>
              <a:t>HazMat Core Operational Reporting</a:t>
            </a:r>
            <a:endParaRPr lang="en-US" sz="900" dirty="0"/>
          </a:p>
        </p:txBody>
      </p:sp>
      <p:pic>
        <p:nvPicPr>
          <p:cNvPr id="49" name="sec-1-icon" descr="/tmp/claude-0/-home-user-archify/c55ec104-845e-5eb5-96c0-f59db47d1002/scratchpad/pptx3/icons/leaf.png">    </p:cNvPr>
          <p:cNvPicPr>
            <a:picLocks noChangeAspect="1"/>
          </p:cNvPicPr>
          <p:nvPr/>
        </p:nvPicPr>
        <p:blipFill>
          <a:blip r:embed="rId3"/>
          <a:stretch>
            <a:fillRect/>
          </a:stretch>
        </p:blipFill>
        <p:spPr>
          <a:xfrm>
            <a:off x="7223760" y="3108960"/>
            <a:ext cx="640080" cy="640080"/>
          </a:xfrm>
          <a:prstGeom prst="rect">
            <a:avLst/>
          </a:prstGeom>
        </p:spPr>
      </p:pic>
      <p:sp>
        <p:nvSpPr>
          <p:cNvPr id="50" name="sec-1-head"/>
          <p:cNvSpPr txBox="1"/>
          <p:nvPr/>
        </p:nvSpPr>
        <p:spPr>
          <a:xfrm>
            <a:off x="8001000" y="3063240"/>
            <a:ext cx="3703320" cy="685800"/>
          </a:xfrm>
          <a:prstGeom prst="rect">
            <a:avLst/>
          </a:prstGeom>
          <a:noFill/>
          <a:ln/>
        </p:spPr>
        <p:txBody>
          <a:bodyPr wrap="square" lIns="0" tIns="0" rIns="0" bIns="0" rtlCol="0" anchor="t"/>
          <a:lstStyle/>
          <a:p>
            <a:pPr indent="0" marL="0">
              <a:buNone/>
            </a:pPr>
            <a:r>
              <a:rPr lang="en-US" sz="1400" b="1" dirty="0">
                <a:solidFill>
                  <a:schemeClr val="tx1"/>
                </a:solidFill>
              </a:rPr>
              <a:t>Environmental monitoring &amp; reporting</a:t>
            </a:r>
            <a:endParaRPr lang="en-US" sz="1400" dirty="0"/>
          </a:p>
          <a:p>
            <a:pPr indent="0" marL="0">
              <a:buNone/>
            </a:pPr>
            <a:r>
              <a:rPr lang="en-US" sz="1050" dirty="0">
                <a:solidFill>
                  <a:schemeClr val="tx2"/>
                </a:solidFill>
              </a:rPr>
              <a:t>Energy and water consumption; waste, CO2 and VOC emissions for HM and O perimeters</a:t>
            </a:r>
            <a:endParaRPr lang="en-US" sz="1400" dirty="0"/>
          </a:p>
        </p:txBody>
      </p:sp>
      <p:sp>
        <p:nvSpPr>
          <p:cNvPr id="51" name="sec-1-link"/>
          <p:cNvSpPr/>
          <p:nvPr/>
        </p:nvSpPr>
        <p:spPr>
          <a:xfrm>
            <a:off x="6903720" y="3355848"/>
            <a:ext cx="320040" cy="73152"/>
          </a:xfrm>
          <a:prstGeom prst="line">
            <a:avLst/>
          </a:prstGeom>
          <a:noFill/>
          <a:ln w="19050">
            <a:solidFill>
              <a:schemeClr val="accent2"/>
            </a:solidFill>
            <a:prstDash val="sysDot"/>
          </a:ln>
        </p:spPr>
      </p:sp>
      <p:sp>
        <p:nvSpPr>
          <p:cNvPr id="52" name="sec-1-0-0"/>
          <p:cNvSpPr/>
          <p:nvPr/>
        </p:nvSpPr>
        <p:spPr>
          <a:xfrm>
            <a:off x="8001000" y="3767328"/>
            <a:ext cx="1188720" cy="402336"/>
          </a:xfrm>
          <a:prstGeom prst="roundRect">
            <a:avLst>
              <a:gd name="adj" fmla="val 13636"/>
            </a:avLst>
          </a:prstGeom>
          <a:solidFill>
            <a:schemeClr val="bg2"/>
          </a:solidFill>
          <a:ln w="12700">
            <a:solidFill>
              <a:schemeClr val="accent5"/>
            </a:solidFill>
            <a:prstDash val="solid"/>
          </a:ln>
        </p:spPr>
      </p:sp>
      <p:sp>
        <p:nvSpPr>
          <p:cNvPr id="53" name="sec-1-0-0-text"/>
          <p:cNvSpPr txBox="1"/>
          <p:nvPr/>
        </p:nvSpPr>
        <p:spPr>
          <a:xfrm>
            <a:off x="8001000" y="3767328"/>
            <a:ext cx="1188720" cy="402336"/>
          </a:xfrm>
          <a:prstGeom prst="rect">
            <a:avLst/>
          </a:prstGeom>
          <a:noFill/>
          <a:ln/>
        </p:spPr>
        <p:txBody>
          <a:bodyPr wrap="square" lIns="0" tIns="0" rIns="0" bIns="0" rtlCol="0" anchor="ctr"/>
          <a:lstStyle/>
          <a:p>
            <a:pPr algn="ctr" indent="0" marL="0">
              <a:buNone/>
            </a:pPr>
            <a:r>
              <a:rPr lang="en-US" sz="900" b="1" dirty="0">
                <a:solidFill>
                  <a:schemeClr val="tx1"/>
                </a:solidFill>
              </a:rPr>
              <a:t>eIODA</a:t>
            </a:r>
            <a:endParaRPr lang="en-US" sz="900" dirty="0"/>
          </a:p>
        </p:txBody>
      </p:sp>
      <p:sp>
        <p:nvSpPr>
          <p:cNvPr id="54" name="sec-1-0-1"/>
          <p:cNvSpPr/>
          <p:nvPr/>
        </p:nvSpPr>
        <p:spPr>
          <a:xfrm>
            <a:off x="9244584" y="3767328"/>
            <a:ext cx="1188720" cy="402336"/>
          </a:xfrm>
          <a:prstGeom prst="roundRect">
            <a:avLst>
              <a:gd name="adj" fmla="val 13636"/>
            </a:avLst>
          </a:prstGeom>
          <a:solidFill>
            <a:schemeClr val="bg2"/>
          </a:solidFill>
          <a:ln w="12700">
            <a:solidFill>
              <a:schemeClr val="accent5"/>
            </a:solidFill>
            <a:prstDash val="solid"/>
          </a:ln>
        </p:spPr>
      </p:sp>
      <p:sp>
        <p:nvSpPr>
          <p:cNvPr id="55" name="sec-1-0-1-text"/>
          <p:cNvSpPr txBox="1"/>
          <p:nvPr/>
        </p:nvSpPr>
        <p:spPr>
          <a:xfrm>
            <a:off x="9244584" y="3767328"/>
            <a:ext cx="1188720" cy="402336"/>
          </a:xfrm>
          <a:prstGeom prst="rect">
            <a:avLst/>
          </a:prstGeom>
          <a:noFill/>
          <a:ln/>
        </p:spPr>
        <p:txBody>
          <a:bodyPr wrap="square" lIns="0" tIns="0" rIns="0" bIns="0" rtlCol="0" anchor="ctr"/>
          <a:lstStyle/>
          <a:p>
            <a:pPr algn="ctr" indent="0" marL="0">
              <a:buNone/>
            </a:pPr>
            <a:r>
              <a:rPr lang="en-US" sz="900" b="1" dirty="0">
                <a:solidFill>
                  <a:schemeClr val="tx1"/>
                </a:solidFill>
              </a:rPr>
              <a:t>High5+ Cockpit</a:t>
            </a:r>
            <a:endParaRPr lang="en-US" sz="900" dirty="0"/>
          </a:p>
        </p:txBody>
      </p:sp>
      <p:sp>
        <p:nvSpPr>
          <p:cNvPr id="56" name="sec-1-0-2"/>
          <p:cNvSpPr/>
          <p:nvPr/>
        </p:nvSpPr>
        <p:spPr>
          <a:xfrm>
            <a:off x="10488168" y="3767328"/>
            <a:ext cx="1188720" cy="402336"/>
          </a:xfrm>
          <a:prstGeom prst="roundRect">
            <a:avLst>
              <a:gd name="adj" fmla="val 13636"/>
            </a:avLst>
          </a:prstGeom>
          <a:solidFill>
            <a:schemeClr val="bg2"/>
          </a:solidFill>
          <a:ln w="12700">
            <a:solidFill>
              <a:schemeClr val="accent5"/>
            </a:solidFill>
            <a:prstDash val="solid"/>
          </a:ln>
        </p:spPr>
      </p:sp>
      <p:sp>
        <p:nvSpPr>
          <p:cNvPr id="57" name="sec-1-0-2-text"/>
          <p:cNvSpPr txBox="1"/>
          <p:nvPr/>
        </p:nvSpPr>
        <p:spPr>
          <a:xfrm>
            <a:off x="10488168" y="3767328"/>
            <a:ext cx="1188720" cy="402336"/>
          </a:xfrm>
          <a:prstGeom prst="rect">
            <a:avLst/>
          </a:prstGeom>
          <a:noFill/>
          <a:ln/>
        </p:spPr>
        <p:txBody>
          <a:bodyPr wrap="square" lIns="0" tIns="0" rIns="0" bIns="0" rtlCol="0" anchor="ctr"/>
          <a:lstStyle/>
          <a:p>
            <a:pPr algn="ctr" indent="0" marL="0">
              <a:buNone/>
            </a:pPr>
            <a:r>
              <a:rPr lang="en-US" sz="900" b="1" dirty="0">
                <a:solidFill>
                  <a:schemeClr val="tx1"/>
                </a:solidFill>
              </a:rPr>
              <a:t>eCockpit</a:t>
            </a:r>
            <a:endParaRPr lang="en-US" sz="900" dirty="0"/>
          </a:p>
        </p:txBody>
      </p:sp>
      <p:pic>
        <p:nvPicPr>
          <p:cNvPr id="58" name="sec-2-icon" descr="/tmp/claude-0/-home-user-archify/c55ec104-845e-5eb5-96c0-f59db47d1002/scratchpad/pptx3/icons/energy.png">    </p:cNvPr>
          <p:cNvPicPr>
            <a:picLocks noChangeAspect="1"/>
          </p:cNvPicPr>
          <p:nvPr/>
        </p:nvPicPr>
        <p:blipFill>
          <a:blip r:embed="rId4"/>
          <a:stretch>
            <a:fillRect/>
          </a:stretch>
        </p:blipFill>
        <p:spPr>
          <a:xfrm>
            <a:off x="7223760" y="4434840"/>
            <a:ext cx="640080" cy="640080"/>
          </a:xfrm>
          <a:prstGeom prst="rect">
            <a:avLst/>
          </a:prstGeom>
        </p:spPr>
      </p:pic>
      <p:sp>
        <p:nvSpPr>
          <p:cNvPr id="59" name="sec-2-head"/>
          <p:cNvSpPr txBox="1"/>
          <p:nvPr/>
        </p:nvSpPr>
        <p:spPr>
          <a:xfrm>
            <a:off x="8001000" y="4389120"/>
            <a:ext cx="3703320" cy="685800"/>
          </a:xfrm>
          <a:prstGeom prst="rect">
            <a:avLst/>
          </a:prstGeom>
          <a:noFill/>
          <a:ln/>
        </p:spPr>
        <p:txBody>
          <a:bodyPr wrap="square" lIns="0" tIns="0" rIns="0" bIns="0" rtlCol="0" anchor="t"/>
          <a:lstStyle/>
          <a:p>
            <a:pPr indent="0" marL="0">
              <a:buNone/>
            </a:pPr>
            <a:r>
              <a:rPr lang="en-US" sz="1400" b="1" dirty="0">
                <a:solidFill>
                  <a:schemeClr val="tx1"/>
                </a:solidFill>
              </a:rPr>
              <a:t>New Energies Market</a:t>
            </a:r>
            <a:endParaRPr lang="en-US" sz="1400" dirty="0"/>
          </a:p>
          <a:p>
            <a:pPr indent="0" marL="0">
              <a:buNone/>
            </a:pPr>
            <a:r>
              <a:rPr lang="en-US" sz="1050" dirty="0">
                <a:solidFill>
                  <a:schemeClr val="tx2"/>
                </a:solidFill>
              </a:rPr>
              <a:t>Analytics on SAF and liquid hydrogen over conventional fuel, for a reduced carbon footprint</a:t>
            </a:r>
            <a:endParaRPr lang="en-US" sz="1400" dirty="0"/>
          </a:p>
        </p:txBody>
      </p:sp>
      <p:sp>
        <p:nvSpPr>
          <p:cNvPr id="60" name="sec-2-link"/>
          <p:cNvSpPr/>
          <p:nvPr/>
        </p:nvSpPr>
        <p:spPr>
          <a:xfrm>
            <a:off x="6903720" y="3355848"/>
            <a:ext cx="320040" cy="1399032"/>
          </a:xfrm>
          <a:prstGeom prst="line">
            <a:avLst/>
          </a:prstGeom>
          <a:noFill/>
          <a:ln w="19050">
            <a:solidFill>
              <a:schemeClr val="accent2"/>
            </a:solidFill>
            <a:prstDash val="sysDot"/>
          </a:ln>
        </p:spPr>
      </p:sp>
      <p:sp>
        <p:nvSpPr>
          <p:cNvPr id="61" name="sec-2-0-0"/>
          <p:cNvSpPr/>
          <p:nvPr/>
        </p:nvSpPr>
        <p:spPr>
          <a:xfrm>
            <a:off x="8001000" y="5093208"/>
            <a:ext cx="1188720" cy="402336"/>
          </a:xfrm>
          <a:prstGeom prst="roundRect">
            <a:avLst>
              <a:gd name="adj" fmla="val 13636"/>
            </a:avLst>
          </a:prstGeom>
          <a:solidFill>
            <a:schemeClr val="bg2"/>
          </a:solidFill>
          <a:ln w="12700">
            <a:solidFill>
              <a:schemeClr val="accent5"/>
            </a:solidFill>
            <a:prstDash val="solid"/>
          </a:ln>
        </p:spPr>
      </p:sp>
      <p:sp>
        <p:nvSpPr>
          <p:cNvPr id="62" name="sec-2-0-0-text"/>
          <p:cNvSpPr txBox="1"/>
          <p:nvPr/>
        </p:nvSpPr>
        <p:spPr>
          <a:xfrm>
            <a:off x="8001000" y="5093208"/>
            <a:ext cx="1188720" cy="402336"/>
          </a:xfrm>
          <a:prstGeom prst="rect">
            <a:avLst/>
          </a:prstGeom>
          <a:noFill/>
          <a:ln/>
        </p:spPr>
        <p:txBody>
          <a:bodyPr wrap="square" lIns="0" tIns="0" rIns="0" bIns="0" rtlCol="0" anchor="ctr"/>
          <a:lstStyle/>
          <a:p>
            <a:pPr algn="ctr" indent="0" marL="0">
              <a:buNone/>
            </a:pPr>
            <a:r>
              <a:rPr lang="en-US" sz="900" b="1" dirty="0">
                <a:solidFill>
                  <a:schemeClr val="tx1"/>
                </a:solidFill>
              </a:rPr>
              <a:t>SAFIR</a:t>
            </a:r>
            <a:endParaRPr lang="en-US" sz="900" dirty="0"/>
          </a:p>
        </p:txBody>
      </p:sp>
      <p:sp>
        <p:nvSpPr>
          <p:cNvPr id="63" name="sec-2-0-1"/>
          <p:cNvSpPr/>
          <p:nvPr/>
        </p:nvSpPr>
        <p:spPr>
          <a:xfrm>
            <a:off x="9244584" y="5093208"/>
            <a:ext cx="1188720" cy="402336"/>
          </a:xfrm>
          <a:prstGeom prst="roundRect">
            <a:avLst>
              <a:gd name="adj" fmla="val 13636"/>
            </a:avLst>
          </a:prstGeom>
          <a:solidFill>
            <a:schemeClr val="bg2"/>
          </a:solidFill>
          <a:ln w="12700">
            <a:solidFill>
              <a:schemeClr val="accent5"/>
            </a:solidFill>
            <a:prstDash val="solid"/>
          </a:ln>
        </p:spPr>
      </p:sp>
      <p:sp>
        <p:nvSpPr>
          <p:cNvPr id="64" name="sec-2-0-1-text"/>
          <p:cNvSpPr txBox="1"/>
          <p:nvPr/>
        </p:nvSpPr>
        <p:spPr>
          <a:xfrm>
            <a:off x="9244584" y="5093208"/>
            <a:ext cx="1188720" cy="402336"/>
          </a:xfrm>
          <a:prstGeom prst="rect">
            <a:avLst/>
          </a:prstGeom>
          <a:noFill/>
          <a:ln/>
        </p:spPr>
        <p:txBody>
          <a:bodyPr wrap="square" lIns="0" tIns="0" rIns="0" bIns="0" rtlCol="0" anchor="ctr"/>
          <a:lstStyle/>
          <a:p>
            <a:pPr algn="ctr" indent="0" marL="0">
              <a:buNone/>
            </a:pPr>
            <a:r>
              <a:rPr lang="en-US" sz="900" b="1" dirty="0">
                <a:solidFill>
                  <a:schemeClr val="tx1"/>
                </a:solidFill>
              </a:rPr>
              <a:t>Hymenu</a:t>
            </a:r>
            <a:endParaRPr lang="en-US" sz="900" dirty="0"/>
          </a:p>
        </p:txBody>
      </p:sp>
      <p:pic>
        <p:nvPicPr>
          <p:cNvPr id="65" name="run-icon" descr="/tmp/claude-0/-home-user-archify/c55ec104-845e-5eb5-96c0-f59db47d1002/scratchpad/pptx3/icons/cycle.png">    </p:cNvPr>
          <p:cNvPicPr>
            <a:picLocks noChangeAspect="1"/>
          </p:cNvPicPr>
          <p:nvPr/>
        </p:nvPicPr>
        <p:blipFill>
          <a:blip r:embed="rId5"/>
          <a:stretch>
            <a:fillRect/>
          </a:stretch>
        </p:blipFill>
        <p:spPr>
          <a:xfrm>
            <a:off x="3657600" y="5870448"/>
            <a:ext cx="548640" cy="548640"/>
          </a:xfrm>
          <a:prstGeom prst="rect">
            <a:avLst/>
          </a:prstGeom>
        </p:spPr>
      </p:pic>
      <p:sp>
        <p:nvSpPr>
          <p:cNvPr id="66" name="run-head"/>
          <p:cNvSpPr txBox="1"/>
          <p:nvPr/>
        </p:nvSpPr>
        <p:spPr>
          <a:xfrm>
            <a:off x="4297680" y="5870448"/>
            <a:ext cx="2743200" cy="548640"/>
          </a:xfrm>
          <a:prstGeom prst="rect">
            <a:avLst/>
          </a:prstGeom>
          <a:noFill/>
          <a:ln/>
        </p:spPr>
        <p:txBody>
          <a:bodyPr wrap="square" lIns="0" tIns="0" rIns="0" bIns="0" rtlCol="0" anchor="ctr"/>
          <a:lstStyle/>
          <a:p>
            <a:pPr indent="0" marL="0">
              <a:buNone/>
            </a:pPr>
            <a:r>
              <a:rPr lang="en-US" sz="1400" b="1" dirty="0">
                <a:solidFill>
                  <a:schemeClr val="tx1"/>
                </a:solidFill>
              </a:rPr>
              <a:t>Other Airbus tools: run mode</a:t>
            </a:r>
            <a:endParaRPr lang="en-US" sz="1400" dirty="0"/>
          </a:p>
        </p:txBody>
      </p:sp>
      <p:sp>
        <p:nvSpPr>
          <p:cNvPr id="67" name="run-0"/>
          <p:cNvSpPr/>
          <p:nvPr/>
        </p:nvSpPr>
        <p:spPr>
          <a:xfrm>
            <a:off x="6949440" y="5943600"/>
            <a:ext cx="1280160" cy="402336"/>
          </a:xfrm>
          <a:prstGeom prst="roundRect">
            <a:avLst>
              <a:gd name="adj" fmla="val 13636"/>
            </a:avLst>
          </a:prstGeom>
          <a:solidFill>
            <a:schemeClr val="accent6"/>
          </a:solidFill>
          <a:ln w="12700">
            <a:solidFill>
              <a:schemeClr val="tx2"/>
            </a:solidFill>
            <a:prstDash val="solid"/>
          </a:ln>
        </p:spPr>
      </p:sp>
      <p:sp>
        <p:nvSpPr>
          <p:cNvPr id="68" name="run-0-text"/>
          <p:cNvSpPr txBox="1"/>
          <p:nvPr/>
        </p:nvSpPr>
        <p:spPr>
          <a:xfrm>
            <a:off x="6949440" y="5943600"/>
            <a:ext cx="1280160" cy="402336"/>
          </a:xfrm>
          <a:prstGeom prst="rect">
            <a:avLst/>
          </a:prstGeom>
          <a:noFill/>
          <a:ln/>
        </p:spPr>
        <p:txBody>
          <a:bodyPr wrap="square" lIns="0" tIns="0" rIns="0" bIns="0" rtlCol="0" anchor="ctr"/>
          <a:lstStyle/>
          <a:p>
            <a:pPr algn="ctr" indent="0" marL="0">
              <a:buNone/>
            </a:pPr>
            <a:r>
              <a:rPr lang="en-US" sz="1000" b="1" dirty="0">
                <a:solidFill>
                  <a:schemeClr val="tx1"/>
                </a:solidFill>
              </a:rPr>
              <a:t>App Portal</a:t>
            </a:r>
            <a:endParaRPr lang="en-US" sz="1000" dirty="0"/>
          </a:p>
        </p:txBody>
      </p:sp>
      <p:sp>
        <p:nvSpPr>
          <p:cNvPr id="69" name="run-1"/>
          <p:cNvSpPr/>
          <p:nvPr/>
        </p:nvSpPr>
        <p:spPr>
          <a:xfrm>
            <a:off x="8321040" y="5943600"/>
            <a:ext cx="1280160" cy="402336"/>
          </a:xfrm>
          <a:prstGeom prst="roundRect">
            <a:avLst>
              <a:gd name="adj" fmla="val 13636"/>
            </a:avLst>
          </a:prstGeom>
          <a:solidFill>
            <a:schemeClr val="accent6"/>
          </a:solidFill>
          <a:ln w="12700">
            <a:solidFill>
              <a:schemeClr val="tx2"/>
            </a:solidFill>
            <a:prstDash val="solid"/>
          </a:ln>
        </p:spPr>
      </p:sp>
      <p:sp>
        <p:nvSpPr>
          <p:cNvPr id="70" name="run-1-text"/>
          <p:cNvSpPr txBox="1"/>
          <p:nvPr/>
        </p:nvSpPr>
        <p:spPr>
          <a:xfrm>
            <a:off x="8321040" y="5943600"/>
            <a:ext cx="1280160" cy="402336"/>
          </a:xfrm>
          <a:prstGeom prst="rect">
            <a:avLst/>
          </a:prstGeom>
          <a:noFill/>
          <a:ln/>
        </p:spPr>
        <p:txBody>
          <a:bodyPr wrap="square" lIns="0" tIns="0" rIns="0" bIns="0" rtlCol="0" anchor="ctr"/>
          <a:lstStyle/>
          <a:p>
            <a:pPr algn="ctr" indent="0" marL="0">
              <a:buNone/>
            </a:pPr>
            <a:r>
              <a:rPr lang="en-US" sz="1000" b="1" dirty="0">
                <a:solidFill>
                  <a:schemeClr val="tx1"/>
                </a:solidFill>
              </a:rPr>
              <a:t>Skywise Home Page</a:t>
            </a:r>
            <a:endParaRPr lang="en-US" sz="1000" dirty="0"/>
          </a:p>
        </p:txBody>
      </p:sp>
      <p:sp>
        <p:nvSpPr>
          <p:cNvPr id="71" name="run-2"/>
          <p:cNvSpPr/>
          <p:nvPr/>
        </p:nvSpPr>
        <p:spPr>
          <a:xfrm>
            <a:off x="9692640" y="5943600"/>
            <a:ext cx="1280160" cy="402336"/>
          </a:xfrm>
          <a:prstGeom prst="roundRect">
            <a:avLst>
              <a:gd name="adj" fmla="val 13636"/>
            </a:avLst>
          </a:prstGeom>
          <a:solidFill>
            <a:schemeClr val="accent6"/>
          </a:solidFill>
          <a:ln w="12700">
            <a:solidFill>
              <a:schemeClr val="tx2"/>
            </a:solidFill>
            <a:prstDash val="solid"/>
          </a:ln>
        </p:spPr>
      </p:sp>
      <p:sp>
        <p:nvSpPr>
          <p:cNvPr id="72" name="run-2-text"/>
          <p:cNvSpPr txBox="1"/>
          <p:nvPr/>
        </p:nvSpPr>
        <p:spPr>
          <a:xfrm>
            <a:off x="9692640" y="5943600"/>
            <a:ext cx="1280160" cy="402336"/>
          </a:xfrm>
          <a:prstGeom prst="rect">
            <a:avLst/>
          </a:prstGeom>
          <a:noFill/>
          <a:ln/>
        </p:spPr>
        <p:txBody>
          <a:bodyPr wrap="square" lIns="0" tIns="0" rIns="0" bIns="0" rtlCol="0" anchor="ctr"/>
          <a:lstStyle/>
          <a:p>
            <a:pPr algn="ctr" indent="0" marL="0">
              <a:buNone/>
            </a:pPr>
            <a:r>
              <a:rPr lang="en-US" sz="1000" b="1" dirty="0">
                <a:solidFill>
                  <a:schemeClr val="tx1"/>
                </a:solidFill>
              </a:rPr>
              <a:t>Arcane</a:t>
            </a:r>
            <a:endParaRPr lang="en-US" sz="10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CONTEXT</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Product Streams Scope</a:t>
            </a:r>
            <a:endParaRPr lang="en-US" sz="3600" dirty="0"/>
          </a:p>
        </p:txBody>
      </p:sp>
      <p:sp>
        <p:nvSpPr>
          <p:cNvPr id="4" name="scope-left"/>
          <p:cNvSpPr/>
          <p:nvPr/>
        </p:nvSpPr>
        <p:spPr>
          <a:xfrm>
            <a:off x="411480" y="1325880"/>
            <a:ext cx="4800600" cy="4434840"/>
          </a:xfrm>
          <a:prstGeom prst="roundRect">
            <a:avLst>
              <a:gd name="adj" fmla="val 4124"/>
            </a:avLst>
          </a:prstGeom>
          <a:solidFill>
            <a:schemeClr val="bg1"/>
          </a:solidFill>
          <a:ln w="12700">
            <a:solidFill>
              <a:schemeClr val="accent5"/>
            </a:solidFill>
            <a:prstDash val="dash"/>
          </a:ln>
        </p:spPr>
      </p:sp>
      <p:sp>
        <p:nvSpPr>
          <p:cNvPr id="5" name="cpm-head"/>
          <p:cNvSpPr txBox="1"/>
          <p:nvPr/>
        </p:nvSpPr>
        <p:spPr>
          <a:xfrm>
            <a:off x="685800" y="1463040"/>
            <a:ext cx="3383280" cy="685800"/>
          </a:xfrm>
          <a:prstGeom prst="rect">
            <a:avLst/>
          </a:prstGeom>
          <a:noFill/>
          <a:ln/>
        </p:spPr>
        <p:txBody>
          <a:bodyPr wrap="square" lIns="0" tIns="0" rIns="0" bIns="0" rtlCol="0" anchor="t"/>
          <a:lstStyle/>
          <a:p>
            <a:pPr indent="0" marL="0">
              <a:buNone/>
            </a:pPr>
            <a:r>
              <a:rPr lang="en-US" sz="1400" b="1" dirty="0">
                <a:solidFill>
                  <a:schemeClr val="tx1"/>
                </a:solidFill>
              </a:rPr>
              <a:t>Company performance management</a:t>
            </a:r>
            <a:endParaRPr lang="en-US" sz="1400" dirty="0"/>
          </a:p>
          <a:p>
            <a:pPr indent="0" marL="0">
              <a:buNone/>
            </a:pPr>
            <a:r>
              <a:rPr lang="en-US" sz="1050" dirty="0">
                <a:solidFill>
                  <a:schemeClr val="tx2"/>
                </a:solidFill>
              </a:rPr>
              <a:t>Enable our business to monitor the company and organisations' TBO, TCO and TFO, and risk management</a:t>
            </a:r>
            <a:endParaRPr lang="en-US" sz="1400" dirty="0"/>
          </a:p>
        </p:txBody>
      </p:sp>
      <p:pic>
        <p:nvPicPr>
          <p:cNvPr id="6" name="cpm-icon" descr="/tmp/claude-0/-home-user-archify/c55ec104-845e-5eb5-96c0-f59db47d1002/scratchpad/pptx3/icons/target.png">    </p:cNvPr>
          <p:cNvPicPr>
            <a:picLocks noChangeAspect="1"/>
          </p:cNvPicPr>
          <p:nvPr/>
        </p:nvPicPr>
        <p:blipFill>
          <a:blip r:embed="rId1"/>
          <a:stretch>
            <a:fillRect/>
          </a:stretch>
        </p:blipFill>
        <p:spPr>
          <a:xfrm>
            <a:off x="4251960" y="1463040"/>
            <a:ext cx="777240" cy="777240"/>
          </a:xfrm>
          <a:prstGeom prst="rect">
            <a:avLst/>
          </a:prstGeom>
        </p:spPr>
      </p:pic>
      <p:sp>
        <p:nvSpPr>
          <p:cNvPr id="7" name="cpm-0-0"/>
          <p:cNvSpPr/>
          <p:nvPr/>
        </p:nvSpPr>
        <p:spPr>
          <a:xfrm>
            <a:off x="685800" y="2514600"/>
            <a:ext cx="1325880" cy="384048"/>
          </a:xfrm>
          <a:prstGeom prst="roundRect">
            <a:avLst>
              <a:gd name="adj" fmla="val 14286"/>
            </a:avLst>
          </a:prstGeom>
          <a:solidFill>
            <a:schemeClr val="bg2"/>
          </a:solidFill>
          <a:ln w="12700">
            <a:solidFill>
              <a:schemeClr val="accent5"/>
            </a:solidFill>
            <a:prstDash val="solid"/>
          </a:ln>
        </p:spPr>
      </p:sp>
      <p:sp>
        <p:nvSpPr>
          <p:cNvPr id="8" name="cpm-0-0-text"/>
          <p:cNvSpPr txBox="1"/>
          <p:nvPr/>
        </p:nvSpPr>
        <p:spPr>
          <a:xfrm>
            <a:off x="685800" y="251460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A Perfo</a:t>
            </a:r>
            <a:endParaRPr lang="en-US" sz="1000" dirty="0"/>
          </a:p>
        </p:txBody>
      </p:sp>
      <p:sp>
        <p:nvSpPr>
          <p:cNvPr id="9" name="cpm-0-1"/>
          <p:cNvSpPr/>
          <p:nvPr/>
        </p:nvSpPr>
        <p:spPr>
          <a:xfrm>
            <a:off x="2194560" y="2514600"/>
            <a:ext cx="1325880" cy="384048"/>
          </a:xfrm>
          <a:prstGeom prst="roundRect">
            <a:avLst>
              <a:gd name="adj" fmla="val 14286"/>
            </a:avLst>
          </a:prstGeom>
          <a:solidFill>
            <a:schemeClr val="bg2"/>
          </a:solidFill>
          <a:ln w="12700">
            <a:solidFill>
              <a:schemeClr val="accent5"/>
            </a:solidFill>
            <a:prstDash val="solid"/>
          </a:ln>
        </p:spPr>
      </p:sp>
      <p:sp>
        <p:nvSpPr>
          <p:cNvPr id="10" name="cpm-0-1-text"/>
          <p:cNvSpPr txBox="1"/>
          <p:nvPr/>
        </p:nvSpPr>
        <p:spPr>
          <a:xfrm>
            <a:off x="2194560" y="251460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BL Perfo</a:t>
            </a:r>
            <a:endParaRPr lang="en-US" sz="1000" dirty="0"/>
          </a:p>
        </p:txBody>
      </p:sp>
      <p:sp>
        <p:nvSpPr>
          <p:cNvPr id="11" name="cpm-0-2"/>
          <p:cNvSpPr/>
          <p:nvPr/>
        </p:nvSpPr>
        <p:spPr>
          <a:xfrm>
            <a:off x="3703320" y="2514600"/>
            <a:ext cx="1325880" cy="384048"/>
          </a:xfrm>
          <a:prstGeom prst="roundRect">
            <a:avLst>
              <a:gd name="adj" fmla="val 14286"/>
            </a:avLst>
          </a:prstGeom>
          <a:solidFill>
            <a:schemeClr val="bg2"/>
          </a:solidFill>
          <a:ln w="12700">
            <a:solidFill>
              <a:schemeClr val="accent5"/>
            </a:solidFill>
            <a:prstDash val="solid"/>
          </a:ln>
        </p:spPr>
      </p:sp>
      <p:sp>
        <p:nvSpPr>
          <p:cNvPr id="12" name="cpm-0-2-text"/>
          <p:cNvSpPr txBox="1"/>
          <p:nvPr/>
        </p:nvSpPr>
        <p:spPr>
          <a:xfrm>
            <a:off x="3703320" y="251460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Portfolio Analyser</a:t>
            </a:r>
            <a:endParaRPr lang="en-US" sz="1000" dirty="0"/>
          </a:p>
        </p:txBody>
      </p:sp>
      <p:sp>
        <p:nvSpPr>
          <p:cNvPr id="13" name="cpm-1-0"/>
          <p:cNvSpPr/>
          <p:nvPr/>
        </p:nvSpPr>
        <p:spPr>
          <a:xfrm>
            <a:off x="685800" y="3017520"/>
            <a:ext cx="1325880" cy="384048"/>
          </a:xfrm>
          <a:prstGeom prst="roundRect">
            <a:avLst>
              <a:gd name="adj" fmla="val 14286"/>
            </a:avLst>
          </a:prstGeom>
          <a:solidFill>
            <a:schemeClr val="bg2"/>
          </a:solidFill>
          <a:ln w="12700">
            <a:solidFill>
              <a:schemeClr val="accent5"/>
            </a:solidFill>
            <a:prstDash val="solid"/>
          </a:ln>
        </p:spPr>
      </p:sp>
      <p:sp>
        <p:nvSpPr>
          <p:cNvPr id="14" name="cpm-1-0-text"/>
          <p:cNvSpPr txBox="1"/>
          <p:nvPr/>
        </p:nvSpPr>
        <p:spPr>
          <a:xfrm>
            <a:off x="685800" y="301752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D Perfo</a:t>
            </a:r>
            <a:endParaRPr lang="en-US" sz="1000" dirty="0"/>
          </a:p>
        </p:txBody>
      </p:sp>
      <p:sp>
        <p:nvSpPr>
          <p:cNvPr id="15" name="cpm-1-1"/>
          <p:cNvSpPr/>
          <p:nvPr/>
        </p:nvSpPr>
        <p:spPr>
          <a:xfrm>
            <a:off x="2194560" y="3017520"/>
            <a:ext cx="1325880" cy="384048"/>
          </a:xfrm>
          <a:prstGeom prst="roundRect">
            <a:avLst>
              <a:gd name="adj" fmla="val 14286"/>
            </a:avLst>
          </a:prstGeom>
          <a:solidFill>
            <a:schemeClr val="bg2"/>
          </a:solidFill>
          <a:ln w="12700">
            <a:solidFill>
              <a:schemeClr val="accent5"/>
            </a:solidFill>
            <a:prstDash val="solid"/>
          </a:ln>
        </p:spPr>
      </p:sp>
      <p:sp>
        <p:nvSpPr>
          <p:cNvPr id="16" name="cpm-1-1-text"/>
          <p:cNvSpPr txBox="1"/>
          <p:nvPr/>
        </p:nvSpPr>
        <p:spPr>
          <a:xfrm>
            <a:off x="2194560" y="301752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HR Perfo</a:t>
            </a:r>
            <a:endParaRPr lang="en-US" sz="1000" dirty="0"/>
          </a:p>
        </p:txBody>
      </p:sp>
      <p:sp>
        <p:nvSpPr>
          <p:cNvPr id="17" name="cpm-2-0"/>
          <p:cNvSpPr/>
          <p:nvPr/>
        </p:nvSpPr>
        <p:spPr>
          <a:xfrm>
            <a:off x="685800" y="3520440"/>
            <a:ext cx="1325880" cy="384048"/>
          </a:xfrm>
          <a:prstGeom prst="roundRect">
            <a:avLst>
              <a:gd name="adj" fmla="val 14286"/>
            </a:avLst>
          </a:prstGeom>
          <a:solidFill>
            <a:schemeClr val="bg2"/>
          </a:solidFill>
          <a:ln w="12700">
            <a:solidFill>
              <a:schemeClr val="accent5"/>
            </a:solidFill>
            <a:prstDash val="solid"/>
          </a:ln>
        </p:spPr>
      </p:sp>
      <p:sp>
        <p:nvSpPr>
          <p:cNvPr id="18" name="cpm-2-0-text"/>
          <p:cNvSpPr txBox="1"/>
          <p:nvPr/>
        </p:nvSpPr>
        <p:spPr>
          <a:xfrm>
            <a:off x="685800" y="352044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B Perfo</a:t>
            </a:r>
            <a:endParaRPr lang="en-US" sz="1000" dirty="0"/>
          </a:p>
        </p:txBody>
      </p:sp>
      <p:sp>
        <p:nvSpPr>
          <p:cNvPr id="19" name="cpm-2-1"/>
          <p:cNvSpPr/>
          <p:nvPr/>
        </p:nvSpPr>
        <p:spPr>
          <a:xfrm>
            <a:off x="2194560" y="3520440"/>
            <a:ext cx="1325880" cy="384048"/>
          </a:xfrm>
          <a:prstGeom prst="roundRect">
            <a:avLst>
              <a:gd name="adj" fmla="val 14286"/>
            </a:avLst>
          </a:prstGeom>
          <a:solidFill>
            <a:schemeClr val="bg2"/>
          </a:solidFill>
          <a:ln w="12700">
            <a:solidFill>
              <a:schemeClr val="accent5"/>
            </a:solidFill>
            <a:prstDash val="solid"/>
          </a:ln>
        </p:spPr>
      </p:sp>
      <p:sp>
        <p:nvSpPr>
          <p:cNvPr id="20" name="cpm-2-1-text"/>
          <p:cNvSpPr txBox="1"/>
          <p:nvPr/>
        </p:nvSpPr>
        <p:spPr>
          <a:xfrm>
            <a:off x="2194560" y="352044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BS Perfo</a:t>
            </a:r>
            <a:endParaRPr lang="en-US" sz="1000" dirty="0"/>
          </a:p>
        </p:txBody>
      </p:sp>
      <p:sp>
        <p:nvSpPr>
          <p:cNvPr id="21" name="cpm-3-0"/>
          <p:cNvSpPr/>
          <p:nvPr/>
        </p:nvSpPr>
        <p:spPr>
          <a:xfrm>
            <a:off x="685800" y="4023360"/>
            <a:ext cx="1325880" cy="384048"/>
          </a:xfrm>
          <a:prstGeom prst="roundRect">
            <a:avLst>
              <a:gd name="adj" fmla="val 14286"/>
            </a:avLst>
          </a:prstGeom>
          <a:solidFill>
            <a:schemeClr val="bg2"/>
          </a:solidFill>
          <a:ln w="12700">
            <a:solidFill>
              <a:schemeClr val="accent5"/>
            </a:solidFill>
            <a:prstDash val="solid"/>
          </a:ln>
        </p:spPr>
      </p:sp>
      <p:sp>
        <p:nvSpPr>
          <p:cNvPr id="22" name="cpm-3-0-text"/>
          <p:cNvSpPr txBox="1"/>
          <p:nvPr/>
        </p:nvSpPr>
        <p:spPr>
          <a:xfrm>
            <a:off x="685800" y="402336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O Perfo</a:t>
            </a:r>
            <a:endParaRPr lang="en-US" sz="1000" dirty="0"/>
          </a:p>
        </p:txBody>
      </p:sp>
      <p:sp>
        <p:nvSpPr>
          <p:cNvPr id="23" name="cpm-3-1"/>
          <p:cNvSpPr/>
          <p:nvPr/>
        </p:nvSpPr>
        <p:spPr>
          <a:xfrm>
            <a:off x="2194560" y="4023360"/>
            <a:ext cx="1325880" cy="384048"/>
          </a:xfrm>
          <a:prstGeom prst="roundRect">
            <a:avLst>
              <a:gd name="adj" fmla="val 14286"/>
            </a:avLst>
          </a:prstGeom>
          <a:solidFill>
            <a:schemeClr val="bg2"/>
          </a:solidFill>
          <a:ln w="12700">
            <a:solidFill>
              <a:schemeClr val="accent5"/>
            </a:solidFill>
            <a:prstDash val="solid"/>
          </a:ln>
        </p:spPr>
      </p:sp>
      <p:sp>
        <p:nvSpPr>
          <p:cNvPr id="24" name="cpm-3-1-text"/>
          <p:cNvSpPr txBox="1"/>
          <p:nvPr/>
        </p:nvSpPr>
        <p:spPr>
          <a:xfrm>
            <a:off x="2194560" y="402336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Q Perfo</a:t>
            </a:r>
            <a:endParaRPr lang="en-US" sz="1000" dirty="0"/>
          </a:p>
        </p:txBody>
      </p:sp>
      <p:sp>
        <p:nvSpPr>
          <p:cNvPr id="25" name="cpm-4-0"/>
          <p:cNvSpPr/>
          <p:nvPr/>
        </p:nvSpPr>
        <p:spPr>
          <a:xfrm>
            <a:off x="685800" y="4526280"/>
            <a:ext cx="1325880" cy="384048"/>
          </a:xfrm>
          <a:prstGeom prst="roundRect">
            <a:avLst>
              <a:gd name="adj" fmla="val 14286"/>
            </a:avLst>
          </a:prstGeom>
          <a:solidFill>
            <a:schemeClr val="bg2"/>
          </a:solidFill>
          <a:ln w="12700">
            <a:solidFill>
              <a:schemeClr val="accent5"/>
            </a:solidFill>
            <a:prstDash val="solid"/>
          </a:ln>
        </p:spPr>
      </p:sp>
      <p:sp>
        <p:nvSpPr>
          <p:cNvPr id="26" name="cpm-4-0-text"/>
          <p:cNvSpPr txBox="1"/>
          <p:nvPr/>
        </p:nvSpPr>
        <p:spPr>
          <a:xfrm>
            <a:off x="685800" y="452628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KPI Tree</a:t>
            </a:r>
            <a:endParaRPr lang="en-US" sz="1000" dirty="0"/>
          </a:p>
        </p:txBody>
      </p:sp>
      <p:sp>
        <p:nvSpPr>
          <p:cNvPr id="27" name="cpm-4-1"/>
          <p:cNvSpPr/>
          <p:nvPr/>
        </p:nvSpPr>
        <p:spPr>
          <a:xfrm>
            <a:off x="2194560" y="4526280"/>
            <a:ext cx="1325880" cy="384048"/>
          </a:xfrm>
          <a:prstGeom prst="roundRect">
            <a:avLst>
              <a:gd name="adj" fmla="val 14286"/>
            </a:avLst>
          </a:prstGeom>
          <a:solidFill>
            <a:schemeClr val="bg2"/>
          </a:solidFill>
          <a:ln w="12700">
            <a:solidFill>
              <a:schemeClr val="accent5"/>
            </a:solidFill>
            <a:prstDash val="solid"/>
          </a:ln>
        </p:spPr>
      </p:sp>
      <p:sp>
        <p:nvSpPr>
          <p:cNvPr id="28" name="cpm-4-1-text"/>
          <p:cNvSpPr txBox="1"/>
          <p:nvPr/>
        </p:nvSpPr>
        <p:spPr>
          <a:xfrm>
            <a:off x="2194560" y="452628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KPI Store</a:t>
            </a:r>
            <a:endParaRPr lang="en-US" sz="1000" dirty="0"/>
          </a:p>
        </p:txBody>
      </p:sp>
      <p:sp>
        <p:nvSpPr>
          <p:cNvPr id="31" name="cpm-5-1"/>
          <p:cNvSpPr/>
          <p:nvPr/>
        </p:nvSpPr>
        <p:spPr>
          <a:xfrm>
            <a:off x="2194560" y="5029200"/>
            <a:ext cx="1325880" cy="384048"/>
          </a:xfrm>
          <a:prstGeom prst="roundRect">
            <a:avLst>
              <a:gd name="adj" fmla="val 14286"/>
            </a:avLst>
          </a:prstGeom>
          <a:solidFill>
            <a:schemeClr val="bg2"/>
          </a:solidFill>
          <a:ln w="12700">
            <a:solidFill>
              <a:schemeClr val="accent5"/>
            </a:solidFill>
            <a:prstDash val="solid"/>
          </a:ln>
        </p:spPr>
      </p:sp>
      <p:sp>
        <p:nvSpPr>
          <p:cNvPr id="32" name="cpm-5-1-text"/>
          <p:cNvSpPr txBox="1"/>
          <p:nvPr/>
        </p:nvSpPr>
        <p:spPr>
          <a:xfrm>
            <a:off x="2194560" y="5029200"/>
            <a:ext cx="1325880" cy="384048"/>
          </a:xfrm>
          <a:prstGeom prst="rect">
            <a:avLst/>
          </a:prstGeom>
          <a:noFill/>
          <a:ln/>
        </p:spPr>
        <p:txBody>
          <a:bodyPr wrap="square" lIns="0" tIns="0" rIns="0" bIns="0" rtlCol="0" anchor="ctr"/>
          <a:lstStyle/>
          <a:p>
            <a:pPr algn="ctr" indent="0" marL="0">
              <a:buNone/>
            </a:pPr>
            <a:r>
              <a:rPr lang="en-US" sz="1000" b="1" dirty="0">
                <a:solidFill>
                  <a:schemeClr val="tx1"/>
                </a:solidFill>
              </a:rPr>
              <a:t>IE MBR</a:t>
            </a:r>
            <a:endParaRPr lang="en-US" sz="1000" dirty="0"/>
          </a:p>
        </p:txBody>
      </p:sp>
      <p:sp>
        <p:nvSpPr>
          <p:cNvPr id="33" name="hub"/>
          <p:cNvSpPr/>
          <p:nvPr/>
        </p:nvSpPr>
        <p:spPr>
          <a:xfrm>
            <a:off x="5349240" y="2788920"/>
            <a:ext cx="1554480" cy="1143000"/>
          </a:xfrm>
          <a:prstGeom prst="roundRect">
            <a:avLst>
              <a:gd name="adj" fmla="val 9600"/>
            </a:avLst>
          </a:prstGeom>
          <a:solidFill>
            <a:schemeClr val="tx1"/>
          </a:solidFill>
          <a:ln/>
        </p:spPr>
      </p:sp>
      <p:sp>
        <p:nvSpPr>
          <p:cNvPr id="34" name="hub-text"/>
          <p:cNvSpPr txBox="1"/>
          <p:nvPr/>
        </p:nvSpPr>
        <p:spPr>
          <a:xfrm>
            <a:off x="5394960" y="2788920"/>
            <a:ext cx="1463040" cy="1143000"/>
          </a:xfrm>
          <a:prstGeom prst="rect">
            <a:avLst/>
          </a:prstGeom>
          <a:noFill/>
          <a:ln/>
        </p:spPr>
        <p:txBody>
          <a:bodyPr wrap="square" lIns="0" tIns="0" rIns="0" bIns="0" rtlCol="0" anchor="ctr"/>
          <a:lstStyle/>
          <a:p>
            <a:pPr algn="ctr" indent="0" marL="0">
              <a:buNone/>
            </a:pPr>
            <a:r>
              <a:rPr lang="en-US" sz="1500" b="1" dirty="0">
                <a:solidFill>
                  <a:schemeClr val="bg1"/>
                </a:solidFill>
              </a:rPr>
              <a:t>Sustainability &amp; Performance</a:t>
            </a:r>
            <a:endParaRPr lang="en-US" sz="1500" dirty="0"/>
          </a:p>
        </p:txBody>
      </p:sp>
      <p:sp>
        <p:nvSpPr>
          <p:cNvPr id="35" name="scope-right"/>
          <p:cNvSpPr/>
          <p:nvPr/>
        </p:nvSpPr>
        <p:spPr>
          <a:xfrm>
            <a:off x="7040880" y="1325880"/>
            <a:ext cx="4736592" cy="4434840"/>
          </a:xfrm>
          <a:prstGeom prst="roundRect">
            <a:avLst>
              <a:gd name="adj" fmla="val 4124"/>
            </a:avLst>
          </a:prstGeom>
          <a:solidFill>
            <a:schemeClr val="bg1"/>
          </a:solidFill>
          <a:ln w="12700">
            <a:solidFill>
              <a:schemeClr val="accent5"/>
            </a:solidFill>
            <a:prstDash val="dash"/>
          </a:ln>
        </p:spPr>
      </p:sp>
      <p:pic>
        <p:nvPicPr>
          <p:cNvPr id="36" name="sec-0-icon" descr="/tmp/claude-0/-home-user-archify/c55ec104-845e-5eb5-96c0-f59db47d1002/scratchpad/pptx3/icons/flask.png">    </p:cNvPr>
          <p:cNvPicPr>
            <a:picLocks noChangeAspect="1"/>
          </p:cNvPicPr>
          <p:nvPr/>
        </p:nvPicPr>
        <p:blipFill>
          <a:blip r:embed="rId2"/>
          <a:stretch>
            <a:fillRect/>
          </a:stretch>
        </p:blipFill>
        <p:spPr>
          <a:xfrm>
            <a:off x="7223760" y="1417320"/>
            <a:ext cx="640080" cy="640080"/>
          </a:xfrm>
          <a:prstGeom prst="rect">
            <a:avLst/>
          </a:prstGeom>
        </p:spPr>
      </p:pic>
      <p:sp>
        <p:nvSpPr>
          <p:cNvPr id="37" name="sec-0-head"/>
          <p:cNvSpPr txBox="1"/>
          <p:nvPr/>
        </p:nvSpPr>
        <p:spPr>
          <a:xfrm>
            <a:off x="8001000" y="1371600"/>
            <a:ext cx="3703320" cy="685800"/>
          </a:xfrm>
          <a:prstGeom prst="rect">
            <a:avLst/>
          </a:prstGeom>
          <a:noFill/>
          <a:ln/>
        </p:spPr>
        <p:txBody>
          <a:bodyPr wrap="square" lIns="0" tIns="0" rIns="0" bIns="0" rtlCol="0" anchor="t"/>
          <a:lstStyle/>
          <a:p>
            <a:pPr indent="0" marL="0">
              <a:buNone/>
            </a:pPr>
            <a:r>
              <a:rPr lang="en-US" sz="1400" b="1" dirty="0">
                <a:solidFill>
                  <a:schemeClr val="tx1"/>
                </a:solidFill>
              </a:rPr>
              <a:t>Substances Data</a:t>
            </a:r>
            <a:endParaRPr lang="en-US" sz="1400" dirty="0"/>
          </a:p>
          <a:p>
            <a:pPr indent="0" marL="0">
              <a:buNone/>
            </a:pPr>
            <a:r>
              <a:rPr lang="en-US" sz="1050" dirty="0">
                <a:solidFill>
                  <a:schemeClr val="tx2"/>
                </a:solidFill>
              </a:rPr>
              <a:t>Regulated chemical substances: traceability, compliance and declaration</a:t>
            </a:r>
            <a:endParaRPr lang="en-US" sz="1400" dirty="0"/>
          </a:p>
        </p:txBody>
      </p:sp>
      <p:sp>
        <p:nvSpPr>
          <p:cNvPr id="38" name="sec-0-link"/>
          <p:cNvSpPr/>
          <p:nvPr/>
        </p:nvSpPr>
        <p:spPr>
          <a:xfrm flipV="1">
            <a:off x="6903720" y="3355848"/>
            <a:ext cx="320040" cy="-1618488"/>
          </a:xfrm>
          <a:prstGeom prst="line">
            <a:avLst/>
          </a:prstGeom>
          <a:noFill/>
          <a:ln w="19050">
            <a:solidFill>
              <a:schemeClr val="accent2"/>
            </a:solidFill>
            <a:prstDash val="sysDot"/>
          </a:ln>
        </p:spPr>
      </p:sp>
      <p:sp>
        <p:nvSpPr>
          <p:cNvPr id="39" name="sec-0-0-0"/>
          <p:cNvSpPr/>
          <p:nvPr/>
        </p:nvSpPr>
        <p:spPr>
          <a:xfrm>
            <a:off x="8001000" y="2075688"/>
            <a:ext cx="1188720" cy="402336"/>
          </a:xfrm>
          <a:prstGeom prst="roundRect">
            <a:avLst>
              <a:gd name="adj" fmla="val 13636"/>
            </a:avLst>
          </a:prstGeom>
          <a:solidFill>
            <a:schemeClr val="bg2"/>
          </a:solidFill>
          <a:ln w="12700">
            <a:solidFill>
              <a:schemeClr val="accent5"/>
            </a:solidFill>
            <a:prstDash val="solid"/>
          </a:ln>
        </p:spPr>
      </p:sp>
      <p:sp>
        <p:nvSpPr>
          <p:cNvPr id="40" name="sec-0-0-0-text"/>
          <p:cNvSpPr txBox="1"/>
          <p:nvPr/>
        </p:nvSpPr>
        <p:spPr>
          <a:xfrm>
            <a:off x="8001000" y="2075688"/>
            <a:ext cx="1188720" cy="402336"/>
          </a:xfrm>
          <a:prstGeom prst="rect">
            <a:avLst/>
          </a:prstGeom>
          <a:noFill/>
          <a:ln/>
        </p:spPr>
        <p:txBody>
          <a:bodyPr wrap="square" lIns="0" tIns="0" rIns="0" bIns="0" rtlCol="0" anchor="ctr"/>
          <a:lstStyle/>
          <a:p>
            <a:pPr algn="ctr" indent="0" marL="0">
              <a:buNone/>
            </a:pPr>
            <a:r>
              <a:rPr lang="en-US" sz="900" b="1" dirty="0">
                <a:solidFill>
                  <a:schemeClr val="tx1"/>
                </a:solidFill>
              </a:rPr>
              <a:t>Halon Stock Management</a:t>
            </a:r>
            <a:endParaRPr lang="en-US" sz="900" dirty="0"/>
          </a:p>
        </p:txBody>
      </p:sp>
      <p:sp>
        <p:nvSpPr>
          <p:cNvPr id="41" name="sec-0-0-1"/>
          <p:cNvSpPr/>
          <p:nvPr/>
        </p:nvSpPr>
        <p:spPr>
          <a:xfrm>
            <a:off x="9244584" y="2075688"/>
            <a:ext cx="1188720" cy="402336"/>
          </a:xfrm>
          <a:prstGeom prst="roundRect">
            <a:avLst>
              <a:gd name="adj" fmla="val 13636"/>
            </a:avLst>
          </a:prstGeom>
          <a:solidFill>
            <a:schemeClr val="bg2"/>
          </a:solidFill>
          <a:ln w="12700">
            <a:solidFill>
              <a:schemeClr val="accent5"/>
            </a:solidFill>
            <a:prstDash val="solid"/>
          </a:ln>
        </p:spPr>
      </p:sp>
      <p:sp>
        <p:nvSpPr>
          <p:cNvPr id="42" name="sec-0-0-1-text"/>
          <p:cNvSpPr txBox="1"/>
          <p:nvPr/>
        </p:nvSpPr>
        <p:spPr>
          <a:xfrm>
            <a:off x="9244584" y="2075688"/>
            <a:ext cx="1188720" cy="402336"/>
          </a:xfrm>
          <a:prstGeom prst="rect">
            <a:avLst/>
          </a:prstGeom>
          <a:noFill/>
          <a:ln/>
        </p:spPr>
        <p:txBody>
          <a:bodyPr wrap="square" lIns="0" tIns="0" rIns="0" bIns="0" rtlCol="0" anchor="ctr"/>
          <a:lstStyle/>
          <a:p>
            <a:pPr algn="ctr" indent="0" marL="0">
              <a:buNone/>
            </a:pPr>
            <a:r>
              <a:rPr lang="en-US" sz="900" b="1" dirty="0">
                <a:solidFill>
                  <a:schemeClr val="tx1"/>
                </a:solidFill>
              </a:rPr>
              <a:t>Banned Substances</a:t>
            </a:r>
            <a:endParaRPr lang="en-US" sz="900" dirty="0"/>
          </a:p>
        </p:txBody>
      </p:sp>
      <p:sp>
        <p:nvSpPr>
          <p:cNvPr id="43" name="sec-0-0-2"/>
          <p:cNvSpPr/>
          <p:nvPr/>
        </p:nvSpPr>
        <p:spPr>
          <a:xfrm>
            <a:off x="10488168" y="2075688"/>
            <a:ext cx="1188720" cy="402336"/>
          </a:xfrm>
          <a:prstGeom prst="roundRect">
            <a:avLst>
              <a:gd name="adj" fmla="val 13636"/>
            </a:avLst>
          </a:prstGeom>
          <a:solidFill>
            <a:schemeClr val="bg2"/>
          </a:solidFill>
          <a:ln w="12700">
            <a:solidFill>
              <a:schemeClr val="accent5"/>
            </a:solidFill>
            <a:prstDash val="solid"/>
          </a:ln>
        </p:spPr>
      </p:sp>
      <p:sp>
        <p:nvSpPr>
          <p:cNvPr id="44" name="sec-0-0-2-text"/>
          <p:cNvSpPr txBox="1"/>
          <p:nvPr/>
        </p:nvSpPr>
        <p:spPr>
          <a:xfrm>
            <a:off x="10488168" y="2075688"/>
            <a:ext cx="1188720" cy="402336"/>
          </a:xfrm>
          <a:prstGeom prst="rect">
            <a:avLst/>
          </a:prstGeom>
          <a:noFill/>
          <a:ln/>
        </p:spPr>
        <p:txBody>
          <a:bodyPr wrap="square" lIns="0" tIns="0" rIns="0" bIns="0" rtlCol="0" anchor="ctr"/>
          <a:lstStyle/>
          <a:p>
            <a:pPr algn="ctr" indent="0" marL="0">
              <a:buNone/>
            </a:pPr>
            <a:r>
              <a:rPr lang="en-US" sz="900" b="1" dirty="0">
                <a:solidFill>
                  <a:schemeClr val="tx1"/>
                </a:solidFill>
              </a:rPr>
              <a:t>HazMat DP</a:t>
            </a:r>
            <a:endParaRPr lang="en-US" sz="900" dirty="0"/>
          </a:p>
        </p:txBody>
      </p:sp>
      <p:sp>
        <p:nvSpPr>
          <p:cNvPr id="45" name="sec-0-1-0"/>
          <p:cNvSpPr/>
          <p:nvPr/>
        </p:nvSpPr>
        <p:spPr>
          <a:xfrm>
            <a:off x="8001000" y="2523744"/>
            <a:ext cx="1188720" cy="402336"/>
          </a:xfrm>
          <a:prstGeom prst="roundRect">
            <a:avLst>
              <a:gd name="adj" fmla="val 13636"/>
            </a:avLst>
          </a:prstGeom>
          <a:solidFill>
            <a:schemeClr val="bg2"/>
          </a:solidFill>
          <a:ln w="12700">
            <a:solidFill>
              <a:schemeClr val="accent5"/>
            </a:solidFill>
            <a:prstDash val="solid"/>
          </a:ln>
        </p:spPr>
      </p:sp>
      <p:sp>
        <p:nvSpPr>
          <p:cNvPr id="46" name="sec-0-1-0-text"/>
          <p:cNvSpPr txBox="1"/>
          <p:nvPr/>
        </p:nvSpPr>
        <p:spPr>
          <a:xfrm>
            <a:off x="8001000" y="2523744"/>
            <a:ext cx="1188720" cy="402336"/>
          </a:xfrm>
          <a:prstGeom prst="rect">
            <a:avLst/>
          </a:prstGeom>
          <a:noFill/>
          <a:ln/>
        </p:spPr>
        <p:txBody>
          <a:bodyPr wrap="square" lIns="0" tIns="0" rIns="0" bIns="0" rtlCol="0" anchor="ctr"/>
          <a:lstStyle/>
          <a:p>
            <a:pPr algn="ctr" indent="0" marL="0">
              <a:buNone/>
            </a:pPr>
            <a:r>
              <a:rPr lang="en-US" sz="900" b="1" dirty="0">
                <a:solidFill>
                  <a:schemeClr val="tx1"/>
                </a:solidFill>
              </a:rPr>
              <a:t>Batteries &amp; Conformity Reporting</a:t>
            </a:r>
            <a:endParaRPr lang="en-US" sz="900" dirty="0"/>
          </a:p>
        </p:txBody>
      </p:sp>
      <p:sp>
        <p:nvSpPr>
          <p:cNvPr id="47" name="sec-0-1-1"/>
          <p:cNvSpPr/>
          <p:nvPr/>
        </p:nvSpPr>
        <p:spPr>
          <a:xfrm>
            <a:off x="9244584" y="2523744"/>
            <a:ext cx="1188720" cy="402336"/>
          </a:xfrm>
          <a:prstGeom prst="roundRect">
            <a:avLst>
              <a:gd name="adj" fmla="val 13636"/>
            </a:avLst>
          </a:prstGeom>
          <a:solidFill>
            <a:schemeClr val="bg2"/>
          </a:solidFill>
          <a:ln w="12700">
            <a:solidFill>
              <a:schemeClr val="accent5"/>
            </a:solidFill>
            <a:prstDash val="solid"/>
          </a:ln>
        </p:spPr>
      </p:sp>
      <p:sp>
        <p:nvSpPr>
          <p:cNvPr id="48" name="sec-0-1-1-text"/>
          <p:cNvSpPr txBox="1"/>
          <p:nvPr/>
        </p:nvSpPr>
        <p:spPr>
          <a:xfrm>
            <a:off x="9244584" y="2523744"/>
            <a:ext cx="1188720" cy="402336"/>
          </a:xfrm>
          <a:prstGeom prst="rect">
            <a:avLst/>
          </a:prstGeom>
          <a:noFill/>
          <a:ln/>
        </p:spPr>
        <p:txBody>
          <a:bodyPr wrap="square" lIns="0" tIns="0" rIns="0" bIns="0" rtlCol="0" anchor="ctr"/>
          <a:lstStyle/>
          <a:p>
            <a:pPr algn="ctr" indent="0" marL="0">
              <a:buNone/>
            </a:pPr>
            <a:r>
              <a:rPr lang="en-US" sz="900" b="1" dirty="0">
                <a:solidFill>
                  <a:schemeClr val="tx1"/>
                </a:solidFill>
              </a:rPr>
              <a:t>HazMat Core Operational Reporting</a:t>
            </a:r>
            <a:endParaRPr lang="en-US" sz="900" dirty="0"/>
          </a:p>
        </p:txBody>
      </p:sp>
      <p:pic>
        <p:nvPicPr>
          <p:cNvPr id="49" name="sec-1-icon" descr="/tmp/claude-0/-home-user-archify/c55ec104-845e-5eb5-96c0-f59db47d1002/scratchpad/pptx3/icons/leaf.png">    </p:cNvPr>
          <p:cNvPicPr>
            <a:picLocks noChangeAspect="1"/>
          </p:cNvPicPr>
          <p:nvPr/>
        </p:nvPicPr>
        <p:blipFill>
          <a:blip r:embed="rId3"/>
          <a:stretch>
            <a:fillRect/>
          </a:stretch>
        </p:blipFill>
        <p:spPr>
          <a:xfrm>
            <a:off x="7223760" y="3108960"/>
            <a:ext cx="640080" cy="640080"/>
          </a:xfrm>
          <a:prstGeom prst="rect">
            <a:avLst/>
          </a:prstGeom>
        </p:spPr>
      </p:pic>
      <p:sp>
        <p:nvSpPr>
          <p:cNvPr id="50" name="sec-1-head"/>
          <p:cNvSpPr txBox="1"/>
          <p:nvPr/>
        </p:nvSpPr>
        <p:spPr>
          <a:xfrm>
            <a:off x="8001000" y="3063240"/>
            <a:ext cx="3703320" cy="685800"/>
          </a:xfrm>
          <a:prstGeom prst="rect">
            <a:avLst/>
          </a:prstGeom>
          <a:noFill/>
          <a:ln/>
        </p:spPr>
        <p:txBody>
          <a:bodyPr wrap="square" lIns="0" tIns="0" rIns="0" bIns="0" rtlCol="0" anchor="t"/>
          <a:lstStyle/>
          <a:p>
            <a:pPr indent="0" marL="0">
              <a:buNone/>
            </a:pPr>
            <a:r>
              <a:rPr lang="en-US" sz="1400" b="1" dirty="0">
                <a:solidFill>
                  <a:schemeClr val="tx1"/>
                </a:solidFill>
              </a:rPr>
              <a:t>Environmental monitoring &amp; reporting</a:t>
            </a:r>
            <a:endParaRPr lang="en-US" sz="1400" dirty="0"/>
          </a:p>
          <a:p>
            <a:pPr indent="0" marL="0">
              <a:buNone/>
            </a:pPr>
            <a:r>
              <a:rPr lang="en-US" sz="1050" dirty="0">
                <a:solidFill>
                  <a:schemeClr val="tx2"/>
                </a:solidFill>
              </a:rPr>
              <a:t>Energy and water consumption; waste, CO2 and VOC emissions for HM and O perimeters</a:t>
            </a:r>
            <a:endParaRPr lang="en-US" sz="1400" dirty="0"/>
          </a:p>
        </p:txBody>
      </p:sp>
      <p:sp>
        <p:nvSpPr>
          <p:cNvPr id="51" name="sec-1-link"/>
          <p:cNvSpPr/>
          <p:nvPr/>
        </p:nvSpPr>
        <p:spPr>
          <a:xfrm>
            <a:off x="6903720" y="3355848"/>
            <a:ext cx="320040" cy="73152"/>
          </a:xfrm>
          <a:prstGeom prst="line">
            <a:avLst/>
          </a:prstGeom>
          <a:noFill/>
          <a:ln w="19050">
            <a:solidFill>
              <a:schemeClr val="accent2"/>
            </a:solidFill>
            <a:prstDash val="sysDot"/>
          </a:ln>
        </p:spPr>
      </p:sp>
      <p:sp>
        <p:nvSpPr>
          <p:cNvPr id="52" name="sec-1-0-0"/>
          <p:cNvSpPr/>
          <p:nvPr/>
        </p:nvSpPr>
        <p:spPr>
          <a:xfrm>
            <a:off x="8001000" y="3767328"/>
            <a:ext cx="1188720" cy="402336"/>
          </a:xfrm>
          <a:prstGeom prst="roundRect">
            <a:avLst>
              <a:gd name="adj" fmla="val 13636"/>
            </a:avLst>
          </a:prstGeom>
          <a:solidFill>
            <a:schemeClr val="bg2"/>
          </a:solidFill>
          <a:ln w="12700">
            <a:solidFill>
              <a:schemeClr val="accent5"/>
            </a:solidFill>
            <a:prstDash val="solid"/>
          </a:ln>
        </p:spPr>
      </p:sp>
      <p:sp>
        <p:nvSpPr>
          <p:cNvPr id="53" name="sec-1-0-0-text"/>
          <p:cNvSpPr txBox="1"/>
          <p:nvPr/>
        </p:nvSpPr>
        <p:spPr>
          <a:xfrm>
            <a:off x="8001000" y="3767328"/>
            <a:ext cx="1188720" cy="402336"/>
          </a:xfrm>
          <a:prstGeom prst="rect">
            <a:avLst/>
          </a:prstGeom>
          <a:noFill/>
          <a:ln/>
        </p:spPr>
        <p:txBody>
          <a:bodyPr wrap="square" lIns="0" tIns="0" rIns="0" bIns="0" rtlCol="0" anchor="ctr"/>
          <a:lstStyle/>
          <a:p>
            <a:pPr algn="ctr" indent="0" marL="0">
              <a:buNone/>
            </a:pPr>
            <a:r>
              <a:rPr lang="en-US" sz="900" b="1" dirty="0">
                <a:solidFill>
                  <a:schemeClr val="tx1"/>
                </a:solidFill>
              </a:rPr>
              <a:t>eIODA</a:t>
            </a:r>
            <a:endParaRPr lang="en-US" sz="900" dirty="0"/>
          </a:p>
        </p:txBody>
      </p:sp>
      <p:sp>
        <p:nvSpPr>
          <p:cNvPr id="54" name="sec-1-0-1"/>
          <p:cNvSpPr/>
          <p:nvPr/>
        </p:nvSpPr>
        <p:spPr>
          <a:xfrm>
            <a:off x="9244584" y="3767328"/>
            <a:ext cx="1188720" cy="402336"/>
          </a:xfrm>
          <a:prstGeom prst="roundRect">
            <a:avLst>
              <a:gd name="adj" fmla="val 13636"/>
            </a:avLst>
          </a:prstGeom>
          <a:solidFill>
            <a:schemeClr val="bg2"/>
          </a:solidFill>
          <a:ln w="12700">
            <a:solidFill>
              <a:schemeClr val="accent5"/>
            </a:solidFill>
            <a:prstDash val="solid"/>
          </a:ln>
        </p:spPr>
      </p:sp>
      <p:sp>
        <p:nvSpPr>
          <p:cNvPr id="55" name="sec-1-0-1-text"/>
          <p:cNvSpPr txBox="1"/>
          <p:nvPr/>
        </p:nvSpPr>
        <p:spPr>
          <a:xfrm>
            <a:off x="9244584" y="3767328"/>
            <a:ext cx="1188720" cy="402336"/>
          </a:xfrm>
          <a:prstGeom prst="rect">
            <a:avLst/>
          </a:prstGeom>
          <a:noFill/>
          <a:ln/>
        </p:spPr>
        <p:txBody>
          <a:bodyPr wrap="square" lIns="0" tIns="0" rIns="0" bIns="0" rtlCol="0" anchor="ctr"/>
          <a:lstStyle/>
          <a:p>
            <a:pPr algn="ctr" indent="0" marL="0">
              <a:buNone/>
            </a:pPr>
            <a:r>
              <a:rPr lang="en-US" sz="900" b="1" dirty="0">
                <a:solidFill>
                  <a:schemeClr val="tx1"/>
                </a:solidFill>
              </a:rPr>
              <a:t>High5+ Cockpit</a:t>
            </a:r>
            <a:endParaRPr lang="en-US" sz="900" dirty="0"/>
          </a:p>
        </p:txBody>
      </p:sp>
      <p:sp>
        <p:nvSpPr>
          <p:cNvPr id="56" name="sec-1-0-2"/>
          <p:cNvSpPr/>
          <p:nvPr/>
        </p:nvSpPr>
        <p:spPr>
          <a:xfrm>
            <a:off x="10488168" y="3767328"/>
            <a:ext cx="1188720" cy="402336"/>
          </a:xfrm>
          <a:prstGeom prst="roundRect">
            <a:avLst>
              <a:gd name="adj" fmla="val 13636"/>
            </a:avLst>
          </a:prstGeom>
          <a:solidFill>
            <a:schemeClr val="bg2"/>
          </a:solidFill>
          <a:ln w="12700">
            <a:solidFill>
              <a:schemeClr val="accent5"/>
            </a:solidFill>
            <a:prstDash val="solid"/>
          </a:ln>
        </p:spPr>
      </p:sp>
      <p:sp>
        <p:nvSpPr>
          <p:cNvPr id="57" name="sec-1-0-2-text"/>
          <p:cNvSpPr txBox="1"/>
          <p:nvPr/>
        </p:nvSpPr>
        <p:spPr>
          <a:xfrm>
            <a:off x="10488168" y="3767328"/>
            <a:ext cx="1188720" cy="402336"/>
          </a:xfrm>
          <a:prstGeom prst="rect">
            <a:avLst/>
          </a:prstGeom>
          <a:noFill/>
          <a:ln/>
        </p:spPr>
        <p:txBody>
          <a:bodyPr wrap="square" lIns="0" tIns="0" rIns="0" bIns="0" rtlCol="0" anchor="ctr"/>
          <a:lstStyle/>
          <a:p>
            <a:pPr algn="ctr" indent="0" marL="0">
              <a:buNone/>
            </a:pPr>
            <a:r>
              <a:rPr lang="en-US" sz="900" b="1" dirty="0">
                <a:solidFill>
                  <a:schemeClr val="tx1"/>
                </a:solidFill>
              </a:rPr>
              <a:t>eCockpit</a:t>
            </a:r>
            <a:endParaRPr lang="en-US" sz="900" dirty="0"/>
          </a:p>
        </p:txBody>
      </p:sp>
      <p:pic>
        <p:nvPicPr>
          <p:cNvPr id="58" name="sec-2-icon" descr="/tmp/claude-0/-home-user-archify/c55ec104-845e-5eb5-96c0-f59db47d1002/scratchpad/pptx3/icons/energy.png">    </p:cNvPr>
          <p:cNvPicPr>
            <a:picLocks noChangeAspect="1"/>
          </p:cNvPicPr>
          <p:nvPr/>
        </p:nvPicPr>
        <p:blipFill>
          <a:blip r:embed="rId4"/>
          <a:stretch>
            <a:fillRect/>
          </a:stretch>
        </p:blipFill>
        <p:spPr>
          <a:xfrm>
            <a:off x="7223760" y="4434840"/>
            <a:ext cx="640080" cy="640080"/>
          </a:xfrm>
          <a:prstGeom prst="rect">
            <a:avLst/>
          </a:prstGeom>
        </p:spPr>
      </p:pic>
      <p:sp>
        <p:nvSpPr>
          <p:cNvPr id="59" name="sec-2-head"/>
          <p:cNvSpPr txBox="1"/>
          <p:nvPr/>
        </p:nvSpPr>
        <p:spPr>
          <a:xfrm>
            <a:off x="8001000" y="4389120"/>
            <a:ext cx="3703320" cy="685800"/>
          </a:xfrm>
          <a:prstGeom prst="rect">
            <a:avLst/>
          </a:prstGeom>
          <a:noFill/>
          <a:ln/>
        </p:spPr>
        <p:txBody>
          <a:bodyPr wrap="square" lIns="0" tIns="0" rIns="0" bIns="0" rtlCol="0" anchor="t"/>
          <a:lstStyle/>
          <a:p>
            <a:pPr indent="0" marL="0">
              <a:buNone/>
            </a:pPr>
            <a:r>
              <a:rPr lang="en-US" sz="1400" b="1" dirty="0">
                <a:solidFill>
                  <a:schemeClr val="tx1"/>
                </a:solidFill>
              </a:rPr>
              <a:t>New Energies Market</a:t>
            </a:r>
            <a:endParaRPr lang="en-US" sz="1400" dirty="0"/>
          </a:p>
          <a:p>
            <a:pPr indent="0" marL="0">
              <a:buNone/>
            </a:pPr>
            <a:r>
              <a:rPr lang="en-US" sz="1050" dirty="0">
                <a:solidFill>
                  <a:schemeClr val="tx2"/>
                </a:solidFill>
              </a:rPr>
              <a:t>Analytics on SAF and liquid hydrogen over conventional fuel, for a reduced carbon footprint</a:t>
            </a:r>
            <a:endParaRPr lang="en-US" sz="1400" dirty="0"/>
          </a:p>
        </p:txBody>
      </p:sp>
      <p:sp>
        <p:nvSpPr>
          <p:cNvPr id="60" name="sec-2-link"/>
          <p:cNvSpPr/>
          <p:nvPr/>
        </p:nvSpPr>
        <p:spPr>
          <a:xfrm>
            <a:off x="6903720" y="3355848"/>
            <a:ext cx="320040" cy="1399032"/>
          </a:xfrm>
          <a:prstGeom prst="line">
            <a:avLst/>
          </a:prstGeom>
          <a:noFill/>
          <a:ln w="19050">
            <a:solidFill>
              <a:schemeClr val="accent2"/>
            </a:solidFill>
            <a:prstDash val="sysDot"/>
          </a:ln>
        </p:spPr>
      </p:sp>
      <p:sp>
        <p:nvSpPr>
          <p:cNvPr id="61" name="sec-2-0-0"/>
          <p:cNvSpPr/>
          <p:nvPr/>
        </p:nvSpPr>
        <p:spPr>
          <a:xfrm>
            <a:off x="8001000" y="5093208"/>
            <a:ext cx="1188720" cy="402336"/>
          </a:xfrm>
          <a:prstGeom prst="roundRect">
            <a:avLst>
              <a:gd name="adj" fmla="val 13636"/>
            </a:avLst>
          </a:prstGeom>
          <a:solidFill>
            <a:schemeClr val="bg2"/>
          </a:solidFill>
          <a:ln w="12700">
            <a:solidFill>
              <a:schemeClr val="accent5"/>
            </a:solidFill>
            <a:prstDash val="solid"/>
          </a:ln>
        </p:spPr>
      </p:sp>
      <p:sp>
        <p:nvSpPr>
          <p:cNvPr id="62" name="sec-2-0-0-text"/>
          <p:cNvSpPr txBox="1"/>
          <p:nvPr/>
        </p:nvSpPr>
        <p:spPr>
          <a:xfrm>
            <a:off x="8001000" y="5093208"/>
            <a:ext cx="1188720" cy="402336"/>
          </a:xfrm>
          <a:prstGeom prst="rect">
            <a:avLst/>
          </a:prstGeom>
          <a:noFill/>
          <a:ln/>
        </p:spPr>
        <p:txBody>
          <a:bodyPr wrap="square" lIns="0" tIns="0" rIns="0" bIns="0" rtlCol="0" anchor="ctr"/>
          <a:lstStyle/>
          <a:p>
            <a:pPr algn="ctr" indent="0" marL="0">
              <a:buNone/>
            </a:pPr>
            <a:r>
              <a:rPr lang="en-US" sz="900" b="1" dirty="0">
                <a:solidFill>
                  <a:schemeClr val="tx1"/>
                </a:solidFill>
              </a:rPr>
              <a:t>SAFIR</a:t>
            </a:r>
            <a:endParaRPr lang="en-US" sz="900" dirty="0"/>
          </a:p>
        </p:txBody>
      </p:sp>
      <p:sp>
        <p:nvSpPr>
          <p:cNvPr id="63" name="sec-2-0-1"/>
          <p:cNvSpPr/>
          <p:nvPr/>
        </p:nvSpPr>
        <p:spPr>
          <a:xfrm>
            <a:off x="9244584" y="5093208"/>
            <a:ext cx="1188720" cy="402336"/>
          </a:xfrm>
          <a:prstGeom prst="roundRect">
            <a:avLst>
              <a:gd name="adj" fmla="val 13636"/>
            </a:avLst>
          </a:prstGeom>
          <a:solidFill>
            <a:schemeClr val="bg2"/>
          </a:solidFill>
          <a:ln w="12700">
            <a:solidFill>
              <a:schemeClr val="accent5"/>
            </a:solidFill>
            <a:prstDash val="solid"/>
          </a:ln>
        </p:spPr>
      </p:sp>
      <p:sp>
        <p:nvSpPr>
          <p:cNvPr id="64" name="sec-2-0-1-text"/>
          <p:cNvSpPr txBox="1"/>
          <p:nvPr/>
        </p:nvSpPr>
        <p:spPr>
          <a:xfrm>
            <a:off x="9244584" y="5093208"/>
            <a:ext cx="1188720" cy="402336"/>
          </a:xfrm>
          <a:prstGeom prst="rect">
            <a:avLst/>
          </a:prstGeom>
          <a:noFill/>
          <a:ln/>
        </p:spPr>
        <p:txBody>
          <a:bodyPr wrap="square" lIns="0" tIns="0" rIns="0" bIns="0" rtlCol="0" anchor="ctr"/>
          <a:lstStyle/>
          <a:p>
            <a:pPr algn="ctr" indent="0" marL="0">
              <a:buNone/>
            </a:pPr>
            <a:r>
              <a:rPr lang="en-US" sz="900" b="1" dirty="0">
                <a:solidFill>
                  <a:schemeClr val="tx1"/>
                </a:solidFill>
              </a:rPr>
              <a:t>Hymenu</a:t>
            </a:r>
            <a:endParaRPr lang="en-US" sz="900" dirty="0"/>
          </a:p>
        </p:txBody>
      </p:sp>
      <p:pic>
        <p:nvPicPr>
          <p:cNvPr id="65" name="run-icon" descr="/tmp/claude-0/-home-user-archify/c55ec104-845e-5eb5-96c0-f59db47d1002/scratchpad/pptx3/icons/cycle.png">    </p:cNvPr>
          <p:cNvPicPr>
            <a:picLocks noChangeAspect="1"/>
          </p:cNvPicPr>
          <p:nvPr/>
        </p:nvPicPr>
        <p:blipFill>
          <a:blip r:embed="rId5"/>
          <a:stretch>
            <a:fillRect/>
          </a:stretch>
        </p:blipFill>
        <p:spPr>
          <a:xfrm>
            <a:off x="3657600" y="5870448"/>
            <a:ext cx="548640" cy="548640"/>
          </a:xfrm>
          <a:prstGeom prst="rect">
            <a:avLst/>
          </a:prstGeom>
        </p:spPr>
      </p:pic>
      <p:sp>
        <p:nvSpPr>
          <p:cNvPr id="66" name="run-head"/>
          <p:cNvSpPr txBox="1"/>
          <p:nvPr/>
        </p:nvSpPr>
        <p:spPr>
          <a:xfrm>
            <a:off x="4297680" y="5870448"/>
            <a:ext cx="2743200" cy="548640"/>
          </a:xfrm>
          <a:prstGeom prst="rect">
            <a:avLst/>
          </a:prstGeom>
          <a:noFill/>
          <a:ln/>
        </p:spPr>
        <p:txBody>
          <a:bodyPr wrap="square" lIns="0" tIns="0" rIns="0" bIns="0" rtlCol="0" anchor="ctr"/>
          <a:lstStyle/>
          <a:p>
            <a:pPr indent="0" marL="0">
              <a:buNone/>
            </a:pPr>
            <a:r>
              <a:rPr lang="en-US" sz="1400" b="1" dirty="0">
                <a:solidFill>
                  <a:schemeClr val="tx1"/>
                </a:solidFill>
              </a:rPr>
              <a:t>Other Airbus tools: run mode</a:t>
            </a:r>
            <a:endParaRPr lang="en-US" sz="1400" dirty="0"/>
          </a:p>
        </p:txBody>
      </p:sp>
      <p:sp>
        <p:nvSpPr>
          <p:cNvPr id="67" name="run-0"/>
          <p:cNvSpPr/>
          <p:nvPr/>
        </p:nvSpPr>
        <p:spPr>
          <a:xfrm>
            <a:off x="6949440" y="5943600"/>
            <a:ext cx="1280160" cy="402336"/>
          </a:xfrm>
          <a:prstGeom prst="roundRect">
            <a:avLst>
              <a:gd name="adj" fmla="val 13636"/>
            </a:avLst>
          </a:prstGeom>
          <a:solidFill>
            <a:schemeClr val="accent6"/>
          </a:solidFill>
          <a:ln w="12700">
            <a:solidFill>
              <a:schemeClr val="tx2"/>
            </a:solidFill>
            <a:prstDash val="solid"/>
          </a:ln>
        </p:spPr>
      </p:sp>
      <p:sp>
        <p:nvSpPr>
          <p:cNvPr id="68" name="run-0-text"/>
          <p:cNvSpPr txBox="1"/>
          <p:nvPr/>
        </p:nvSpPr>
        <p:spPr>
          <a:xfrm>
            <a:off x="6949440" y="5943600"/>
            <a:ext cx="1280160" cy="402336"/>
          </a:xfrm>
          <a:prstGeom prst="rect">
            <a:avLst/>
          </a:prstGeom>
          <a:noFill/>
          <a:ln/>
        </p:spPr>
        <p:txBody>
          <a:bodyPr wrap="square" lIns="0" tIns="0" rIns="0" bIns="0" rtlCol="0" anchor="ctr"/>
          <a:lstStyle/>
          <a:p>
            <a:pPr algn="ctr" indent="0" marL="0">
              <a:buNone/>
            </a:pPr>
            <a:r>
              <a:rPr lang="en-US" sz="1000" b="1" dirty="0">
                <a:solidFill>
                  <a:schemeClr val="tx1"/>
                </a:solidFill>
              </a:rPr>
              <a:t>App Portal</a:t>
            </a:r>
            <a:endParaRPr lang="en-US" sz="1000" dirty="0"/>
          </a:p>
        </p:txBody>
      </p:sp>
      <p:sp>
        <p:nvSpPr>
          <p:cNvPr id="69" name="run-1"/>
          <p:cNvSpPr/>
          <p:nvPr/>
        </p:nvSpPr>
        <p:spPr>
          <a:xfrm>
            <a:off x="8321040" y="5943600"/>
            <a:ext cx="1280160" cy="402336"/>
          </a:xfrm>
          <a:prstGeom prst="roundRect">
            <a:avLst>
              <a:gd name="adj" fmla="val 13636"/>
            </a:avLst>
          </a:prstGeom>
          <a:solidFill>
            <a:schemeClr val="accent6"/>
          </a:solidFill>
          <a:ln w="12700">
            <a:solidFill>
              <a:schemeClr val="tx2"/>
            </a:solidFill>
            <a:prstDash val="solid"/>
          </a:ln>
        </p:spPr>
      </p:sp>
      <p:sp>
        <p:nvSpPr>
          <p:cNvPr id="70" name="run-1-text"/>
          <p:cNvSpPr txBox="1"/>
          <p:nvPr/>
        </p:nvSpPr>
        <p:spPr>
          <a:xfrm>
            <a:off x="8321040" y="5943600"/>
            <a:ext cx="1280160" cy="402336"/>
          </a:xfrm>
          <a:prstGeom prst="rect">
            <a:avLst/>
          </a:prstGeom>
          <a:noFill/>
          <a:ln/>
        </p:spPr>
        <p:txBody>
          <a:bodyPr wrap="square" lIns="0" tIns="0" rIns="0" bIns="0" rtlCol="0" anchor="ctr"/>
          <a:lstStyle/>
          <a:p>
            <a:pPr algn="ctr" indent="0" marL="0">
              <a:buNone/>
            </a:pPr>
            <a:r>
              <a:rPr lang="en-US" sz="1000" b="1" dirty="0">
                <a:solidFill>
                  <a:schemeClr val="tx1"/>
                </a:solidFill>
              </a:rPr>
              <a:t>Skywise Home Page</a:t>
            </a:r>
            <a:endParaRPr lang="en-US" sz="1000" dirty="0"/>
          </a:p>
        </p:txBody>
      </p:sp>
      <p:sp>
        <p:nvSpPr>
          <p:cNvPr id="71" name="run-2"/>
          <p:cNvSpPr/>
          <p:nvPr/>
        </p:nvSpPr>
        <p:spPr>
          <a:xfrm>
            <a:off x="9692640" y="5943600"/>
            <a:ext cx="1280160" cy="402336"/>
          </a:xfrm>
          <a:prstGeom prst="roundRect">
            <a:avLst>
              <a:gd name="adj" fmla="val 13636"/>
            </a:avLst>
          </a:prstGeom>
          <a:solidFill>
            <a:schemeClr val="accent6"/>
          </a:solidFill>
          <a:ln w="12700">
            <a:solidFill>
              <a:schemeClr val="tx2"/>
            </a:solidFill>
            <a:prstDash val="solid"/>
          </a:ln>
        </p:spPr>
      </p:sp>
      <p:sp>
        <p:nvSpPr>
          <p:cNvPr id="72" name="run-2-text"/>
          <p:cNvSpPr txBox="1"/>
          <p:nvPr/>
        </p:nvSpPr>
        <p:spPr>
          <a:xfrm>
            <a:off x="9692640" y="5943600"/>
            <a:ext cx="1280160" cy="402336"/>
          </a:xfrm>
          <a:prstGeom prst="rect">
            <a:avLst/>
          </a:prstGeom>
          <a:noFill/>
          <a:ln/>
        </p:spPr>
        <p:txBody>
          <a:bodyPr wrap="square" lIns="0" tIns="0" rIns="0" bIns="0" rtlCol="0" anchor="ctr"/>
          <a:lstStyle/>
          <a:p>
            <a:pPr algn="ctr" indent="0" marL="0">
              <a:buNone/>
            </a:pPr>
            <a:r>
              <a:rPr lang="en-US" sz="1000" b="1" dirty="0">
                <a:solidFill>
                  <a:schemeClr val="tx1"/>
                </a:solidFill>
              </a:rPr>
              <a:t>Arcane</a:t>
            </a:r>
            <a:endParaRPr lang="en-US" sz="1000" dirty="0"/>
          </a:p>
        </p:txBody>
      </p:sp>
      <p:sp>
        <p:nvSpPr>
          <p:cNvPr id="73" name="veil"/>
          <p:cNvSpPr/>
          <p:nvPr/>
        </p:nvSpPr>
        <p:spPr>
          <a:xfrm>
            <a:off x="0" y="1234440"/>
            <a:ext cx="12191695" cy="5623560"/>
          </a:xfrm>
          <a:prstGeom prst="rect">
            <a:avLst/>
          </a:prstGeom>
          <a:solidFill>
            <a:schemeClr val="bg2">
              <a:alpha val="75000"/>
            </a:schemeClr>
          </a:solidFill>
          <a:ln/>
        </p:spPr>
      </p:sp>
      <p:sp>
        <p:nvSpPr>
          <p:cNvPr id="29" name="!!erm"/>
          <p:cNvSpPr/>
          <p:nvPr/>
        </p:nvSpPr>
        <p:spPr>
          <a:xfrm>
            <a:off x="576072" y="4956048"/>
            <a:ext cx="1545336" cy="530352"/>
          </a:xfrm>
          <a:prstGeom prst="roundRect">
            <a:avLst>
              <a:gd name="adj" fmla="val 10345"/>
            </a:avLst>
          </a:prstGeom>
          <a:solidFill>
            <a:schemeClr val="accent1"/>
          </a:solidFill>
          <a:ln w="12700">
            <a:solidFill>
              <a:schemeClr val="accent1"/>
            </a:solidFill>
            <a:prstDash val="solid"/>
          </a:ln>
          <a:effectLst>
            <a:outerShdw sx="100000" sy="100000" kx="0" ky="0" algn="bl" rotWithShape="0" blurRad="228600" dist="50800" dir="5400000">
              <a:srgbClr val="C8326C">
                <a:alpha val="70000"/>
              </a:srgbClr>
            </a:outerShdw>
          </a:effectLst>
        </p:spPr>
      </p:sp>
      <p:sp>
        <p:nvSpPr>
          <p:cNvPr id="30" name="!!ermtext"/>
          <p:cNvSpPr txBox="1"/>
          <p:nvPr/>
        </p:nvSpPr>
        <p:spPr>
          <a:xfrm>
            <a:off x="576072" y="4956048"/>
            <a:ext cx="1545336" cy="530352"/>
          </a:xfrm>
          <a:prstGeom prst="rect">
            <a:avLst/>
          </a:prstGeom>
          <a:noFill/>
          <a:ln/>
        </p:spPr>
        <p:txBody>
          <a:bodyPr wrap="square" lIns="0" tIns="0" rIns="0" bIns="0" rtlCol="0" anchor="ctr"/>
          <a:lstStyle/>
          <a:p>
            <a:pPr algn="ctr" indent="0" marL="0">
              <a:buNone/>
            </a:pPr>
            <a:r>
              <a:rPr lang="en-US" sz="1600" b="1" dirty="0">
                <a:solidFill>
                  <a:schemeClr val="bg1"/>
                </a:solidFill>
              </a:rPr>
              <a:t>ERM</a:t>
            </a:r>
            <a:endParaRPr lang="en-US" sz="1600" dirty="0"/>
          </a:p>
        </p:txBody>
      </p:sp>
      <p:sp>
        <p:nvSpPr>
          <p:cNvPr id="74" name="erm-callout"/>
          <p:cNvSpPr txBox="1"/>
          <p:nvPr/>
        </p:nvSpPr>
        <p:spPr>
          <a:xfrm>
            <a:off x="685800" y="5897880"/>
            <a:ext cx="2926080" cy="640080"/>
          </a:xfrm>
          <a:prstGeom prst="rect">
            <a:avLst/>
          </a:prstGeom>
          <a:noFill/>
          <a:ln/>
        </p:spPr>
        <p:txBody>
          <a:bodyPr wrap="square" lIns="0" tIns="0" rIns="0" bIns="0" rtlCol="0" anchor="t"/>
          <a:lstStyle/>
          <a:p>
            <a:pPr indent="0" marL="0">
              <a:buNone/>
            </a:pPr>
            <a:r>
              <a:rPr lang="en-US" sz="1600" b="1" dirty="0">
                <a:solidFill>
                  <a:schemeClr val="accent1"/>
                </a:solidFill>
              </a:rPr>
              <a:t>Enterprise Risk Management</a:t>
            </a:r>
            <a:endParaRPr lang="en-US" sz="1600" dirty="0"/>
          </a:p>
          <a:p>
            <a:pPr indent="0" marL="0">
              <a:buNone/>
            </a:pPr>
            <a:r>
              <a:rPr lang="en-US" sz="1200" dirty="0">
                <a:solidFill>
                  <a:schemeClr val="tx1"/>
                </a:solidFill>
              </a:rPr>
              <a:t>Where every risk review starts</a:t>
            </a:r>
            <a:endParaRPr lang="en-US" sz="16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accent1"/>
        </a:solidFill>
      </p:bgPr>
    </p:bg>
    <p:spTree>
      <p:nvGrpSpPr>
        <p:cNvPr id="1" name=""/>
        <p:cNvGrpSpPr/>
        <p:nvPr/>
      </p:nvGrpSpPr>
      <p:grpSpPr>
        <a:xfrm>
          <a:off x="0" y="0"/>
          <a:ext cx="0" cy="0"/>
          <a:chOff x="0" y="0"/>
          <a:chExt cx="0" cy="0"/>
        </a:xfrm>
      </p:grpSpPr>
      <p:sp>
        <p:nvSpPr>
          <p:cNvPr id="2" name="!!erm"/>
          <p:cNvSpPr/>
          <p:nvPr/>
        </p:nvSpPr>
        <p:spPr>
          <a:xfrm>
            <a:off x="-182880" y="-182880"/>
            <a:ext cx="12557455" cy="7223760"/>
          </a:xfrm>
          <a:prstGeom prst="roundRect">
            <a:avLst>
              <a:gd name="adj" fmla="val 759"/>
            </a:avLst>
          </a:prstGeom>
          <a:solidFill>
            <a:schemeClr val="accent1"/>
          </a:solidFill>
          <a:ln w="12700">
            <a:solidFill>
              <a:schemeClr val="accent1"/>
            </a:solidFill>
            <a:prstDash val="solid"/>
          </a:ln>
        </p:spPr>
      </p:sp>
      <p:sp>
        <p:nvSpPr>
          <p:cNvPr id="3" name="!!ermtext"/>
          <p:cNvSpPr txBox="1"/>
          <p:nvPr/>
        </p:nvSpPr>
        <p:spPr>
          <a:xfrm>
            <a:off x="548640" y="2194560"/>
            <a:ext cx="11094415" cy="2468880"/>
          </a:xfrm>
          <a:prstGeom prst="rect">
            <a:avLst/>
          </a:prstGeom>
          <a:noFill/>
          <a:ln/>
        </p:spPr>
        <p:txBody>
          <a:bodyPr wrap="square" lIns="0" tIns="0" rIns="0" bIns="0" rtlCol="0" anchor="ctr"/>
          <a:lstStyle/>
          <a:p>
            <a:pPr algn="ctr" indent="0" marL="0">
              <a:buNone/>
            </a:pPr>
            <a:r>
              <a:rPr lang="en-US" sz="9600" b="1" dirty="0">
                <a:solidFill>
                  <a:schemeClr val="bg1"/>
                </a:solidFill>
              </a:rPr>
              <a:t>ERM</a:t>
            </a:r>
            <a:endParaRPr lang="en-US" sz="9600" dirty="0"/>
          </a:p>
          <a:p>
            <a:pPr algn="ctr" indent="0" marL="0">
              <a:buNone/>
            </a:pPr>
            <a:r>
              <a:rPr lang="en-US" sz="2800" dirty="0">
                <a:solidFill>
                  <a:schemeClr val="bg1"/>
                </a:solidFill>
              </a:rPr>
              <a:t>Enterprise Risk Management</a:t>
            </a:r>
            <a:endParaRPr lang="en-US" sz="9600" dirty="0"/>
          </a:p>
        </p:txBody>
      </p:sp>
      <p:sp>
        <p:nvSpPr>
          <p:cNvPr id="5"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endParaRPr lang="en-US" sz="36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advTm="600">
        <p159:morph option="byObject"/>
      </p:transition>
    </mc:Choice>
    <mc:Fallback>
      <p:transition spd="slow" advTm="6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CONTEXT</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ERM is part of DMS Performance Management</a:t>
            </a:r>
            <a:endParaRPr lang="en-US" sz="3600" dirty="0"/>
          </a:p>
        </p:txBody>
      </p:sp>
      <p:sp>
        <p:nvSpPr>
          <p:cNvPr id="4" name="tree-dms"/>
          <p:cNvSpPr/>
          <p:nvPr/>
        </p:nvSpPr>
        <p:spPr>
          <a:xfrm>
            <a:off x="3108960" y="1508760"/>
            <a:ext cx="1645920" cy="502920"/>
          </a:xfrm>
          <a:prstGeom prst="roundRect">
            <a:avLst>
              <a:gd name="adj" fmla="val 21818"/>
            </a:avLst>
          </a:prstGeom>
          <a:solidFill>
            <a:schemeClr val="tx1"/>
          </a:solidFill>
          <a:ln/>
        </p:spPr>
      </p:sp>
      <p:sp>
        <p:nvSpPr>
          <p:cNvPr id="5" name="tree-dms-text"/>
          <p:cNvSpPr txBox="1"/>
          <p:nvPr/>
        </p:nvSpPr>
        <p:spPr>
          <a:xfrm>
            <a:off x="3108960" y="1508760"/>
            <a:ext cx="1645920" cy="502920"/>
          </a:xfrm>
          <a:prstGeom prst="rect">
            <a:avLst/>
          </a:prstGeom>
          <a:noFill/>
          <a:ln/>
        </p:spPr>
        <p:txBody>
          <a:bodyPr wrap="square" lIns="0" tIns="0" rIns="0" bIns="0" rtlCol="0" anchor="ctr"/>
          <a:lstStyle/>
          <a:p>
            <a:pPr algn="ctr" indent="0" marL="0">
              <a:buNone/>
            </a:pPr>
            <a:r>
              <a:rPr lang="en-US" sz="1600" b="1" dirty="0">
                <a:solidFill>
                  <a:schemeClr val="bg1"/>
                </a:solidFill>
              </a:rPr>
              <a:t>DMS</a:t>
            </a:r>
            <a:endParaRPr lang="en-US" sz="1600" dirty="0"/>
          </a:p>
        </p:txBody>
      </p:sp>
      <p:sp>
        <p:nvSpPr>
          <p:cNvPr id="6" name="tree-l0"/>
          <p:cNvSpPr/>
          <p:nvPr/>
        </p:nvSpPr>
        <p:spPr>
          <a:xfrm>
            <a:off x="3931920" y="2011680"/>
            <a:ext cx="0" cy="320040"/>
          </a:xfrm>
          <a:prstGeom prst="line">
            <a:avLst/>
          </a:prstGeom>
          <a:noFill/>
          <a:ln w="22225">
            <a:solidFill>
              <a:schemeClr val="accent2"/>
            </a:solidFill>
            <a:prstDash val="solid"/>
          </a:ln>
        </p:spPr>
      </p:sp>
      <p:sp>
        <p:nvSpPr>
          <p:cNvPr id="7" name="tree-pm"/>
          <p:cNvSpPr/>
          <p:nvPr/>
        </p:nvSpPr>
        <p:spPr>
          <a:xfrm>
            <a:off x="2103120" y="2331720"/>
            <a:ext cx="3657600" cy="640080"/>
          </a:xfrm>
          <a:prstGeom prst="roundRect">
            <a:avLst>
              <a:gd name="adj" fmla="val 17143"/>
            </a:avLst>
          </a:prstGeom>
          <a:solidFill>
            <a:schemeClr val="accent2"/>
          </a:solidFill>
          <a:ln/>
        </p:spPr>
      </p:sp>
      <p:sp>
        <p:nvSpPr>
          <p:cNvPr id="8" name="tree-pm-text"/>
          <p:cNvSpPr txBox="1"/>
          <p:nvPr/>
        </p:nvSpPr>
        <p:spPr>
          <a:xfrm>
            <a:off x="2103120" y="2331720"/>
            <a:ext cx="3657600" cy="640080"/>
          </a:xfrm>
          <a:prstGeom prst="rect">
            <a:avLst/>
          </a:prstGeom>
          <a:noFill/>
          <a:ln/>
        </p:spPr>
        <p:txBody>
          <a:bodyPr wrap="square" lIns="0" tIns="0" rIns="0" bIns="0" rtlCol="0" anchor="ctr"/>
          <a:lstStyle/>
          <a:p>
            <a:pPr algn="ctr" indent="0" marL="0">
              <a:buNone/>
            </a:pPr>
            <a:r>
              <a:rPr lang="en-US" sz="1700" b="1" dirty="0">
                <a:solidFill>
                  <a:schemeClr val="bg1"/>
                </a:solidFill>
              </a:rPr>
              <a:t>Performance Management suite</a:t>
            </a:r>
            <a:endParaRPr lang="en-US" sz="1700" dirty="0"/>
          </a:p>
        </p:txBody>
      </p:sp>
      <p:sp>
        <p:nvSpPr>
          <p:cNvPr id="9" name="tree-l1"/>
          <p:cNvSpPr/>
          <p:nvPr/>
        </p:nvSpPr>
        <p:spPr>
          <a:xfrm>
            <a:off x="3931920" y="2971800"/>
            <a:ext cx="0" cy="228600"/>
          </a:xfrm>
          <a:prstGeom prst="line">
            <a:avLst/>
          </a:prstGeom>
          <a:noFill/>
          <a:ln w="22225">
            <a:solidFill>
              <a:schemeClr val="accent2"/>
            </a:solidFill>
            <a:prstDash val="solid"/>
          </a:ln>
        </p:spPr>
      </p:sp>
      <p:sp>
        <p:nvSpPr>
          <p:cNvPr id="10" name="tree-bar"/>
          <p:cNvSpPr/>
          <p:nvPr/>
        </p:nvSpPr>
        <p:spPr>
          <a:xfrm>
            <a:off x="1577340" y="3200400"/>
            <a:ext cx="4709160" cy="0"/>
          </a:xfrm>
          <a:prstGeom prst="line">
            <a:avLst/>
          </a:prstGeom>
          <a:noFill/>
          <a:ln w="22225">
            <a:solidFill>
              <a:schemeClr val="accent2"/>
            </a:solidFill>
            <a:prstDash val="solid"/>
          </a:ln>
        </p:spPr>
      </p:sp>
      <p:sp>
        <p:nvSpPr>
          <p:cNvPr id="11" name="tree-k0-l"/>
          <p:cNvSpPr/>
          <p:nvPr/>
        </p:nvSpPr>
        <p:spPr>
          <a:xfrm>
            <a:off x="1577340" y="3200400"/>
            <a:ext cx="0" cy="228600"/>
          </a:xfrm>
          <a:prstGeom prst="line">
            <a:avLst/>
          </a:prstGeom>
          <a:noFill/>
          <a:ln w="22225">
            <a:solidFill>
              <a:schemeClr val="accent2"/>
            </a:solidFill>
            <a:prstDash val="solid"/>
          </a:ln>
        </p:spPr>
      </p:sp>
      <p:sp>
        <p:nvSpPr>
          <p:cNvPr id="12" name="tree-k0"/>
          <p:cNvSpPr/>
          <p:nvPr/>
        </p:nvSpPr>
        <p:spPr>
          <a:xfrm>
            <a:off x="548640" y="3429000"/>
            <a:ext cx="2057400" cy="640080"/>
          </a:xfrm>
          <a:prstGeom prst="roundRect">
            <a:avLst>
              <a:gd name="adj" fmla="val 8571"/>
            </a:avLst>
          </a:prstGeom>
          <a:solidFill>
            <a:schemeClr val="bg2"/>
          </a:solidFill>
          <a:ln w="12700">
            <a:solidFill>
              <a:schemeClr val="accent5"/>
            </a:solidFill>
            <a:prstDash val="solid"/>
          </a:ln>
        </p:spPr>
      </p:sp>
      <p:sp>
        <p:nvSpPr>
          <p:cNvPr id="13" name="tree-k0-text"/>
          <p:cNvSpPr txBox="1"/>
          <p:nvPr/>
        </p:nvSpPr>
        <p:spPr>
          <a:xfrm>
            <a:off x="548640" y="3429000"/>
            <a:ext cx="2057400" cy="640080"/>
          </a:xfrm>
          <a:prstGeom prst="rect">
            <a:avLst/>
          </a:prstGeom>
          <a:noFill/>
          <a:ln/>
        </p:spPr>
        <p:txBody>
          <a:bodyPr wrap="square" lIns="0" tIns="0" rIns="0" bIns="0" rtlCol="0" anchor="ctr"/>
          <a:lstStyle/>
          <a:p>
            <a:pPr algn="ctr" indent="0" marL="0">
              <a:buNone/>
            </a:pPr>
            <a:r>
              <a:rPr lang="en-US" sz="1400" b="1" dirty="0">
                <a:solidFill>
                  <a:schemeClr val="tx1"/>
                </a:solidFill>
              </a:rPr>
              <a:t>KPIs / Data Products</a:t>
            </a:r>
            <a:endParaRPr lang="en-US" sz="1400" dirty="0"/>
          </a:p>
        </p:txBody>
      </p:sp>
      <p:sp>
        <p:nvSpPr>
          <p:cNvPr id="14" name="tree-k1-l"/>
          <p:cNvSpPr/>
          <p:nvPr/>
        </p:nvSpPr>
        <p:spPr>
          <a:xfrm>
            <a:off x="3931920" y="3200400"/>
            <a:ext cx="0" cy="228600"/>
          </a:xfrm>
          <a:prstGeom prst="line">
            <a:avLst/>
          </a:prstGeom>
          <a:noFill/>
          <a:ln w="22225">
            <a:solidFill>
              <a:schemeClr val="accent2"/>
            </a:solidFill>
            <a:prstDash val="solid"/>
          </a:ln>
        </p:spPr>
      </p:sp>
      <p:sp>
        <p:nvSpPr>
          <p:cNvPr id="15" name="tree-k1"/>
          <p:cNvSpPr/>
          <p:nvPr/>
        </p:nvSpPr>
        <p:spPr>
          <a:xfrm>
            <a:off x="2903220" y="3429000"/>
            <a:ext cx="2057400" cy="640080"/>
          </a:xfrm>
          <a:prstGeom prst="roundRect">
            <a:avLst>
              <a:gd name="adj" fmla="val 8571"/>
            </a:avLst>
          </a:prstGeom>
          <a:solidFill>
            <a:schemeClr val="bg2"/>
          </a:solidFill>
          <a:ln w="12700">
            <a:solidFill>
              <a:schemeClr val="accent5"/>
            </a:solidFill>
            <a:prstDash val="solid"/>
          </a:ln>
        </p:spPr>
      </p:sp>
      <p:sp>
        <p:nvSpPr>
          <p:cNvPr id="16" name="tree-k1-text"/>
          <p:cNvSpPr txBox="1"/>
          <p:nvPr/>
        </p:nvSpPr>
        <p:spPr>
          <a:xfrm>
            <a:off x="2903220" y="3429000"/>
            <a:ext cx="2057400" cy="640080"/>
          </a:xfrm>
          <a:prstGeom prst="rect">
            <a:avLst/>
          </a:prstGeom>
          <a:noFill/>
          <a:ln/>
        </p:spPr>
        <p:txBody>
          <a:bodyPr wrap="square" lIns="0" tIns="0" rIns="0" bIns="0" rtlCol="0" anchor="ctr"/>
          <a:lstStyle/>
          <a:p>
            <a:pPr algn="ctr" indent="0" marL="0">
              <a:buNone/>
            </a:pPr>
            <a:r>
              <a:rPr lang="en-US" sz="1400" b="1" dirty="0">
                <a:solidFill>
                  <a:schemeClr val="tx1"/>
                </a:solidFill>
              </a:rPr>
              <a:t>Dashboards</a:t>
            </a:r>
            <a:endParaRPr lang="en-US" sz="1400" dirty="0"/>
          </a:p>
        </p:txBody>
      </p:sp>
      <p:sp>
        <p:nvSpPr>
          <p:cNvPr id="17" name="tree-k2-l"/>
          <p:cNvSpPr/>
          <p:nvPr/>
        </p:nvSpPr>
        <p:spPr>
          <a:xfrm>
            <a:off x="6286500" y="3200400"/>
            <a:ext cx="0" cy="228600"/>
          </a:xfrm>
          <a:prstGeom prst="line">
            <a:avLst/>
          </a:prstGeom>
          <a:noFill/>
          <a:ln w="22225">
            <a:solidFill>
              <a:schemeClr val="accent2"/>
            </a:solidFill>
            <a:prstDash val="solid"/>
          </a:ln>
        </p:spPr>
      </p:sp>
      <p:sp>
        <p:nvSpPr>
          <p:cNvPr id="18" name="!!erm"/>
          <p:cNvSpPr/>
          <p:nvPr/>
        </p:nvSpPr>
        <p:spPr>
          <a:xfrm>
            <a:off x="5257800" y="3429000"/>
            <a:ext cx="2057400" cy="640080"/>
          </a:xfrm>
          <a:prstGeom prst="roundRect">
            <a:avLst>
              <a:gd name="adj" fmla="val 8571"/>
            </a:avLst>
          </a:prstGeom>
          <a:solidFill>
            <a:schemeClr val="accent1"/>
          </a:solidFill>
          <a:ln w="12700">
            <a:solidFill>
              <a:schemeClr val="accent1"/>
            </a:solidFill>
            <a:prstDash val="solid"/>
          </a:ln>
        </p:spPr>
      </p:sp>
      <p:sp>
        <p:nvSpPr>
          <p:cNvPr id="19" name="!!ermtext"/>
          <p:cNvSpPr txBox="1"/>
          <p:nvPr/>
        </p:nvSpPr>
        <p:spPr>
          <a:xfrm>
            <a:off x="5257800" y="3429000"/>
            <a:ext cx="2057400" cy="640080"/>
          </a:xfrm>
          <a:prstGeom prst="rect">
            <a:avLst/>
          </a:prstGeom>
          <a:noFill/>
          <a:ln/>
        </p:spPr>
        <p:txBody>
          <a:bodyPr wrap="square" lIns="0" tIns="0" rIns="0" bIns="0" rtlCol="0" anchor="ctr"/>
          <a:lstStyle/>
          <a:p>
            <a:pPr algn="ctr" indent="0" marL="0">
              <a:buNone/>
            </a:pPr>
            <a:r>
              <a:rPr lang="en-US" sz="2000" b="1" dirty="0">
                <a:solidFill>
                  <a:schemeClr val="bg1"/>
                </a:solidFill>
              </a:rPr>
              <a:t>ERM</a:t>
            </a:r>
            <a:endParaRPr lang="en-US" sz="2000" dirty="0"/>
          </a:p>
        </p:txBody>
      </p:sp>
      <p:sp>
        <p:nvSpPr>
          <p:cNvPr id="20" name="tree-l2"/>
          <p:cNvSpPr/>
          <p:nvPr/>
        </p:nvSpPr>
        <p:spPr>
          <a:xfrm>
            <a:off x="6286500" y="4069080"/>
            <a:ext cx="0" cy="411480"/>
          </a:xfrm>
          <a:prstGeom prst="line">
            <a:avLst/>
          </a:prstGeom>
          <a:noFill/>
          <a:ln w="22225">
            <a:solidFill>
              <a:schemeClr val="accent2"/>
            </a:solidFill>
            <a:prstDash val="solid"/>
          </a:ln>
        </p:spPr>
      </p:sp>
      <p:sp>
        <p:nvSpPr>
          <p:cNvPr id="21" name="tree-fed"/>
          <p:cNvSpPr txBox="1"/>
          <p:nvPr/>
        </p:nvSpPr>
        <p:spPr>
          <a:xfrm>
            <a:off x="6377940" y="4142232"/>
            <a:ext cx="1097280" cy="274320"/>
          </a:xfrm>
          <a:prstGeom prst="rect">
            <a:avLst/>
          </a:prstGeom>
          <a:noFill/>
          <a:ln/>
        </p:spPr>
        <p:txBody>
          <a:bodyPr wrap="square" lIns="0" tIns="0" rIns="0" bIns="0" rtlCol="0" anchor="t"/>
          <a:lstStyle/>
          <a:p>
            <a:pPr indent="0" marL="0">
              <a:buNone/>
            </a:pPr>
            <a:r>
              <a:rPr lang="en-US" sz="1100" i="1" dirty="0">
                <a:solidFill>
                  <a:schemeClr val="tx2"/>
                </a:solidFill>
              </a:rPr>
              <a:t>fed by</a:t>
            </a:r>
            <a:endParaRPr lang="en-US" sz="1100" dirty="0"/>
          </a:p>
        </p:txBody>
      </p:sp>
      <p:sp>
        <p:nvSpPr>
          <p:cNvPr id="22" name="tree-arm"/>
          <p:cNvSpPr/>
          <p:nvPr/>
        </p:nvSpPr>
        <p:spPr>
          <a:xfrm>
            <a:off x="5257800" y="4480560"/>
            <a:ext cx="2057400" cy="594360"/>
          </a:xfrm>
          <a:prstGeom prst="roundRect">
            <a:avLst>
              <a:gd name="adj" fmla="val 18462"/>
            </a:avLst>
          </a:prstGeom>
          <a:solidFill>
            <a:schemeClr val="bg1"/>
          </a:solidFill>
          <a:ln w="12700">
            <a:solidFill>
              <a:schemeClr val="accent5"/>
            </a:solidFill>
            <a:prstDash val="solid"/>
          </a:ln>
        </p:spPr>
      </p:sp>
      <p:sp>
        <p:nvSpPr>
          <p:cNvPr id="23" name="tree-arm-text"/>
          <p:cNvSpPr txBox="1"/>
          <p:nvPr/>
        </p:nvSpPr>
        <p:spPr>
          <a:xfrm>
            <a:off x="5257800" y="4480560"/>
            <a:ext cx="2057400" cy="594360"/>
          </a:xfrm>
          <a:prstGeom prst="rect">
            <a:avLst/>
          </a:prstGeom>
          <a:noFill/>
          <a:ln/>
        </p:spPr>
        <p:txBody>
          <a:bodyPr wrap="square" lIns="0" tIns="0" rIns="0" bIns="0" rtlCol="0" anchor="ctr"/>
          <a:lstStyle/>
          <a:p>
            <a:pPr algn="ctr" indent="0" marL="0">
              <a:buNone/>
            </a:pPr>
            <a:r>
              <a:rPr lang="en-US" sz="1500" b="1" dirty="0">
                <a:solidFill>
                  <a:schemeClr val="tx1"/>
                </a:solidFill>
              </a:rPr>
              <a:t>ARM </a:t>
            </a:r>
            <a:pPr algn="ctr" indent="0" marL="0">
              <a:buNone/>
            </a:pPr>
            <a:r>
              <a:rPr lang="en-US" sz="1100" dirty="0">
                <a:solidFill>
                  <a:schemeClr val="tx2"/>
                </a:solidFill>
              </a:rPr>
              <a:t>(Riskonnect)</a:t>
            </a:r>
            <a:endParaRPr lang="en-US" sz="1500" dirty="0"/>
          </a:p>
        </p:txBody>
      </p:sp>
      <p:sp>
        <p:nvSpPr>
          <p:cNvPr id="24" name="tree-l3"/>
          <p:cNvSpPr/>
          <p:nvPr/>
        </p:nvSpPr>
        <p:spPr>
          <a:xfrm>
            <a:off x="6286500" y="5074920"/>
            <a:ext cx="0" cy="365760"/>
          </a:xfrm>
          <a:prstGeom prst="line">
            <a:avLst/>
          </a:prstGeom>
          <a:noFill/>
          <a:ln w="22225">
            <a:solidFill>
              <a:schemeClr val="accent2"/>
            </a:solidFill>
            <a:prstDash val="solid"/>
          </a:ln>
        </p:spPr>
      </p:sp>
      <p:sp>
        <p:nvSpPr>
          <p:cNvPr id="25" name="tree-on"/>
          <p:cNvSpPr txBox="1"/>
          <p:nvPr/>
        </p:nvSpPr>
        <p:spPr>
          <a:xfrm>
            <a:off x="6377940" y="5120640"/>
            <a:ext cx="1097280" cy="274320"/>
          </a:xfrm>
          <a:prstGeom prst="rect">
            <a:avLst/>
          </a:prstGeom>
          <a:noFill/>
          <a:ln/>
        </p:spPr>
        <p:txBody>
          <a:bodyPr wrap="square" lIns="0" tIns="0" rIns="0" bIns="0" rtlCol="0" anchor="t"/>
          <a:lstStyle/>
          <a:p>
            <a:pPr indent="0" marL="0">
              <a:buNone/>
            </a:pPr>
            <a:r>
              <a:rPr lang="en-US" sz="1100" i="1" dirty="0">
                <a:solidFill>
                  <a:schemeClr val="tx2"/>
                </a:solidFill>
              </a:rPr>
              <a:t>built on</a:t>
            </a:r>
            <a:endParaRPr lang="en-US" sz="1100" dirty="0"/>
          </a:p>
        </p:txBody>
      </p:sp>
      <p:sp>
        <p:nvSpPr>
          <p:cNvPr id="26" name="tree-sky"/>
          <p:cNvSpPr/>
          <p:nvPr/>
        </p:nvSpPr>
        <p:spPr>
          <a:xfrm>
            <a:off x="4343400" y="5440680"/>
            <a:ext cx="2971800" cy="868680"/>
          </a:xfrm>
          <a:prstGeom prst="roundRect">
            <a:avLst>
              <a:gd name="adj" fmla="val 12632"/>
            </a:avLst>
          </a:prstGeom>
          <a:solidFill>
            <a:schemeClr val="bg2"/>
          </a:solidFill>
          <a:ln w="15875">
            <a:solidFill>
              <a:schemeClr val="accent2"/>
            </a:solidFill>
            <a:prstDash val="solid"/>
          </a:ln>
        </p:spPr>
      </p:sp>
      <p:sp>
        <p:nvSpPr>
          <p:cNvPr id="27" name="tree-sky-text"/>
          <p:cNvSpPr txBox="1"/>
          <p:nvPr/>
        </p:nvSpPr>
        <p:spPr>
          <a:xfrm>
            <a:off x="4343400" y="5440680"/>
            <a:ext cx="2971800" cy="868680"/>
          </a:xfrm>
          <a:prstGeom prst="rect">
            <a:avLst/>
          </a:prstGeom>
          <a:noFill/>
          <a:ln/>
        </p:spPr>
        <p:txBody>
          <a:bodyPr wrap="square" lIns="0" tIns="0" rIns="0" bIns="0" rtlCol="0" anchor="ctr"/>
          <a:lstStyle/>
          <a:p>
            <a:pPr algn="ctr" indent="0" marL="0">
              <a:buNone/>
            </a:pPr>
            <a:r>
              <a:rPr lang="en-US" sz="1500" b="1" dirty="0">
                <a:solidFill>
                  <a:schemeClr val="tx1"/>
                </a:solidFill>
              </a:rPr>
              <a:t>Skywise Platform</a:t>
            </a:r>
            <a:endParaRPr lang="en-US" sz="1500" dirty="0"/>
          </a:p>
          <a:p>
            <a:pPr algn="ctr" indent="0" marL="0">
              <a:buNone/>
            </a:pPr>
            <a:r>
              <a:rPr lang="en-US" sz="1200" dirty="0">
                <a:solidFill>
                  <a:schemeClr val="accent2"/>
                </a:solidFill>
              </a:rPr>
              <a:t>Analytics &amp; Reporting</a:t>
            </a:r>
            <a:endParaRPr lang="en-US" sz="1500" dirty="0"/>
          </a:p>
        </p:txBody>
      </p:sp>
      <p:sp>
        <p:nvSpPr>
          <p:cNvPr id="28" name="does-card"/>
          <p:cNvSpPr/>
          <p:nvPr/>
        </p:nvSpPr>
        <p:spPr>
          <a:xfrm>
            <a:off x="7680960" y="1508760"/>
            <a:ext cx="3962095" cy="4800600"/>
          </a:xfrm>
          <a:prstGeom prst="roundRect">
            <a:avLst>
              <a:gd name="adj" fmla="val 2769"/>
            </a:avLst>
          </a:prstGeom>
          <a:solidFill>
            <a:schemeClr val="tx1"/>
          </a:solidFill>
          <a:ln/>
        </p:spPr>
      </p:sp>
      <p:sp>
        <p:nvSpPr>
          <p:cNvPr id="29" name="does-title"/>
          <p:cNvSpPr txBox="1"/>
          <p:nvPr/>
        </p:nvSpPr>
        <p:spPr>
          <a:xfrm>
            <a:off x="7955280" y="1737360"/>
            <a:ext cx="3413455" cy="274320"/>
          </a:xfrm>
          <a:prstGeom prst="rect">
            <a:avLst/>
          </a:prstGeom>
          <a:noFill/>
          <a:ln/>
        </p:spPr>
        <p:txBody>
          <a:bodyPr wrap="square" lIns="0" tIns="0" rIns="0" bIns="0" rtlCol="0" anchor="t"/>
          <a:lstStyle/>
          <a:p>
            <a:pPr indent="0" marL="0">
              <a:buNone/>
            </a:pPr>
            <a:r>
              <a:rPr lang="en-US" sz="1100" b="1" spc="200" kern="0" dirty="0">
                <a:solidFill>
                  <a:schemeClr val="accent5"/>
                </a:solidFill>
              </a:rPr>
              <a:t>WHAT ERM DOES</a:t>
            </a:r>
            <a:endParaRPr lang="en-US" sz="1100" dirty="0"/>
          </a:p>
        </p:txBody>
      </p:sp>
      <p:sp>
        <p:nvSpPr>
          <p:cNvPr id="30" name="does-list"/>
          <p:cNvSpPr txBox="1"/>
          <p:nvPr/>
        </p:nvSpPr>
        <p:spPr>
          <a:xfrm>
            <a:off x="7955280" y="2148840"/>
            <a:ext cx="3413455" cy="3977640"/>
          </a:xfrm>
          <a:prstGeom prst="rect">
            <a:avLst/>
          </a:prstGeom>
          <a:noFill/>
          <a:ln/>
        </p:spPr>
        <p:txBody>
          <a:bodyPr wrap="square" lIns="0" tIns="0" rIns="0" bIns="0" rtlCol="0" anchor="t"/>
          <a:lstStyle/>
          <a:p>
            <a:pPr indent="0" marL="0">
              <a:buNone/>
            </a:pPr>
            <a:r>
              <a:rPr lang="en-US" sz="1700" b="1" dirty="0">
                <a:solidFill>
                  <a:schemeClr val="bg1"/>
                </a:solidFill>
              </a:rPr>
              <a:t>One place for risks and opportunities</a:t>
            </a:r>
            <a:endParaRPr lang="en-US" sz="1700" dirty="0"/>
          </a:p>
          <a:p>
            <a:pPr indent="0" marL="0">
              <a:spcAft>
                <a:spcPts val="2600"/>
              </a:spcAft>
              <a:buNone/>
            </a:pPr>
            <a:r>
              <a:rPr lang="en-US" sz="1400" dirty="0">
                <a:solidFill>
                  <a:schemeClr val="accent5"/>
                </a:solidFill>
              </a:rPr>
              <a:t>Brings ARM data into dashboards for every area</a:t>
            </a:r>
            <a:endParaRPr lang="en-US" sz="1700" dirty="0"/>
          </a:p>
          <a:p>
            <a:pPr indent="0" marL="0">
              <a:buNone/>
            </a:pPr>
            <a:r>
              <a:rPr lang="en-US" sz="1700" b="1" dirty="0">
                <a:solidFill>
                  <a:schemeClr val="bg1"/>
                </a:solidFill>
              </a:rPr>
              <a:t>Ready for every review</a:t>
            </a:r>
            <a:endParaRPr lang="en-US" sz="1700" dirty="0"/>
          </a:p>
          <a:p>
            <a:pPr indent="0" marL="0">
              <a:spcAft>
                <a:spcPts val="2600"/>
              </a:spcAft>
              <a:buNone/>
            </a:pPr>
            <a:r>
              <a:rPr lang="en-US" sz="1400" dirty="0">
                <a:solidFill>
                  <a:schemeClr val="accent5"/>
                </a:solidFill>
              </a:rPr>
              <a:t>Heat maps, one-pagers, reports and action trackers</a:t>
            </a:r>
            <a:endParaRPr lang="en-US" sz="1700" dirty="0"/>
          </a:p>
          <a:p>
            <a:pPr indent="0" marL="0">
              <a:buNone/>
            </a:pPr>
            <a:r>
              <a:rPr lang="en-US" sz="1700" b="1" dirty="0">
                <a:solidFill>
                  <a:schemeClr val="bg1"/>
                </a:solidFill>
              </a:rPr>
              <a:t>A governed picture</a:t>
            </a:r>
            <a:endParaRPr lang="en-US" sz="1700" dirty="0"/>
          </a:p>
          <a:p>
            <a:pPr indent="0" marL="0">
              <a:spcAft>
                <a:spcPts val="2600"/>
              </a:spcAft>
              <a:buNone/>
            </a:pPr>
            <a:r>
              <a:rPr lang="en-US" sz="1400" dirty="0">
                <a:solidFill>
                  <a:schemeClr val="accent5"/>
                </a:solidFill>
              </a:rPr>
              <a:t>Dashboards are validated and released every quarter</a:t>
            </a:r>
            <a:endParaRPr lang="en-US" sz="1700" dirty="0"/>
          </a:p>
          <a:p>
            <a:pPr indent="0" marL="0">
              <a:buNone/>
            </a:pPr>
            <a:r>
              <a:rPr lang="en-US" sz="1700" b="1" dirty="0">
                <a:solidFill>
                  <a:schemeClr val="bg1"/>
                </a:solidFill>
              </a:rPr>
              <a:t>Shared across Airbus</a:t>
            </a:r>
            <a:endParaRPr lang="en-US" sz="1700" dirty="0"/>
          </a:p>
          <a:p>
            <a:pPr indent="0" marL="0">
              <a:spcAft>
                <a:spcPts val="2600"/>
              </a:spcAft>
              <a:buNone/>
            </a:pPr>
            <a:r>
              <a:rPr lang="en-US" sz="1400" dirty="0">
                <a:solidFill>
                  <a:schemeClr val="accent5"/>
                </a:solidFill>
              </a:rPr>
              <a:t>Used by many functions, across many sites</a:t>
            </a:r>
            <a:endParaRPr lang="en-US" sz="17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THE JOURNEY</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From business tool to industrial product</a:t>
            </a:r>
            <a:endParaRPr lang="en-US" sz="3600" dirty="0"/>
          </a:p>
        </p:txBody>
      </p:sp>
      <p:sp>
        <p:nvSpPr>
          <p:cNvPr id="4" name="story-0-card"/>
          <p:cNvSpPr/>
          <p:nvPr/>
        </p:nvSpPr>
        <p:spPr>
          <a:xfrm>
            <a:off x="548640" y="1463040"/>
            <a:ext cx="2464994" cy="1371600"/>
          </a:xfrm>
          <a:prstGeom prst="roundRect">
            <a:avLst>
              <a:gd name="adj" fmla="val 8000"/>
            </a:avLst>
          </a:prstGeom>
          <a:solidFill>
            <a:schemeClr val="bg1"/>
          </a:solidFill>
          <a:ln/>
        </p:spPr>
      </p:sp>
      <p:sp>
        <p:nvSpPr>
          <p:cNvPr id="5" name="story-0-text"/>
          <p:cNvSpPr txBox="1"/>
          <p:nvPr/>
        </p:nvSpPr>
        <p:spPr>
          <a:xfrm>
            <a:off x="749808" y="1554480"/>
            <a:ext cx="2062658" cy="1188720"/>
          </a:xfrm>
          <a:prstGeom prst="rect">
            <a:avLst/>
          </a:prstGeom>
          <a:noFill/>
          <a:ln/>
        </p:spPr>
        <p:txBody>
          <a:bodyPr wrap="square" lIns="0" tIns="0" rIns="0" bIns="0" rtlCol="0" anchor="ctr"/>
          <a:lstStyle/>
          <a:p>
            <a:pPr indent="0" marL="0">
              <a:buNone/>
            </a:pPr>
            <a:r>
              <a:rPr lang="en-US" sz="1600" b="1" dirty="0">
                <a:solidFill>
                  <a:schemeClr val="tx1"/>
                </a:solidFill>
              </a:rPr>
              <a:t>Built by Operations</a:t>
            </a:r>
            <a:endParaRPr lang="en-US" sz="1600" dirty="0"/>
          </a:p>
          <a:p>
            <a:pPr indent="0" marL="0">
              <a:buNone/>
            </a:pPr>
            <a:r>
              <a:rPr lang="en-US" sz="1300" dirty="0">
                <a:solidFill>
                  <a:schemeClr val="tx2"/>
                </a:solidFill>
              </a:rPr>
              <a:t>Started as a Business Owned Tool (BOT) in Slate</a:t>
            </a:r>
            <a:endParaRPr lang="en-US" sz="1600" dirty="0"/>
          </a:p>
        </p:txBody>
      </p:sp>
      <p:sp>
        <p:nvSpPr>
          <p:cNvPr id="6" name="story-0-arrow"/>
          <p:cNvSpPr/>
          <p:nvPr/>
        </p:nvSpPr>
        <p:spPr>
          <a:xfrm>
            <a:off x="3077642" y="2148840"/>
            <a:ext cx="283464" cy="0"/>
          </a:xfrm>
          <a:prstGeom prst="line">
            <a:avLst/>
          </a:prstGeom>
          <a:noFill/>
          <a:ln w="19050">
            <a:solidFill>
              <a:schemeClr val="tx2"/>
            </a:solidFill>
            <a:prstDash val="solid"/>
            <a:tailEnd type="triangle"/>
          </a:ln>
        </p:spPr>
      </p:sp>
      <p:sp>
        <p:nvSpPr>
          <p:cNvPr id="7" name="story-1-card"/>
          <p:cNvSpPr/>
          <p:nvPr/>
        </p:nvSpPr>
        <p:spPr>
          <a:xfrm>
            <a:off x="3425114" y="1463040"/>
            <a:ext cx="2464994" cy="1371600"/>
          </a:xfrm>
          <a:prstGeom prst="roundRect">
            <a:avLst>
              <a:gd name="adj" fmla="val 8000"/>
            </a:avLst>
          </a:prstGeom>
          <a:solidFill>
            <a:schemeClr val="bg1"/>
          </a:solidFill>
          <a:ln/>
        </p:spPr>
      </p:sp>
      <p:sp>
        <p:nvSpPr>
          <p:cNvPr id="8" name="story-1-text"/>
          <p:cNvSpPr txBox="1"/>
          <p:nvPr/>
        </p:nvSpPr>
        <p:spPr>
          <a:xfrm>
            <a:off x="3626282" y="1554480"/>
            <a:ext cx="2062658" cy="1188720"/>
          </a:xfrm>
          <a:prstGeom prst="rect">
            <a:avLst/>
          </a:prstGeom>
          <a:noFill/>
          <a:ln/>
        </p:spPr>
        <p:txBody>
          <a:bodyPr wrap="square" lIns="0" tIns="0" rIns="0" bIns="0" rtlCol="0" anchor="ctr"/>
          <a:lstStyle/>
          <a:p>
            <a:pPr indent="0" marL="0">
              <a:buNone/>
            </a:pPr>
            <a:r>
              <a:rPr lang="en-US" sz="1600" b="1" dirty="0">
                <a:solidFill>
                  <a:schemeClr val="tx1"/>
                </a:solidFill>
              </a:rPr>
              <a:t>Adopted by other functions</a:t>
            </a:r>
            <a:endParaRPr lang="en-US" sz="1600" dirty="0"/>
          </a:p>
          <a:p>
            <a:pPr indent="0" marL="0">
              <a:buNone/>
            </a:pPr>
            <a:r>
              <a:rPr lang="en-US" sz="1300" dirty="0">
                <a:solidFill>
                  <a:schemeClr val="tx2"/>
                </a:solidFill>
              </a:rPr>
              <a:t>It grew fast, because people needed it</a:t>
            </a:r>
            <a:endParaRPr lang="en-US" sz="1600" dirty="0"/>
          </a:p>
        </p:txBody>
      </p:sp>
      <p:sp>
        <p:nvSpPr>
          <p:cNvPr id="9" name="story-1-arrow"/>
          <p:cNvSpPr/>
          <p:nvPr/>
        </p:nvSpPr>
        <p:spPr>
          <a:xfrm>
            <a:off x="5954116" y="2148840"/>
            <a:ext cx="283464" cy="0"/>
          </a:xfrm>
          <a:prstGeom prst="line">
            <a:avLst/>
          </a:prstGeom>
          <a:noFill/>
          <a:ln w="19050">
            <a:solidFill>
              <a:schemeClr val="tx2"/>
            </a:solidFill>
            <a:prstDash val="solid"/>
            <a:tailEnd type="triangle"/>
          </a:ln>
        </p:spPr>
      </p:sp>
      <p:sp>
        <p:nvSpPr>
          <p:cNvPr id="10" name="story-2-card"/>
          <p:cNvSpPr/>
          <p:nvPr/>
        </p:nvSpPr>
        <p:spPr>
          <a:xfrm>
            <a:off x="6301588" y="1463040"/>
            <a:ext cx="2464994" cy="1371600"/>
          </a:xfrm>
          <a:prstGeom prst="roundRect">
            <a:avLst>
              <a:gd name="adj" fmla="val 8000"/>
            </a:avLst>
          </a:prstGeom>
          <a:solidFill>
            <a:schemeClr val="bg1"/>
          </a:solidFill>
          <a:ln/>
        </p:spPr>
      </p:sp>
      <p:sp>
        <p:nvSpPr>
          <p:cNvPr id="11" name="story-2-text"/>
          <p:cNvSpPr txBox="1"/>
          <p:nvPr/>
        </p:nvSpPr>
        <p:spPr>
          <a:xfrm>
            <a:off x="6502756" y="1554480"/>
            <a:ext cx="2062658" cy="1188720"/>
          </a:xfrm>
          <a:prstGeom prst="rect">
            <a:avLst/>
          </a:prstGeom>
          <a:noFill/>
          <a:ln/>
        </p:spPr>
        <p:txBody>
          <a:bodyPr wrap="square" lIns="0" tIns="0" rIns="0" bIns="0" rtlCol="0" anchor="ctr"/>
          <a:lstStyle/>
          <a:p>
            <a:pPr indent="0" marL="0">
              <a:buNone/>
            </a:pPr>
            <a:r>
              <a:rPr lang="en-US" sz="1600" b="1" dirty="0">
                <a:solidFill>
                  <a:schemeClr val="tx1"/>
                </a:solidFill>
              </a:rPr>
              <a:t>Owned by FZR</a:t>
            </a:r>
            <a:endParaRPr lang="en-US" sz="1600" dirty="0"/>
          </a:p>
          <a:p>
            <a:pPr indent="0" marL="0">
              <a:buNone/>
            </a:pPr>
            <a:r>
              <a:rPr lang="en-US" sz="1300" dirty="0">
                <a:solidFill>
                  <a:schemeClr val="tx2"/>
                </a:solidFill>
              </a:rPr>
              <a:t>FZR is the business owner today</a:t>
            </a:r>
            <a:endParaRPr lang="en-US" sz="1600" dirty="0"/>
          </a:p>
        </p:txBody>
      </p:sp>
      <p:sp>
        <p:nvSpPr>
          <p:cNvPr id="12" name="story-2-arrow"/>
          <p:cNvSpPr/>
          <p:nvPr/>
        </p:nvSpPr>
        <p:spPr>
          <a:xfrm>
            <a:off x="8830589" y="2148840"/>
            <a:ext cx="283464" cy="0"/>
          </a:xfrm>
          <a:prstGeom prst="line">
            <a:avLst/>
          </a:prstGeom>
          <a:noFill/>
          <a:ln w="19050">
            <a:solidFill>
              <a:schemeClr val="tx2"/>
            </a:solidFill>
            <a:prstDash val="solid"/>
            <a:tailEnd type="triangle"/>
          </a:ln>
        </p:spPr>
      </p:sp>
      <p:sp>
        <p:nvSpPr>
          <p:cNvPr id="13" name="story-3-card"/>
          <p:cNvSpPr/>
          <p:nvPr/>
        </p:nvSpPr>
        <p:spPr>
          <a:xfrm>
            <a:off x="9178061" y="1463040"/>
            <a:ext cx="2464994" cy="1371600"/>
          </a:xfrm>
          <a:prstGeom prst="roundRect">
            <a:avLst>
              <a:gd name="adj" fmla="val 8000"/>
            </a:avLst>
          </a:prstGeom>
          <a:solidFill>
            <a:schemeClr val="tx1"/>
          </a:solidFill>
          <a:ln/>
        </p:spPr>
      </p:sp>
      <p:sp>
        <p:nvSpPr>
          <p:cNvPr id="14" name="story-3-text"/>
          <p:cNvSpPr txBox="1"/>
          <p:nvPr/>
        </p:nvSpPr>
        <p:spPr>
          <a:xfrm>
            <a:off x="9379229" y="1554480"/>
            <a:ext cx="2062658" cy="1188720"/>
          </a:xfrm>
          <a:prstGeom prst="rect">
            <a:avLst/>
          </a:prstGeom>
          <a:noFill/>
          <a:ln/>
        </p:spPr>
        <p:txBody>
          <a:bodyPr wrap="square" lIns="0" tIns="0" rIns="0" bIns="0" rtlCol="0" anchor="ctr"/>
          <a:lstStyle/>
          <a:p>
            <a:pPr indent="0" marL="0">
              <a:buNone/>
            </a:pPr>
            <a:r>
              <a:rPr lang="en-US" sz="1600" b="1" dirty="0">
                <a:solidFill>
                  <a:schemeClr val="bg1"/>
                </a:solidFill>
              </a:rPr>
              <a:t>Industrialised and migrated</a:t>
            </a:r>
            <a:endParaRPr lang="en-US" sz="1600" dirty="0"/>
          </a:p>
          <a:p>
            <a:pPr indent="0" marL="0">
              <a:buNone/>
            </a:pPr>
            <a:r>
              <a:rPr lang="en-US" sz="1300" dirty="0">
                <a:solidFill>
                  <a:schemeClr val="accent5"/>
                </a:solidFill>
              </a:rPr>
              <a:t>We made it robust, then rebuilt it as ERM 2.0</a:t>
            </a:r>
            <a:endParaRPr lang="en-US" sz="1600" dirty="0"/>
          </a:p>
        </p:txBody>
      </p:sp>
      <p:sp>
        <p:nvSpPr>
          <p:cNvPr id="15" name="model-card"/>
          <p:cNvSpPr/>
          <p:nvPr/>
        </p:nvSpPr>
        <p:spPr>
          <a:xfrm>
            <a:off x="548640" y="3154680"/>
            <a:ext cx="4206240" cy="2880360"/>
          </a:xfrm>
          <a:prstGeom prst="roundRect">
            <a:avLst>
              <a:gd name="adj" fmla="val 3810"/>
            </a:avLst>
          </a:prstGeom>
          <a:solidFill>
            <a:schemeClr val="bg1"/>
          </a:solidFill>
          <a:ln/>
        </p:spPr>
      </p:sp>
      <p:sp>
        <p:nvSpPr>
          <p:cNvPr id="16" name="model-title"/>
          <p:cNvSpPr txBox="1"/>
          <p:nvPr/>
        </p:nvSpPr>
        <p:spPr>
          <a:xfrm>
            <a:off x="777240" y="3319272"/>
            <a:ext cx="3749040" cy="256032"/>
          </a:xfrm>
          <a:prstGeom prst="rect">
            <a:avLst/>
          </a:prstGeom>
          <a:noFill/>
          <a:ln/>
        </p:spPr>
        <p:txBody>
          <a:bodyPr wrap="square" lIns="0" tIns="0" rIns="0" bIns="0" rtlCol="0" anchor="t"/>
          <a:lstStyle/>
          <a:p>
            <a:pPr indent="0" marL="0">
              <a:buNone/>
            </a:pPr>
            <a:r>
              <a:rPr lang="en-US" sz="1100" b="1" spc="100" kern="0" dirty="0">
                <a:solidFill>
                  <a:schemeClr val="tx2"/>
                </a:solidFill>
              </a:rPr>
              <a:t>THE MODEL SHIFT</a:t>
            </a:r>
            <a:endParaRPr lang="en-US" sz="1100" dirty="0"/>
          </a:p>
        </p:txBody>
      </p:sp>
      <p:sp>
        <p:nvSpPr>
          <p:cNvPr id="17" name="model-pill-0"/>
          <p:cNvSpPr/>
          <p:nvPr/>
        </p:nvSpPr>
        <p:spPr>
          <a:xfrm>
            <a:off x="1463040" y="3703320"/>
            <a:ext cx="1143000" cy="384048"/>
          </a:xfrm>
          <a:prstGeom prst="roundRect">
            <a:avLst>
              <a:gd name="adj" fmla="val 50000"/>
            </a:avLst>
          </a:prstGeom>
          <a:solidFill>
            <a:schemeClr val="bg2"/>
          </a:solidFill>
          <a:ln/>
        </p:spPr>
      </p:sp>
      <p:sp>
        <p:nvSpPr>
          <p:cNvPr id="18" name="model-pill-0-text"/>
          <p:cNvSpPr txBox="1"/>
          <p:nvPr/>
        </p:nvSpPr>
        <p:spPr>
          <a:xfrm>
            <a:off x="1463040" y="3703320"/>
            <a:ext cx="1143000" cy="384048"/>
          </a:xfrm>
          <a:prstGeom prst="rect">
            <a:avLst/>
          </a:prstGeom>
          <a:noFill/>
          <a:ln/>
        </p:spPr>
        <p:txBody>
          <a:bodyPr wrap="square" lIns="0" tIns="0" rIns="0" bIns="0" rtlCol="0" anchor="ctr"/>
          <a:lstStyle/>
          <a:p>
            <a:pPr algn="ctr" indent="0" marL="0">
              <a:buNone/>
            </a:pPr>
            <a:r>
              <a:rPr lang="en-US" sz="1200" b="1" dirty="0">
                <a:solidFill>
                  <a:schemeClr val="tx2"/>
                </a:solidFill>
              </a:rPr>
              <a:t>Operations</a:t>
            </a:r>
            <a:endParaRPr lang="en-US" sz="1200" dirty="0"/>
          </a:p>
        </p:txBody>
      </p:sp>
      <p:sp>
        <p:nvSpPr>
          <p:cNvPr id="19" name="model-pill-1"/>
          <p:cNvSpPr/>
          <p:nvPr/>
        </p:nvSpPr>
        <p:spPr>
          <a:xfrm>
            <a:off x="2743200" y="3703320"/>
            <a:ext cx="1143000" cy="384048"/>
          </a:xfrm>
          <a:prstGeom prst="roundRect">
            <a:avLst>
              <a:gd name="adj" fmla="val 50000"/>
            </a:avLst>
          </a:prstGeom>
          <a:solidFill>
            <a:schemeClr val="bg2"/>
          </a:solidFill>
          <a:ln/>
        </p:spPr>
      </p:sp>
      <p:sp>
        <p:nvSpPr>
          <p:cNvPr id="20" name="model-pill-1-text"/>
          <p:cNvSpPr txBox="1"/>
          <p:nvPr/>
        </p:nvSpPr>
        <p:spPr>
          <a:xfrm>
            <a:off x="2743200" y="3703320"/>
            <a:ext cx="1143000" cy="384048"/>
          </a:xfrm>
          <a:prstGeom prst="rect">
            <a:avLst/>
          </a:prstGeom>
          <a:noFill/>
          <a:ln/>
        </p:spPr>
        <p:txBody>
          <a:bodyPr wrap="square" lIns="0" tIns="0" rIns="0" bIns="0" rtlCol="0" anchor="ctr"/>
          <a:lstStyle/>
          <a:p>
            <a:pPr algn="ctr" indent="0" marL="0">
              <a:buNone/>
            </a:pPr>
            <a:r>
              <a:rPr lang="en-US" sz="1200" b="1" dirty="0">
                <a:solidFill>
                  <a:schemeClr val="tx2"/>
                </a:solidFill>
              </a:rPr>
              <a:t>FZR</a:t>
            </a:r>
            <a:endParaRPr lang="en-US" sz="1200" dirty="0"/>
          </a:p>
        </p:txBody>
      </p:sp>
      <p:sp>
        <p:nvSpPr>
          <p:cNvPr id="21" name="model-a1"/>
          <p:cNvSpPr/>
          <p:nvPr/>
        </p:nvSpPr>
        <p:spPr>
          <a:xfrm>
            <a:off x="2651760" y="4133088"/>
            <a:ext cx="0" cy="274320"/>
          </a:xfrm>
          <a:prstGeom prst="line">
            <a:avLst/>
          </a:prstGeom>
          <a:noFill/>
          <a:ln w="19050">
            <a:solidFill>
              <a:schemeClr val="tx2"/>
            </a:solidFill>
            <a:prstDash val="solid"/>
            <a:tailEnd type="triangle"/>
          </a:ln>
        </p:spPr>
      </p:sp>
      <p:sp>
        <p:nvSpPr>
          <p:cNvPr id="22" name="model-bot"/>
          <p:cNvSpPr/>
          <p:nvPr/>
        </p:nvSpPr>
        <p:spPr>
          <a:xfrm>
            <a:off x="914400" y="4453128"/>
            <a:ext cx="3474720" cy="548640"/>
          </a:xfrm>
          <a:prstGeom prst="roundRect">
            <a:avLst>
              <a:gd name="adj" fmla="val 20000"/>
            </a:avLst>
          </a:prstGeom>
          <a:solidFill>
            <a:schemeClr val="accent2"/>
          </a:solidFill>
          <a:ln/>
        </p:spPr>
      </p:sp>
      <p:sp>
        <p:nvSpPr>
          <p:cNvPr id="23" name="model-bot-text"/>
          <p:cNvSpPr txBox="1"/>
          <p:nvPr/>
        </p:nvSpPr>
        <p:spPr>
          <a:xfrm>
            <a:off x="914400" y="4453128"/>
            <a:ext cx="3474720" cy="548640"/>
          </a:xfrm>
          <a:prstGeom prst="rect">
            <a:avLst/>
          </a:prstGeom>
          <a:noFill/>
          <a:ln/>
        </p:spPr>
        <p:txBody>
          <a:bodyPr wrap="square" lIns="0" tIns="0" rIns="0" bIns="0" rtlCol="0" anchor="ctr"/>
          <a:lstStyle/>
          <a:p>
            <a:pPr algn="ctr" indent="0" marL="0">
              <a:buNone/>
            </a:pPr>
            <a:r>
              <a:rPr lang="en-US" sz="1700" b="1" dirty="0">
                <a:solidFill>
                  <a:schemeClr val="bg1"/>
                </a:solidFill>
              </a:rPr>
              <a:t>BOT model</a:t>
            </a:r>
            <a:endParaRPr lang="en-US" sz="1700" dirty="0"/>
          </a:p>
        </p:txBody>
      </p:sp>
      <p:sp>
        <p:nvSpPr>
          <p:cNvPr id="24" name="model-a2"/>
          <p:cNvSpPr/>
          <p:nvPr/>
        </p:nvSpPr>
        <p:spPr>
          <a:xfrm>
            <a:off x="2651760" y="5047488"/>
            <a:ext cx="0" cy="274320"/>
          </a:xfrm>
          <a:prstGeom prst="line">
            <a:avLst/>
          </a:prstGeom>
          <a:noFill/>
          <a:ln w="19050">
            <a:solidFill>
              <a:schemeClr val="tx2"/>
            </a:solidFill>
            <a:prstDash val="solid"/>
            <a:tailEnd type="triangle"/>
          </a:ln>
        </p:spPr>
      </p:sp>
      <p:sp>
        <p:nvSpPr>
          <p:cNvPr id="25" name="model-ind"/>
          <p:cNvSpPr/>
          <p:nvPr/>
        </p:nvSpPr>
        <p:spPr>
          <a:xfrm>
            <a:off x="914400" y="5367528"/>
            <a:ext cx="3474720" cy="548640"/>
          </a:xfrm>
          <a:prstGeom prst="roundRect">
            <a:avLst>
              <a:gd name="adj" fmla="val 20000"/>
            </a:avLst>
          </a:prstGeom>
          <a:solidFill>
            <a:srgbClr val="2E9E5B"/>
          </a:solidFill>
          <a:ln/>
        </p:spPr>
      </p:sp>
      <p:sp>
        <p:nvSpPr>
          <p:cNvPr id="26" name="model-ind-text"/>
          <p:cNvSpPr txBox="1"/>
          <p:nvPr/>
        </p:nvSpPr>
        <p:spPr>
          <a:xfrm>
            <a:off x="914400" y="5367528"/>
            <a:ext cx="3474720" cy="548640"/>
          </a:xfrm>
          <a:prstGeom prst="rect">
            <a:avLst/>
          </a:prstGeom>
          <a:noFill/>
          <a:ln/>
        </p:spPr>
        <p:txBody>
          <a:bodyPr wrap="square" lIns="0" tIns="0" rIns="0" bIns="0" rtlCol="0" anchor="ctr"/>
          <a:lstStyle/>
          <a:p>
            <a:pPr algn="ctr" indent="0" marL="0">
              <a:buNone/>
            </a:pPr>
            <a:r>
              <a:rPr lang="en-US" sz="1700" b="1" dirty="0">
                <a:solidFill>
                  <a:schemeClr val="bg1"/>
                </a:solidFill>
              </a:rPr>
              <a:t>Industrialised state</a:t>
            </a:r>
            <a:endParaRPr lang="en-US" sz="1700" dirty="0"/>
          </a:p>
        </p:txBody>
      </p:sp>
      <p:sp>
        <p:nvSpPr>
          <p:cNvPr id="27" name="road-card"/>
          <p:cNvSpPr/>
          <p:nvPr/>
        </p:nvSpPr>
        <p:spPr>
          <a:xfrm>
            <a:off x="5029200" y="3154680"/>
            <a:ext cx="6613855" cy="2880360"/>
          </a:xfrm>
          <a:prstGeom prst="roundRect">
            <a:avLst>
              <a:gd name="adj" fmla="val 3810"/>
            </a:avLst>
          </a:prstGeom>
          <a:solidFill>
            <a:schemeClr val="bg1"/>
          </a:solidFill>
          <a:ln/>
        </p:spPr>
      </p:sp>
      <p:sp>
        <p:nvSpPr>
          <p:cNvPr id="28" name="road-title"/>
          <p:cNvSpPr txBox="1"/>
          <p:nvPr/>
        </p:nvSpPr>
        <p:spPr>
          <a:xfrm>
            <a:off x="5303520" y="3319272"/>
            <a:ext cx="6065215" cy="256032"/>
          </a:xfrm>
          <a:prstGeom prst="rect">
            <a:avLst/>
          </a:prstGeom>
          <a:noFill/>
          <a:ln/>
        </p:spPr>
        <p:txBody>
          <a:bodyPr wrap="square" lIns="0" tIns="0" rIns="0" bIns="0" rtlCol="0" anchor="t"/>
          <a:lstStyle/>
          <a:p>
            <a:pPr indent="0" marL="0">
              <a:buNone/>
            </a:pPr>
            <a:r>
              <a:rPr lang="en-US" sz="1100" b="1" spc="100" kern="0" dirty="0">
                <a:solidFill>
                  <a:schemeClr val="tx2"/>
                </a:solidFill>
              </a:rPr>
              <a:t>TRANSITION ROADMAP</a:t>
            </a:r>
            <a:endParaRPr lang="en-US" sz="1100" dirty="0"/>
          </a:p>
        </p:txBody>
      </p:sp>
      <p:sp>
        <p:nvSpPr>
          <p:cNvPr id="29" name="road-line"/>
          <p:cNvSpPr/>
          <p:nvPr/>
        </p:nvSpPr>
        <p:spPr>
          <a:xfrm>
            <a:off x="5486400" y="4251960"/>
            <a:ext cx="5699455" cy="0"/>
          </a:xfrm>
          <a:prstGeom prst="line">
            <a:avLst/>
          </a:prstGeom>
          <a:noFill/>
          <a:ln w="38100">
            <a:solidFill>
              <a:schemeClr val="accent5"/>
            </a:solidFill>
            <a:prstDash val="solid"/>
          </a:ln>
        </p:spPr>
      </p:sp>
      <p:sp>
        <p:nvSpPr>
          <p:cNvPr id="30" name="road-0-dot"/>
          <p:cNvSpPr/>
          <p:nvPr/>
        </p:nvSpPr>
        <p:spPr>
          <a:xfrm>
            <a:off x="6158941" y="4096512"/>
            <a:ext cx="310896" cy="310896"/>
          </a:xfrm>
          <a:prstGeom prst="ellipse">
            <a:avLst/>
          </a:prstGeom>
          <a:solidFill>
            <a:schemeClr val="accent2"/>
          </a:solidFill>
          <a:ln w="25400">
            <a:solidFill>
              <a:schemeClr val="bg1"/>
            </a:solidFill>
            <a:prstDash val="solid"/>
          </a:ln>
        </p:spPr>
      </p:sp>
      <p:sp>
        <p:nvSpPr>
          <p:cNvPr id="31" name="road-0-text"/>
          <p:cNvSpPr txBox="1"/>
          <p:nvPr/>
        </p:nvSpPr>
        <p:spPr>
          <a:xfrm>
            <a:off x="5394960" y="4572000"/>
            <a:ext cx="1838858" cy="1371600"/>
          </a:xfrm>
          <a:prstGeom prst="rect">
            <a:avLst/>
          </a:prstGeom>
          <a:noFill/>
          <a:ln/>
        </p:spPr>
        <p:txBody>
          <a:bodyPr wrap="square" lIns="0" tIns="0" rIns="0" bIns="0" rtlCol="0" anchor="t"/>
          <a:lstStyle/>
          <a:p>
            <a:pPr algn="ctr" indent="0" marL="0">
              <a:buNone/>
            </a:pPr>
            <a:r>
              <a:rPr lang="en-US" sz="2200" b="1" dirty="0">
                <a:solidFill>
                  <a:schemeClr val="tx1"/>
                </a:solidFill>
              </a:rPr>
              <a:t>2024</a:t>
            </a:r>
            <a:endParaRPr lang="en-US" sz="2200" dirty="0"/>
          </a:p>
          <a:p>
            <a:pPr algn="ctr" indent="0" marL="0">
              <a:buNone/>
            </a:pPr>
            <a:r>
              <a:rPr lang="en-US" sz="1400" b="1" dirty="0">
                <a:solidFill>
                  <a:schemeClr val="accent2"/>
                </a:solidFill>
              </a:rPr>
              <a:t>BOT industrialisation</a:t>
            </a:r>
            <a:endParaRPr lang="en-US" sz="2200" dirty="0"/>
          </a:p>
          <a:p>
            <a:pPr algn="ctr" indent="0" marL="0">
              <a:buNone/>
            </a:pPr>
            <a:r>
              <a:rPr lang="en-US" sz="1200" dirty="0">
                <a:solidFill>
                  <a:schemeClr val="tx2"/>
                </a:solidFill>
              </a:rPr>
              <a:t>We took it over, standardised and enhanced it</a:t>
            </a:r>
            <a:endParaRPr lang="en-US" sz="2200" dirty="0"/>
          </a:p>
        </p:txBody>
      </p:sp>
      <p:sp>
        <p:nvSpPr>
          <p:cNvPr id="32" name="road-1-dot"/>
          <p:cNvSpPr/>
          <p:nvPr/>
        </p:nvSpPr>
        <p:spPr>
          <a:xfrm>
            <a:off x="8180680" y="4096512"/>
            <a:ext cx="310896" cy="310896"/>
          </a:xfrm>
          <a:prstGeom prst="ellipse">
            <a:avLst/>
          </a:prstGeom>
          <a:solidFill>
            <a:schemeClr val="accent2"/>
          </a:solidFill>
          <a:ln w="25400">
            <a:solidFill>
              <a:schemeClr val="bg1"/>
            </a:solidFill>
            <a:prstDash val="solid"/>
          </a:ln>
        </p:spPr>
      </p:sp>
      <p:sp>
        <p:nvSpPr>
          <p:cNvPr id="33" name="road-1-text"/>
          <p:cNvSpPr txBox="1"/>
          <p:nvPr/>
        </p:nvSpPr>
        <p:spPr>
          <a:xfrm>
            <a:off x="7416698" y="4572000"/>
            <a:ext cx="1838858" cy="1371600"/>
          </a:xfrm>
          <a:prstGeom prst="rect">
            <a:avLst/>
          </a:prstGeom>
          <a:noFill/>
          <a:ln/>
        </p:spPr>
        <p:txBody>
          <a:bodyPr wrap="square" lIns="0" tIns="0" rIns="0" bIns="0" rtlCol="0" anchor="t"/>
          <a:lstStyle/>
          <a:p>
            <a:pPr algn="ctr" indent="0" marL="0">
              <a:buNone/>
            </a:pPr>
            <a:r>
              <a:rPr lang="en-US" sz="2200" b="1" dirty="0">
                <a:solidFill>
                  <a:schemeClr val="tx1"/>
                </a:solidFill>
              </a:rPr>
              <a:t>2025</a:t>
            </a:r>
            <a:endParaRPr lang="en-US" sz="2200" dirty="0"/>
          </a:p>
          <a:p>
            <a:pPr algn="ctr" indent="0" marL="0">
              <a:buNone/>
            </a:pPr>
            <a:r>
              <a:rPr lang="en-US" sz="1400" b="1" dirty="0">
                <a:solidFill>
                  <a:schemeClr val="accent2"/>
                </a:solidFill>
              </a:rPr>
              <a:t>Scale &amp; shift</a:t>
            </a:r>
            <a:endParaRPr lang="en-US" sz="2200" dirty="0"/>
          </a:p>
          <a:p>
            <a:pPr algn="ctr" indent="0" marL="0">
              <a:buNone/>
            </a:pPr>
            <a:r>
              <a:rPr lang="en-US" sz="1200" dirty="0">
                <a:solidFill>
                  <a:schemeClr val="tx2"/>
                </a:solidFill>
              </a:rPr>
              <a:t>More users and functions; Slate reaches its limits</a:t>
            </a:r>
            <a:endParaRPr lang="en-US" sz="2200" dirty="0"/>
          </a:p>
        </p:txBody>
      </p:sp>
      <p:sp>
        <p:nvSpPr>
          <p:cNvPr id="34" name="road-2-dot"/>
          <p:cNvSpPr/>
          <p:nvPr/>
        </p:nvSpPr>
        <p:spPr>
          <a:xfrm>
            <a:off x="10202418" y="4096512"/>
            <a:ext cx="310896" cy="310896"/>
          </a:xfrm>
          <a:prstGeom prst="ellipse">
            <a:avLst/>
          </a:prstGeom>
          <a:solidFill>
            <a:srgbClr val="2E9E5B"/>
          </a:solidFill>
          <a:ln w="25400">
            <a:solidFill>
              <a:schemeClr val="bg1"/>
            </a:solidFill>
            <a:prstDash val="solid"/>
          </a:ln>
        </p:spPr>
      </p:sp>
      <p:sp>
        <p:nvSpPr>
          <p:cNvPr id="35" name="road-2-text"/>
          <p:cNvSpPr txBox="1"/>
          <p:nvPr/>
        </p:nvSpPr>
        <p:spPr>
          <a:xfrm>
            <a:off x="9438437" y="4572000"/>
            <a:ext cx="1838858" cy="1371600"/>
          </a:xfrm>
          <a:prstGeom prst="rect">
            <a:avLst/>
          </a:prstGeom>
          <a:noFill/>
          <a:ln/>
        </p:spPr>
        <p:txBody>
          <a:bodyPr wrap="square" lIns="0" tIns="0" rIns="0" bIns="0" rtlCol="0" anchor="t"/>
          <a:lstStyle/>
          <a:p>
            <a:pPr algn="ctr" indent="0" marL="0">
              <a:buNone/>
            </a:pPr>
            <a:r>
              <a:rPr lang="en-US" sz="2200" b="1" dirty="0">
                <a:solidFill>
                  <a:schemeClr val="tx1"/>
                </a:solidFill>
              </a:rPr>
              <a:t>2026</a:t>
            </a:r>
            <a:endParaRPr lang="en-US" sz="2200" dirty="0"/>
          </a:p>
          <a:p>
            <a:pPr algn="ctr" indent="0" marL="0">
              <a:buNone/>
            </a:pPr>
            <a:r>
              <a:rPr lang="en-US" sz="1400" b="1" dirty="0">
                <a:solidFill>
                  <a:srgbClr val="2E9E5B"/>
                </a:solidFill>
              </a:rPr>
              <a:t>Run phase</a:t>
            </a:r>
            <a:endParaRPr lang="en-US" sz="2200" dirty="0"/>
          </a:p>
          <a:p>
            <a:pPr algn="ctr" indent="0" marL="0">
              <a:buNone/>
            </a:pPr>
            <a:r>
              <a:rPr lang="en-US" sz="1200" dirty="0">
                <a:solidFill>
                  <a:schemeClr val="tx2"/>
                </a:solidFill>
              </a:rPr>
              <a:t>ERM 2.0 rebuilt in React, ready for go-live</a:t>
            </a:r>
            <a:endParaRPr lang="en-US" sz="2200" dirty="0"/>
          </a:p>
        </p:txBody>
      </p:sp>
      <p:sp>
        <p:nvSpPr>
          <p:cNvPr id="36" name="journey-foot"/>
          <p:cNvSpPr txBox="1"/>
          <p:nvPr/>
        </p:nvSpPr>
        <p:spPr>
          <a:xfrm>
            <a:off x="548640" y="6172200"/>
            <a:ext cx="5486400" cy="274320"/>
          </a:xfrm>
          <a:prstGeom prst="rect">
            <a:avLst/>
          </a:prstGeom>
          <a:noFill/>
          <a:ln/>
        </p:spPr>
        <p:txBody>
          <a:bodyPr wrap="square" lIns="0" tIns="0" rIns="0" bIns="0" rtlCol="0" anchor="t"/>
          <a:lstStyle/>
          <a:p>
            <a:pPr indent="0" marL="0">
              <a:buNone/>
            </a:pPr>
            <a:r>
              <a:rPr lang="en-US" sz="1100" i="1" dirty="0">
                <a:solidFill>
                  <a:schemeClr val="tx2"/>
                </a:solidFill>
              </a:rPr>
              <a:t>BOT: Business Owned Tool</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2" fill="hold">
                      <p:stCondLst>
                        <p:cond delay="indefinite"/>
                        <p:cond evt="onBegin" delay="0">
                          <p:tn val="2"/>
                        </p:cond>
                      </p:stCondLst>
                      <p:childTnLst>
                        <p:par>
                          <p:cTn id="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childTnLst>
                          </p:cTn>
                        </p:par>
                        <p:par>
                          <p:cTn id="19" fill="hold">
                            <p:stCondLst>
                              <p:cond delay="45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50"/>
                                        <p:tgtEl>
                                          <p:spTgt spid="8"/>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450"/>
                                        <p:tgtEl>
                                          <p:spTgt spid="6"/>
                                        </p:tgtEl>
                                      </p:cBhvr>
                                    </p:animEffect>
                                  </p:childTnLst>
                                </p:cTn>
                              </p:par>
                            </p:childTnLst>
                          </p:cTn>
                        </p:par>
                        <p:par>
                          <p:cTn id="29" fill="hold">
                            <p:stCondLst>
                              <p:cond delay="900"/>
                            </p:stCondLst>
                            <p:childTnLst>
                              <p:par>
                                <p:cTn id="20" presetID="10" presetClass="entr" presetSubtype="0"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50"/>
                                        <p:tgtEl>
                                          <p:spTgt spid="11"/>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450"/>
                                        <p:tgtEl>
                                          <p:spTgt spid="9"/>
                                        </p:tgtEl>
                                      </p:cBhvr>
                                    </p:animEffect>
                                  </p:childTnLst>
                                </p:cTn>
                              </p:par>
                            </p:childTnLst>
                          </p:cTn>
                        </p:par>
                        <p:par>
                          <p:cTn id="39" fill="hold">
                            <p:stCondLst>
                              <p:cond delay="1350"/>
                            </p:stCondLst>
                            <p:childTnLst>
                              <p:par>
                                <p:cTn id="30" presetID="10" presetClass="entr" presetSubtype="0"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450"/>
                                        <p:tgtEl>
                                          <p:spTgt spid="12"/>
                                        </p:tgtEl>
                                      </p:cBhvr>
                                    </p:animEffect>
                                  </p:childTnLst>
                                </p:cTn>
                              </p:par>
                            </p:childTnLst>
                          </p:cTn>
                        </p:par>
                        <p:par>
                          <p:cTn id="76" fill="hold">
                            <p:stCondLst>
                              <p:cond delay="1800"/>
                            </p:stCondLst>
                            <p:childTnLst>
                              <p:par>
                                <p:cTn id="40" presetID="10" presetClass="entr" presetSubtype="0"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5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5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5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45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50"/>
                                        <p:tgtEl>
                                          <p:spTgt spid="26"/>
                                        </p:tgtEl>
                                      </p:cBhvr>
                                    </p:animEffect>
                                  </p:childTnLst>
                                </p:cTn>
                              </p:par>
                            </p:childTnLst>
                          </p:cTn>
                        </p:par>
                        <p:par>
                          <p:cTn id="86" fill="hold">
                            <p:stCondLst>
                              <p:cond delay="2250"/>
                            </p:stCondLst>
                            <p:childTnLst>
                              <p:par>
                                <p:cTn id="77" presetID="10" presetClass="entr" presetSubtype="0" fill="hold" grpId="0" nodeType="after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450"/>
                                        <p:tgtEl>
                                          <p:spTgt spid="2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450"/>
                                        <p:tgtEl>
                                          <p:spTgt spid="28"/>
                                        </p:tgtEl>
                                      </p:cBhvr>
                                    </p:animEffect>
                                  </p:childTnLst>
                                </p:cTn>
                              </p:par>
                              <p:par>
                                <p:cTn id="83" presetID="22" presetClass="entr" presetSubtype="8" fill="hold" grpId="0" nodeType="with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wipe(left)">
                                      <p:cBhvr>
                                        <p:cTn id="85" dur="450"/>
                                        <p:tgtEl>
                                          <p:spTgt spid="29"/>
                                        </p:tgtEl>
                                      </p:cBhvr>
                                    </p:animEffect>
                                  </p:childTnLst>
                                </p:cTn>
                              </p:par>
                            </p:childTnLst>
                          </p:cTn>
                        </p:par>
                        <p:par>
                          <p:cTn id="93" fill="hold">
                            <p:stCondLst>
                              <p:cond delay="2700"/>
                            </p:stCondLst>
                            <p:childTnLst>
                              <p:par>
                                <p:cTn id="87" presetID="10" presetClass="entr" presetSubtype="0" fill="hold" grpId="0" nodeType="after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450"/>
                                        <p:tgtEl>
                                          <p:spTgt spid="30"/>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450"/>
                                        <p:tgtEl>
                                          <p:spTgt spid="31"/>
                                        </p:tgtEl>
                                      </p:cBhvr>
                                    </p:animEffect>
                                  </p:childTnLst>
                                </p:cTn>
                              </p:par>
                            </p:childTnLst>
                          </p:cTn>
                        </p:par>
                        <p:par>
                          <p:cTn id="100" fill="hold">
                            <p:stCondLst>
                              <p:cond delay="3150"/>
                            </p:stCondLst>
                            <p:childTnLst>
                              <p:par>
                                <p:cTn id="94" presetID="10" presetClass="entr" presetSubtype="0" fill="hold" grpId="0" nodeType="after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450"/>
                                        <p:tgtEl>
                                          <p:spTgt spid="3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450"/>
                                        <p:tgtEl>
                                          <p:spTgt spid="33"/>
                                        </p:tgtEl>
                                      </p:cBhvr>
                                    </p:animEffect>
                                  </p:childTnLst>
                                </p:cTn>
                              </p:par>
                            </p:childTnLst>
                          </p:cTn>
                        </p:par>
                        <p:par>
                          <p:cTn id="107" fill="hold">
                            <p:stCondLst>
                              <p:cond delay="3600"/>
                            </p:stCondLst>
                            <p:childTnLst>
                              <p:par>
                                <p:cTn id="101" presetID="10" presetClass="entr" presetSubtype="0" fill="hold" grpId="0" nodeType="after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450"/>
                                        <p:tgtEl>
                                          <p:spTgt spid="3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450"/>
                                        <p:tgtEl>
                                          <p:spTgt spid="35"/>
                                        </p:tgtEl>
                                      </p:cBhvr>
                                    </p:animEffect>
                                  </p:childTnLst>
                                </p:cTn>
                              </p:par>
                            </p:childTnLst>
                          </p:cTn>
                        </p:par>
                        <p:par>
                          <p:cTn id="111" fill="hold">
                            <p:stCondLst>
                              <p:cond delay="4050"/>
                            </p:stCondLst>
                            <p:childTnLst>
                              <p:par>
                                <p:cTn id="108" presetID="10" presetClass="entr" presetSubtype="0" fill="hold" grpId="0" nodeType="afterEffect">
                                  <p:stCondLst>
                                    <p:cond delay="0"/>
                                  </p:stCondLst>
                                  <p:childTnLst>
                                    <p:set>
                                      <p:cBhvr>
                                        <p:cTn id="109" dur="1" fill="hold">
                                          <p:stCondLst>
                                            <p:cond delay="0"/>
                                          </p:stCondLst>
                                        </p:cTn>
                                        <p:tgtEl>
                                          <p:spTgt spid="36"/>
                                        </p:tgtEl>
                                        <p:attrNameLst>
                                          <p:attrName>style.visibility</p:attrName>
                                        </p:attrNameLst>
                                      </p:cBhvr>
                                      <p:to>
                                        <p:strVal val="visible"/>
                                      </p:to>
                                    </p:set>
                                    <p:animEffect transition="in" filter="fade">
                                      <p:cBhvr>
                                        <p:cTn id="110"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6" grpId="0" animBg="1"/>
      <p:bldP spid="10" grpId="0" animBg="1"/>
      <p:bldP spid="11" grpId="0" animBg="1"/>
      <p:bldP spid="9" grpId="0" animBg="1"/>
      <p:bldP spid="13" grpId="0" animBg="1"/>
      <p:bldP spid="14" grpId="0" animBg="1"/>
      <p:bldP spid="12"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30" grpId="0" animBg="1"/>
      <p:bldP spid="31" grpId="0" animBg="1"/>
      <p:bldP spid="32" grpId="0" animBg="1"/>
      <p:bldP spid="33" grpId="0" animBg="1"/>
      <p:bldP spid="34" grpId="0" animBg="1"/>
      <p:bldP spid="35" grpId="0" animBg="1"/>
      <p:bldP spid="3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THE STAKES</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ERM is business-critical for 892 users</a:t>
            </a:r>
            <a:endParaRPr lang="en-US" sz="3600" dirty="0"/>
          </a:p>
        </p:txBody>
      </p:sp>
      <p:sp>
        <p:nvSpPr>
          <p:cNvPr id="4" name="kpi-sub"/>
          <p:cNvSpPr txBox="1"/>
          <p:nvPr/>
        </p:nvSpPr>
        <p:spPr>
          <a:xfrm>
            <a:off x="548640" y="1115568"/>
            <a:ext cx="11094415" cy="320040"/>
          </a:xfrm>
          <a:prstGeom prst="rect">
            <a:avLst/>
          </a:prstGeom>
          <a:noFill/>
          <a:ln/>
        </p:spPr>
        <p:txBody>
          <a:bodyPr wrap="square" lIns="0" tIns="0" rIns="0" bIns="0" rtlCol="0" anchor="t"/>
          <a:lstStyle/>
          <a:p>
            <a:pPr indent="0" marL="0">
              <a:buNone/>
            </a:pPr>
            <a:r>
              <a:rPr lang="en-US" sz="1400" dirty="0">
                <a:solidFill>
                  <a:schemeClr val="tx2"/>
                </a:solidFill>
              </a:rPr>
              <a:t>One place to manage risks and opportunities: dashboards, live editing, trends, releases and sharing</a:t>
            </a:r>
            <a:endParaRPr lang="en-US" sz="1400" dirty="0"/>
          </a:p>
        </p:txBody>
      </p:sp>
      <p:sp>
        <p:nvSpPr>
          <p:cNvPr id="5" name="kpi-0-card"/>
          <p:cNvSpPr/>
          <p:nvPr/>
        </p:nvSpPr>
        <p:spPr>
          <a:xfrm>
            <a:off x="548640" y="1536192"/>
            <a:ext cx="2567864" cy="987552"/>
          </a:xfrm>
          <a:prstGeom prst="roundRect">
            <a:avLst>
              <a:gd name="adj" fmla="val 11111"/>
            </a:avLst>
          </a:prstGeom>
          <a:solidFill>
            <a:schemeClr val="tx1"/>
          </a:solidFill>
          <a:ln/>
        </p:spPr>
      </p:sp>
      <p:sp>
        <p:nvSpPr>
          <p:cNvPr id="6" name="kpi-0-value"/>
          <p:cNvSpPr txBox="1"/>
          <p:nvPr/>
        </p:nvSpPr>
        <p:spPr>
          <a:xfrm>
            <a:off x="749808" y="1591056"/>
            <a:ext cx="2165528" cy="502920"/>
          </a:xfrm>
          <a:prstGeom prst="rect">
            <a:avLst/>
          </a:prstGeom>
          <a:noFill/>
          <a:ln/>
        </p:spPr>
        <p:txBody>
          <a:bodyPr wrap="square" lIns="0" tIns="0" rIns="0" bIns="0" rtlCol="0" anchor="t"/>
          <a:lstStyle/>
          <a:p>
            <a:pPr indent="0" marL="0">
              <a:buNone/>
            </a:pPr>
            <a:r>
              <a:rPr lang="en-US" sz="2800" b="1" dirty="0">
                <a:solidFill>
                  <a:schemeClr val="bg1"/>
                </a:solidFill>
              </a:rPr>
              <a:t>892</a:t>
            </a:r>
            <a:endParaRPr lang="en-US" sz="2800" dirty="0"/>
          </a:p>
        </p:txBody>
      </p:sp>
      <p:sp>
        <p:nvSpPr>
          <p:cNvPr id="7" name="kpi-0-desc"/>
          <p:cNvSpPr txBox="1"/>
          <p:nvPr/>
        </p:nvSpPr>
        <p:spPr>
          <a:xfrm>
            <a:off x="749808" y="2103120"/>
            <a:ext cx="2165528" cy="320040"/>
          </a:xfrm>
          <a:prstGeom prst="rect">
            <a:avLst/>
          </a:prstGeom>
          <a:noFill/>
          <a:ln/>
        </p:spPr>
        <p:txBody>
          <a:bodyPr wrap="square" lIns="0" tIns="0" rIns="0" bIns="0" rtlCol="0" anchor="t"/>
          <a:lstStyle/>
          <a:p>
            <a:pPr indent="0" marL="0">
              <a:buNone/>
            </a:pPr>
            <a:r>
              <a:rPr lang="en-US" sz="1300" dirty="0">
                <a:solidFill>
                  <a:schemeClr val="accent5"/>
                </a:solidFill>
              </a:rPr>
              <a:t>lifetime unique users</a:t>
            </a:r>
            <a:endParaRPr lang="en-US" sz="1300" dirty="0"/>
          </a:p>
        </p:txBody>
      </p:sp>
      <p:sp>
        <p:nvSpPr>
          <p:cNvPr id="8" name="kpi-1-card"/>
          <p:cNvSpPr/>
          <p:nvPr/>
        </p:nvSpPr>
        <p:spPr>
          <a:xfrm>
            <a:off x="3390824" y="1536192"/>
            <a:ext cx="2567864" cy="987552"/>
          </a:xfrm>
          <a:prstGeom prst="roundRect">
            <a:avLst>
              <a:gd name="adj" fmla="val 11111"/>
            </a:avLst>
          </a:prstGeom>
          <a:solidFill>
            <a:schemeClr val="bg1"/>
          </a:solidFill>
          <a:ln/>
        </p:spPr>
      </p:sp>
      <p:sp>
        <p:nvSpPr>
          <p:cNvPr id="9" name="kpi-1-value"/>
          <p:cNvSpPr txBox="1"/>
          <p:nvPr/>
        </p:nvSpPr>
        <p:spPr>
          <a:xfrm>
            <a:off x="3591992" y="1591056"/>
            <a:ext cx="2165528" cy="502920"/>
          </a:xfrm>
          <a:prstGeom prst="rect">
            <a:avLst/>
          </a:prstGeom>
          <a:noFill/>
          <a:ln/>
        </p:spPr>
        <p:txBody>
          <a:bodyPr wrap="square" lIns="0" tIns="0" rIns="0" bIns="0" rtlCol="0" anchor="t"/>
          <a:lstStyle/>
          <a:p>
            <a:pPr indent="0" marL="0">
              <a:buNone/>
            </a:pPr>
            <a:r>
              <a:rPr lang="en-US" sz="2800" b="1" dirty="0">
                <a:solidFill>
                  <a:schemeClr val="tx1"/>
                </a:solidFill>
              </a:rPr>
              <a:t>320+</a:t>
            </a:r>
            <a:endParaRPr lang="en-US" sz="2800" dirty="0"/>
          </a:p>
        </p:txBody>
      </p:sp>
      <p:sp>
        <p:nvSpPr>
          <p:cNvPr id="10" name="kpi-1-desc"/>
          <p:cNvSpPr txBox="1"/>
          <p:nvPr/>
        </p:nvSpPr>
        <p:spPr>
          <a:xfrm>
            <a:off x="3591992" y="2103120"/>
            <a:ext cx="2165528" cy="320040"/>
          </a:xfrm>
          <a:prstGeom prst="rect">
            <a:avLst/>
          </a:prstGeom>
          <a:noFill/>
          <a:ln/>
        </p:spPr>
        <p:txBody>
          <a:bodyPr wrap="square" lIns="0" tIns="0" rIns="0" bIns="0" rtlCol="0" anchor="t"/>
          <a:lstStyle/>
          <a:p>
            <a:pPr indent="0" marL="0">
              <a:buNone/>
            </a:pPr>
            <a:r>
              <a:rPr lang="en-US" sz="1300" dirty="0">
                <a:solidFill>
                  <a:schemeClr val="tx2"/>
                </a:solidFill>
              </a:rPr>
              <a:t>active in a peak month</a:t>
            </a:r>
            <a:endParaRPr lang="en-US" sz="1300" dirty="0"/>
          </a:p>
        </p:txBody>
      </p:sp>
      <p:sp>
        <p:nvSpPr>
          <p:cNvPr id="11" name="kpi-2-card"/>
          <p:cNvSpPr/>
          <p:nvPr/>
        </p:nvSpPr>
        <p:spPr>
          <a:xfrm>
            <a:off x="6233008" y="1536192"/>
            <a:ext cx="2567864" cy="987552"/>
          </a:xfrm>
          <a:prstGeom prst="roundRect">
            <a:avLst>
              <a:gd name="adj" fmla="val 11111"/>
            </a:avLst>
          </a:prstGeom>
          <a:solidFill>
            <a:schemeClr val="bg1"/>
          </a:solidFill>
          <a:ln/>
        </p:spPr>
      </p:sp>
      <p:sp>
        <p:nvSpPr>
          <p:cNvPr id="12" name="kpi-2-value"/>
          <p:cNvSpPr txBox="1"/>
          <p:nvPr/>
        </p:nvSpPr>
        <p:spPr>
          <a:xfrm>
            <a:off x="6434176" y="1591056"/>
            <a:ext cx="2165528" cy="502920"/>
          </a:xfrm>
          <a:prstGeom prst="rect">
            <a:avLst/>
          </a:prstGeom>
          <a:noFill/>
          <a:ln/>
        </p:spPr>
        <p:txBody>
          <a:bodyPr wrap="square" lIns="0" tIns="0" rIns="0" bIns="0" rtlCol="0" anchor="t"/>
          <a:lstStyle/>
          <a:p>
            <a:pPr indent="0" marL="0">
              <a:buNone/>
            </a:pPr>
            <a:r>
              <a:rPr lang="en-US" sz="2800" b="1" dirty="0">
                <a:solidFill>
                  <a:schemeClr val="tx1"/>
                </a:solidFill>
              </a:rPr>
              <a:t>1,600+</a:t>
            </a:r>
            <a:endParaRPr lang="en-US" sz="2800" dirty="0"/>
          </a:p>
        </p:txBody>
      </p:sp>
      <p:sp>
        <p:nvSpPr>
          <p:cNvPr id="13" name="kpi-2-desc"/>
          <p:cNvSpPr txBox="1"/>
          <p:nvPr/>
        </p:nvSpPr>
        <p:spPr>
          <a:xfrm>
            <a:off x="6434176" y="2103120"/>
            <a:ext cx="2165528" cy="320040"/>
          </a:xfrm>
          <a:prstGeom prst="rect">
            <a:avLst/>
          </a:prstGeom>
          <a:noFill/>
          <a:ln/>
        </p:spPr>
        <p:txBody>
          <a:bodyPr wrap="square" lIns="0" tIns="0" rIns="0" bIns="0" rtlCol="0" anchor="t"/>
          <a:lstStyle/>
          <a:p>
            <a:pPr indent="0" marL="0">
              <a:buNone/>
            </a:pPr>
            <a:r>
              <a:rPr lang="en-US" sz="1300" dirty="0">
                <a:solidFill>
                  <a:schemeClr val="tx2"/>
                </a:solidFill>
              </a:rPr>
              <a:t>dashboards created</a:t>
            </a:r>
            <a:endParaRPr lang="en-US" sz="1300" dirty="0"/>
          </a:p>
        </p:txBody>
      </p:sp>
      <p:sp>
        <p:nvSpPr>
          <p:cNvPr id="14" name="kpi-3-card"/>
          <p:cNvSpPr/>
          <p:nvPr/>
        </p:nvSpPr>
        <p:spPr>
          <a:xfrm>
            <a:off x="9075191" y="1536192"/>
            <a:ext cx="2567864" cy="987552"/>
          </a:xfrm>
          <a:prstGeom prst="roundRect">
            <a:avLst>
              <a:gd name="adj" fmla="val 11111"/>
            </a:avLst>
          </a:prstGeom>
          <a:solidFill>
            <a:schemeClr val="bg1"/>
          </a:solidFill>
          <a:ln/>
        </p:spPr>
      </p:sp>
      <p:sp>
        <p:nvSpPr>
          <p:cNvPr id="15" name="kpi-3-value"/>
          <p:cNvSpPr txBox="1"/>
          <p:nvPr/>
        </p:nvSpPr>
        <p:spPr>
          <a:xfrm>
            <a:off x="9276359" y="1591056"/>
            <a:ext cx="2165528" cy="502920"/>
          </a:xfrm>
          <a:prstGeom prst="rect">
            <a:avLst/>
          </a:prstGeom>
          <a:noFill/>
          <a:ln/>
        </p:spPr>
        <p:txBody>
          <a:bodyPr wrap="square" lIns="0" tIns="0" rIns="0" bIns="0" rtlCol="0" anchor="t"/>
          <a:lstStyle/>
          <a:p>
            <a:pPr indent="0" marL="0">
              <a:buNone/>
            </a:pPr>
            <a:r>
              <a:rPr lang="en-US" sz="2800" b="1" dirty="0">
                <a:solidFill>
                  <a:schemeClr val="tx1"/>
                </a:solidFill>
              </a:rPr>
              <a:t>10+</a:t>
            </a:r>
            <a:endParaRPr lang="en-US" sz="2800" dirty="0"/>
          </a:p>
        </p:txBody>
      </p:sp>
      <p:sp>
        <p:nvSpPr>
          <p:cNvPr id="16" name="kpi-3-desc"/>
          <p:cNvSpPr txBox="1"/>
          <p:nvPr/>
        </p:nvSpPr>
        <p:spPr>
          <a:xfrm>
            <a:off x="9276359" y="2103120"/>
            <a:ext cx="2165528" cy="320040"/>
          </a:xfrm>
          <a:prstGeom prst="rect">
            <a:avLst/>
          </a:prstGeom>
          <a:noFill/>
          <a:ln/>
        </p:spPr>
        <p:txBody>
          <a:bodyPr wrap="square" lIns="0" tIns="0" rIns="0" bIns="0" rtlCol="0" anchor="t"/>
          <a:lstStyle/>
          <a:p>
            <a:pPr indent="0" marL="0">
              <a:buNone/>
            </a:pPr>
            <a:r>
              <a:rPr lang="en-US" sz="1300" dirty="0">
                <a:solidFill>
                  <a:schemeClr val="tx2"/>
                </a:solidFill>
              </a:rPr>
              <a:t>updated every day</a:t>
            </a:r>
            <a:endParaRPr lang="en-US" sz="1300" dirty="0"/>
          </a:p>
        </p:txBody>
      </p:sp>
      <p:sp>
        <p:nvSpPr>
          <p:cNvPr id="17" name="trend-card"/>
          <p:cNvSpPr/>
          <p:nvPr/>
        </p:nvSpPr>
        <p:spPr>
          <a:xfrm>
            <a:off x="548640" y="2697480"/>
            <a:ext cx="4572000" cy="3749040"/>
          </a:xfrm>
          <a:prstGeom prst="roundRect">
            <a:avLst>
              <a:gd name="adj" fmla="val 2927"/>
            </a:avLst>
          </a:prstGeom>
          <a:solidFill>
            <a:schemeClr val="bg1"/>
          </a:solidFill>
          <a:ln/>
        </p:spPr>
      </p:sp>
      <p:sp>
        <p:nvSpPr>
          <p:cNvPr id="18" name="trend-title"/>
          <p:cNvSpPr txBox="1"/>
          <p:nvPr/>
        </p:nvSpPr>
        <p:spPr>
          <a:xfrm>
            <a:off x="731520" y="2807208"/>
            <a:ext cx="4206240" cy="256032"/>
          </a:xfrm>
          <a:prstGeom prst="rect">
            <a:avLst/>
          </a:prstGeom>
          <a:noFill/>
          <a:ln/>
        </p:spPr>
        <p:txBody>
          <a:bodyPr wrap="square" lIns="0" tIns="0" rIns="0" bIns="0" rtlCol="0" anchor="t"/>
          <a:lstStyle/>
          <a:p>
            <a:pPr indent="0" marL="0">
              <a:buNone/>
            </a:pPr>
            <a:r>
              <a:rPr lang="en-US" sz="1000" b="1" spc="100" kern="0" dirty="0">
                <a:solidFill>
                  <a:schemeClr val="tx1"/>
                </a:solidFill>
              </a:rPr>
              <a:t>MONTHLY UNIQUE USERS</a:t>
            </a:r>
            <a:endParaRPr lang="en-US" sz="1000" dirty="0"/>
          </a:p>
        </p:txBody>
      </p:sp>
      <p:graphicFrame>
        <p:nvGraphicFramePr>
          <p:cNvPr id="19" name="users-trend" descr=""/>
          <p:cNvGraphicFramePr/>
          <p:nvPr/>
        </p:nvGraphicFramePr>
        <p:xfrm>
          <a:off x="594360" y="3063240"/>
          <a:ext cx="4480560" cy="2971800"/>
        </p:xfrm>
        <a:graphic xmlns:a="http://schemas.openxmlformats.org/drawingml/2006/main">
          <a:graphicData uri="http://schemas.openxmlformats.org/drawingml/2006/chart">
            <c:chart xmlns:c="http://schemas.openxmlformats.org/drawingml/2006/chart" r:id="rId1"/>
          </a:graphicData>
        </a:graphic>
      </p:graphicFrame>
      <p:sp>
        <p:nvSpPr>
          <p:cNvPr id="20" name="trend-caption"/>
          <p:cNvSpPr txBox="1"/>
          <p:nvPr/>
        </p:nvSpPr>
        <p:spPr>
          <a:xfrm>
            <a:off x="731520" y="6099048"/>
            <a:ext cx="4206240" cy="237744"/>
          </a:xfrm>
          <a:prstGeom prst="rect">
            <a:avLst/>
          </a:prstGeom>
          <a:noFill/>
          <a:ln/>
        </p:spPr>
        <p:txBody>
          <a:bodyPr wrap="square" lIns="0" tIns="0" rIns="0" bIns="0" rtlCol="0" anchor="t"/>
          <a:lstStyle/>
          <a:p>
            <a:pPr indent="0" marL="0">
              <a:buNone/>
            </a:pPr>
            <a:r>
              <a:rPr lang="en-US" sz="1000" i="1" dirty="0">
                <a:solidFill>
                  <a:schemeClr val="tx2"/>
                </a:solidFill>
              </a:rPr>
              <a:t>Approximate, read from the ERM usage chart</a:t>
            </a:r>
            <a:endParaRPr lang="en-US" sz="1000" dirty="0"/>
          </a:p>
        </p:txBody>
      </p:sp>
      <p:sp>
        <p:nvSpPr>
          <p:cNvPr id="21" name="org-card"/>
          <p:cNvSpPr/>
          <p:nvPr/>
        </p:nvSpPr>
        <p:spPr>
          <a:xfrm>
            <a:off x="5349240" y="2697480"/>
            <a:ext cx="3840480" cy="3749040"/>
          </a:xfrm>
          <a:prstGeom prst="roundRect">
            <a:avLst>
              <a:gd name="adj" fmla="val 2927"/>
            </a:avLst>
          </a:prstGeom>
          <a:solidFill>
            <a:schemeClr val="bg1"/>
          </a:solidFill>
          <a:ln/>
        </p:spPr>
      </p:sp>
      <p:sp>
        <p:nvSpPr>
          <p:cNvPr id="22" name="org-title"/>
          <p:cNvSpPr txBox="1"/>
          <p:nvPr/>
        </p:nvSpPr>
        <p:spPr>
          <a:xfrm>
            <a:off x="5532120" y="2807208"/>
            <a:ext cx="3474720" cy="256032"/>
          </a:xfrm>
          <a:prstGeom prst="rect">
            <a:avLst/>
          </a:prstGeom>
          <a:noFill/>
          <a:ln/>
        </p:spPr>
        <p:txBody>
          <a:bodyPr wrap="square" lIns="0" tIns="0" rIns="0" bIns="0" rtlCol="0" anchor="t"/>
          <a:lstStyle/>
          <a:p>
            <a:pPr indent="0" marL="0">
              <a:buNone/>
            </a:pPr>
            <a:r>
              <a:rPr lang="en-US" sz="1000" b="1" spc="100" kern="0" dirty="0">
                <a:solidFill>
                  <a:schemeClr val="tx1"/>
                </a:solidFill>
              </a:rPr>
              <a:t>USERS BY FUNCTION (SIGLUM 1)</a:t>
            </a:r>
            <a:endParaRPr lang="en-US" sz="1000" dirty="0"/>
          </a:p>
        </p:txBody>
      </p:sp>
      <p:graphicFrame>
        <p:nvGraphicFramePr>
          <p:cNvPr id="23" name="org-chart" descr=""/>
          <p:cNvGraphicFramePr/>
          <p:nvPr/>
        </p:nvGraphicFramePr>
        <p:xfrm>
          <a:off x="5394960" y="3063240"/>
          <a:ext cx="3749040" cy="2971800"/>
        </p:xfrm>
        <a:graphic xmlns:a="http://schemas.openxmlformats.org/drawingml/2006/main">
          <a:graphicData uri="http://schemas.openxmlformats.org/drawingml/2006/chart">
            <c:chart xmlns:c="http://schemas.openxmlformats.org/drawingml/2006/chart" r:id="rId2"/>
          </a:graphicData>
        </a:graphic>
      </p:graphicFrame>
      <p:sp>
        <p:nvSpPr>
          <p:cNvPr id="24" name="org-caption"/>
          <p:cNvSpPr txBox="1"/>
          <p:nvPr/>
        </p:nvSpPr>
        <p:spPr>
          <a:xfrm>
            <a:off x="5532120" y="6099048"/>
            <a:ext cx="3474720" cy="237744"/>
          </a:xfrm>
          <a:prstGeom prst="rect">
            <a:avLst/>
          </a:prstGeom>
          <a:noFill/>
          <a:ln/>
        </p:spPr>
        <p:txBody>
          <a:bodyPr wrap="square" lIns="0" tIns="0" rIns="0" bIns="0" rtlCol="0" anchor="t"/>
          <a:lstStyle/>
          <a:p>
            <a:pPr indent="0" marL="0">
              <a:buNone/>
            </a:pPr>
            <a:r>
              <a:rPr lang="en-US" sz="1000" i="1" dirty="0">
                <a:solidFill>
                  <a:schemeClr val="tx2"/>
                </a:solidFill>
              </a:rPr>
              <a:t>Plus about 12 smaller functions. Approximate</a:t>
            </a:r>
            <a:endParaRPr lang="en-US" sz="1000" dirty="0"/>
          </a:p>
        </p:txBody>
      </p:sp>
      <p:sp>
        <p:nvSpPr>
          <p:cNvPr id="25" name="loc-card"/>
          <p:cNvSpPr/>
          <p:nvPr/>
        </p:nvSpPr>
        <p:spPr>
          <a:xfrm>
            <a:off x="9418320" y="2697480"/>
            <a:ext cx="2224735" cy="3749040"/>
          </a:xfrm>
          <a:prstGeom prst="roundRect">
            <a:avLst>
              <a:gd name="adj" fmla="val 4932"/>
            </a:avLst>
          </a:prstGeom>
          <a:solidFill>
            <a:schemeClr val="tx1"/>
          </a:solidFill>
          <a:ln/>
        </p:spPr>
      </p:sp>
      <p:sp>
        <p:nvSpPr>
          <p:cNvPr id="26" name="loc-title"/>
          <p:cNvSpPr txBox="1"/>
          <p:nvPr/>
        </p:nvSpPr>
        <p:spPr>
          <a:xfrm>
            <a:off x="9601200" y="2807208"/>
            <a:ext cx="1858975" cy="256032"/>
          </a:xfrm>
          <a:prstGeom prst="rect">
            <a:avLst/>
          </a:prstGeom>
          <a:noFill/>
          <a:ln/>
        </p:spPr>
        <p:txBody>
          <a:bodyPr wrap="square" lIns="0" tIns="0" rIns="0" bIns="0" rtlCol="0" anchor="t"/>
          <a:lstStyle/>
          <a:p>
            <a:pPr indent="0" marL="0">
              <a:buNone/>
            </a:pPr>
            <a:r>
              <a:rPr lang="en-US" sz="1000" b="1" spc="100" kern="0" dirty="0">
                <a:solidFill>
                  <a:schemeClr val="accent5"/>
                </a:solidFill>
              </a:rPr>
              <a:t>LOCATION PROFILE</a:t>
            </a:r>
            <a:endParaRPr lang="en-US" sz="1000" dirty="0"/>
          </a:p>
        </p:txBody>
      </p:sp>
      <p:sp>
        <p:nvSpPr>
          <p:cNvPr id="27" name="loc-list"/>
          <p:cNvSpPr txBox="1"/>
          <p:nvPr/>
        </p:nvSpPr>
        <p:spPr>
          <a:xfrm>
            <a:off x="9601200" y="3200400"/>
            <a:ext cx="1858975" cy="3108960"/>
          </a:xfrm>
          <a:prstGeom prst="rect">
            <a:avLst/>
          </a:prstGeom>
          <a:noFill/>
          <a:ln/>
        </p:spPr>
        <p:txBody>
          <a:bodyPr wrap="square" lIns="0" tIns="0" rIns="0" bIns="0" rtlCol="0" anchor="t"/>
          <a:lstStyle/>
          <a:p>
            <a:pPr indent="0" marL="0">
              <a:buNone/>
            </a:pPr>
            <a:r>
              <a:rPr lang="en-US" sz="1300" b="1" dirty="0">
                <a:solidFill>
                  <a:schemeClr val="bg1"/>
                </a:solidFill>
              </a:rPr>
              <a:t>France</a:t>
            </a:r>
            <a:endParaRPr lang="en-US" sz="1300" dirty="0"/>
          </a:p>
          <a:p>
            <a:pPr indent="0" marL="0">
              <a:spcAft>
                <a:spcPts val="900"/>
              </a:spcAft>
              <a:buNone/>
            </a:pPr>
            <a:r>
              <a:rPr lang="en-US" sz="1200" dirty="0">
                <a:solidFill>
                  <a:schemeClr val="accent5"/>
                </a:solidFill>
              </a:rPr>
              <a:t>Blagnac 271, Saint-Martin 43</a:t>
            </a:r>
            <a:endParaRPr lang="en-US" sz="1300" dirty="0"/>
          </a:p>
          <a:p>
            <a:pPr indent="0" marL="0">
              <a:buNone/>
            </a:pPr>
            <a:r>
              <a:rPr lang="en-US" sz="1300" b="1" dirty="0">
                <a:solidFill>
                  <a:schemeClr val="bg1"/>
                </a:solidFill>
              </a:rPr>
              <a:t>Germany</a:t>
            </a:r>
            <a:endParaRPr lang="en-US" sz="1300" dirty="0"/>
          </a:p>
          <a:p>
            <a:pPr indent="0" marL="0">
              <a:spcAft>
                <a:spcPts val="900"/>
              </a:spcAft>
              <a:buNone/>
            </a:pPr>
            <a:r>
              <a:rPr lang="en-US" sz="1200" dirty="0">
                <a:solidFill>
                  <a:schemeClr val="accent5"/>
                </a:solidFill>
              </a:rPr>
              <a:t>Hamburg 205</a:t>
            </a:r>
            <a:endParaRPr lang="en-US" sz="1300" dirty="0"/>
          </a:p>
          <a:p>
            <a:pPr indent="0" marL="0">
              <a:buNone/>
            </a:pPr>
            <a:r>
              <a:rPr lang="en-US" sz="1300" b="1" dirty="0">
                <a:solidFill>
                  <a:schemeClr val="bg1"/>
                </a:solidFill>
              </a:rPr>
              <a:t>United Kingdom</a:t>
            </a:r>
            <a:endParaRPr lang="en-US" sz="1300" dirty="0"/>
          </a:p>
          <a:p>
            <a:pPr indent="0" marL="0">
              <a:spcAft>
                <a:spcPts val="900"/>
              </a:spcAft>
              <a:buNone/>
            </a:pPr>
            <a:r>
              <a:rPr lang="en-US" sz="1200" dirty="0">
                <a:solidFill>
                  <a:schemeClr val="accent5"/>
                </a:solidFill>
              </a:rPr>
              <a:t>Broughton 32, Filton 26</a:t>
            </a:r>
            <a:endParaRPr lang="en-US" sz="1300" dirty="0"/>
          </a:p>
          <a:p>
            <a:pPr indent="0" marL="0">
              <a:buNone/>
            </a:pPr>
            <a:r>
              <a:rPr lang="en-US" sz="1300" b="1" dirty="0">
                <a:solidFill>
                  <a:schemeClr val="bg1"/>
                </a:solidFill>
              </a:rPr>
              <a:t>Spain</a:t>
            </a:r>
            <a:endParaRPr lang="en-US" sz="1300" dirty="0"/>
          </a:p>
          <a:p>
            <a:pPr indent="0" marL="0">
              <a:spcAft>
                <a:spcPts val="900"/>
              </a:spcAft>
              <a:buNone/>
            </a:pPr>
            <a:r>
              <a:rPr lang="en-US" sz="1200" dirty="0">
                <a:solidFill>
                  <a:schemeClr val="accent5"/>
                </a:solidFill>
              </a:rPr>
              <a:t>Getafe 25</a:t>
            </a:r>
            <a:endParaRPr lang="en-US" sz="1300" dirty="0"/>
          </a:p>
          <a:p>
            <a:pPr indent="0" marL="0">
              <a:buNone/>
            </a:pPr>
            <a:r>
              <a:rPr lang="en-US" sz="1300" b="1" dirty="0">
                <a:solidFill>
                  <a:schemeClr val="bg1"/>
                </a:solidFill>
              </a:rPr>
              <a:t>Canada</a:t>
            </a:r>
            <a:endParaRPr lang="en-US" sz="1300" dirty="0"/>
          </a:p>
          <a:p>
            <a:pPr indent="0" marL="0">
              <a:spcAft>
                <a:spcPts val="900"/>
              </a:spcAft>
              <a:buNone/>
            </a:pPr>
            <a:r>
              <a:rPr lang="en-US" sz="1200" dirty="0">
                <a:solidFill>
                  <a:schemeClr val="accent5"/>
                </a:solidFill>
              </a:rPr>
              <a:t>Mirabel 12</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3"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childTnLst>
                          </p:cTn>
                        </p:par>
                        <p:par>
                          <p:cTn id="16" fill="hold">
                            <p:stCondLst>
                              <p:cond delay="400"/>
                            </p:stCondLst>
                            <p:childTnLst>
                              <p:par>
                                <p:cTn id="7" presetID="10" presetClass="entr" presetSubtype="0" fill="hold" grpId="0" nodeType="after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childTnLst>
                          </p:cTn>
                        </p:par>
                        <p:par>
                          <p:cTn id="26" fill="hold">
                            <p:stCondLst>
                              <p:cond delay="8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childTnLst>
                          </p:cTn>
                        </p:par>
                        <p:par>
                          <p:cTn id="36" fill="hold">
                            <p:stCondLst>
                              <p:cond delay="1200"/>
                            </p:stCondLst>
                            <p:childTnLst>
                              <p:par>
                                <p:cTn id="27" presetID="10" presetClass="entr" presetSubtype="0"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childTnLst>
                          </p:cTn>
                        </p:par>
                        <p:par>
                          <p:cTn id="46" fill="hold">
                            <p:stCondLst>
                              <p:cond delay="1600"/>
                            </p:stCondLst>
                            <p:childTnLst>
                              <p:par>
                                <p:cTn id="37" presetID="10"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childTnLst>
                          </p:cTn>
                        </p:par>
                        <p:par>
                          <p:cTn id="59" fill="hold">
                            <p:stCondLst>
                              <p:cond delay="2000"/>
                            </p:stCondLst>
                            <p:childTnLst>
                              <p:par>
                                <p:cTn id="47" presetID="10" presetClass="entr" presetSubtype="0"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5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5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22" presetClass="entr" presetSubtype="8" fill="hold" grpId="0" nodeType="withEffect">
                                  <p:stCondLst>
                                    <p:cond delay="200"/>
                                  </p:stCondLst>
                                  <p:childTnLst>
                                    <p:set>
                                      <p:cBhvr>
                                        <p:cTn id="57" dur="1" fill="hold">
                                          <p:stCondLst>
                                            <p:cond delay="0"/>
                                          </p:stCondLst>
                                        </p:cTn>
                                        <p:tgtEl>
                                          <p:spTgt spid="19"/>
                                        </p:tgtEl>
                                        <p:attrNameLst>
                                          <p:attrName>style.visibility</p:attrName>
                                        </p:attrNameLst>
                                      </p:cBhvr>
                                      <p:to>
                                        <p:strVal val="visible"/>
                                      </p:to>
                                    </p:set>
                                    <p:animEffect transition="in" filter="wipe(left)">
                                      <p:cBhvr>
                                        <p:cTn id="58" dur="450"/>
                                        <p:tgtEl>
                                          <p:spTgt spid="19"/>
                                        </p:tgtEl>
                                      </p:cBhvr>
                                    </p:animEffect>
                                  </p:childTnLst>
                                </p:cTn>
                              </p:par>
                            </p:childTnLst>
                          </p:cTn>
                        </p:par>
                        <p:par>
                          <p:cTn id="72" fill="hold">
                            <p:stCondLst>
                              <p:cond delay="2400"/>
                            </p:stCondLst>
                            <p:childTnLst>
                              <p:par>
                                <p:cTn id="60" presetID="10" presetClass="entr" presetSubtype="0" fill="hold" grpId="0" nodeType="after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450"/>
                                        <p:tgtEl>
                                          <p:spTgt spid="2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450"/>
                                        <p:tgtEl>
                                          <p:spTgt spid="2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450"/>
                                        <p:tgtEl>
                                          <p:spTgt spid="2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450"/>
                                        <p:tgtEl>
                                          <p:spTgt spid="24"/>
                                        </p:tgtEl>
                                      </p:cBhvr>
                                    </p:animEffect>
                                  </p:childTnLst>
                                </p:cTn>
                              </p:par>
                            </p:childTnLst>
                          </p:cTn>
                        </p:par>
                        <p:par>
                          <p:cTn id="82" fill="hold">
                            <p:stCondLst>
                              <p:cond delay="2800"/>
                            </p:stCondLst>
                            <p:childTnLst>
                              <p:par>
                                <p:cTn id="73" presetID="10" presetClass="entr" presetSubtype="0" fill="hold" grpId="0" nodeType="after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5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5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0" grpId="0" animBg="1"/>
      <p:bldP spid="21" grpId="0" animBg="1"/>
      <p:bldP spid="22" grpId="0" animBg="1"/>
      <p:bldP spid="24" grpId="0" animBg="1"/>
      <p:bldP spid="25" grpId="0" animBg="1"/>
      <p:bldP spid="26" grpId="0" animBg="1"/>
      <p:bldP spid="2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5"/>
                </a:solidFill>
              </a:rPr>
              <a:t>THE TRANSFORMATION</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bg1"/>
                </a:solidFill>
              </a:rPr>
              <a:t>From a fragile app to a stable ERM 2.0, in one PI</a:t>
            </a:r>
            <a:endParaRPr lang="en-US" sz="3600" dirty="0"/>
          </a:p>
        </p:txBody>
      </p:sp>
      <p:pic>
        <p:nvPicPr>
          <p:cNvPr id="4" name="portal-img" descr="Slate screens break apart into a glowing portal; ERM 2.0 screens come out the other side">    </p:cNvPr>
          <p:cNvPicPr>
            <a:picLocks noChangeAspect="1"/>
          </p:cNvPicPr>
          <p:nvPr/>
        </p:nvPicPr>
        <p:blipFill>
          <a:blip r:embed="rId1"/>
          <a:stretch>
            <a:fillRect/>
          </a:stretch>
        </p:blipFill>
        <p:spPr>
          <a:xfrm>
            <a:off x="0" y="1234440"/>
            <a:ext cx="12191695" cy="5120640"/>
          </a:xfrm>
          <a:prstGeom prst="rect">
            <a:avLst/>
          </a:prstGeom>
        </p:spPr>
      </p:pic>
      <p:sp>
        <p:nvSpPr>
          <p:cNvPr id="5" name="before-head"/>
          <p:cNvSpPr txBox="1"/>
          <p:nvPr/>
        </p:nvSpPr>
        <p:spPr>
          <a:xfrm>
            <a:off x="548640" y="1280160"/>
            <a:ext cx="3657600" cy="274320"/>
          </a:xfrm>
          <a:prstGeom prst="rect">
            <a:avLst/>
          </a:prstGeom>
          <a:noFill/>
          <a:ln/>
        </p:spPr>
        <p:txBody>
          <a:bodyPr wrap="square" lIns="0" tIns="0" rIns="0" bIns="0" rtlCol="0" anchor="t"/>
          <a:lstStyle/>
          <a:p>
            <a:pPr indent="0" marL="0">
              <a:buNone/>
            </a:pPr>
            <a:r>
              <a:rPr lang="en-US" sz="1200" b="1" spc="200" kern="0" dirty="0">
                <a:solidFill>
                  <a:srgbClr val="F28DB6"/>
                </a:solidFill>
              </a:rPr>
              <a:t>BEFORE · SLATE</a:t>
            </a:r>
            <a:endParaRPr lang="en-US" sz="1200" dirty="0"/>
          </a:p>
        </p:txBody>
      </p:sp>
      <p:sp>
        <p:nvSpPr>
          <p:cNvPr id="6" name="after-head"/>
          <p:cNvSpPr txBox="1"/>
          <p:nvPr/>
        </p:nvSpPr>
        <p:spPr>
          <a:xfrm>
            <a:off x="8092440" y="1280160"/>
            <a:ext cx="3547872" cy="274320"/>
          </a:xfrm>
          <a:prstGeom prst="rect">
            <a:avLst/>
          </a:prstGeom>
          <a:noFill/>
          <a:ln/>
        </p:spPr>
        <p:txBody>
          <a:bodyPr wrap="square" lIns="0" tIns="0" rIns="0" bIns="0" rtlCol="0" anchor="t"/>
          <a:lstStyle/>
          <a:p>
            <a:pPr algn="r" indent="0" marL="0">
              <a:buNone/>
            </a:pPr>
            <a:r>
              <a:rPr lang="en-US" sz="1200" b="1" spc="200" kern="0" dirty="0">
                <a:solidFill>
                  <a:srgbClr val="8FD0FF"/>
                </a:solidFill>
              </a:rPr>
              <a:t>AFTER · ERM 2.0</a:t>
            </a:r>
            <a:endParaRPr lang="en-US" sz="1200" dirty="0"/>
          </a:p>
        </p:txBody>
      </p:sp>
      <p:sp>
        <p:nvSpPr>
          <p:cNvPr id="7" name="bad-0"/>
          <p:cNvSpPr/>
          <p:nvPr/>
        </p:nvSpPr>
        <p:spPr>
          <a:xfrm>
            <a:off x="548640" y="5193792"/>
            <a:ext cx="3566160" cy="347472"/>
          </a:xfrm>
          <a:prstGeom prst="roundRect">
            <a:avLst>
              <a:gd name="adj" fmla="val 50000"/>
            </a:avLst>
          </a:prstGeom>
          <a:solidFill>
            <a:srgbClr val="0A1640">
              <a:alpha val="85000"/>
            </a:srgbClr>
          </a:solidFill>
          <a:ln w="15875">
            <a:solidFill>
              <a:srgbClr val="E8509A"/>
            </a:solidFill>
            <a:prstDash val="solid"/>
          </a:ln>
        </p:spPr>
      </p:sp>
      <p:sp>
        <p:nvSpPr>
          <p:cNvPr id="8" name="bad-0-text"/>
          <p:cNvSpPr txBox="1"/>
          <p:nvPr/>
        </p:nvSpPr>
        <p:spPr>
          <a:xfrm>
            <a:off x="548640" y="5193792"/>
            <a:ext cx="3566160" cy="347472"/>
          </a:xfrm>
          <a:prstGeom prst="rect">
            <a:avLst/>
          </a:prstGeom>
          <a:noFill/>
          <a:ln/>
        </p:spPr>
        <p:txBody>
          <a:bodyPr wrap="square" lIns="0" tIns="0" rIns="0" bIns="0" rtlCol="0" anchor="ctr"/>
          <a:lstStyle/>
          <a:p>
            <a:pPr algn="ctr" indent="0" marL="0">
              <a:buNone/>
            </a:pPr>
            <a:r>
              <a:rPr lang="en-US" sz="1300" b="1" dirty="0">
                <a:solidFill>
                  <a:schemeClr val="bg1"/>
                </a:solidFill>
              </a:rPr>
              <a:t>One change could break another</a:t>
            </a:r>
            <a:endParaRPr lang="en-US" sz="1300" dirty="0"/>
          </a:p>
        </p:txBody>
      </p:sp>
      <p:sp>
        <p:nvSpPr>
          <p:cNvPr id="9" name="bad-1"/>
          <p:cNvSpPr/>
          <p:nvPr/>
        </p:nvSpPr>
        <p:spPr>
          <a:xfrm>
            <a:off x="548640" y="5605272"/>
            <a:ext cx="3566160" cy="347472"/>
          </a:xfrm>
          <a:prstGeom prst="roundRect">
            <a:avLst>
              <a:gd name="adj" fmla="val 50000"/>
            </a:avLst>
          </a:prstGeom>
          <a:solidFill>
            <a:srgbClr val="0A1640">
              <a:alpha val="85000"/>
            </a:srgbClr>
          </a:solidFill>
          <a:ln w="15875">
            <a:solidFill>
              <a:srgbClr val="E8509A"/>
            </a:solidFill>
            <a:prstDash val="solid"/>
          </a:ln>
        </p:spPr>
      </p:sp>
      <p:sp>
        <p:nvSpPr>
          <p:cNvPr id="10" name="bad-1-text"/>
          <p:cNvSpPr txBox="1"/>
          <p:nvPr/>
        </p:nvSpPr>
        <p:spPr>
          <a:xfrm>
            <a:off x="548640" y="5605272"/>
            <a:ext cx="3566160" cy="347472"/>
          </a:xfrm>
          <a:prstGeom prst="rect">
            <a:avLst/>
          </a:prstGeom>
          <a:noFill/>
          <a:ln/>
        </p:spPr>
        <p:txBody>
          <a:bodyPr wrap="square" lIns="0" tIns="0" rIns="0" bIns="0" rtlCol="0" anchor="ctr"/>
          <a:lstStyle/>
          <a:p>
            <a:pPr algn="ctr" indent="0" marL="0">
              <a:buNone/>
            </a:pPr>
            <a:r>
              <a:rPr lang="en-US" sz="1300" b="1" dirty="0">
                <a:solidFill>
                  <a:schemeClr val="bg1"/>
                </a:solidFill>
              </a:rPr>
              <a:t>Slow to switch between tabs</a:t>
            </a:r>
            <a:endParaRPr lang="en-US" sz="1300" dirty="0"/>
          </a:p>
        </p:txBody>
      </p:sp>
      <p:sp>
        <p:nvSpPr>
          <p:cNvPr id="11" name="bad-2"/>
          <p:cNvSpPr/>
          <p:nvPr/>
        </p:nvSpPr>
        <p:spPr>
          <a:xfrm>
            <a:off x="548640" y="6016752"/>
            <a:ext cx="3566160" cy="347472"/>
          </a:xfrm>
          <a:prstGeom prst="roundRect">
            <a:avLst>
              <a:gd name="adj" fmla="val 50000"/>
            </a:avLst>
          </a:prstGeom>
          <a:solidFill>
            <a:srgbClr val="0A1640">
              <a:alpha val="85000"/>
            </a:srgbClr>
          </a:solidFill>
          <a:ln w="15875">
            <a:solidFill>
              <a:srgbClr val="E8509A"/>
            </a:solidFill>
            <a:prstDash val="solid"/>
          </a:ln>
        </p:spPr>
      </p:sp>
      <p:sp>
        <p:nvSpPr>
          <p:cNvPr id="12" name="bad-2-text"/>
          <p:cNvSpPr txBox="1"/>
          <p:nvPr/>
        </p:nvSpPr>
        <p:spPr>
          <a:xfrm>
            <a:off x="548640" y="6016752"/>
            <a:ext cx="3566160" cy="347472"/>
          </a:xfrm>
          <a:prstGeom prst="rect">
            <a:avLst/>
          </a:prstGeom>
          <a:noFill/>
          <a:ln/>
        </p:spPr>
        <p:txBody>
          <a:bodyPr wrap="square" lIns="0" tIns="0" rIns="0" bIns="0" rtlCol="0" anchor="ctr"/>
          <a:lstStyle/>
          <a:p>
            <a:pPr algn="ctr" indent="0" marL="0">
              <a:buNone/>
            </a:pPr>
            <a:r>
              <a:rPr lang="en-US" sz="1300" b="1" dirty="0">
                <a:solidFill>
                  <a:schemeClr val="bg1"/>
                </a:solidFill>
              </a:rPr>
              <a:t>Nothing documented</a:t>
            </a:r>
            <a:endParaRPr lang="en-US" sz="1300" dirty="0"/>
          </a:p>
        </p:txBody>
      </p:sp>
      <p:sp>
        <p:nvSpPr>
          <p:cNvPr id="13" name="good-0"/>
          <p:cNvSpPr/>
          <p:nvPr/>
        </p:nvSpPr>
        <p:spPr>
          <a:xfrm>
            <a:off x="8074152" y="5193792"/>
            <a:ext cx="3566160" cy="347472"/>
          </a:xfrm>
          <a:prstGeom prst="roundRect">
            <a:avLst>
              <a:gd name="adj" fmla="val 50000"/>
            </a:avLst>
          </a:prstGeom>
          <a:solidFill>
            <a:srgbClr val="0A1640">
              <a:alpha val="85000"/>
            </a:srgbClr>
          </a:solidFill>
          <a:ln w="15875">
            <a:solidFill>
              <a:srgbClr val="4FB3FF"/>
            </a:solidFill>
            <a:prstDash val="solid"/>
          </a:ln>
        </p:spPr>
      </p:sp>
      <p:sp>
        <p:nvSpPr>
          <p:cNvPr id="14" name="good-0-text"/>
          <p:cNvSpPr txBox="1"/>
          <p:nvPr/>
        </p:nvSpPr>
        <p:spPr>
          <a:xfrm>
            <a:off x="8074152" y="5193792"/>
            <a:ext cx="3566160" cy="347472"/>
          </a:xfrm>
          <a:prstGeom prst="rect">
            <a:avLst/>
          </a:prstGeom>
          <a:noFill/>
          <a:ln/>
        </p:spPr>
        <p:txBody>
          <a:bodyPr wrap="square" lIns="0" tIns="0" rIns="0" bIns="0" rtlCol="0" anchor="ctr"/>
          <a:lstStyle/>
          <a:p>
            <a:pPr algn="ctr" indent="0" marL="0">
              <a:buNone/>
            </a:pPr>
            <a:r>
              <a:rPr lang="en-US" sz="1300" b="1" dirty="0">
                <a:solidFill>
                  <a:schemeClr val="bg1"/>
                </a:solidFill>
              </a:rPr>
              <a:t>Stable: each feature stands alone</a:t>
            </a:r>
            <a:endParaRPr lang="en-US" sz="1300" dirty="0"/>
          </a:p>
        </p:txBody>
      </p:sp>
      <p:sp>
        <p:nvSpPr>
          <p:cNvPr id="15" name="good-1"/>
          <p:cNvSpPr/>
          <p:nvPr/>
        </p:nvSpPr>
        <p:spPr>
          <a:xfrm>
            <a:off x="8074152" y="5605272"/>
            <a:ext cx="3566160" cy="347472"/>
          </a:xfrm>
          <a:prstGeom prst="roundRect">
            <a:avLst>
              <a:gd name="adj" fmla="val 50000"/>
            </a:avLst>
          </a:prstGeom>
          <a:solidFill>
            <a:srgbClr val="0A1640">
              <a:alpha val="85000"/>
            </a:srgbClr>
          </a:solidFill>
          <a:ln w="15875">
            <a:solidFill>
              <a:srgbClr val="4FB3FF"/>
            </a:solidFill>
            <a:prstDash val="solid"/>
          </a:ln>
        </p:spPr>
      </p:sp>
      <p:sp>
        <p:nvSpPr>
          <p:cNvPr id="16" name="good-1-text"/>
          <p:cNvSpPr txBox="1"/>
          <p:nvPr/>
        </p:nvSpPr>
        <p:spPr>
          <a:xfrm>
            <a:off x="8074152" y="5605272"/>
            <a:ext cx="3566160" cy="347472"/>
          </a:xfrm>
          <a:prstGeom prst="rect">
            <a:avLst/>
          </a:prstGeom>
          <a:noFill/>
          <a:ln/>
        </p:spPr>
        <p:txBody>
          <a:bodyPr wrap="square" lIns="0" tIns="0" rIns="0" bIns="0" rtlCol="0" anchor="ctr"/>
          <a:lstStyle/>
          <a:p>
            <a:pPr algn="ctr" indent="0" marL="0">
              <a:buNone/>
            </a:pPr>
            <a:r>
              <a:rPr lang="en-US" sz="1300" b="1" dirty="0">
                <a:solidFill>
                  <a:schemeClr val="bg1"/>
                </a:solidFill>
              </a:rPr>
              <a:t>Faster and smoother</a:t>
            </a:r>
            <a:endParaRPr lang="en-US" sz="1300" dirty="0"/>
          </a:p>
        </p:txBody>
      </p:sp>
      <p:sp>
        <p:nvSpPr>
          <p:cNvPr id="17" name="good-2"/>
          <p:cNvSpPr/>
          <p:nvPr/>
        </p:nvSpPr>
        <p:spPr>
          <a:xfrm>
            <a:off x="8074152" y="6016752"/>
            <a:ext cx="3566160" cy="347472"/>
          </a:xfrm>
          <a:prstGeom prst="roundRect">
            <a:avLst>
              <a:gd name="adj" fmla="val 50000"/>
            </a:avLst>
          </a:prstGeom>
          <a:solidFill>
            <a:srgbClr val="0A1640">
              <a:alpha val="85000"/>
            </a:srgbClr>
          </a:solidFill>
          <a:ln w="15875">
            <a:solidFill>
              <a:srgbClr val="4FB3FF"/>
            </a:solidFill>
            <a:prstDash val="solid"/>
          </a:ln>
        </p:spPr>
      </p:sp>
      <p:sp>
        <p:nvSpPr>
          <p:cNvPr id="18" name="good-2-text"/>
          <p:cNvSpPr txBox="1"/>
          <p:nvPr/>
        </p:nvSpPr>
        <p:spPr>
          <a:xfrm>
            <a:off x="8074152" y="6016752"/>
            <a:ext cx="3566160" cy="347472"/>
          </a:xfrm>
          <a:prstGeom prst="rect">
            <a:avLst/>
          </a:prstGeom>
          <a:noFill/>
          <a:ln/>
        </p:spPr>
        <p:txBody>
          <a:bodyPr wrap="square" lIns="0" tIns="0" rIns="0" bIns="0" rtlCol="0" anchor="ctr"/>
          <a:lstStyle/>
          <a:p>
            <a:pPr algn="ctr" indent="0" marL="0">
              <a:buNone/>
            </a:pPr>
            <a:r>
              <a:rPr lang="en-US" sz="1300" b="1" dirty="0">
                <a:solidFill>
                  <a:schemeClr val="bg1"/>
                </a:solidFill>
              </a:rPr>
              <a:t>Documented, easy to extend</a:t>
            </a:r>
            <a:endParaRPr lang="en-US" sz="1300" dirty="0"/>
          </a:p>
        </p:txBody>
      </p:sp>
      <p:sp>
        <p:nvSpPr>
          <p:cNvPr id="19" name="portal-cap"/>
          <p:cNvSpPr txBox="1"/>
          <p:nvPr/>
        </p:nvSpPr>
        <p:spPr>
          <a:xfrm>
            <a:off x="4270248" y="5623560"/>
            <a:ext cx="3657600" cy="731520"/>
          </a:xfrm>
          <a:prstGeom prst="rect">
            <a:avLst/>
          </a:prstGeom>
          <a:noFill/>
          <a:ln/>
        </p:spPr>
        <p:txBody>
          <a:bodyPr wrap="square" lIns="0" tIns="0" rIns="0" bIns="0" rtlCol="0" anchor="t"/>
          <a:lstStyle/>
          <a:p>
            <a:pPr algn="ctr" indent="0" marL="0">
              <a:buNone/>
            </a:pPr>
            <a:r>
              <a:rPr lang="en-US" sz="2000" b="1" dirty="0">
                <a:solidFill>
                  <a:schemeClr val="bg1"/>
                </a:solidFill>
              </a:rPr>
              <a:t>AI-assisted migration</a:t>
            </a:r>
            <a:endParaRPr lang="en-US" sz="2000" dirty="0"/>
          </a:p>
          <a:p>
            <a:pPr algn="ctr" indent="0" marL="0">
              <a:buNone/>
            </a:pPr>
            <a:r>
              <a:rPr lang="en-US" sz="1300" dirty="0">
                <a:solidFill>
                  <a:schemeClr val="accent5"/>
                </a:solidFill>
              </a:rPr>
              <a:t>The AI does the heavy lifting, people verify every feature</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childTnLst>
                          </p:cTn>
                        </p:par>
                        <p:par>
                          <p:cTn id="28" fill="hold">
                            <p:stCondLst>
                              <p:cond delay="500"/>
                            </p:stCondLst>
                            <p:childTnLst>
                              <p:par>
                                <p:cTn id="7" presetID="10" presetClass="entr" presetSubtype="0" fill="hold" grpId="0" nodeType="after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50"/>
                                        <p:tgtEl>
                                          <p:spTgt spid="8"/>
                                        </p:tgtEl>
                                      </p:cBhvr>
                                    </p:animEffect>
                                  </p:childTnLst>
                                </p:cTn>
                              </p:par>
                              <p:par>
                                <p:cTn id="16" presetID="10" presetClass="entr" presetSubtype="0" fill="hold" grpId="0" nodeType="withEffect">
                                  <p:stCondLst>
                                    <p:cond delay="15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grpId="0" nodeType="withEffect">
                                  <p:stCondLst>
                                    <p:cond delay="15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30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30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childTnLst>
                          </p:cTn>
                        </p:par>
                        <p:par>
                          <p:cTn id="32" fill="hold">
                            <p:stCondLst>
                              <p:cond delay="1000"/>
                            </p:stCondLst>
                            <p:childTnLst>
                              <p:par>
                                <p:cTn id="29" presetID="10" presetClass="entr" presetSubtype="0" fill="hold" grpId="0" nodeType="after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50"/>
                                        <p:tgtEl>
                                          <p:spTgt spid="19"/>
                                        </p:tgtEl>
                                      </p:cBhvr>
                                    </p:animEffect>
                                  </p:childTnLst>
                                </p:cTn>
                              </p:par>
                            </p:childTnLst>
                          </p:cTn>
                        </p:par>
                        <p:par>
                          <p:cTn id="54" fill="hold">
                            <p:stCondLst>
                              <p:cond delay="1500"/>
                            </p:stCondLst>
                            <p:childTnLst>
                              <p:par>
                                <p:cTn id="33" presetID="10" presetClass="entr" presetSubtype="0" fill="hold" grpId="0" nodeType="after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450"/>
                                        <p:tgtEl>
                                          <p:spTgt spid="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50"/>
                                        <p:tgtEl>
                                          <p:spTgt spid="14"/>
                                        </p:tgtEl>
                                      </p:cBhvr>
                                    </p:animEffect>
                                  </p:childTnLst>
                                </p:cTn>
                              </p:par>
                              <p:par>
                                <p:cTn id="42" presetID="10" presetClass="entr" presetSubtype="0" fill="hold" grpId="0" nodeType="withEffect">
                                  <p:stCondLst>
                                    <p:cond delay="15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50"/>
                                        <p:tgtEl>
                                          <p:spTgt spid="15"/>
                                        </p:tgtEl>
                                      </p:cBhvr>
                                    </p:animEffect>
                                  </p:childTnLst>
                                </p:cTn>
                              </p:par>
                              <p:par>
                                <p:cTn id="45" presetID="10" presetClass="entr" presetSubtype="0" fill="hold" grpId="0" nodeType="withEffect">
                                  <p:stCondLst>
                                    <p:cond delay="15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50"/>
                                        <p:tgtEl>
                                          <p:spTgt spid="16"/>
                                        </p:tgtEl>
                                      </p:cBhvr>
                                    </p:animEffect>
                                  </p:childTnLst>
                                </p:cTn>
                              </p:par>
                              <p:par>
                                <p:cTn id="48" presetID="10" presetClass="entr" presetSubtype="0" fill="hold" grpId="0" nodeType="withEffect">
                                  <p:stCondLst>
                                    <p:cond delay="30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50"/>
                                        <p:tgtEl>
                                          <p:spTgt spid="17"/>
                                        </p:tgtEl>
                                      </p:cBhvr>
                                    </p:animEffect>
                                  </p:childTnLst>
                                </p:cTn>
                              </p:par>
                              <p:par>
                                <p:cTn id="51" presetID="10" presetClass="entr" presetSubtype="0" fill="hold" grpId="0" nodeType="withEffect">
                                  <p:stCondLst>
                                    <p:cond delay="30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9" grpId="0" animBg="1"/>
      <p:bldP spid="6" grpId="0" animBg="1"/>
      <p:bldP spid="13" grpId="0" animBg="1"/>
      <p:bldP spid="14" grpId="0" animBg="1"/>
      <p:bldP spid="15" grpId="0" animBg="1"/>
      <p:bldP spid="16"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THE RESULTS</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Same features, more stable, in one PI</a:t>
            </a:r>
            <a:endParaRPr lang="en-US" sz="3600" dirty="0"/>
          </a:p>
        </p:txBody>
      </p:sp>
      <p:sp>
        <p:nvSpPr>
          <p:cNvPr id="4" name="fact-0-card"/>
          <p:cNvSpPr/>
          <p:nvPr/>
        </p:nvSpPr>
        <p:spPr>
          <a:xfrm>
            <a:off x="548640" y="1371600"/>
            <a:ext cx="1696669" cy="1463040"/>
          </a:xfrm>
          <a:prstGeom prst="roundRect">
            <a:avLst>
              <a:gd name="adj" fmla="val 7500"/>
            </a:avLst>
          </a:prstGeom>
          <a:solidFill>
            <a:schemeClr val="bg2"/>
          </a:solidFill>
          <a:ln/>
        </p:spPr>
      </p:sp>
      <p:sp>
        <p:nvSpPr>
          <p:cNvPr id="5" name="fact-0-value"/>
          <p:cNvSpPr txBox="1"/>
          <p:nvPr/>
        </p:nvSpPr>
        <p:spPr>
          <a:xfrm>
            <a:off x="713232" y="1481328"/>
            <a:ext cx="1367485" cy="502920"/>
          </a:xfrm>
          <a:prstGeom prst="rect">
            <a:avLst/>
          </a:prstGeom>
          <a:noFill/>
          <a:ln/>
        </p:spPr>
        <p:txBody>
          <a:bodyPr wrap="square" lIns="0" tIns="0" rIns="0" bIns="0" rtlCol="0" anchor="t"/>
          <a:lstStyle/>
          <a:p>
            <a:pPr indent="0" marL="0">
              <a:buNone/>
            </a:pPr>
            <a:r>
              <a:rPr lang="en-US" sz="2400" b="1" dirty="0">
                <a:solidFill>
                  <a:schemeClr val="tx1"/>
                </a:solidFill>
              </a:rPr>
              <a:t>1 PI</a:t>
            </a:r>
            <a:endParaRPr lang="en-US" sz="2400" dirty="0"/>
          </a:p>
        </p:txBody>
      </p:sp>
      <p:sp>
        <p:nvSpPr>
          <p:cNvPr id="6" name="fact-0-label"/>
          <p:cNvSpPr txBox="1"/>
          <p:nvPr/>
        </p:nvSpPr>
        <p:spPr>
          <a:xfrm>
            <a:off x="713232" y="1993392"/>
            <a:ext cx="1367485" cy="777240"/>
          </a:xfrm>
          <a:prstGeom prst="rect">
            <a:avLst/>
          </a:prstGeom>
          <a:noFill/>
          <a:ln/>
        </p:spPr>
        <p:txBody>
          <a:bodyPr wrap="square" lIns="0" tIns="0" rIns="0" bIns="0" rtlCol="0" anchor="t"/>
          <a:lstStyle/>
          <a:p>
            <a:pPr indent="0" marL="0">
              <a:buNone/>
            </a:pPr>
            <a:r>
              <a:rPr lang="en-US" sz="1200" dirty="0">
                <a:solidFill>
                  <a:schemeClr val="tx2"/>
                </a:solidFill>
              </a:rPr>
              <a:t>2 developers, whole migration</a:t>
            </a:r>
            <a:endParaRPr lang="en-US" sz="1200" dirty="0"/>
          </a:p>
        </p:txBody>
      </p:sp>
      <p:sp>
        <p:nvSpPr>
          <p:cNvPr id="7" name="fact-1-card"/>
          <p:cNvSpPr/>
          <p:nvPr/>
        </p:nvSpPr>
        <p:spPr>
          <a:xfrm>
            <a:off x="2428189" y="1371600"/>
            <a:ext cx="1696669" cy="1463040"/>
          </a:xfrm>
          <a:prstGeom prst="roundRect">
            <a:avLst>
              <a:gd name="adj" fmla="val 7500"/>
            </a:avLst>
          </a:prstGeom>
          <a:solidFill>
            <a:schemeClr val="bg2"/>
          </a:solidFill>
          <a:ln/>
        </p:spPr>
      </p:sp>
      <p:sp>
        <p:nvSpPr>
          <p:cNvPr id="8" name="fact-1-value"/>
          <p:cNvSpPr txBox="1"/>
          <p:nvPr/>
        </p:nvSpPr>
        <p:spPr>
          <a:xfrm>
            <a:off x="2592781" y="1481328"/>
            <a:ext cx="1367485" cy="502920"/>
          </a:xfrm>
          <a:prstGeom prst="rect">
            <a:avLst/>
          </a:prstGeom>
          <a:noFill/>
          <a:ln/>
        </p:spPr>
        <p:txBody>
          <a:bodyPr wrap="square" lIns="0" tIns="0" rIns="0" bIns="0" rtlCol="0" anchor="t"/>
          <a:lstStyle/>
          <a:p>
            <a:pPr indent="0" marL="0">
              <a:buNone/>
            </a:pPr>
            <a:r>
              <a:rPr lang="en-US" sz="2400" b="1" dirty="0">
                <a:solidFill>
                  <a:schemeClr val="tx1"/>
                </a:solidFill>
              </a:rPr>
              <a:t>105</a:t>
            </a:r>
            <a:endParaRPr lang="en-US" sz="2400" dirty="0"/>
          </a:p>
        </p:txBody>
      </p:sp>
      <p:sp>
        <p:nvSpPr>
          <p:cNvPr id="9" name="fact-1-label"/>
          <p:cNvSpPr txBox="1"/>
          <p:nvPr/>
        </p:nvSpPr>
        <p:spPr>
          <a:xfrm>
            <a:off x="2592781" y="1993392"/>
            <a:ext cx="1367485" cy="777240"/>
          </a:xfrm>
          <a:prstGeom prst="rect">
            <a:avLst/>
          </a:prstGeom>
          <a:noFill/>
          <a:ln/>
        </p:spPr>
        <p:txBody>
          <a:bodyPr wrap="square" lIns="0" tIns="0" rIns="0" bIns="0" rtlCol="0" anchor="t"/>
          <a:lstStyle/>
          <a:p>
            <a:pPr indent="0" marL="0">
              <a:buNone/>
            </a:pPr>
            <a:r>
              <a:rPr lang="en-US" sz="1200" dirty="0">
                <a:solidFill>
                  <a:schemeClr val="tx2"/>
                </a:solidFill>
              </a:rPr>
              <a:t>features carried over and checked</a:t>
            </a:r>
            <a:endParaRPr lang="en-US" sz="1200" dirty="0"/>
          </a:p>
        </p:txBody>
      </p:sp>
      <p:sp>
        <p:nvSpPr>
          <p:cNvPr id="10" name="fact-2-card"/>
          <p:cNvSpPr/>
          <p:nvPr/>
        </p:nvSpPr>
        <p:spPr>
          <a:xfrm>
            <a:off x="4307738" y="1371600"/>
            <a:ext cx="1696669" cy="1463040"/>
          </a:xfrm>
          <a:prstGeom prst="roundRect">
            <a:avLst>
              <a:gd name="adj" fmla="val 7500"/>
            </a:avLst>
          </a:prstGeom>
          <a:solidFill>
            <a:schemeClr val="bg2"/>
          </a:solidFill>
          <a:ln/>
        </p:spPr>
      </p:sp>
      <p:sp>
        <p:nvSpPr>
          <p:cNvPr id="11" name="fact-2-value"/>
          <p:cNvSpPr txBox="1"/>
          <p:nvPr/>
        </p:nvSpPr>
        <p:spPr>
          <a:xfrm>
            <a:off x="4472330" y="1481328"/>
            <a:ext cx="1367485" cy="502920"/>
          </a:xfrm>
          <a:prstGeom prst="rect">
            <a:avLst/>
          </a:prstGeom>
          <a:noFill/>
          <a:ln/>
        </p:spPr>
        <p:txBody>
          <a:bodyPr wrap="square" lIns="0" tIns="0" rIns="0" bIns="0" rtlCol="0" anchor="t"/>
          <a:lstStyle/>
          <a:p>
            <a:pPr indent="0" marL="0">
              <a:buNone/>
            </a:pPr>
            <a:r>
              <a:rPr lang="en-US" sz="2400" b="1" dirty="0">
                <a:solidFill>
                  <a:schemeClr val="tx1"/>
                </a:solidFill>
              </a:rPr>
              <a:t>11</a:t>
            </a:r>
            <a:endParaRPr lang="en-US" sz="2400" dirty="0"/>
          </a:p>
        </p:txBody>
      </p:sp>
      <p:sp>
        <p:nvSpPr>
          <p:cNvPr id="12" name="fact-2-label"/>
          <p:cNvSpPr txBox="1"/>
          <p:nvPr/>
        </p:nvSpPr>
        <p:spPr>
          <a:xfrm>
            <a:off x="4472330" y="1993392"/>
            <a:ext cx="1367485" cy="777240"/>
          </a:xfrm>
          <a:prstGeom prst="rect">
            <a:avLst/>
          </a:prstGeom>
          <a:noFill/>
          <a:ln/>
        </p:spPr>
        <p:txBody>
          <a:bodyPr wrap="square" lIns="0" tIns="0" rIns="0" bIns="0" rtlCol="0" anchor="t"/>
          <a:lstStyle/>
          <a:p>
            <a:pPr indent="0" marL="0">
              <a:buNone/>
            </a:pPr>
            <a:r>
              <a:rPr lang="en-US" sz="1200" dirty="0">
                <a:solidFill>
                  <a:schemeClr val="tx2"/>
                </a:solidFill>
              </a:rPr>
              <a:t>new features, like custom one-pager layouts and slideshow</a:t>
            </a:r>
            <a:endParaRPr lang="en-US" sz="1200" dirty="0"/>
          </a:p>
        </p:txBody>
      </p:sp>
      <p:sp>
        <p:nvSpPr>
          <p:cNvPr id="13" name="fact-3-card"/>
          <p:cNvSpPr/>
          <p:nvPr/>
        </p:nvSpPr>
        <p:spPr>
          <a:xfrm>
            <a:off x="6187288" y="1371600"/>
            <a:ext cx="1696669" cy="1463040"/>
          </a:xfrm>
          <a:prstGeom prst="roundRect">
            <a:avLst>
              <a:gd name="adj" fmla="val 7500"/>
            </a:avLst>
          </a:prstGeom>
          <a:solidFill>
            <a:schemeClr val="bg2"/>
          </a:solidFill>
          <a:ln/>
        </p:spPr>
      </p:sp>
      <p:sp>
        <p:nvSpPr>
          <p:cNvPr id="14" name="fact-3-value"/>
          <p:cNvSpPr txBox="1"/>
          <p:nvPr/>
        </p:nvSpPr>
        <p:spPr>
          <a:xfrm>
            <a:off x="6351880" y="1481328"/>
            <a:ext cx="1367485" cy="502920"/>
          </a:xfrm>
          <a:prstGeom prst="rect">
            <a:avLst/>
          </a:prstGeom>
          <a:noFill/>
          <a:ln/>
        </p:spPr>
        <p:txBody>
          <a:bodyPr wrap="square" lIns="0" tIns="0" rIns="0" bIns="0" rtlCol="0" anchor="t"/>
          <a:lstStyle/>
          <a:p>
            <a:pPr indent="0" marL="0">
              <a:buNone/>
            </a:pPr>
            <a:r>
              <a:rPr lang="en-US" sz="2400" b="1" dirty="0">
                <a:solidFill>
                  <a:schemeClr val="tx1"/>
                </a:solidFill>
              </a:rPr>
              <a:t>Faster</a:t>
            </a:r>
            <a:endParaRPr lang="en-US" sz="2400" dirty="0"/>
          </a:p>
        </p:txBody>
      </p:sp>
      <p:sp>
        <p:nvSpPr>
          <p:cNvPr id="15" name="fact-3-label"/>
          <p:cNvSpPr txBox="1"/>
          <p:nvPr/>
        </p:nvSpPr>
        <p:spPr>
          <a:xfrm>
            <a:off x="6351880" y="1993392"/>
            <a:ext cx="1367485" cy="777240"/>
          </a:xfrm>
          <a:prstGeom prst="rect">
            <a:avLst/>
          </a:prstGeom>
          <a:noFill/>
          <a:ln/>
        </p:spPr>
        <p:txBody>
          <a:bodyPr wrap="square" lIns="0" tIns="0" rIns="0" bIns="0" rtlCol="0" anchor="t"/>
          <a:lstStyle/>
          <a:p>
            <a:pPr indent="0" marL="0">
              <a:buNone/>
            </a:pPr>
            <a:r>
              <a:rPr lang="en-US" sz="1200" dirty="0">
                <a:solidFill>
                  <a:schemeClr val="tx2"/>
                </a:solidFill>
              </a:rPr>
              <a:t>navigation between tabs</a:t>
            </a:r>
            <a:endParaRPr lang="en-US" sz="1200" dirty="0"/>
          </a:p>
        </p:txBody>
      </p:sp>
      <p:sp>
        <p:nvSpPr>
          <p:cNvPr id="16" name="fact-4-card"/>
          <p:cNvSpPr/>
          <p:nvPr/>
        </p:nvSpPr>
        <p:spPr>
          <a:xfrm>
            <a:off x="8066837" y="1371600"/>
            <a:ext cx="1696669" cy="1463040"/>
          </a:xfrm>
          <a:prstGeom prst="roundRect">
            <a:avLst>
              <a:gd name="adj" fmla="val 7500"/>
            </a:avLst>
          </a:prstGeom>
          <a:solidFill>
            <a:schemeClr val="bg2"/>
          </a:solidFill>
          <a:ln/>
        </p:spPr>
      </p:sp>
      <p:sp>
        <p:nvSpPr>
          <p:cNvPr id="17" name="fact-4-value"/>
          <p:cNvSpPr txBox="1"/>
          <p:nvPr/>
        </p:nvSpPr>
        <p:spPr>
          <a:xfrm>
            <a:off x="8231429" y="1481328"/>
            <a:ext cx="1367485" cy="502920"/>
          </a:xfrm>
          <a:prstGeom prst="rect">
            <a:avLst/>
          </a:prstGeom>
          <a:noFill/>
          <a:ln/>
        </p:spPr>
        <p:txBody>
          <a:bodyPr wrap="square" lIns="0" tIns="0" rIns="0" bIns="0" rtlCol="0" anchor="t"/>
          <a:lstStyle/>
          <a:p>
            <a:pPr indent="0" marL="0">
              <a:buNone/>
            </a:pPr>
            <a:r>
              <a:rPr lang="en-US" sz="2400" b="1" dirty="0">
                <a:solidFill>
                  <a:schemeClr val="tx1"/>
                </a:solidFill>
              </a:rPr>
              <a:t>7</a:t>
            </a:r>
            <a:endParaRPr lang="en-US" sz="2400" dirty="0"/>
          </a:p>
        </p:txBody>
      </p:sp>
      <p:sp>
        <p:nvSpPr>
          <p:cNvPr id="18" name="fact-4-label"/>
          <p:cNvSpPr txBox="1"/>
          <p:nvPr/>
        </p:nvSpPr>
        <p:spPr>
          <a:xfrm>
            <a:off x="8231429" y="1993392"/>
            <a:ext cx="1367485" cy="777240"/>
          </a:xfrm>
          <a:prstGeom prst="rect">
            <a:avLst/>
          </a:prstGeom>
          <a:noFill/>
          <a:ln/>
        </p:spPr>
        <p:txBody>
          <a:bodyPr wrap="square" lIns="0" tIns="0" rIns="0" bIns="0" rtlCol="0" anchor="t"/>
          <a:lstStyle/>
          <a:p>
            <a:pPr indent="0" marL="0">
              <a:buNone/>
            </a:pPr>
            <a:r>
              <a:rPr lang="en-US" sz="1200" dirty="0">
                <a:solidFill>
                  <a:schemeClr val="tx2"/>
                </a:solidFill>
              </a:rPr>
              <a:t>security issues found and fixed</a:t>
            </a:r>
            <a:endParaRPr lang="en-US" sz="1200" dirty="0"/>
          </a:p>
        </p:txBody>
      </p:sp>
      <p:sp>
        <p:nvSpPr>
          <p:cNvPr id="19" name="fact-5-card"/>
          <p:cNvSpPr/>
          <p:nvPr/>
        </p:nvSpPr>
        <p:spPr>
          <a:xfrm>
            <a:off x="9946386" y="1371600"/>
            <a:ext cx="1696669" cy="1463040"/>
          </a:xfrm>
          <a:prstGeom prst="roundRect">
            <a:avLst>
              <a:gd name="adj" fmla="val 7500"/>
            </a:avLst>
          </a:prstGeom>
          <a:solidFill>
            <a:schemeClr val="bg2"/>
          </a:solidFill>
          <a:ln/>
        </p:spPr>
      </p:sp>
      <p:sp>
        <p:nvSpPr>
          <p:cNvPr id="20" name="fact-5-value"/>
          <p:cNvSpPr txBox="1"/>
          <p:nvPr/>
        </p:nvSpPr>
        <p:spPr>
          <a:xfrm>
            <a:off x="10110978" y="1481328"/>
            <a:ext cx="1367485" cy="502920"/>
          </a:xfrm>
          <a:prstGeom prst="rect">
            <a:avLst/>
          </a:prstGeom>
          <a:noFill/>
          <a:ln/>
        </p:spPr>
        <p:txBody>
          <a:bodyPr wrap="square" lIns="0" tIns="0" rIns="0" bIns="0" rtlCol="0" anchor="t"/>
          <a:lstStyle/>
          <a:p>
            <a:pPr indent="0" marL="0">
              <a:buNone/>
            </a:pPr>
            <a:r>
              <a:rPr lang="en-US" sz="2400" b="1" dirty="0">
                <a:solidFill>
                  <a:schemeClr val="tx1"/>
                </a:solidFill>
              </a:rPr>
              <a:t>0 → 10</a:t>
            </a:r>
            <a:endParaRPr lang="en-US" sz="2400" dirty="0"/>
          </a:p>
        </p:txBody>
      </p:sp>
      <p:sp>
        <p:nvSpPr>
          <p:cNvPr id="21" name="fact-5-label"/>
          <p:cNvSpPr txBox="1"/>
          <p:nvPr/>
        </p:nvSpPr>
        <p:spPr>
          <a:xfrm>
            <a:off x="10110978" y="1993392"/>
            <a:ext cx="1367485" cy="777240"/>
          </a:xfrm>
          <a:prstGeom prst="rect">
            <a:avLst/>
          </a:prstGeom>
          <a:noFill/>
          <a:ln/>
        </p:spPr>
        <p:txBody>
          <a:bodyPr wrap="square" lIns="0" tIns="0" rIns="0" bIns="0" rtlCol="0" anchor="t"/>
          <a:lstStyle/>
          <a:p>
            <a:pPr indent="0" marL="0">
              <a:buNone/>
            </a:pPr>
            <a:r>
              <a:rPr lang="en-US" sz="1200" dirty="0">
                <a:solidFill>
                  <a:schemeClr val="tx2"/>
                </a:solidFill>
              </a:rPr>
              <a:t>documents for future owners</a:t>
            </a:r>
            <a:endParaRPr lang="en-US" sz="1200" dirty="0"/>
          </a:p>
        </p:txBody>
      </p:sp>
      <p:sp>
        <p:nvSpPr>
          <p:cNvPr id="22" name="cmp2-old"/>
          <p:cNvSpPr/>
          <p:nvPr/>
        </p:nvSpPr>
        <p:spPr>
          <a:xfrm>
            <a:off x="548640" y="3063240"/>
            <a:ext cx="3611880" cy="2697480"/>
          </a:xfrm>
          <a:prstGeom prst="roundRect">
            <a:avLst>
              <a:gd name="adj" fmla="val 4068"/>
            </a:avLst>
          </a:prstGeom>
          <a:solidFill>
            <a:schemeClr val="bg2"/>
          </a:solidFill>
          <a:ln/>
        </p:spPr>
      </p:sp>
      <p:sp>
        <p:nvSpPr>
          <p:cNvPr id="23" name="cmp2-oldtext"/>
          <p:cNvSpPr txBox="1"/>
          <p:nvPr/>
        </p:nvSpPr>
        <p:spPr>
          <a:xfrm>
            <a:off x="777240" y="3246120"/>
            <a:ext cx="3154680" cy="2331720"/>
          </a:xfrm>
          <a:prstGeom prst="rect">
            <a:avLst/>
          </a:prstGeom>
          <a:noFill/>
          <a:ln/>
        </p:spPr>
        <p:txBody>
          <a:bodyPr wrap="square" lIns="0" tIns="0" rIns="0" bIns="0" rtlCol="0" anchor="t"/>
          <a:lstStyle/>
          <a:p>
            <a:pPr indent="0" marL="0">
              <a:spcAft>
                <a:spcPts val="800"/>
              </a:spcAft>
              <a:buNone/>
            </a:pPr>
            <a:r>
              <a:rPr lang="en-US" sz="1100" b="1" spc="100" kern="0" dirty="0">
                <a:solidFill>
                  <a:schemeClr val="tx2"/>
                </a:solidFill>
              </a:rPr>
              <a:t>BEFORE: SLATE</a:t>
            </a:r>
            <a:endParaRPr lang="en-US" sz="1100" dirty="0"/>
          </a:p>
          <a:p>
            <a:pPr indent="0" marL="0">
              <a:spcAft>
                <a:spcPts val="800"/>
              </a:spcAft>
              <a:buNone/>
            </a:pPr>
            <a:r>
              <a:rPr lang="en-US" sz="600" dirty="0">
                <a:solidFill>
                  <a:srgbClr val="000000"/>
                </a:solidFill>
              </a:rPr>
              <a:t> </a:t>
            </a:r>
            <a:endParaRPr lang="en-US" sz="1100" dirty="0"/>
          </a:p>
          <a:p>
            <a:pPr marL="342900" indent="-342900">
              <a:spcAft>
                <a:spcPts val="800"/>
              </a:spcAft>
              <a:buSzPct val="100000"/>
              <a:buChar char="•"/>
            </a:pPr>
            <a:r>
              <a:rPr lang="en-US" sz="1500" dirty="0">
                <a:solidFill>
                  <a:schemeClr val="tx1"/>
                </a:solidFill>
              </a:rPr>
              <a:t>Every change was risky and slow</a:t>
            </a:r>
            <a:endParaRPr lang="en-US" sz="1100" dirty="0"/>
          </a:p>
          <a:p>
            <a:pPr marL="342900" indent="-342900">
              <a:spcAft>
                <a:spcPts val="800"/>
              </a:spcAft>
              <a:buSzPct val="100000"/>
              <a:buChar char="•"/>
            </a:pPr>
            <a:r>
              <a:rPr lang="en-US" sz="1500" dirty="0">
                <a:solidFill>
                  <a:schemeClr val="tx1"/>
                </a:solidFill>
              </a:rPr>
              <a:t>One fix could break another dashboard</a:t>
            </a:r>
            <a:endParaRPr lang="en-US" sz="1100" dirty="0"/>
          </a:p>
          <a:p>
            <a:pPr marL="342900" indent="-342900">
              <a:spcAft>
                <a:spcPts val="800"/>
              </a:spcAft>
              <a:buSzPct val="100000"/>
              <a:buChar char="•"/>
            </a:pPr>
            <a:r>
              <a:rPr lang="en-US" sz="1500" dirty="0">
                <a:solidFill>
                  <a:schemeClr val="tx1"/>
                </a:solidFill>
              </a:rPr>
              <a:t>Knowledge lived in a few heads</a:t>
            </a:r>
            <a:endParaRPr lang="en-US" sz="1100" dirty="0"/>
          </a:p>
        </p:txBody>
      </p:sp>
      <p:sp>
        <p:nvSpPr>
          <p:cNvPr id="24" name="cmp2-new"/>
          <p:cNvSpPr/>
          <p:nvPr/>
        </p:nvSpPr>
        <p:spPr>
          <a:xfrm>
            <a:off x="4389120" y="3063240"/>
            <a:ext cx="3611880" cy="2697480"/>
          </a:xfrm>
          <a:prstGeom prst="roundRect">
            <a:avLst>
              <a:gd name="adj" fmla="val 4068"/>
            </a:avLst>
          </a:prstGeom>
          <a:solidFill>
            <a:schemeClr val="tx1"/>
          </a:solidFill>
          <a:ln/>
        </p:spPr>
      </p:sp>
      <p:sp>
        <p:nvSpPr>
          <p:cNvPr id="25" name="cmp2-newtext"/>
          <p:cNvSpPr txBox="1"/>
          <p:nvPr/>
        </p:nvSpPr>
        <p:spPr>
          <a:xfrm>
            <a:off x="4617720" y="3246120"/>
            <a:ext cx="3154680" cy="2331720"/>
          </a:xfrm>
          <a:prstGeom prst="rect">
            <a:avLst/>
          </a:prstGeom>
          <a:noFill/>
          <a:ln/>
        </p:spPr>
        <p:txBody>
          <a:bodyPr wrap="square" lIns="0" tIns="0" rIns="0" bIns="0" rtlCol="0" anchor="t"/>
          <a:lstStyle/>
          <a:p>
            <a:pPr indent="0" marL="0">
              <a:spcAft>
                <a:spcPts val="800"/>
              </a:spcAft>
              <a:buNone/>
            </a:pPr>
            <a:r>
              <a:rPr lang="en-US" sz="1100" b="1" spc="100" kern="0" dirty="0">
                <a:solidFill>
                  <a:schemeClr val="accent5"/>
                </a:solidFill>
              </a:rPr>
              <a:t>AFTER: ERM 2.0</a:t>
            </a:r>
            <a:endParaRPr lang="en-US" sz="1100" dirty="0"/>
          </a:p>
          <a:p>
            <a:pPr indent="0" marL="0">
              <a:spcAft>
                <a:spcPts val="800"/>
              </a:spcAft>
              <a:buNone/>
            </a:pPr>
            <a:r>
              <a:rPr lang="en-US" sz="600" dirty="0">
                <a:solidFill>
                  <a:srgbClr val="000000"/>
                </a:solidFill>
              </a:rPr>
              <a:t> </a:t>
            </a:r>
            <a:endParaRPr lang="en-US" sz="1100" dirty="0"/>
          </a:p>
          <a:p>
            <a:pPr marL="342900" indent="-342900">
              <a:spcAft>
                <a:spcPts val="800"/>
              </a:spcAft>
              <a:buSzPct val="100000"/>
              <a:buChar char="•"/>
            </a:pPr>
            <a:r>
              <a:rPr lang="en-US" sz="1500" dirty="0">
                <a:solidFill>
                  <a:schemeClr val="bg1"/>
                </a:solidFill>
              </a:rPr>
              <a:t>Each feature stands alone: changes are quick and safe</a:t>
            </a:r>
            <a:endParaRPr lang="en-US" sz="1100" dirty="0"/>
          </a:p>
          <a:p>
            <a:pPr marL="342900" indent="-342900">
              <a:spcAft>
                <a:spcPts val="800"/>
              </a:spcAft>
              <a:buSzPct val="100000"/>
              <a:buChar char="•"/>
            </a:pPr>
            <a:r>
              <a:rPr lang="en-US" sz="1500" dirty="0">
                <a:solidFill>
                  <a:schemeClr val="bg1"/>
                </a:solidFill>
              </a:rPr>
              <a:t>Faster, smoother navigation</a:t>
            </a:r>
            <a:endParaRPr lang="en-US" sz="1100" dirty="0"/>
          </a:p>
          <a:p>
            <a:pPr marL="342900" indent="-342900">
              <a:spcAft>
                <a:spcPts val="800"/>
              </a:spcAft>
              <a:buSzPct val="100000"/>
              <a:buChar char="•"/>
            </a:pPr>
            <a:r>
              <a:rPr lang="en-US" sz="1500" dirty="0">
                <a:solidFill>
                  <a:schemeClr val="bg1"/>
                </a:solidFill>
              </a:rPr>
              <a:t>Documented, on a standard stack any team can pick up</a:t>
            </a:r>
            <a:endParaRPr lang="en-US" sz="1100" dirty="0"/>
          </a:p>
        </p:txBody>
      </p:sp>
      <p:sp>
        <p:nvSpPr>
          <p:cNvPr id="26" name="money-card"/>
          <p:cNvSpPr/>
          <p:nvPr/>
        </p:nvSpPr>
        <p:spPr>
          <a:xfrm>
            <a:off x="8229600" y="3063240"/>
            <a:ext cx="3413455" cy="2697480"/>
          </a:xfrm>
          <a:prstGeom prst="roundRect">
            <a:avLst>
              <a:gd name="adj" fmla="val 4068"/>
            </a:avLst>
          </a:prstGeom>
          <a:solidFill>
            <a:schemeClr val="accent4"/>
          </a:solidFill>
          <a:ln/>
        </p:spPr>
      </p:sp>
      <p:sp>
        <p:nvSpPr>
          <p:cNvPr id="27" name="money-text"/>
          <p:cNvSpPr txBox="1"/>
          <p:nvPr/>
        </p:nvSpPr>
        <p:spPr>
          <a:xfrm>
            <a:off x="8458200" y="3200400"/>
            <a:ext cx="2956255" cy="2423160"/>
          </a:xfrm>
          <a:prstGeom prst="rect">
            <a:avLst/>
          </a:prstGeom>
          <a:noFill/>
          <a:ln/>
        </p:spPr>
        <p:txBody>
          <a:bodyPr wrap="square" lIns="0" tIns="0" rIns="0" bIns="0" rtlCol="0" anchor="ctr"/>
          <a:lstStyle/>
          <a:p>
            <a:pPr indent="0" marL="0">
              <a:buNone/>
            </a:pPr>
            <a:r>
              <a:rPr lang="en-US" sz="7200" b="1" dirty="0">
                <a:solidFill>
                  <a:schemeClr val="bg1"/>
                </a:solidFill>
              </a:rPr>
              <a:t>~76%</a:t>
            </a:r>
            <a:endParaRPr lang="en-US" sz="7200" dirty="0"/>
          </a:p>
          <a:p>
            <a:pPr indent="0" marL="0">
              <a:buNone/>
            </a:pPr>
            <a:r>
              <a:rPr lang="en-US" sz="1600" b="1" dirty="0">
                <a:solidFill>
                  <a:schemeClr val="bg1"/>
                </a:solidFill>
              </a:rPr>
              <a:t>less effort than a manual migration</a:t>
            </a:r>
            <a:endParaRPr lang="en-US" sz="7200" dirty="0"/>
          </a:p>
          <a:p>
            <a:pPr indent="0" marL="0">
              <a:buNone/>
            </a:pPr>
            <a:r>
              <a:rPr lang="en-US" sz="1200" dirty="0">
                <a:solidFill>
                  <a:srgbClr val="000000"/>
                </a:solidFill>
              </a:rPr>
              <a:t> </a:t>
            </a:r>
            <a:endParaRPr lang="en-US" sz="7200" dirty="0"/>
          </a:p>
          <a:p>
            <a:pPr indent="0" marL="0">
              <a:buNone/>
            </a:pPr>
            <a:r>
              <a:rPr lang="en-US" sz="1300" dirty="0">
                <a:solidFill>
                  <a:schemeClr val="accent5"/>
                </a:solidFill>
              </a:rPr>
              <a:t>≈ $80K saved on the build</a:t>
            </a:r>
            <a:endParaRPr lang="en-US" sz="7200" dirty="0"/>
          </a:p>
          <a:p>
            <a:pPr indent="0" marL="0">
              <a:buNone/>
            </a:pPr>
            <a:r>
              <a:rPr lang="en-US" sz="1300" dirty="0">
                <a:solidFill>
                  <a:schemeClr val="accent5"/>
                </a:solidFill>
              </a:rPr>
              <a:t>≈ $10K a year less maintenance</a:t>
            </a:r>
            <a:endParaRPr lang="en-US" sz="7200" dirty="0"/>
          </a:p>
        </p:txBody>
      </p:sp>
      <p:sp>
        <p:nvSpPr>
          <p:cNvPr id="28" name="proof-foot"/>
          <p:cNvSpPr txBox="1"/>
          <p:nvPr/>
        </p:nvSpPr>
        <p:spPr>
          <a:xfrm>
            <a:off x="548640" y="5897880"/>
            <a:ext cx="11094415" cy="502920"/>
          </a:xfrm>
          <a:prstGeom prst="rect">
            <a:avLst/>
          </a:prstGeom>
          <a:noFill/>
          <a:ln/>
        </p:spPr>
        <p:txBody>
          <a:bodyPr wrap="square" lIns="0" tIns="0" rIns="0" bIns="0" rtlCol="0" anchor="t"/>
          <a:lstStyle/>
          <a:p>
            <a:pPr indent="0" marL="0">
              <a:buNone/>
            </a:pPr>
            <a:r>
              <a:rPr lang="en-US" sz="1100" i="1" dirty="0">
                <a:solidFill>
                  <a:schemeClr val="tx2"/>
                </a:solidFill>
              </a:rPr>
              <a:t>Estimates at $38.50 per developer hour: 4 sprints (≈ $25K) actual against ~17 sprints (≈ $105K) for a manual migration. Maintenance: ~20% of build effort a year (≈ $21K), assumed halved by modular, documented code.</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8" fill="hold">
                      <p:stCondLst>
                        <p:cond delay="indefinite"/>
                        <p:cond evt="onBegin" delay="0">
                          <p:tn val="2"/>
                        </p:cond>
                      </p:stCondLst>
                      <p:childTnLst>
                        <p:par>
                          <p:cTn id="1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childTnLst>
                          </p:cTn>
                        </p:par>
                        <p:par>
                          <p:cTn id="22" fill="hold">
                            <p:stCondLst>
                              <p:cond delay="3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childTnLst>
                          </p:cTn>
                        </p:par>
                        <p:par>
                          <p:cTn id="32" fill="hold">
                            <p:stCondLst>
                              <p:cond delay="600"/>
                            </p:stCondLst>
                            <p:childTnLst>
                              <p:par>
                                <p:cTn id="23" presetID="10" presetClass="entr" presetSubtype="0"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childTnLst>
                          </p:cTn>
                        </p:par>
                        <p:par>
                          <p:cTn id="42" fill="hold">
                            <p:stCondLst>
                              <p:cond delay="900"/>
                            </p:stCondLst>
                            <p:childTnLst>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childTnLst>
                          </p:cTn>
                        </p:par>
                        <p:par>
                          <p:cTn id="52" fill="hold">
                            <p:stCondLst>
                              <p:cond delay="1200"/>
                            </p:stCondLst>
                            <p:childTnLst>
                              <p:par>
                                <p:cTn id="43" presetID="10" presetClass="entr" presetSubtype="0" fill="hold" grpId="0"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childTnLst>
                          </p:cTn>
                        </p:par>
                        <p:par>
                          <p:cTn id="62" fill="hold">
                            <p:stCondLst>
                              <p:cond delay="1500"/>
                            </p:stCondLst>
                            <p:childTnLst>
                              <p:par>
                                <p:cTn id="53" presetID="10"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5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5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50"/>
                                        <p:tgtEl>
                                          <p:spTgt spid="21"/>
                                        </p:tgtEl>
                                      </p:cBhvr>
                                    </p:animEffect>
                                  </p:childTnLst>
                                </p:cTn>
                              </p:par>
                            </p:childTnLst>
                          </p:cTn>
                        </p:par>
                        <p:par>
                          <p:cTn id="69" fill="hold">
                            <p:stCondLst>
                              <p:cond delay="1800"/>
                            </p:stCondLst>
                            <p:childTnLst>
                              <p:par>
                                <p:cTn id="63" presetID="10" presetClass="entr" presetSubtype="0" fill="hold" grpId="0" nodeType="after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450"/>
                                        <p:tgtEl>
                                          <p:spTgt spid="2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450"/>
                                        <p:tgtEl>
                                          <p:spTgt spid="23"/>
                                        </p:tgtEl>
                                      </p:cBhvr>
                                    </p:animEffect>
                                  </p:childTnLst>
                                </p:cTn>
                              </p:par>
                            </p:childTnLst>
                          </p:cTn>
                        </p:par>
                        <p:par>
                          <p:cTn id="76" fill="hold">
                            <p:stCondLst>
                              <p:cond delay="2100"/>
                            </p:stCondLst>
                            <p:childTnLst>
                              <p:par>
                                <p:cTn id="70" presetID="22" presetClass="entr" presetSubtype="8" fill="hold" grpId="0" nodeType="after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wipe(left)">
                                      <p:cBhvr>
                                        <p:cTn id="72" dur="450"/>
                                        <p:tgtEl>
                                          <p:spTgt spid="24"/>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wipe(left)">
                                      <p:cBhvr>
                                        <p:cTn id="75" dur="450"/>
                                        <p:tgtEl>
                                          <p:spTgt spid="25"/>
                                        </p:tgtEl>
                                      </p:cBhvr>
                                    </p:animEffect>
                                  </p:childTnLst>
                                </p:cTn>
                              </p:par>
                            </p:childTnLst>
                          </p:cTn>
                        </p:par>
                        <p:par>
                          <p:cTn id="83" fill="hold">
                            <p:stCondLst>
                              <p:cond delay="2400"/>
                            </p:stCondLst>
                            <p:childTnLst>
                              <p:par>
                                <p:cTn id="77" presetID="10" presetClass="entr" presetSubtype="0" fill="hold" grpId="0" nodeType="after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450"/>
                                        <p:tgtEl>
                                          <p:spTgt spid="26"/>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450"/>
                                        <p:tgtEl>
                                          <p:spTgt spid="27"/>
                                        </p:tgtEl>
                                      </p:cBhvr>
                                    </p:animEffect>
                                  </p:childTnLst>
                                </p:cTn>
                              </p:par>
                            </p:childTnLst>
                          </p:cTn>
                        </p:par>
                        <p:par>
                          <p:cTn id="87" fill="hold">
                            <p:stCondLst>
                              <p:cond delay="2700"/>
                            </p:stCondLst>
                            <p:childTnLst>
                              <p:par>
                                <p:cTn id="84" presetID="10" presetClass="entr" presetSubtype="0" fill="hold" grpId="0" nodeType="after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VOICE OF THE BUSINESS</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What the business says</a:t>
            </a:r>
            <a:endParaRPr lang="en-US" sz="3600" dirty="0"/>
          </a:p>
        </p:txBody>
      </p:sp>
      <p:sp>
        <p:nvSpPr>
          <p:cNvPr id="4" name="quote-sub"/>
          <p:cNvSpPr txBox="1"/>
          <p:nvPr/>
        </p:nvSpPr>
        <p:spPr>
          <a:xfrm>
            <a:off x="548640" y="1115568"/>
            <a:ext cx="11094415" cy="320040"/>
          </a:xfrm>
          <a:prstGeom prst="rect">
            <a:avLst/>
          </a:prstGeom>
          <a:noFill/>
          <a:ln/>
        </p:spPr>
        <p:txBody>
          <a:bodyPr wrap="square" lIns="0" tIns="0" rIns="0" bIns="0" rtlCol="0" anchor="t"/>
          <a:lstStyle/>
          <a:p>
            <a:pPr indent="0" marL="0">
              <a:buNone/>
            </a:pPr>
            <a:r>
              <a:rPr lang="en-US" sz="1400" dirty="0">
                <a:solidFill>
                  <a:schemeClr val="tx2"/>
                </a:solidFill>
              </a:rPr>
              <a:t>Feedback from ERM business stakeholders, September 2026</a:t>
            </a:r>
            <a:endParaRPr lang="en-US" sz="1400" dirty="0"/>
          </a:p>
        </p:txBody>
      </p:sp>
      <p:sp>
        <p:nvSpPr>
          <p:cNvPr id="5" name="quote-0-card"/>
          <p:cNvSpPr/>
          <p:nvPr/>
        </p:nvSpPr>
        <p:spPr>
          <a:xfrm>
            <a:off x="548640" y="1645920"/>
            <a:ext cx="3515258" cy="4480560"/>
          </a:xfrm>
          <a:prstGeom prst="roundRect">
            <a:avLst>
              <a:gd name="adj" fmla="val 3121"/>
            </a:avLst>
          </a:prstGeom>
          <a:solidFill>
            <a:schemeClr val="tx1"/>
          </a:solidFill>
          <a:ln/>
        </p:spPr>
      </p:sp>
      <p:sp>
        <p:nvSpPr>
          <p:cNvPr id="6" name="quote-0-mark"/>
          <p:cNvSpPr txBox="1"/>
          <p:nvPr/>
        </p:nvSpPr>
        <p:spPr>
          <a:xfrm>
            <a:off x="822960" y="1783080"/>
            <a:ext cx="914400" cy="731520"/>
          </a:xfrm>
          <a:prstGeom prst="rect">
            <a:avLst/>
          </a:prstGeom>
          <a:noFill/>
          <a:ln/>
        </p:spPr>
        <p:txBody>
          <a:bodyPr wrap="square" lIns="0" tIns="0" rIns="0" bIns="0" rtlCol="0" anchor="t"/>
          <a:lstStyle/>
          <a:p>
            <a:pPr indent="0" marL="0">
              <a:buNone/>
            </a:pPr>
            <a:r>
              <a:rPr lang="en-US" sz="6000" b="1" dirty="0">
                <a:solidFill>
                  <a:schemeClr val="accent5"/>
                </a:solidFill>
              </a:rPr>
              <a:t>“</a:t>
            </a:r>
            <a:endParaRPr lang="en-US" sz="6000" dirty="0"/>
          </a:p>
        </p:txBody>
      </p:sp>
      <p:sp>
        <p:nvSpPr>
          <p:cNvPr id="7" name="quote-0-text"/>
          <p:cNvSpPr txBox="1"/>
          <p:nvPr/>
        </p:nvSpPr>
        <p:spPr>
          <a:xfrm>
            <a:off x="822960" y="2514600"/>
            <a:ext cx="2966618" cy="2606040"/>
          </a:xfrm>
          <a:prstGeom prst="rect">
            <a:avLst/>
          </a:prstGeom>
          <a:noFill/>
          <a:ln/>
        </p:spPr>
        <p:txBody>
          <a:bodyPr wrap="square" lIns="0" tIns="0" rIns="0" bIns="0" rtlCol="0" anchor="t"/>
          <a:lstStyle/>
          <a:p>
            <a:pPr indent="0" marL="0">
              <a:buNone/>
            </a:pPr>
            <a:r>
              <a:rPr lang="en-US" sz="1800" i="1" dirty="0">
                <a:solidFill>
                  <a:schemeClr val="bg1"/>
                </a:solidFill>
              </a:rPr>
              <a:t>Thanks to a mix of regular teamwork with the business and strong IT skills, they have turned an idea into a user-friendly industrial [solution]… User interface and performance have significantly improved.</a:t>
            </a:r>
            <a:endParaRPr lang="en-US" sz="1800" dirty="0"/>
          </a:p>
        </p:txBody>
      </p:sp>
      <p:sp>
        <p:nvSpPr>
          <p:cNvPr id="8" name="quote-0-who"/>
          <p:cNvSpPr txBox="1"/>
          <p:nvPr/>
        </p:nvSpPr>
        <p:spPr>
          <a:xfrm>
            <a:off x="822960" y="5166360"/>
            <a:ext cx="2966618" cy="731520"/>
          </a:xfrm>
          <a:prstGeom prst="rect">
            <a:avLst/>
          </a:prstGeom>
          <a:noFill/>
          <a:ln/>
        </p:spPr>
        <p:txBody>
          <a:bodyPr wrap="square" lIns="0" tIns="0" rIns="0" bIns="0" rtlCol="0" anchor="b"/>
          <a:lstStyle/>
          <a:p>
            <a:pPr indent="0" marL="0">
              <a:buNone/>
            </a:pPr>
            <a:r>
              <a:rPr lang="en-US" sz="1400" b="1" dirty="0">
                <a:solidFill>
                  <a:schemeClr val="bg1"/>
                </a:solidFill>
              </a:rPr>
              <a:t>ERM Centre of Competence</a:t>
            </a:r>
            <a:endParaRPr lang="en-US" sz="1400" dirty="0"/>
          </a:p>
          <a:p>
            <a:pPr indent="0" marL="0">
              <a:buNone/>
            </a:pPr>
            <a:r>
              <a:rPr lang="en-US" sz="1200" dirty="0">
                <a:solidFill>
                  <a:schemeClr val="accent5"/>
                </a:solidFill>
              </a:rPr>
              <a:t>[Name]</a:t>
            </a:r>
            <a:endParaRPr lang="en-US" sz="1400" dirty="0"/>
          </a:p>
        </p:txBody>
      </p:sp>
      <p:sp>
        <p:nvSpPr>
          <p:cNvPr id="9" name="quote-1-card"/>
          <p:cNvSpPr/>
          <p:nvPr/>
        </p:nvSpPr>
        <p:spPr>
          <a:xfrm>
            <a:off x="4338218" y="1645920"/>
            <a:ext cx="3515258" cy="4480560"/>
          </a:xfrm>
          <a:prstGeom prst="roundRect">
            <a:avLst>
              <a:gd name="adj" fmla="val 3121"/>
            </a:avLst>
          </a:prstGeom>
          <a:solidFill>
            <a:schemeClr val="bg1"/>
          </a:solidFill>
          <a:ln/>
        </p:spPr>
      </p:sp>
      <p:sp>
        <p:nvSpPr>
          <p:cNvPr id="10" name="quote-1-mark"/>
          <p:cNvSpPr txBox="1"/>
          <p:nvPr/>
        </p:nvSpPr>
        <p:spPr>
          <a:xfrm>
            <a:off x="4612538" y="1783080"/>
            <a:ext cx="914400" cy="731520"/>
          </a:xfrm>
          <a:prstGeom prst="rect">
            <a:avLst/>
          </a:prstGeom>
          <a:noFill/>
          <a:ln/>
        </p:spPr>
        <p:txBody>
          <a:bodyPr wrap="square" lIns="0" tIns="0" rIns="0" bIns="0" rtlCol="0" anchor="t"/>
          <a:lstStyle/>
          <a:p>
            <a:pPr indent="0" marL="0">
              <a:buNone/>
            </a:pPr>
            <a:r>
              <a:rPr lang="en-US" sz="6000" b="1" dirty="0">
                <a:solidFill>
                  <a:schemeClr val="accent3"/>
                </a:solidFill>
              </a:rPr>
              <a:t>“</a:t>
            </a:r>
            <a:endParaRPr lang="en-US" sz="6000" dirty="0"/>
          </a:p>
        </p:txBody>
      </p:sp>
      <p:sp>
        <p:nvSpPr>
          <p:cNvPr id="11" name="quote-1-text"/>
          <p:cNvSpPr txBox="1"/>
          <p:nvPr/>
        </p:nvSpPr>
        <p:spPr>
          <a:xfrm>
            <a:off x="4612538" y="2514600"/>
            <a:ext cx="2966618" cy="2606040"/>
          </a:xfrm>
          <a:prstGeom prst="rect">
            <a:avLst/>
          </a:prstGeom>
          <a:noFill/>
          <a:ln/>
        </p:spPr>
        <p:txBody>
          <a:bodyPr wrap="square" lIns="0" tIns="0" rIns="0" bIns="0" rtlCol="0" anchor="t"/>
          <a:lstStyle/>
          <a:p>
            <a:pPr indent="0" marL="0">
              <a:buNone/>
            </a:pPr>
            <a:r>
              <a:rPr lang="en-US" sz="1800" i="1" dirty="0">
                <a:solidFill>
                  <a:schemeClr val="tx1"/>
                </a:solidFill>
              </a:rPr>
              <a:t>The Skywise ERM dashboard application is a tremendous addition to our ERM toolset… More and more users regularly prepare and facilitate risks &amp; opportunities reviews with the application.</a:t>
            </a:r>
            <a:endParaRPr lang="en-US" sz="1800" dirty="0"/>
          </a:p>
        </p:txBody>
      </p:sp>
      <p:sp>
        <p:nvSpPr>
          <p:cNvPr id="12" name="quote-1-who"/>
          <p:cNvSpPr txBox="1"/>
          <p:nvPr/>
        </p:nvSpPr>
        <p:spPr>
          <a:xfrm>
            <a:off x="4612538" y="5166360"/>
            <a:ext cx="2966618" cy="731520"/>
          </a:xfrm>
          <a:prstGeom prst="rect">
            <a:avLst/>
          </a:prstGeom>
          <a:noFill/>
          <a:ln/>
        </p:spPr>
        <p:txBody>
          <a:bodyPr wrap="square" lIns="0" tIns="0" rIns="0" bIns="0" rtlCol="0" anchor="b"/>
          <a:lstStyle/>
          <a:p>
            <a:pPr indent="0" marL="0">
              <a:buNone/>
            </a:pPr>
            <a:r>
              <a:rPr lang="en-US" sz="1400" b="1" dirty="0">
                <a:solidFill>
                  <a:schemeClr val="tx1"/>
                </a:solidFill>
              </a:rPr>
              <a:t>ERM Stakeholder</a:t>
            </a:r>
            <a:endParaRPr lang="en-US" sz="1400" dirty="0"/>
          </a:p>
          <a:p>
            <a:pPr indent="0" marL="0">
              <a:buNone/>
            </a:pPr>
            <a:r>
              <a:rPr lang="en-US" sz="1200" dirty="0">
                <a:solidFill>
                  <a:schemeClr val="tx2"/>
                </a:solidFill>
              </a:rPr>
              <a:t>[Name]</a:t>
            </a:r>
            <a:endParaRPr lang="en-US" sz="1400" dirty="0"/>
          </a:p>
        </p:txBody>
      </p:sp>
      <p:sp>
        <p:nvSpPr>
          <p:cNvPr id="13" name="quote-2-card"/>
          <p:cNvSpPr/>
          <p:nvPr/>
        </p:nvSpPr>
        <p:spPr>
          <a:xfrm>
            <a:off x="8127797" y="1645920"/>
            <a:ext cx="3515258" cy="4480560"/>
          </a:xfrm>
          <a:prstGeom prst="roundRect">
            <a:avLst>
              <a:gd name="adj" fmla="val 3121"/>
            </a:avLst>
          </a:prstGeom>
          <a:solidFill>
            <a:schemeClr val="bg1"/>
          </a:solidFill>
          <a:ln/>
        </p:spPr>
      </p:sp>
      <p:sp>
        <p:nvSpPr>
          <p:cNvPr id="14" name="quote-2-mark"/>
          <p:cNvSpPr txBox="1"/>
          <p:nvPr/>
        </p:nvSpPr>
        <p:spPr>
          <a:xfrm>
            <a:off x="8402117" y="1783080"/>
            <a:ext cx="914400" cy="731520"/>
          </a:xfrm>
          <a:prstGeom prst="rect">
            <a:avLst/>
          </a:prstGeom>
          <a:noFill/>
          <a:ln/>
        </p:spPr>
        <p:txBody>
          <a:bodyPr wrap="square" lIns="0" tIns="0" rIns="0" bIns="0" rtlCol="0" anchor="t"/>
          <a:lstStyle/>
          <a:p>
            <a:pPr indent="0" marL="0">
              <a:buNone/>
            </a:pPr>
            <a:r>
              <a:rPr lang="en-US" sz="6000" b="1" dirty="0">
                <a:solidFill>
                  <a:schemeClr val="accent3"/>
                </a:solidFill>
              </a:rPr>
              <a:t>“</a:t>
            </a:r>
            <a:endParaRPr lang="en-US" sz="6000" dirty="0"/>
          </a:p>
        </p:txBody>
      </p:sp>
      <p:sp>
        <p:nvSpPr>
          <p:cNvPr id="15" name="quote-2-text"/>
          <p:cNvSpPr txBox="1"/>
          <p:nvPr/>
        </p:nvSpPr>
        <p:spPr>
          <a:xfrm>
            <a:off x="8402117" y="2514600"/>
            <a:ext cx="2966618" cy="2606040"/>
          </a:xfrm>
          <a:prstGeom prst="rect">
            <a:avLst/>
          </a:prstGeom>
          <a:noFill/>
          <a:ln/>
        </p:spPr>
        <p:txBody>
          <a:bodyPr wrap="square" lIns="0" tIns="0" rIns="0" bIns="0" rtlCol="0" anchor="t"/>
          <a:lstStyle/>
          <a:p>
            <a:pPr indent="0" marL="0">
              <a:buNone/>
            </a:pPr>
            <a:r>
              <a:rPr lang="en-US" sz="1800" i="1" dirty="0">
                <a:solidFill>
                  <a:schemeClr val="tx1"/>
                </a:solidFill>
              </a:rPr>
              <a:t>They built great new features that make navigation easier and give us a much clearer view of our R&amp;O data. Whenever bugs or issues came up, they fixed them quickly and efficiently.</a:t>
            </a:r>
            <a:endParaRPr lang="en-US" sz="1800" dirty="0"/>
          </a:p>
        </p:txBody>
      </p:sp>
      <p:sp>
        <p:nvSpPr>
          <p:cNvPr id="16" name="quote-2-who"/>
          <p:cNvSpPr txBox="1"/>
          <p:nvPr/>
        </p:nvSpPr>
        <p:spPr>
          <a:xfrm>
            <a:off x="8402117" y="5166360"/>
            <a:ext cx="2966618" cy="731520"/>
          </a:xfrm>
          <a:prstGeom prst="rect">
            <a:avLst/>
          </a:prstGeom>
          <a:noFill/>
          <a:ln/>
        </p:spPr>
        <p:txBody>
          <a:bodyPr wrap="square" lIns="0" tIns="0" rIns="0" bIns="0" rtlCol="0" anchor="b"/>
          <a:lstStyle/>
          <a:p>
            <a:pPr indent="0" marL="0">
              <a:buNone/>
            </a:pPr>
            <a:r>
              <a:rPr lang="en-US" sz="1400" b="1" dirty="0">
                <a:solidFill>
                  <a:schemeClr val="tx1"/>
                </a:solidFill>
              </a:rPr>
              <a:t>Risk and Opportunity Manager</a:t>
            </a:r>
            <a:endParaRPr lang="en-US" sz="1400" dirty="0"/>
          </a:p>
          <a:p>
            <a:pPr indent="0" marL="0">
              <a:buNone/>
            </a:pPr>
            <a:r>
              <a:rPr lang="en-US" sz="1200" dirty="0">
                <a:solidFill>
                  <a:schemeClr val="tx2"/>
                </a:solidFill>
              </a:rPr>
              <a:t>[Name]</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childTnLst>
                          </p:cTn>
                        </p:par>
                        <p:par>
                          <p:cTn id="19" fill="hold">
                            <p:stCondLst>
                              <p:cond delay="600"/>
                            </p:stCondLst>
                            <p:childTnLst>
                              <p:par>
                                <p:cTn id="7" presetID="10" presetClass="entr" presetSubtype="0" fill="hold" grpId="0" nodeType="after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childTnLst>
                          </p:cTn>
                        </p:par>
                        <p:par>
                          <p:cTn id="32" fill="hold">
                            <p:stCondLst>
                              <p:cond delay="1200"/>
                            </p:stCondLst>
                            <p:childTnLst>
                              <p:par>
                                <p:cTn id="20" presetID="10" presetClass="entr" presetSubtype="0"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childTnLst>
                          </p:cTn>
                        </p:par>
                        <p:par>
                          <p:cTn id="45" fill="hold">
                            <p:stCondLst>
                              <p:cond delay="1800"/>
                            </p:stCondLst>
                            <p:childTnLst>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STRATEGIC FIT</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Four 2026 objectives, one team effort</a:t>
            </a:r>
            <a:endParaRPr lang="en-US" sz="3600" dirty="0"/>
          </a:p>
        </p:txBody>
      </p:sp>
      <p:sp>
        <p:nvSpPr>
          <p:cNvPr id="4" name="flowhead-src"/>
          <p:cNvSpPr txBox="1"/>
          <p:nvPr/>
        </p:nvSpPr>
        <p:spPr>
          <a:xfrm>
            <a:off x="548640" y="1325880"/>
            <a:ext cx="2377440" cy="274320"/>
          </a:xfrm>
          <a:prstGeom prst="rect">
            <a:avLst/>
          </a:prstGeom>
          <a:noFill/>
          <a:ln/>
        </p:spPr>
        <p:txBody>
          <a:bodyPr wrap="square" lIns="0" tIns="0" rIns="0" bIns="0" rtlCol="0" anchor="t"/>
          <a:lstStyle/>
          <a:p>
            <a:pPr indent="0" marL="0">
              <a:buNone/>
            </a:pPr>
            <a:r>
              <a:rPr lang="en-US" sz="1100" b="1" spc="100" kern="0" dirty="0">
                <a:solidFill>
                  <a:schemeClr val="tx2"/>
                </a:solidFill>
              </a:rPr>
              <a:t>OUR PROJECT</a:t>
            </a:r>
            <a:endParaRPr lang="en-US" sz="1100" dirty="0"/>
          </a:p>
        </p:txBody>
      </p:sp>
      <p:sp>
        <p:nvSpPr>
          <p:cNvPr id="5" name="flowhead-ev"/>
          <p:cNvSpPr txBox="1"/>
          <p:nvPr/>
        </p:nvSpPr>
        <p:spPr>
          <a:xfrm>
            <a:off x="3429000" y="1325880"/>
            <a:ext cx="4069080" cy="274320"/>
          </a:xfrm>
          <a:prstGeom prst="rect">
            <a:avLst/>
          </a:prstGeom>
          <a:noFill/>
          <a:ln/>
        </p:spPr>
        <p:txBody>
          <a:bodyPr wrap="square" lIns="0" tIns="0" rIns="0" bIns="0" rtlCol="0" anchor="t"/>
          <a:lstStyle/>
          <a:p>
            <a:pPr indent="0" marL="0">
              <a:buNone/>
            </a:pPr>
            <a:r>
              <a:rPr lang="en-US" sz="1100" b="1" spc="100" kern="0" dirty="0">
                <a:solidFill>
                  <a:schemeClr val="tx2"/>
                </a:solidFill>
              </a:rPr>
              <a:t>EVIDENCE</a:t>
            </a:r>
            <a:endParaRPr lang="en-US" sz="1100" dirty="0"/>
          </a:p>
        </p:txBody>
      </p:sp>
      <p:sp>
        <p:nvSpPr>
          <p:cNvPr id="6" name="flowhead-obj"/>
          <p:cNvSpPr txBox="1"/>
          <p:nvPr/>
        </p:nvSpPr>
        <p:spPr>
          <a:xfrm>
            <a:off x="8001000" y="1325880"/>
            <a:ext cx="3639312" cy="274320"/>
          </a:xfrm>
          <a:prstGeom prst="rect">
            <a:avLst/>
          </a:prstGeom>
          <a:noFill/>
          <a:ln/>
        </p:spPr>
        <p:txBody>
          <a:bodyPr wrap="square" lIns="0" tIns="0" rIns="0" bIns="0" rtlCol="0" anchor="t"/>
          <a:lstStyle/>
          <a:p>
            <a:pPr indent="0" marL="0">
              <a:buNone/>
            </a:pPr>
            <a:r>
              <a:rPr lang="en-US" sz="1100" b="1" spc="100" kern="0" dirty="0">
                <a:solidFill>
                  <a:schemeClr val="tx2"/>
                </a:solidFill>
              </a:rPr>
              <a:t>2026 OBJECTIVE</a:t>
            </a:r>
            <a:endParaRPr lang="en-US" sz="1100" dirty="0"/>
          </a:p>
        </p:txBody>
      </p:sp>
      <p:sp>
        <p:nvSpPr>
          <p:cNvPr id="7" name="flow-src-box"/>
          <p:cNvSpPr/>
          <p:nvPr/>
        </p:nvSpPr>
        <p:spPr>
          <a:xfrm>
            <a:off x="548640" y="1691640"/>
            <a:ext cx="2377440" cy="3602736"/>
          </a:xfrm>
          <a:prstGeom prst="roundRect">
            <a:avLst>
              <a:gd name="adj" fmla="val 4615"/>
            </a:avLst>
          </a:prstGeom>
          <a:solidFill>
            <a:schemeClr val="accent4"/>
          </a:solidFill>
          <a:ln/>
        </p:spPr>
      </p:sp>
      <p:sp>
        <p:nvSpPr>
          <p:cNvPr id="8" name="flow-src-text"/>
          <p:cNvSpPr txBox="1"/>
          <p:nvPr/>
        </p:nvSpPr>
        <p:spPr>
          <a:xfrm>
            <a:off x="777240" y="1965960"/>
            <a:ext cx="1920240" cy="3054096"/>
          </a:xfrm>
          <a:prstGeom prst="rect">
            <a:avLst/>
          </a:prstGeom>
          <a:noFill/>
          <a:ln/>
        </p:spPr>
        <p:txBody>
          <a:bodyPr wrap="square" lIns="0" tIns="0" rIns="0" bIns="0" rtlCol="0" anchor="ctr"/>
          <a:lstStyle/>
          <a:p>
            <a:pPr indent="0" marL="0">
              <a:buNone/>
            </a:pPr>
            <a:r>
              <a:rPr lang="en-US" sz="2400" b="1" dirty="0">
                <a:solidFill>
                  <a:schemeClr val="bg1"/>
                </a:solidFill>
              </a:rPr>
              <a:t>ERM 2.0</a:t>
            </a:r>
            <a:endParaRPr lang="en-US" sz="2400" dirty="0"/>
          </a:p>
          <a:p>
            <a:pPr indent="0" marL="0">
              <a:buNone/>
            </a:pPr>
            <a:r>
              <a:rPr lang="en-US" sz="1000" dirty="0">
                <a:solidFill>
                  <a:srgbClr val="000000"/>
                </a:solidFill>
              </a:rPr>
              <a:t> </a:t>
            </a:r>
            <a:endParaRPr lang="en-US" sz="2400" dirty="0"/>
          </a:p>
          <a:p>
            <a:pPr indent="0" marL="0">
              <a:buNone/>
            </a:pPr>
            <a:r>
              <a:rPr lang="en-US" sz="1400" dirty="0">
                <a:solidFill>
                  <a:schemeClr val="bg1"/>
                </a:solidFill>
              </a:rPr>
              <a:t>AI-assisted migration</a:t>
            </a:r>
            <a:endParaRPr lang="en-US" sz="2400" dirty="0"/>
          </a:p>
          <a:p>
            <a:pPr indent="0" marL="0">
              <a:buNone/>
            </a:pPr>
            <a:r>
              <a:rPr lang="en-US" sz="1400" dirty="0">
                <a:solidFill>
                  <a:schemeClr val="bg1"/>
                </a:solidFill>
              </a:rPr>
              <a:t>Slate to React</a:t>
            </a:r>
            <a:endParaRPr lang="en-US" sz="2400" dirty="0"/>
          </a:p>
          <a:p>
            <a:pPr indent="0" marL="0">
              <a:buNone/>
            </a:pPr>
            <a:r>
              <a:rPr lang="en-US" sz="1400" dirty="0">
                <a:solidFill>
                  <a:schemeClr val="bg1"/>
                </a:solidFill>
              </a:rPr>
              <a:t>2 developers · 1 PI</a:t>
            </a:r>
            <a:endParaRPr lang="en-US" sz="2400" dirty="0"/>
          </a:p>
        </p:txBody>
      </p:sp>
      <p:sp>
        <p:nvSpPr>
          <p:cNvPr id="9" name="flow-0-arrow1"/>
          <p:cNvSpPr/>
          <p:nvPr/>
        </p:nvSpPr>
        <p:spPr>
          <a:xfrm>
            <a:off x="2971800" y="2093976"/>
            <a:ext cx="411480" cy="0"/>
          </a:xfrm>
          <a:prstGeom prst="line">
            <a:avLst/>
          </a:prstGeom>
          <a:noFill/>
          <a:ln w="22225">
            <a:solidFill>
              <a:schemeClr val="tx2"/>
            </a:solidFill>
            <a:prstDash val="solid"/>
            <a:tailEnd type="triangle"/>
          </a:ln>
        </p:spPr>
      </p:sp>
      <p:sp>
        <p:nvSpPr>
          <p:cNvPr id="10" name="flow-0-evbox"/>
          <p:cNvSpPr/>
          <p:nvPr/>
        </p:nvSpPr>
        <p:spPr>
          <a:xfrm>
            <a:off x="3429000" y="1691640"/>
            <a:ext cx="4069080" cy="804672"/>
          </a:xfrm>
          <a:prstGeom prst="roundRect">
            <a:avLst>
              <a:gd name="adj" fmla="val 13636"/>
            </a:avLst>
          </a:prstGeom>
          <a:solidFill>
            <a:schemeClr val="bg2"/>
          </a:solidFill>
          <a:ln/>
        </p:spPr>
      </p:sp>
      <p:sp>
        <p:nvSpPr>
          <p:cNvPr id="11" name="flow-0-evtext"/>
          <p:cNvSpPr txBox="1"/>
          <p:nvPr/>
        </p:nvSpPr>
        <p:spPr>
          <a:xfrm>
            <a:off x="3611880" y="1783080"/>
            <a:ext cx="3703320" cy="621792"/>
          </a:xfrm>
          <a:prstGeom prst="rect">
            <a:avLst/>
          </a:prstGeom>
          <a:noFill/>
          <a:ln/>
        </p:spPr>
        <p:txBody>
          <a:bodyPr wrap="square" lIns="0" tIns="0" rIns="0" bIns="0" rtlCol="0" anchor="ctr"/>
          <a:lstStyle/>
          <a:p>
            <a:pPr indent="0" marL="0">
              <a:buNone/>
            </a:pPr>
            <a:r>
              <a:rPr lang="en-US" sz="1300" dirty="0">
                <a:solidFill>
                  <a:schemeClr val="tx1"/>
                </a:solidFill>
              </a:rPr>
              <a:t>AI-assisted migration recovered all 105 features of an undocumented app</a:t>
            </a:r>
            <a:endParaRPr lang="en-US" sz="1300" dirty="0"/>
          </a:p>
        </p:txBody>
      </p:sp>
      <p:sp>
        <p:nvSpPr>
          <p:cNvPr id="12" name="flow-0-arrow2"/>
          <p:cNvSpPr/>
          <p:nvPr/>
        </p:nvSpPr>
        <p:spPr>
          <a:xfrm>
            <a:off x="7543800" y="2093976"/>
            <a:ext cx="411480" cy="0"/>
          </a:xfrm>
          <a:prstGeom prst="line">
            <a:avLst/>
          </a:prstGeom>
          <a:noFill/>
          <a:ln w="22225">
            <a:solidFill>
              <a:schemeClr val="tx2"/>
            </a:solidFill>
            <a:prstDash val="solid"/>
            <a:tailEnd type="triangle"/>
          </a:ln>
        </p:spPr>
      </p:sp>
      <p:sp>
        <p:nvSpPr>
          <p:cNvPr id="13" name="flow-0-objbox"/>
          <p:cNvSpPr/>
          <p:nvPr/>
        </p:nvSpPr>
        <p:spPr>
          <a:xfrm>
            <a:off x="8001000" y="1691640"/>
            <a:ext cx="3639312" cy="804672"/>
          </a:xfrm>
          <a:prstGeom prst="roundRect">
            <a:avLst>
              <a:gd name="adj" fmla="val 13636"/>
            </a:avLst>
          </a:prstGeom>
          <a:solidFill>
            <a:schemeClr val="tx1"/>
          </a:solidFill>
          <a:ln/>
        </p:spPr>
      </p:sp>
      <p:sp>
        <p:nvSpPr>
          <p:cNvPr id="14" name="flow-0-objtext"/>
          <p:cNvSpPr txBox="1"/>
          <p:nvPr/>
        </p:nvSpPr>
        <p:spPr>
          <a:xfrm>
            <a:off x="8183880" y="1783080"/>
            <a:ext cx="3273552" cy="621792"/>
          </a:xfrm>
          <a:prstGeom prst="rect">
            <a:avLst/>
          </a:prstGeom>
          <a:noFill/>
          <a:ln/>
        </p:spPr>
        <p:txBody>
          <a:bodyPr wrap="square" lIns="0" tIns="0" rIns="0" bIns="0" rtlCol="0" anchor="ctr"/>
          <a:lstStyle/>
          <a:p>
            <a:pPr indent="0" marL="0">
              <a:buNone/>
            </a:pPr>
            <a:r>
              <a:rPr lang="en-US" sz="1400" b="1" dirty="0">
                <a:solidFill>
                  <a:schemeClr val="bg1"/>
                </a:solidFill>
              </a:rPr>
              <a:t>Leverage AI to solve business problems</a:t>
            </a:r>
            <a:endParaRPr lang="en-US" sz="1400" dirty="0"/>
          </a:p>
          <a:p>
            <a:pPr indent="0" marL="0">
              <a:buNone/>
            </a:pPr>
            <a:r>
              <a:rPr lang="en-US" sz="1100" dirty="0">
                <a:solidFill>
                  <a:schemeClr val="accent5"/>
                </a:solidFill>
              </a:rPr>
              <a:t>India TFO · Digital: democratise AI</a:t>
            </a:r>
            <a:endParaRPr lang="en-US" sz="1400" dirty="0"/>
          </a:p>
        </p:txBody>
      </p:sp>
      <p:sp>
        <p:nvSpPr>
          <p:cNvPr id="15" name="flow-1-arrow1"/>
          <p:cNvSpPr/>
          <p:nvPr/>
        </p:nvSpPr>
        <p:spPr>
          <a:xfrm>
            <a:off x="2971800" y="3026664"/>
            <a:ext cx="411480" cy="0"/>
          </a:xfrm>
          <a:prstGeom prst="line">
            <a:avLst/>
          </a:prstGeom>
          <a:noFill/>
          <a:ln w="22225">
            <a:solidFill>
              <a:schemeClr val="tx2"/>
            </a:solidFill>
            <a:prstDash val="solid"/>
            <a:tailEnd type="triangle"/>
          </a:ln>
        </p:spPr>
      </p:sp>
      <p:sp>
        <p:nvSpPr>
          <p:cNvPr id="16" name="flow-1-evbox"/>
          <p:cNvSpPr/>
          <p:nvPr/>
        </p:nvSpPr>
        <p:spPr>
          <a:xfrm>
            <a:off x="3429000" y="2624328"/>
            <a:ext cx="4069080" cy="804672"/>
          </a:xfrm>
          <a:prstGeom prst="roundRect">
            <a:avLst>
              <a:gd name="adj" fmla="val 13636"/>
            </a:avLst>
          </a:prstGeom>
          <a:solidFill>
            <a:schemeClr val="bg2"/>
          </a:solidFill>
          <a:ln/>
        </p:spPr>
      </p:sp>
      <p:sp>
        <p:nvSpPr>
          <p:cNvPr id="17" name="flow-1-evtext"/>
          <p:cNvSpPr txBox="1"/>
          <p:nvPr/>
        </p:nvSpPr>
        <p:spPr>
          <a:xfrm>
            <a:off x="3611880" y="2715768"/>
            <a:ext cx="3703320" cy="621792"/>
          </a:xfrm>
          <a:prstGeom prst="rect">
            <a:avLst/>
          </a:prstGeom>
          <a:noFill/>
          <a:ln/>
        </p:spPr>
        <p:txBody>
          <a:bodyPr wrap="square" lIns="0" tIns="0" rIns="0" bIns="0" rtlCol="0" anchor="ctr"/>
          <a:lstStyle/>
          <a:p>
            <a:pPr indent="0" marL="0">
              <a:buNone/>
            </a:pPr>
            <a:r>
              <a:rPr lang="en-US" sz="1300" dirty="0">
                <a:solidFill>
                  <a:schemeClr val="tx1"/>
                </a:solidFill>
              </a:rPr>
              <a:t>Delivered in 1 PI by 2 developers, about 76% less effort than a manual estimate</a:t>
            </a:r>
            <a:endParaRPr lang="en-US" sz="1300" dirty="0"/>
          </a:p>
        </p:txBody>
      </p:sp>
      <p:sp>
        <p:nvSpPr>
          <p:cNvPr id="18" name="flow-1-arrow2"/>
          <p:cNvSpPr/>
          <p:nvPr/>
        </p:nvSpPr>
        <p:spPr>
          <a:xfrm>
            <a:off x="7543800" y="3026664"/>
            <a:ext cx="411480" cy="0"/>
          </a:xfrm>
          <a:prstGeom prst="line">
            <a:avLst/>
          </a:prstGeom>
          <a:noFill/>
          <a:ln w="22225">
            <a:solidFill>
              <a:schemeClr val="tx2"/>
            </a:solidFill>
            <a:prstDash val="solid"/>
            <a:tailEnd type="triangle"/>
          </a:ln>
        </p:spPr>
      </p:sp>
      <p:sp>
        <p:nvSpPr>
          <p:cNvPr id="19" name="flow-1-objbox"/>
          <p:cNvSpPr/>
          <p:nvPr/>
        </p:nvSpPr>
        <p:spPr>
          <a:xfrm>
            <a:off x="8001000" y="2624328"/>
            <a:ext cx="3639312" cy="804672"/>
          </a:xfrm>
          <a:prstGeom prst="roundRect">
            <a:avLst>
              <a:gd name="adj" fmla="val 13636"/>
            </a:avLst>
          </a:prstGeom>
          <a:solidFill>
            <a:schemeClr val="tx1"/>
          </a:solidFill>
          <a:ln/>
        </p:spPr>
      </p:sp>
      <p:sp>
        <p:nvSpPr>
          <p:cNvPr id="20" name="flow-1-objtext"/>
          <p:cNvSpPr txBox="1"/>
          <p:nvPr/>
        </p:nvSpPr>
        <p:spPr>
          <a:xfrm>
            <a:off x="8183880" y="2715768"/>
            <a:ext cx="3273552" cy="621792"/>
          </a:xfrm>
          <a:prstGeom prst="rect">
            <a:avLst/>
          </a:prstGeom>
          <a:noFill/>
          <a:ln/>
        </p:spPr>
        <p:txBody>
          <a:bodyPr wrap="square" lIns="0" tIns="0" rIns="0" bIns="0" rtlCol="0" anchor="ctr"/>
          <a:lstStyle/>
          <a:p>
            <a:pPr indent="0" marL="0">
              <a:buNone/>
            </a:pPr>
            <a:r>
              <a:rPr lang="en-US" sz="1400" b="1" dirty="0">
                <a:solidFill>
                  <a:schemeClr val="bg1"/>
                </a:solidFill>
              </a:rPr>
              <a:t>Deliver on time, on cost, on quality</a:t>
            </a:r>
            <a:endParaRPr lang="en-US" sz="1400" dirty="0"/>
          </a:p>
          <a:p>
            <a:pPr indent="0" marL="0">
              <a:buNone/>
            </a:pPr>
            <a:r>
              <a:rPr lang="en-US" sz="1100" dirty="0">
                <a:solidFill>
                  <a:schemeClr val="accent5"/>
                </a:solidFill>
              </a:rPr>
              <a:t>Digital: optimise our digital resources</a:t>
            </a:r>
            <a:endParaRPr lang="en-US" sz="1400" dirty="0"/>
          </a:p>
        </p:txBody>
      </p:sp>
      <p:sp>
        <p:nvSpPr>
          <p:cNvPr id="21" name="flow-2-arrow1"/>
          <p:cNvSpPr/>
          <p:nvPr/>
        </p:nvSpPr>
        <p:spPr>
          <a:xfrm>
            <a:off x="2971800" y="3959352"/>
            <a:ext cx="411480" cy="0"/>
          </a:xfrm>
          <a:prstGeom prst="line">
            <a:avLst/>
          </a:prstGeom>
          <a:noFill/>
          <a:ln w="22225">
            <a:solidFill>
              <a:schemeClr val="tx2"/>
            </a:solidFill>
            <a:prstDash val="solid"/>
            <a:tailEnd type="triangle"/>
          </a:ln>
        </p:spPr>
      </p:sp>
      <p:sp>
        <p:nvSpPr>
          <p:cNvPr id="22" name="flow-2-evbox"/>
          <p:cNvSpPr/>
          <p:nvPr/>
        </p:nvSpPr>
        <p:spPr>
          <a:xfrm>
            <a:off x="3429000" y="3557016"/>
            <a:ext cx="4069080" cy="804672"/>
          </a:xfrm>
          <a:prstGeom prst="roundRect">
            <a:avLst>
              <a:gd name="adj" fmla="val 13636"/>
            </a:avLst>
          </a:prstGeom>
          <a:solidFill>
            <a:schemeClr val="bg2"/>
          </a:solidFill>
          <a:ln/>
        </p:spPr>
      </p:sp>
      <p:sp>
        <p:nvSpPr>
          <p:cNvPr id="23" name="flow-2-evtext"/>
          <p:cNvSpPr txBox="1"/>
          <p:nvPr/>
        </p:nvSpPr>
        <p:spPr>
          <a:xfrm>
            <a:off x="3611880" y="3648456"/>
            <a:ext cx="3703320" cy="621792"/>
          </a:xfrm>
          <a:prstGeom prst="rect">
            <a:avLst/>
          </a:prstGeom>
          <a:noFill/>
          <a:ln/>
        </p:spPr>
        <p:txBody>
          <a:bodyPr wrap="square" lIns="0" tIns="0" rIns="0" bIns="0" rtlCol="0" anchor="ctr"/>
          <a:lstStyle/>
          <a:p>
            <a:pPr indent="0" marL="0">
              <a:buNone/>
            </a:pPr>
            <a:r>
              <a:rPr lang="en-US" sz="1300" dirty="0">
                <a:solidFill>
                  <a:schemeClr val="tx1"/>
                </a:solidFill>
              </a:rPr>
              <a:t>A business-critical tool, now stable, documented and ready to leave Slate</a:t>
            </a:r>
            <a:endParaRPr lang="en-US" sz="1300" dirty="0"/>
          </a:p>
        </p:txBody>
      </p:sp>
      <p:sp>
        <p:nvSpPr>
          <p:cNvPr id="24" name="flow-2-arrow2"/>
          <p:cNvSpPr/>
          <p:nvPr/>
        </p:nvSpPr>
        <p:spPr>
          <a:xfrm>
            <a:off x="7543800" y="3959352"/>
            <a:ext cx="411480" cy="0"/>
          </a:xfrm>
          <a:prstGeom prst="line">
            <a:avLst/>
          </a:prstGeom>
          <a:noFill/>
          <a:ln w="22225">
            <a:solidFill>
              <a:schemeClr val="tx2"/>
            </a:solidFill>
            <a:prstDash val="solid"/>
            <a:tailEnd type="triangle"/>
          </a:ln>
        </p:spPr>
      </p:sp>
      <p:sp>
        <p:nvSpPr>
          <p:cNvPr id="25" name="flow-2-objbox"/>
          <p:cNvSpPr/>
          <p:nvPr/>
        </p:nvSpPr>
        <p:spPr>
          <a:xfrm>
            <a:off x="8001000" y="3557016"/>
            <a:ext cx="3639312" cy="804672"/>
          </a:xfrm>
          <a:prstGeom prst="roundRect">
            <a:avLst>
              <a:gd name="adj" fmla="val 13636"/>
            </a:avLst>
          </a:prstGeom>
          <a:solidFill>
            <a:schemeClr val="tx1"/>
          </a:solidFill>
          <a:ln/>
        </p:spPr>
      </p:sp>
      <p:sp>
        <p:nvSpPr>
          <p:cNvPr id="26" name="flow-2-objtext"/>
          <p:cNvSpPr txBox="1"/>
          <p:nvPr/>
        </p:nvSpPr>
        <p:spPr>
          <a:xfrm>
            <a:off x="8183880" y="3648456"/>
            <a:ext cx="3273552" cy="621792"/>
          </a:xfrm>
          <a:prstGeom prst="rect">
            <a:avLst/>
          </a:prstGeom>
          <a:noFill/>
          <a:ln/>
        </p:spPr>
        <p:txBody>
          <a:bodyPr wrap="square" lIns="0" tIns="0" rIns="0" bIns="0" rtlCol="0" anchor="ctr"/>
          <a:lstStyle/>
          <a:p>
            <a:pPr indent="0" marL="0">
              <a:buNone/>
            </a:pPr>
            <a:r>
              <a:rPr lang="en-US" sz="1400" b="1" dirty="0">
                <a:solidFill>
                  <a:schemeClr val="bg1"/>
                </a:solidFill>
              </a:rPr>
              <a:t>Ensure our operational performance</a:t>
            </a:r>
            <a:endParaRPr lang="en-US" sz="1400" dirty="0"/>
          </a:p>
          <a:p>
            <a:pPr indent="0" marL="0">
              <a:buNone/>
            </a:pPr>
            <a:r>
              <a:rPr lang="en-US" sz="1100" dirty="0">
                <a:solidFill>
                  <a:schemeClr val="accent5"/>
                </a:solidFill>
              </a:rPr>
              <a:t>Digital: availability of systems for operations</a:t>
            </a:r>
            <a:endParaRPr lang="en-US" sz="1400" dirty="0"/>
          </a:p>
        </p:txBody>
      </p:sp>
      <p:sp>
        <p:nvSpPr>
          <p:cNvPr id="27" name="flow-3-arrow1"/>
          <p:cNvSpPr/>
          <p:nvPr/>
        </p:nvSpPr>
        <p:spPr>
          <a:xfrm>
            <a:off x="2971800" y="4892040"/>
            <a:ext cx="411480" cy="0"/>
          </a:xfrm>
          <a:prstGeom prst="line">
            <a:avLst/>
          </a:prstGeom>
          <a:noFill/>
          <a:ln w="22225">
            <a:solidFill>
              <a:schemeClr val="tx2"/>
            </a:solidFill>
            <a:prstDash val="solid"/>
            <a:tailEnd type="triangle"/>
          </a:ln>
        </p:spPr>
      </p:sp>
      <p:sp>
        <p:nvSpPr>
          <p:cNvPr id="28" name="flow-3-evbox"/>
          <p:cNvSpPr/>
          <p:nvPr/>
        </p:nvSpPr>
        <p:spPr>
          <a:xfrm>
            <a:off x="3429000" y="4489704"/>
            <a:ext cx="4069080" cy="804672"/>
          </a:xfrm>
          <a:prstGeom prst="roundRect">
            <a:avLst>
              <a:gd name="adj" fmla="val 13636"/>
            </a:avLst>
          </a:prstGeom>
          <a:solidFill>
            <a:schemeClr val="bg2"/>
          </a:solidFill>
          <a:ln/>
        </p:spPr>
      </p:sp>
      <p:sp>
        <p:nvSpPr>
          <p:cNvPr id="29" name="flow-3-evtext"/>
          <p:cNvSpPr txBox="1"/>
          <p:nvPr/>
        </p:nvSpPr>
        <p:spPr>
          <a:xfrm>
            <a:off x="3611880" y="4581144"/>
            <a:ext cx="3703320" cy="621792"/>
          </a:xfrm>
          <a:prstGeom prst="rect">
            <a:avLst/>
          </a:prstGeom>
          <a:noFill/>
          <a:ln/>
        </p:spPr>
        <p:txBody>
          <a:bodyPr wrap="square" lIns="0" tIns="0" rIns="0" bIns="0" rtlCol="0" anchor="ctr"/>
          <a:lstStyle/>
          <a:p>
            <a:pPr indent="0" marL="0">
              <a:buNone/>
            </a:pPr>
            <a:r>
              <a:rPr lang="en-US" sz="1300" dirty="0">
                <a:solidFill>
                  <a:schemeClr val="tx1"/>
                </a:solidFill>
              </a:rPr>
              <a:t>A reusable playbook lets other teams do the same</a:t>
            </a:r>
            <a:endParaRPr lang="en-US" sz="1300" dirty="0"/>
          </a:p>
        </p:txBody>
      </p:sp>
      <p:sp>
        <p:nvSpPr>
          <p:cNvPr id="30" name="flow-3-arrow2"/>
          <p:cNvSpPr/>
          <p:nvPr/>
        </p:nvSpPr>
        <p:spPr>
          <a:xfrm>
            <a:off x="7543800" y="4892040"/>
            <a:ext cx="411480" cy="0"/>
          </a:xfrm>
          <a:prstGeom prst="line">
            <a:avLst/>
          </a:prstGeom>
          <a:noFill/>
          <a:ln w="22225">
            <a:solidFill>
              <a:schemeClr val="tx2"/>
            </a:solidFill>
            <a:prstDash val="solid"/>
            <a:tailEnd type="triangle"/>
          </a:ln>
        </p:spPr>
      </p:sp>
      <p:sp>
        <p:nvSpPr>
          <p:cNvPr id="31" name="flow-3-objbox"/>
          <p:cNvSpPr/>
          <p:nvPr/>
        </p:nvSpPr>
        <p:spPr>
          <a:xfrm>
            <a:off x="8001000" y="4489704"/>
            <a:ext cx="3639312" cy="804672"/>
          </a:xfrm>
          <a:prstGeom prst="roundRect">
            <a:avLst>
              <a:gd name="adj" fmla="val 13636"/>
            </a:avLst>
          </a:prstGeom>
          <a:solidFill>
            <a:schemeClr val="tx1"/>
          </a:solidFill>
          <a:ln/>
        </p:spPr>
      </p:sp>
      <p:sp>
        <p:nvSpPr>
          <p:cNvPr id="32" name="flow-3-objtext"/>
          <p:cNvSpPr txBox="1"/>
          <p:nvPr/>
        </p:nvSpPr>
        <p:spPr>
          <a:xfrm>
            <a:off x="8183880" y="4581144"/>
            <a:ext cx="3273552" cy="621792"/>
          </a:xfrm>
          <a:prstGeom prst="rect">
            <a:avLst/>
          </a:prstGeom>
          <a:noFill/>
          <a:ln/>
        </p:spPr>
        <p:txBody>
          <a:bodyPr wrap="square" lIns="0" tIns="0" rIns="0" bIns="0" rtlCol="0" anchor="ctr"/>
          <a:lstStyle/>
          <a:p>
            <a:pPr indent="0" marL="0">
              <a:buNone/>
            </a:pPr>
            <a:r>
              <a:rPr lang="en-US" sz="1400" b="1" dirty="0">
                <a:solidFill>
                  <a:schemeClr val="bg1"/>
                </a:solidFill>
              </a:rPr>
              <a:t>Grow digital acumen and competencies</a:t>
            </a:r>
            <a:endParaRPr lang="en-US" sz="1400" dirty="0"/>
          </a:p>
          <a:p>
            <a:pPr indent="0" marL="0">
              <a:buNone/>
            </a:pPr>
            <a:r>
              <a:rPr lang="en-US" sz="1100" dirty="0">
                <a:solidFill>
                  <a:schemeClr val="accent5"/>
                </a:solidFill>
              </a:rPr>
              <a:t>Digital: develop our people · India TFO</a:t>
            </a:r>
            <a:endParaRPr lang="en-US" sz="1400" dirty="0"/>
          </a:p>
        </p:txBody>
      </p:sp>
      <p:sp>
        <p:nvSpPr>
          <p:cNvPr id="33" name="team-card"/>
          <p:cNvSpPr/>
          <p:nvPr/>
        </p:nvSpPr>
        <p:spPr>
          <a:xfrm>
            <a:off x="548640" y="5477256"/>
            <a:ext cx="11094415" cy="969264"/>
          </a:xfrm>
          <a:prstGeom prst="roundRect">
            <a:avLst>
              <a:gd name="adj" fmla="val 11321"/>
            </a:avLst>
          </a:prstGeom>
          <a:solidFill>
            <a:schemeClr val="bg1"/>
          </a:solidFill>
          <a:ln/>
        </p:spPr>
      </p:sp>
      <p:sp>
        <p:nvSpPr>
          <p:cNvPr id="34" name="team-text"/>
          <p:cNvSpPr txBox="1"/>
          <p:nvPr/>
        </p:nvSpPr>
        <p:spPr>
          <a:xfrm>
            <a:off x="822960" y="5477256"/>
            <a:ext cx="10545775" cy="969264"/>
          </a:xfrm>
          <a:prstGeom prst="rect">
            <a:avLst/>
          </a:prstGeom>
          <a:noFill/>
          <a:ln/>
        </p:spPr>
        <p:txBody>
          <a:bodyPr wrap="square" lIns="0" tIns="0" rIns="0" bIns="0" rtlCol="0" anchor="ctr"/>
          <a:lstStyle/>
          <a:p>
            <a:pPr indent="0" marL="0">
              <a:buNone/>
            </a:pPr>
            <a:r>
              <a:rPr lang="en-US" sz="1100" b="1" spc="200" kern="0" dirty="0">
                <a:solidFill>
                  <a:schemeClr val="accent3"/>
                </a:solidFill>
              </a:rPr>
              <a:t>BUILT TOGETHER  </a:t>
            </a:r>
            <a:pPr indent="0" marL="0">
              <a:buNone/>
            </a:pPr>
            <a:r>
              <a:rPr lang="en-US" sz="1300" dirty="0">
                <a:solidFill>
                  <a:schemeClr val="tx1"/>
                </a:solidFill>
              </a:rPr>
              <a:t>Operations built it · FZR owns it · Business users confirmed every feature · Data and security owners kept restricted views intact</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3" fill="hold">
                      <p:stCondLst>
                        <p:cond delay="indefinite"/>
                        <p:cond evt="onBegin" delay="0">
                          <p:tn val="2"/>
                        </p:cond>
                      </p:stCondLst>
                      <p:childTnLst>
                        <p:par>
                          <p:cTn id="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5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50"/>
                                        <p:tgtEl>
                                          <p:spTgt spid="8"/>
                                        </p:tgtEl>
                                      </p:cBhvr>
                                    </p:animEffect>
                                  </p:childTnLst>
                                </p:cTn>
                              </p:par>
                            </p:childTnLst>
                          </p:cTn>
                        </p:par>
                        <p:par>
                          <p:cTn id="28" fill="hold">
                            <p:stCondLst>
                              <p:cond delay="11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450"/>
                                        <p:tgtEl>
                                          <p:spTgt spid="9"/>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par>
                                <p:cTn id="16" presetID="10" presetClass="entr" presetSubtype="0" fill="hold" grpId="0" nodeType="withEffect">
                                  <p:stCondLst>
                                    <p:cond delay="25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par>
                                <p:cTn id="19" presetID="22" presetClass="entr" presetSubtype="8" fill="hold" grpId="0" nodeType="withEffect">
                                  <p:stCondLst>
                                    <p:cond delay="55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450"/>
                                        <p:tgtEl>
                                          <p:spTgt spid="12"/>
                                        </p:tgtEl>
                                      </p:cBhvr>
                                    </p:animEffect>
                                  </p:childTnLst>
                                </p:cTn>
                              </p:par>
                              <p:par>
                                <p:cTn id="22" presetID="10" presetClass="entr" presetSubtype="0" fill="hold" grpId="0" nodeType="withEffect">
                                  <p:stCondLst>
                                    <p:cond delay="80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grpId="0" nodeType="withEffect">
                                  <p:stCondLst>
                                    <p:cond delay="80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childTnLst>
                          </p:cTn>
                        </p:par>
                        <p:par>
                          <p:cTn id="47" fill="hold">
                            <p:stCondLst>
                              <p:cond delay="2200"/>
                            </p:stCondLst>
                            <p:childTnLst>
                              <p:par>
                                <p:cTn id="29" presetID="22" presetClass="entr" presetSubtype="8"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450"/>
                                        <p:tgtEl>
                                          <p:spTgt spid="15"/>
                                        </p:tgtEl>
                                      </p:cBhvr>
                                    </p:animEffect>
                                  </p:childTnLst>
                                </p:cTn>
                              </p:par>
                              <p:par>
                                <p:cTn id="32" presetID="10" presetClass="entr" presetSubtype="0" fill="hold" grpId="0" nodeType="withEffect">
                                  <p:stCondLst>
                                    <p:cond delay="25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50"/>
                                        <p:tgtEl>
                                          <p:spTgt spid="16"/>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50"/>
                                        <p:tgtEl>
                                          <p:spTgt spid="17"/>
                                        </p:tgtEl>
                                      </p:cBhvr>
                                    </p:animEffect>
                                  </p:childTnLst>
                                </p:cTn>
                              </p:par>
                              <p:par>
                                <p:cTn id="38" presetID="22" presetClass="entr" presetSubtype="8" fill="hold" grpId="0" nodeType="withEffect">
                                  <p:stCondLst>
                                    <p:cond delay="550"/>
                                  </p:stCondLst>
                                  <p:childTnLst>
                                    <p:set>
                                      <p:cBhvr>
                                        <p:cTn id="39" dur="1" fill="hold">
                                          <p:stCondLst>
                                            <p:cond delay="0"/>
                                          </p:stCondLst>
                                        </p:cTn>
                                        <p:tgtEl>
                                          <p:spTgt spid="18"/>
                                        </p:tgtEl>
                                        <p:attrNameLst>
                                          <p:attrName>style.visibility</p:attrName>
                                        </p:attrNameLst>
                                      </p:cBhvr>
                                      <p:to>
                                        <p:strVal val="visible"/>
                                      </p:to>
                                    </p:set>
                                    <p:animEffect transition="in" filter="wipe(left)">
                                      <p:cBhvr>
                                        <p:cTn id="40" dur="450"/>
                                        <p:tgtEl>
                                          <p:spTgt spid="18"/>
                                        </p:tgtEl>
                                      </p:cBhvr>
                                    </p:animEffect>
                                  </p:childTnLst>
                                </p:cTn>
                              </p:par>
                              <p:par>
                                <p:cTn id="41" presetID="10" presetClass="entr" presetSubtype="0" fill="hold" grpId="0" nodeType="withEffect">
                                  <p:stCondLst>
                                    <p:cond delay="80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450"/>
                                        <p:tgtEl>
                                          <p:spTgt spid="19"/>
                                        </p:tgtEl>
                                      </p:cBhvr>
                                    </p:animEffect>
                                  </p:childTnLst>
                                </p:cTn>
                              </p:par>
                              <p:par>
                                <p:cTn id="44" presetID="10" presetClass="entr" presetSubtype="0" fill="hold" grpId="0" nodeType="withEffect">
                                  <p:stCondLst>
                                    <p:cond delay="80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450"/>
                                        <p:tgtEl>
                                          <p:spTgt spid="20"/>
                                        </p:tgtEl>
                                      </p:cBhvr>
                                    </p:animEffect>
                                  </p:childTnLst>
                                </p:cTn>
                              </p:par>
                            </p:childTnLst>
                          </p:cTn>
                        </p:par>
                        <p:par>
                          <p:cTn id="66" fill="hold">
                            <p:stCondLst>
                              <p:cond delay="3300"/>
                            </p:stCondLst>
                            <p:childTnLst>
                              <p:par>
                                <p:cTn id="48" presetID="22" presetClass="entr" presetSubtype="8" fill="hold" grpId="0" nodeType="after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50" dur="450"/>
                                        <p:tgtEl>
                                          <p:spTgt spid="21"/>
                                        </p:tgtEl>
                                      </p:cBhvr>
                                    </p:animEffect>
                                  </p:childTnLst>
                                </p:cTn>
                              </p:par>
                              <p:par>
                                <p:cTn id="51" presetID="10" presetClass="entr" presetSubtype="0" fill="hold" grpId="0" nodeType="withEffect">
                                  <p:stCondLst>
                                    <p:cond delay="25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grpId="0" nodeType="withEffect">
                                  <p:stCondLst>
                                    <p:cond delay="25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par>
                                <p:cTn id="57" presetID="22" presetClass="entr" presetSubtype="8" fill="hold" grpId="0" nodeType="withEffect">
                                  <p:stCondLst>
                                    <p:cond delay="55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9" dur="450"/>
                                        <p:tgtEl>
                                          <p:spTgt spid="24"/>
                                        </p:tgtEl>
                                      </p:cBhvr>
                                    </p:animEffect>
                                  </p:childTnLst>
                                </p:cTn>
                              </p:par>
                              <p:par>
                                <p:cTn id="60" presetID="10" presetClass="entr" presetSubtype="0" fill="hold" grpId="0" nodeType="withEffect">
                                  <p:stCondLst>
                                    <p:cond delay="80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50"/>
                                        <p:tgtEl>
                                          <p:spTgt spid="25"/>
                                        </p:tgtEl>
                                      </p:cBhvr>
                                    </p:animEffect>
                                  </p:childTnLst>
                                </p:cTn>
                              </p:par>
                              <p:par>
                                <p:cTn id="63" presetID="10" presetClass="entr" presetSubtype="0" fill="hold" grpId="0" nodeType="withEffect">
                                  <p:stCondLst>
                                    <p:cond delay="80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50"/>
                                        <p:tgtEl>
                                          <p:spTgt spid="26"/>
                                        </p:tgtEl>
                                      </p:cBhvr>
                                    </p:animEffect>
                                  </p:childTnLst>
                                </p:cTn>
                              </p:par>
                            </p:childTnLst>
                          </p:cTn>
                        </p:par>
                        <p:par>
                          <p:cTn id="85" fill="hold">
                            <p:stCondLst>
                              <p:cond delay="4400"/>
                            </p:stCondLst>
                            <p:childTnLst>
                              <p:par>
                                <p:cTn id="67" presetID="22" presetClass="entr" presetSubtype="8" fill="hold" grpId="0" nodeType="after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wipe(left)">
                                      <p:cBhvr>
                                        <p:cTn id="69" dur="450"/>
                                        <p:tgtEl>
                                          <p:spTgt spid="27"/>
                                        </p:tgtEl>
                                      </p:cBhvr>
                                    </p:animEffect>
                                  </p:childTnLst>
                                </p:cTn>
                              </p:par>
                              <p:par>
                                <p:cTn id="70" presetID="10" presetClass="entr" presetSubtype="0" fill="hold" grpId="0" nodeType="withEffect">
                                  <p:stCondLst>
                                    <p:cond delay="25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450"/>
                                        <p:tgtEl>
                                          <p:spTgt spid="28"/>
                                        </p:tgtEl>
                                      </p:cBhvr>
                                    </p:animEffect>
                                  </p:childTnLst>
                                </p:cTn>
                              </p:par>
                              <p:par>
                                <p:cTn id="73" presetID="10" presetClass="entr" presetSubtype="0" fill="hold" grpId="0" nodeType="withEffect">
                                  <p:stCondLst>
                                    <p:cond delay="25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450"/>
                                        <p:tgtEl>
                                          <p:spTgt spid="29"/>
                                        </p:tgtEl>
                                      </p:cBhvr>
                                    </p:animEffect>
                                  </p:childTnLst>
                                </p:cTn>
                              </p:par>
                              <p:par>
                                <p:cTn id="76" presetID="22" presetClass="entr" presetSubtype="8" fill="hold" grpId="0" nodeType="withEffect">
                                  <p:stCondLst>
                                    <p:cond delay="550"/>
                                  </p:stCondLst>
                                  <p:childTnLst>
                                    <p:set>
                                      <p:cBhvr>
                                        <p:cTn id="77" dur="1" fill="hold">
                                          <p:stCondLst>
                                            <p:cond delay="0"/>
                                          </p:stCondLst>
                                        </p:cTn>
                                        <p:tgtEl>
                                          <p:spTgt spid="30"/>
                                        </p:tgtEl>
                                        <p:attrNameLst>
                                          <p:attrName>style.visibility</p:attrName>
                                        </p:attrNameLst>
                                      </p:cBhvr>
                                      <p:to>
                                        <p:strVal val="visible"/>
                                      </p:to>
                                    </p:set>
                                    <p:animEffect transition="in" filter="wipe(left)">
                                      <p:cBhvr>
                                        <p:cTn id="78" dur="450"/>
                                        <p:tgtEl>
                                          <p:spTgt spid="30"/>
                                        </p:tgtEl>
                                      </p:cBhvr>
                                    </p:animEffect>
                                  </p:childTnLst>
                                </p:cTn>
                              </p:par>
                              <p:par>
                                <p:cTn id="79" presetID="10" presetClass="entr" presetSubtype="0" fill="hold" grpId="0" nodeType="withEffect">
                                  <p:stCondLst>
                                    <p:cond delay="80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450"/>
                                        <p:tgtEl>
                                          <p:spTgt spid="31"/>
                                        </p:tgtEl>
                                      </p:cBhvr>
                                    </p:animEffect>
                                  </p:childTnLst>
                                </p:cTn>
                              </p:par>
                              <p:par>
                                <p:cTn id="82" presetID="10" presetClass="entr" presetSubtype="0" fill="hold" grpId="0" nodeType="withEffect">
                                  <p:stCondLst>
                                    <p:cond delay="80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450"/>
                                        <p:tgtEl>
                                          <p:spTgt spid="32"/>
                                        </p:tgtEl>
                                      </p:cBhvr>
                                    </p:animEffect>
                                  </p:childTnLst>
                                </p:cTn>
                              </p:par>
                            </p:childTnLst>
                          </p:cTn>
                        </p:par>
                        <p:par>
                          <p:cTn id="92" fill="hold">
                            <p:stCondLst>
                              <p:cond delay="5500"/>
                            </p:stCondLst>
                            <p:childTnLst>
                              <p:par>
                                <p:cTn id="86" presetID="22" presetClass="entr" presetSubtype="8" fill="hold" grpId="0" nodeType="after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wipe(left)">
                                      <p:cBhvr>
                                        <p:cTn id="88" dur="450"/>
                                        <p:tgtEl>
                                          <p:spTgt spid="33"/>
                                        </p:tgtEl>
                                      </p:cBhvr>
                                    </p:animEffect>
                                  </p:childTnLst>
                                </p:cTn>
                              </p:par>
                              <p:par>
                                <p:cTn id="89" presetID="22" presetClass="entr" presetSubtype="8"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wipe(left)">
                                      <p:cBhvr>
                                        <p:cTn id="91"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5"/>
                </a:solidFill>
              </a:rPr>
              <a:t>WHAT'S NEXT</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bg1"/>
                </a:solidFill>
              </a:rPr>
              <a:t>A playbook any team can run next</a:t>
            </a:r>
            <a:endParaRPr lang="en-US" sz="3600" dirty="0"/>
          </a:p>
        </p:txBody>
      </p:sp>
      <p:sp>
        <p:nvSpPr>
          <p:cNvPr id="4" name="step-0"/>
          <p:cNvSpPr/>
          <p:nvPr/>
        </p:nvSpPr>
        <p:spPr>
          <a:xfrm>
            <a:off x="548640" y="1463040"/>
            <a:ext cx="2131101" cy="777240"/>
          </a:xfrm>
          <a:prstGeom prst="chevron">
            <a:avLst/>
          </a:prstGeom>
          <a:solidFill>
            <a:schemeClr val="accent2"/>
          </a:solidFill>
          <a:ln/>
        </p:spPr>
      </p:sp>
      <p:sp>
        <p:nvSpPr>
          <p:cNvPr id="5" name="step-0-text"/>
          <p:cNvSpPr txBox="1"/>
          <p:nvPr/>
        </p:nvSpPr>
        <p:spPr>
          <a:xfrm>
            <a:off x="822960" y="1463040"/>
            <a:ext cx="1582461" cy="777240"/>
          </a:xfrm>
          <a:prstGeom prst="rect">
            <a:avLst/>
          </a:prstGeom>
          <a:noFill/>
          <a:ln/>
        </p:spPr>
        <p:txBody>
          <a:bodyPr wrap="square" lIns="0" tIns="0" rIns="0" bIns="0" rtlCol="0" anchor="ctr"/>
          <a:lstStyle/>
          <a:p>
            <a:pPr algn="ctr" indent="0" marL="0">
              <a:buNone/>
            </a:pPr>
            <a:r>
              <a:rPr lang="en-US" sz="1800" b="1" dirty="0">
                <a:solidFill>
                  <a:schemeClr val="bg1"/>
                </a:solidFill>
              </a:rPr>
              <a:t>Gather</a:t>
            </a:r>
            <a:endParaRPr lang="en-US" sz="1800" dirty="0"/>
          </a:p>
        </p:txBody>
      </p:sp>
      <p:sp>
        <p:nvSpPr>
          <p:cNvPr id="6" name="step-1"/>
          <p:cNvSpPr/>
          <p:nvPr/>
        </p:nvSpPr>
        <p:spPr>
          <a:xfrm>
            <a:off x="2789469" y="1463040"/>
            <a:ext cx="2131101" cy="777240"/>
          </a:xfrm>
          <a:prstGeom prst="chevron">
            <a:avLst/>
          </a:prstGeom>
          <a:solidFill>
            <a:schemeClr val="accent4"/>
          </a:solidFill>
          <a:ln/>
        </p:spPr>
      </p:sp>
      <p:sp>
        <p:nvSpPr>
          <p:cNvPr id="7" name="step-1-text"/>
          <p:cNvSpPr txBox="1"/>
          <p:nvPr/>
        </p:nvSpPr>
        <p:spPr>
          <a:xfrm>
            <a:off x="3063789" y="1463040"/>
            <a:ext cx="1582461" cy="777240"/>
          </a:xfrm>
          <a:prstGeom prst="rect">
            <a:avLst/>
          </a:prstGeom>
          <a:noFill/>
          <a:ln/>
        </p:spPr>
        <p:txBody>
          <a:bodyPr wrap="square" lIns="0" tIns="0" rIns="0" bIns="0" rtlCol="0" anchor="ctr"/>
          <a:lstStyle/>
          <a:p>
            <a:pPr algn="ctr" indent="0" marL="0">
              <a:buNone/>
            </a:pPr>
            <a:r>
              <a:rPr lang="en-US" sz="1800" b="1" dirty="0">
                <a:solidFill>
                  <a:schemeClr val="bg1"/>
                </a:solidFill>
              </a:rPr>
              <a:t>Catalogue</a:t>
            </a:r>
            <a:endParaRPr lang="en-US" sz="1800" dirty="0"/>
          </a:p>
        </p:txBody>
      </p:sp>
      <p:sp>
        <p:nvSpPr>
          <p:cNvPr id="8" name="step-2"/>
          <p:cNvSpPr/>
          <p:nvPr/>
        </p:nvSpPr>
        <p:spPr>
          <a:xfrm>
            <a:off x="5030297" y="1463040"/>
            <a:ext cx="2131101" cy="777240"/>
          </a:xfrm>
          <a:prstGeom prst="chevron">
            <a:avLst/>
          </a:prstGeom>
          <a:solidFill>
            <a:schemeClr val="accent4"/>
          </a:solidFill>
          <a:ln/>
        </p:spPr>
      </p:sp>
      <p:sp>
        <p:nvSpPr>
          <p:cNvPr id="9" name="step-2-text"/>
          <p:cNvSpPr txBox="1"/>
          <p:nvPr/>
        </p:nvSpPr>
        <p:spPr>
          <a:xfrm>
            <a:off x="5304617" y="1463040"/>
            <a:ext cx="1582461" cy="777240"/>
          </a:xfrm>
          <a:prstGeom prst="rect">
            <a:avLst/>
          </a:prstGeom>
          <a:noFill/>
          <a:ln/>
        </p:spPr>
        <p:txBody>
          <a:bodyPr wrap="square" lIns="0" tIns="0" rIns="0" bIns="0" rtlCol="0" anchor="ctr"/>
          <a:lstStyle/>
          <a:p>
            <a:pPr algn="ctr" indent="0" marL="0">
              <a:buNone/>
            </a:pPr>
            <a:r>
              <a:rPr lang="en-US" sz="1800" b="1" dirty="0">
                <a:solidFill>
                  <a:schemeClr val="bg1"/>
                </a:solidFill>
              </a:rPr>
              <a:t>Compare</a:t>
            </a:r>
            <a:endParaRPr lang="en-US" sz="1800" dirty="0"/>
          </a:p>
        </p:txBody>
      </p:sp>
      <p:sp>
        <p:nvSpPr>
          <p:cNvPr id="10" name="step-3"/>
          <p:cNvSpPr/>
          <p:nvPr/>
        </p:nvSpPr>
        <p:spPr>
          <a:xfrm>
            <a:off x="7271126" y="1463040"/>
            <a:ext cx="2131101" cy="777240"/>
          </a:xfrm>
          <a:prstGeom prst="chevron">
            <a:avLst/>
          </a:prstGeom>
          <a:solidFill>
            <a:schemeClr val="accent4"/>
          </a:solidFill>
          <a:ln/>
        </p:spPr>
      </p:sp>
      <p:sp>
        <p:nvSpPr>
          <p:cNvPr id="11" name="step-3-text"/>
          <p:cNvSpPr txBox="1"/>
          <p:nvPr/>
        </p:nvSpPr>
        <p:spPr>
          <a:xfrm>
            <a:off x="7545446" y="1463040"/>
            <a:ext cx="1582461" cy="777240"/>
          </a:xfrm>
          <a:prstGeom prst="rect">
            <a:avLst/>
          </a:prstGeom>
          <a:noFill/>
          <a:ln/>
        </p:spPr>
        <p:txBody>
          <a:bodyPr wrap="square" lIns="0" tIns="0" rIns="0" bIns="0" rtlCol="0" anchor="ctr"/>
          <a:lstStyle/>
          <a:p>
            <a:pPr algn="ctr" indent="0" marL="0">
              <a:buNone/>
            </a:pPr>
            <a:r>
              <a:rPr lang="en-US" sz="1800" b="1" dirty="0">
                <a:solidFill>
                  <a:schemeClr val="bg1"/>
                </a:solidFill>
              </a:rPr>
              <a:t>Fix</a:t>
            </a:r>
            <a:endParaRPr lang="en-US" sz="1800" dirty="0"/>
          </a:p>
        </p:txBody>
      </p:sp>
      <p:sp>
        <p:nvSpPr>
          <p:cNvPr id="12" name="step-4"/>
          <p:cNvSpPr/>
          <p:nvPr/>
        </p:nvSpPr>
        <p:spPr>
          <a:xfrm>
            <a:off x="9511955" y="1463040"/>
            <a:ext cx="2131101" cy="777240"/>
          </a:xfrm>
          <a:prstGeom prst="chevron">
            <a:avLst/>
          </a:prstGeom>
          <a:solidFill>
            <a:schemeClr val="accent4"/>
          </a:solidFill>
          <a:ln/>
        </p:spPr>
      </p:sp>
      <p:sp>
        <p:nvSpPr>
          <p:cNvPr id="13" name="step-4-text"/>
          <p:cNvSpPr txBox="1"/>
          <p:nvPr/>
        </p:nvSpPr>
        <p:spPr>
          <a:xfrm>
            <a:off x="9786275" y="1463040"/>
            <a:ext cx="1582461" cy="777240"/>
          </a:xfrm>
          <a:prstGeom prst="rect">
            <a:avLst/>
          </a:prstGeom>
          <a:noFill/>
          <a:ln/>
        </p:spPr>
        <p:txBody>
          <a:bodyPr wrap="square" lIns="0" tIns="0" rIns="0" bIns="0" rtlCol="0" anchor="ctr"/>
          <a:lstStyle/>
          <a:p>
            <a:pPr algn="ctr" indent="0" marL="0">
              <a:buNone/>
            </a:pPr>
            <a:r>
              <a:rPr lang="en-US" sz="1800" b="1" dirty="0">
                <a:solidFill>
                  <a:schemeClr val="bg1"/>
                </a:solidFill>
              </a:rPr>
              <a:t>Document</a:t>
            </a:r>
            <a:endParaRPr lang="en-US" sz="1800" dirty="0"/>
          </a:p>
        </p:txBody>
      </p:sp>
      <p:sp>
        <p:nvSpPr>
          <p:cNvPr id="14" name="reuse-0-card"/>
          <p:cNvSpPr/>
          <p:nvPr/>
        </p:nvSpPr>
        <p:spPr>
          <a:xfrm>
            <a:off x="548640" y="2560320"/>
            <a:ext cx="3515258" cy="2743200"/>
          </a:xfrm>
          <a:prstGeom prst="roundRect">
            <a:avLst>
              <a:gd name="adj" fmla="val 4000"/>
            </a:avLst>
          </a:prstGeom>
          <a:solidFill>
            <a:schemeClr val="accent4"/>
          </a:solidFill>
          <a:ln/>
        </p:spPr>
      </p:sp>
      <p:sp>
        <p:nvSpPr>
          <p:cNvPr id="15" name="reuse-0-title"/>
          <p:cNvSpPr txBox="1"/>
          <p:nvPr/>
        </p:nvSpPr>
        <p:spPr>
          <a:xfrm>
            <a:off x="822960" y="2743200"/>
            <a:ext cx="2966618" cy="411480"/>
          </a:xfrm>
          <a:prstGeom prst="rect">
            <a:avLst/>
          </a:prstGeom>
          <a:noFill/>
          <a:ln/>
        </p:spPr>
        <p:txBody>
          <a:bodyPr wrap="square" lIns="0" tIns="0" rIns="0" bIns="0" rtlCol="0" anchor="t"/>
          <a:lstStyle/>
          <a:p>
            <a:pPr indent="0" marL="0">
              <a:buNone/>
            </a:pPr>
            <a:r>
              <a:rPr lang="en-US" sz="2000" b="1" dirty="0">
                <a:solidFill>
                  <a:schemeClr val="accent5"/>
                </a:solidFill>
              </a:rPr>
              <a:t>Ready to reuse</a:t>
            </a:r>
            <a:endParaRPr lang="en-US" sz="2000" dirty="0"/>
          </a:p>
        </p:txBody>
      </p:sp>
      <p:sp>
        <p:nvSpPr>
          <p:cNvPr id="16" name="reuse-0-list"/>
          <p:cNvSpPr txBox="1"/>
          <p:nvPr/>
        </p:nvSpPr>
        <p:spPr>
          <a:xfrm>
            <a:off x="822960" y="3246120"/>
            <a:ext cx="2966618"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accent6"/>
                </a:solidFill>
              </a:rPr>
              <a:t>A script that gives the AI the whole app at once</a:t>
            </a:r>
            <a:endParaRPr lang="en-US" sz="1400" dirty="0"/>
          </a:p>
          <a:p>
            <a:pPr marL="342900" indent="-342900">
              <a:spcAft>
                <a:spcPts val="800"/>
              </a:spcAft>
              <a:buSzPct val="100000"/>
              <a:buChar char="•"/>
            </a:pPr>
            <a:r>
              <a:rPr lang="en-US" sz="1400" dirty="0">
                <a:solidFill>
                  <a:schemeClr val="accent6"/>
                </a:solidFill>
              </a:rPr>
              <a:t>Feature comparison template</a:t>
            </a:r>
            <a:endParaRPr lang="en-US" sz="1400" dirty="0"/>
          </a:p>
          <a:p>
            <a:pPr marL="342900" indent="-342900">
              <a:spcAft>
                <a:spcPts val="800"/>
              </a:spcAft>
              <a:buSzPct val="100000"/>
              <a:buChar char="•"/>
            </a:pPr>
            <a:r>
              <a:rPr lang="en-US" sz="1400" dirty="0">
                <a:solidFill>
                  <a:schemeClr val="accent6"/>
                </a:solidFill>
              </a:rPr>
              <a:t>Architecture and lifecycle diagram formats</a:t>
            </a:r>
            <a:endParaRPr lang="en-US" sz="1400" dirty="0"/>
          </a:p>
        </p:txBody>
      </p:sp>
      <p:sp>
        <p:nvSpPr>
          <p:cNvPr id="17" name="reuse-1-card"/>
          <p:cNvSpPr/>
          <p:nvPr/>
        </p:nvSpPr>
        <p:spPr>
          <a:xfrm>
            <a:off x="4338218" y="2560320"/>
            <a:ext cx="3515258" cy="2743200"/>
          </a:xfrm>
          <a:prstGeom prst="roundRect">
            <a:avLst>
              <a:gd name="adj" fmla="val 4000"/>
            </a:avLst>
          </a:prstGeom>
          <a:solidFill>
            <a:schemeClr val="accent4"/>
          </a:solidFill>
          <a:ln/>
        </p:spPr>
      </p:sp>
      <p:sp>
        <p:nvSpPr>
          <p:cNvPr id="18" name="reuse-1-title"/>
          <p:cNvSpPr txBox="1"/>
          <p:nvPr/>
        </p:nvSpPr>
        <p:spPr>
          <a:xfrm>
            <a:off x="4612538" y="2743200"/>
            <a:ext cx="2966618" cy="411480"/>
          </a:xfrm>
          <a:prstGeom prst="rect">
            <a:avLst/>
          </a:prstGeom>
          <a:noFill/>
          <a:ln/>
        </p:spPr>
        <p:txBody>
          <a:bodyPr wrap="square" lIns="0" tIns="0" rIns="0" bIns="0" rtlCol="0" anchor="t"/>
          <a:lstStyle/>
          <a:p>
            <a:pPr indent="0" marL="0">
              <a:buNone/>
            </a:pPr>
            <a:r>
              <a:rPr lang="en-US" sz="2000" b="1" dirty="0">
                <a:solidFill>
                  <a:schemeClr val="accent5"/>
                </a:solidFill>
              </a:rPr>
              <a:t>Where next</a:t>
            </a:r>
            <a:endParaRPr lang="en-US" sz="2000" dirty="0"/>
          </a:p>
        </p:txBody>
      </p:sp>
      <p:sp>
        <p:nvSpPr>
          <p:cNvPr id="19" name="reuse-1-list"/>
          <p:cNvSpPr txBox="1"/>
          <p:nvPr/>
        </p:nvSpPr>
        <p:spPr>
          <a:xfrm>
            <a:off x="4612538" y="3246120"/>
            <a:ext cx="2966618"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accent6"/>
                </a:solidFill>
              </a:rPr>
              <a:t>ERM 2.0 go-live and run phase with FZR</a:t>
            </a:r>
            <a:endParaRPr lang="en-US" sz="1400" dirty="0"/>
          </a:p>
          <a:p>
            <a:pPr marL="342900" indent="-342900">
              <a:spcAft>
                <a:spcPts val="800"/>
              </a:spcAft>
              <a:buSzPct val="100000"/>
              <a:buChar char="•"/>
            </a:pPr>
            <a:r>
              <a:rPr lang="en-US" sz="1400" dirty="0">
                <a:solidFill>
                  <a:schemeClr val="accent6"/>
                </a:solidFill>
              </a:rPr>
              <a:t>Other Slate apps in [business areas]</a:t>
            </a:r>
            <a:endParaRPr lang="en-US" sz="1400" dirty="0"/>
          </a:p>
          <a:p>
            <a:pPr marL="342900" indent="-342900">
              <a:spcAft>
                <a:spcPts val="800"/>
              </a:spcAft>
              <a:buSzPct val="100000"/>
              <a:buChar char="•"/>
            </a:pPr>
            <a:r>
              <a:rPr lang="en-US" sz="1400" dirty="0">
                <a:solidFill>
                  <a:schemeClr val="accent6"/>
                </a:solidFill>
              </a:rPr>
              <a:t>Functions beyond DMS, via the architecture sync</a:t>
            </a:r>
            <a:endParaRPr lang="en-US" sz="1400" dirty="0"/>
          </a:p>
          <a:p>
            <a:pPr marL="342900" indent="-342900">
              <a:spcAft>
                <a:spcPts val="800"/>
              </a:spcAft>
              <a:buSzPct val="100000"/>
              <a:buChar char="•"/>
            </a:pPr>
            <a:r>
              <a:rPr lang="en-US" sz="1400" dirty="0">
                <a:solidFill>
                  <a:schemeClr val="accent6"/>
                </a:solidFill>
              </a:rPr>
              <a:t>Any low-code tool with little documentation</a:t>
            </a:r>
            <a:endParaRPr lang="en-US" sz="1400" dirty="0"/>
          </a:p>
        </p:txBody>
      </p:sp>
      <p:sp>
        <p:nvSpPr>
          <p:cNvPr id="20" name="ask-card"/>
          <p:cNvSpPr/>
          <p:nvPr/>
        </p:nvSpPr>
        <p:spPr>
          <a:xfrm>
            <a:off x="8127797" y="2560320"/>
            <a:ext cx="3515258" cy="2743200"/>
          </a:xfrm>
          <a:prstGeom prst="roundRect">
            <a:avLst>
              <a:gd name="adj" fmla="val 4000"/>
            </a:avLst>
          </a:prstGeom>
          <a:solidFill>
            <a:schemeClr val="bg1"/>
          </a:solidFill>
          <a:ln/>
        </p:spPr>
      </p:sp>
      <p:sp>
        <p:nvSpPr>
          <p:cNvPr id="21" name="ask-text"/>
          <p:cNvSpPr txBox="1"/>
          <p:nvPr/>
        </p:nvSpPr>
        <p:spPr>
          <a:xfrm>
            <a:off x="8402117" y="2743200"/>
            <a:ext cx="2966618" cy="2377440"/>
          </a:xfrm>
          <a:prstGeom prst="rect">
            <a:avLst/>
          </a:prstGeom>
          <a:noFill/>
          <a:ln/>
        </p:spPr>
        <p:txBody>
          <a:bodyPr wrap="square" lIns="0" tIns="0" rIns="0" bIns="0" rtlCol="0" anchor="t"/>
          <a:lstStyle/>
          <a:p>
            <a:pPr indent="0" marL="0">
              <a:buNone/>
            </a:pPr>
            <a:r>
              <a:rPr lang="en-US" sz="2000" b="1" dirty="0">
                <a:solidFill>
                  <a:schemeClr val="accent3"/>
                </a:solidFill>
              </a:rPr>
              <a:t>Our ask</a:t>
            </a:r>
            <a:endParaRPr lang="en-US" sz="2000" dirty="0"/>
          </a:p>
          <a:p>
            <a:pPr indent="0" marL="0">
              <a:buNone/>
            </a:pPr>
            <a:r>
              <a:rPr lang="en-US" sz="800" dirty="0">
                <a:solidFill>
                  <a:srgbClr val="000000"/>
                </a:solidFill>
              </a:rPr>
              <a:t> </a:t>
            </a:r>
            <a:endParaRPr lang="en-US" sz="2000" dirty="0"/>
          </a:p>
          <a:p>
            <a:pPr indent="0" marL="0">
              <a:buNone/>
            </a:pPr>
            <a:r>
              <a:rPr lang="en-US" sz="1500" dirty="0">
                <a:solidFill>
                  <a:schemeClr val="tx1"/>
                </a:solidFill>
              </a:rPr>
              <a:t>Support the playbook as a standard way to move business-built tools to industrial apps. We have aligned with [Architect] to propose it at the architecture sync.</a:t>
            </a:r>
            <a:endParaRPr lang="en-US" sz="2000" dirty="0"/>
          </a:p>
          <a:p>
            <a:pPr indent="0" marL="0">
              <a:buNone/>
            </a:pPr>
            <a:r>
              <a:rPr lang="en-US" sz="800" dirty="0">
                <a:solidFill>
                  <a:srgbClr val="000000"/>
                </a:solidFill>
              </a:rPr>
              <a:t> </a:t>
            </a:r>
            <a:endParaRPr lang="en-US" sz="2000" dirty="0"/>
          </a:p>
          <a:p>
            <a:pPr indent="0" marL="0">
              <a:buNone/>
            </a:pPr>
            <a:r>
              <a:rPr lang="en-US" sz="1400" dirty="0">
                <a:solidFill>
                  <a:schemeClr val="tx2"/>
                </a:solidFill>
              </a:rPr>
              <a:t>[Next: a first team outside DMS]</a:t>
            </a:r>
            <a:endParaRPr lang="en-US" sz="2000" dirty="0"/>
          </a:p>
        </p:txBody>
      </p:sp>
      <p:sp>
        <p:nvSpPr>
          <p:cNvPr id="22" name="closing"/>
          <p:cNvSpPr txBox="1"/>
          <p:nvPr/>
        </p:nvSpPr>
        <p:spPr>
          <a:xfrm>
            <a:off x="548640" y="5623560"/>
            <a:ext cx="11094415" cy="502920"/>
          </a:xfrm>
          <a:prstGeom prst="rect">
            <a:avLst/>
          </a:prstGeom>
          <a:noFill/>
          <a:ln/>
        </p:spPr>
        <p:txBody>
          <a:bodyPr wrap="square" lIns="0" tIns="0" rIns="0" bIns="0" rtlCol="0" anchor="t"/>
          <a:lstStyle/>
          <a:p>
            <a:pPr indent="0" marL="0">
              <a:buNone/>
            </a:pPr>
            <a:r>
              <a:rPr lang="en-US" sz="2200" b="1" dirty="0">
                <a:solidFill>
                  <a:schemeClr val="bg1"/>
                </a:solidFill>
              </a:rPr>
              <a:t>From a business-built tool to an industrial product, and a method for the next app.</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9" fill="hold">
                      <p:stCondLst>
                        <p:cond delay="indefinite"/>
                        <p:cond evt="onBegin" delay="0">
                          <p:tn val="2"/>
                        </p:cond>
                      </p:stCondLst>
                      <p:childTnLst>
                        <p:par>
                          <p:cTn id="9" fill="hold">
                            <p:stCondLst>
                              <p:cond delay="0"/>
                            </p:stCondLst>
                            <p:childTnLst>
                              <p:par>
                                <p:cTn id="3" presetID="22" presetClass="entr" presetSubtype="8"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wipe(left)">
                                      <p:cBhvr>
                                        <p:cTn id="5" dur="450"/>
                                        <p:tgtEl>
                                          <p:spTgt spid="4"/>
                                        </p:tgtEl>
                                      </p:cBhvr>
                                    </p:animEffect>
                                  </p:childTnLst>
                                </p:cTn>
                              </p:par>
                              <p:par>
                                <p:cTn id="6" presetID="22" presetClass="entr" presetSubtype="8"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wipe(left)">
                                      <p:cBhvr>
                                        <p:cTn id="8" dur="450"/>
                                        <p:tgtEl>
                                          <p:spTgt spid="5"/>
                                        </p:tgtEl>
                                      </p:cBhvr>
                                    </p:animEffect>
                                  </p:childTnLst>
                                </p:cTn>
                              </p:par>
                            </p:childTnLst>
                          </p:cTn>
                        </p:par>
                        <p:par>
                          <p:cTn id="16" fill="hold">
                            <p:stCondLst>
                              <p:cond delay="350"/>
                            </p:stCondLst>
                            <p:childTnLst>
                              <p:par>
                                <p:cTn id="10" presetID="22" presetClass="entr" presetSubtype="8"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450"/>
                                        <p:tgtEl>
                                          <p:spTgt spid="6"/>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450"/>
                                        <p:tgtEl>
                                          <p:spTgt spid="7"/>
                                        </p:tgtEl>
                                      </p:cBhvr>
                                    </p:animEffect>
                                  </p:childTnLst>
                                </p:cTn>
                              </p:par>
                            </p:childTnLst>
                          </p:cTn>
                        </p:par>
                        <p:par>
                          <p:cTn id="23" fill="hold">
                            <p:stCondLst>
                              <p:cond delay="700"/>
                            </p:stCondLst>
                            <p:childTnLst>
                              <p:par>
                                <p:cTn id="17" presetID="22" presetClass="entr" presetSubtype="8"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450"/>
                                        <p:tgtEl>
                                          <p:spTgt spid="8"/>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450"/>
                                        <p:tgtEl>
                                          <p:spTgt spid="9"/>
                                        </p:tgtEl>
                                      </p:cBhvr>
                                    </p:animEffect>
                                  </p:childTnLst>
                                </p:cTn>
                              </p:par>
                            </p:childTnLst>
                          </p:cTn>
                        </p:par>
                        <p:par>
                          <p:cTn id="30" fill="hold">
                            <p:stCondLst>
                              <p:cond delay="1050"/>
                            </p:stCondLst>
                            <p:childTnLst>
                              <p:par>
                                <p:cTn id="24" presetID="22" presetClass="entr" presetSubtype="8"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450"/>
                                        <p:tgtEl>
                                          <p:spTgt spid="10"/>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450"/>
                                        <p:tgtEl>
                                          <p:spTgt spid="11"/>
                                        </p:tgtEl>
                                      </p:cBhvr>
                                    </p:animEffect>
                                  </p:childTnLst>
                                </p:cTn>
                              </p:par>
                            </p:childTnLst>
                          </p:cTn>
                        </p:par>
                        <p:par>
                          <p:cTn id="37" fill="hold">
                            <p:stCondLst>
                              <p:cond delay="1400"/>
                            </p:stCondLst>
                            <p:childTnLst>
                              <p:par>
                                <p:cTn id="31" presetID="22" presetClass="entr" presetSubtype="8"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450"/>
                                        <p:tgtEl>
                                          <p:spTgt spid="12"/>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450"/>
                                        <p:tgtEl>
                                          <p:spTgt spid="13"/>
                                        </p:tgtEl>
                                      </p:cBhvr>
                                    </p:animEffect>
                                  </p:childTnLst>
                                </p:cTn>
                              </p:par>
                            </p:childTnLst>
                          </p:cTn>
                        </p:par>
                        <p:par>
                          <p:cTn id="47" fill="hold">
                            <p:stCondLst>
                              <p:cond delay="1750"/>
                            </p:stCondLst>
                            <p:childTnLst>
                              <p:par>
                                <p:cTn id="38" presetID="10"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5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5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50"/>
                                        <p:tgtEl>
                                          <p:spTgt spid="16"/>
                                        </p:tgtEl>
                                      </p:cBhvr>
                                    </p:animEffect>
                                  </p:childTnLst>
                                </p:cTn>
                              </p:par>
                            </p:childTnLst>
                          </p:cTn>
                        </p:par>
                        <p:par>
                          <p:cTn id="57" fill="hold">
                            <p:stCondLst>
                              <p:cond delay="2100"/>
                            </p:stCondLst>
                            <p:childTnLst>
                              <p:par>
                                <p:cTn id="48" presetID="10" presetClass="entr" presetSubtype="0" fill="hold" grpId="0" nodeType="after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5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45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450"/>
                                        <p:tgtEl>
                                          <p:spTgt spid="19"/>
                                        </p:tgtEl>
                                      </p:cBhvr>
                                    </p:animEffect>
                                  </p:childTnLst>
                                </p:cTn>
                              </p:par>
                            </p:childTnLst>
                          </p:cTn>
                        </p:par>
                        <p:par>
                          <p:cTn id="64" fill="hold">
                            <p:stCondLst>
                              <p:cond delay="2450"/>
                            </p:stCondLst>
                            <p:childTnLst>
                              <p:par>
                                <p:cTn id="58" presetID="10" presetClass="entr" presetSubtype="0" fill="hold" grpId="0" nodeType="after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5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50"/>
                                        <p:tgtEl>
                                          <p:spTgt spid="21"/>
                                        </p:tgtEl>
                                      </p:cBhvr>
                                    </p:animEffect>
                                  </p:childTnLst>
                                </p:cTn>
                              </p:par>
                            </p:childTnLst>
                          </p:cTn>
                        </p:par>
                        <p:par>
                          <p:cTn id="68" fill="hold">
                            <p:stCondLst>
                              <p:cond delay="2800"/>
                            </p:stCondLst>
                            <p:childTnLst>
                              <p:par>
                                <p:cTn id="65" presetID="22" presetClass="entr" presetSubtype="8" fill="hold" grpId="0" nodeType="after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left)">
                                      <p:cBhvr>
                                        <p:cTn id="67"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theme/theme1.xml><?xml version="1.0" encoding="utf-8"?>
<a:theme xmlns:a="http://schemas.openxmlformats.org/drawingml/2006/main" name="ERM Migration Airbus">
  <a:themeElements>
    <a:clrScheme name="ERM Migration Airbus">
      <a:dk1>
        <a:srgbClr val="00205B"/>
      </a:dk1>
      <a:lt1>
        <a:srgbClr val="FFFFFF"/>
      </a:lt1>
      <a:dk2>
        <a:srgbClr val="4A5568"/>
      </a:dk2>
      <a:lt2>
        <a:srgbClr val="EEF1F7"/>
      </a:lt2>
      <a:accent1>
        <a:srgbClr val="C8326C"/>
      </a:accent1>
      <a:accent2>
        <a:srgbClr val="0085CA"/>
      </a:accent2>
      <a:accent3>
        <a:srgbClr val="B0245A"/>
      </a:accent3>
      <a:accent4>
        <a:srgbClr val="5F3A8F"/>
      </a:accent4>
      <a:accent5>
        <a:srgbClr val="C9D6EA"/>
      </a:accent5>
      <a:accent6>
        <a:srgbClr val="DCE3EE"/>
      </a:accent6>
      <a:hlink>
        <a:srgbClr val="0085CA"/>
      </a:hlink>
      <a:folHlink>
        <a:srgbClr val="5F3A8F"/>
      </a:folHlink>
    </a:clrScheme>
    <a:fontScheme name="ERM Migration Airbu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ERM 2.0: Digital Leaders</dc:title>
  <dc:subject>PptxGenJS Presentation</dc:subject>
  <dc:creator>PptxGenJS</dc:creator>
  <cp:lastModifiedBy>PptxGenJS</cp:lastModifiedBy>
  <cp:revision>1</cp:revision>
  <dcterms:created xsi:type="dcterms:W3CDTF">2026-10-11T10:12:32Z</dcterms:created>
  <dcterms:modified xsi:type="dcterms:W3CDTF">2026-10-11T10:12:32Z</dcterms:modified>
</cp:coreProperties>
</file>