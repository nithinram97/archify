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nswer" id="{976a79f0-e7d2-08d1-f704-09e3144c994b}">
          <p14:sldIdLst>
            <p14:sldId id="256"/>
          </p14:sldIdLst>
        </p14:section>
        <p14:section name="Situation" id="{7fc3d639-b828-db46-3ccf-ec1bd167fca2}">
          <p14:sldIdLst>
            <p14:sldId id="257"/>
          </p14:sldIdLst>
        </p14:section>
        <p14:section name="Complication" id="{798dc338-5c53-f1b0-a923-870122805125}">
          <p14:sldIdLst>
            <p14:sldId id="258"/>
          </p14:sldIdLst>
        </p14:section>
        <p14:section name="Answer and proof" id="{fb83d86c-4fe4-31b6-37f6-1b3484a375b0}">
          <p14:sldIdLst>
            <p14:sldId id="259"/>
            <p14:sldId id="260"/>
          </p14:sldIdLst>
        </p14:section>
        <p14:section name="Fit and scale" id="{64316c4d-9dbe-8461-a5ff-106430e23b67}">
          <p14:sldIdLst>
            <p14:sldId id="261"/>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Unique users</c:v>
                </c:pt>
              </c:strCache>
            </c:strRef>
          </c:tx>
          <c:spPr>
            <a:solidFill>
              <a:srgbClr val="0085CA"/>
            </a:solidFill>
            <a:ln w="25400" cap="flat">
              <a:solidFill>
                <a:srgbClr val="0085C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0085CA"/>
              </a:solidFill>
              <a:ln w="9525" cap="flat">
                <a:solidFill>
                  <a:srgbClr val="0085CA"/>
                </a:solidFill>
                <a:prstDash val="solid"/>
                <a:round/>
              </a:ln>
              <a:effectLst/>
            </c:spPr>
          </c:marker>
          <c:cat>
            <c:multiLvlStrRef>
              <c:f>Sheet1!$A$2:$A$24</c:f>
              <c:multiLvlStrCache>
                <c:ptCount val="23"/>
                <c:lvl>
                  <c:pt idx="0">
                    <c:v>Aug 24</c:v>
                  </c:pt>
                  <c:pt idx="1">
                    <c:v>Sep 24</c:v>
                  </c:pt>
                  <c:pt idx="2">
                    <c:v>Oct 24</c:v>
                  </c:pt>
                  <c:pt idx="3">
                    <c:v>Nov 24</c:v>
                  </c:pt>
                  <c:pt idx="4">
                    <c:v>Dec 24</c:v>
                  </c:pt>
                  <c:pt idx="5">
                    <c:v>Jan 25</c:v>
                  </c:pt>
                  <c:pt idx="6">
                    <c:v>Feb 25</c:v>
                  </c:pt>
                  <c:pt idx="7">
                    <c:v>Mar 25</c:v>
                  </c:pt>
                  <c:pt idx="8">
                    <c:v>Apr 25</c:v>
                  </c:pt>
                  <c:pt idx="9">
                    <c:v>May 25</c:v>
                  </c:pt>
                  <c:pt idx="10">
                    <c:v>Jun 25</c:v>
                  </c:pt>
                  <c:pt idx="11">
                    <c:v>Jul 25</c:v>
                  </c:pt>
                  <c:pt idx="12">
                    <c:v>Aug 25</c:v>
                  </c:pt>
                  <c:pt idx="13">
                    <c:v>Sep 25</c:v>
                  </c:pt>
                  <c:pt idx="14">
                    <c:v>Oct 25</c:v>
                  </c:pt>
                  <c:pt idx="15">
                    <c:v>Nov 25</c:v>
                  </c:pt>
                  <c:pt idx="16">
                    <c:v>Dec 25</c:v>
                  </c:pt>
                  <c:pt idx="17">
                    <c:v>Jan 26</c:v>
                  </c:pt>
                  <c:pt idx="18">
                    <c:v>Feb 26</c:v>
                  </c:pt>
                  <c:pt idx="19">
                    <c:v>Mar 26</c:v>
                  </c:pt>
                  <c:pt idx="20">
                    <c:v>Apr 26</c:v>
                  </c:pt>
                  <c:pt idx="21">
                    <c:v>May 26</c:v>
                  </c:pt>
                  <c:pt idx="22">
                    <c:v>Jun 26</c:v>
                  </c:pt>
                </c:lvl>
              </c:multiLvlStrCache>
            </c:multiLvlStrRef>
          </c:cat>
          <c:val>
            <c:numRef>
              <c:f>Sheet1!$B$2:$B$24</c:f>
              <c:numCache>
                <c:formatCode>General</c:formatCode>
                <c:ptCount val="23"/>
                <c:pt idx="0">
                  <c:v>0</c:v>
                </c:pt>
                <c:pt idx="1">
                  <c:v>50</c:v>
                </c:pt>
                <c:pt idx="2">
                  <c:v>95</c:v>
                </c:pt>
                <c:pt idx="3">
                  <c:v>105</c:v>
                </c:pt>
                <c:pt idx="4">
                  <c:v>65</c:v>
                </c:pt>
                <c:pt idx="5">
                  <c:v>110</c:v>
                </c:pt>
                <c:pt idx="6">
                  <c:v>135</c:v>
                </c:pt>
                <c:pt idx="7">
                  <c:v>125</c:v>
                </c:pt>
                <c:pt idx="8">
                  <c:v>150</c:v>
                </c:pt>
                <c:pt idx="9">
                  <c:v>245</c:v>
                </c:pt>
                <c:pt idx="10">
                  <c:v>220</c:v>
                </c:pt>
                <c:pt idx="11">
                  <c:v>230</c:v>
                </c:pt>
                <c:pt idx="12">
                  <c:v>240</c:v>
                </c:pt>
                <c:pt idx="13">
                  <c:v>265</c:v>
                </c:pt>
                <c:pt idx="14">
                  <c:v>230</c:v>
                </c:pt>
                <c:pt idx="15">
                  <c:v>300</c:v>
                </c:pt>
                <c:pt idx="16">
                  <c:v>190</c:v>
                </c:pt>
                <c:pt idx="17">
                  <c:v>210</c:v>
                </c:pt>
                <c:pt idx="18">
                  <c:v>340</c:v>
                </c:pt>
                <c:pt idx="19">
                  <c:v>280</c:v>
                </c:pt>
                <c:pt idx="20">
                  <c:v>220</c:v>
                </c:pt>
                <c:pt idx="21">
                  <c:v>305</c:v>
                </c:pt>
                <c:pt idx="22">
                  <c:v>310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4A5568"/>
                </a:solidFill>
                <a:latin typeface="+mn-lt"/>
              </a:defRPr>
            </a:pPr>
            <a:endParaRPr lang="en-US"/>
          </a:p>
        </c:txPr>
        <c:crossAx val="2094734552"/>
        <c:crosses val="autoZero"/>
        <c:auto val="1"/>
        <c:lblAlgn val="ctr"/>
        <c:noMultiLvlLbl val="1"/>
        <c:tickLblSkip val="2"/>
      </c:catAx>
      <c:valAx>
        <c:axId val="2094734552"/>
        <c:scaling>
          <c:orientation val="minMax"/>
          <c:max val="350"/>
          <c:min val="0"/>
        </c:scaling>
        <c:delete val="0"/>
        <c:axPos val="l"/>
        <c:majorGridlines>
          <c:spPr>
            <a:ln w="9525" cap="flat">
              <a:solidFill>
                <a:srgbClr val="DCE3EE"/>
              </a:solidFill>
              <a:prstDash val="solid"/>
              <a:round/>
            </a:ln>
          </c:spPr>
        </c:majorGridlines>
        <c:title>
          <c:tx>
            <c:rich>
              <a:bodyPr/>
              <a:lstStyle/>
              <a:p>
                <a:pPr>
                  <a:defRPr sz="1000" b="0" i="0" u="none" strike="noStrike">
                    <a:solidFill>
                      <a:srgbClr val="4A5568"/>
                    </a:solidFill>
                    <a:latin typeface="Arial"/>
                  </a:defRPr>
                </a:pPr>
                <a:r>
                  <a:rPr sz="1000" b="0" i="0" u="none" strike="noStrike">
                    <a:solidFill>
                      <a:srgbClr val="4A5568"/>
                    </a:solidFill>
                    <a:latin typeface="Arial"/>
                  </a:rPr>
                  <a:t>Unique users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A5568"/>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the answer first, in one breath: two developers rebuilt ERM, a business-critical Slate application with no documentation, for Airbus DevX with React and OSDK in a single PI, ready for go-live, using an AI-assisted method we designed and that any team can reuse. Then: let me show you why that was hard, what we did differently, and the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stakes. ERM is where Airbus risk managers manage ARM risks and opportunities: custom dashboards, live editing, trend following, governed quarterly releases and sharing across divisions. 892 people have used it; more than 320 are active in a peak month; more than 1,600 dashboards exist and more than 10 are updated every day, from Blagnac and Hamburg to Broughton, Getafe, Mirabel and Bangalore. Usage has grown steadily since launch. So whatever we did, we could not break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complication. In Slate, one simple action triggers a cascade of widgets, events, actions and variables, so any change risks breaking something unrelated, and every tab switch recalculates large variable trees. And nothing was documented: 8 exports, about 25 MB of configuration. Let the animation play: the app breaks into a shell and 7 modules, and 105 features come out of it. Then ask the question on screen: how do two developers move 105 hidden features in one PI without breaking risk reporting?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innovation. A usual migration starts with interviews and clicking through screens, reads code in fragments, finds gaps late in testing and documents afterwards, if at all. We flipped it. The AI read all 8 Slate exports and catalogued 105 features. Our script, pack-project.ts, packs the whole React app into one dated file, so the AI sees every component and OSDK call at once. The AI then checked every feature against the code and found 31 gaps; people reviewed, fixed and deployed. The diagrams were produced alongside the work. AI drafts, people verify. If time allows, show the live app here for 60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proof, hard facts first. One PI. Two developers. All 105 features carried over and checked. The AI review found and prioritised 31 gaps, including 7 security and data-integrity issues such as unsanitised rich text and permission checks, all caught in review; the dashboard sharing-access fix is deployed. Documentation went from nothing to 10 documents. Against a generic estimate of about 340 person-days, roughly 17 sprints for two developers, we used 4 sprints: about 76% less effort. Say clearly that this is a generic estimate. Then the readiness row: be clear the app is not live yet. Everything is checked and the backend sharing fix is deployed; go-live is planned for [date], after which the Slate app is retired. Tell the jury what you will measure after go-live: users retained, page-switch time against Slate, and incidents after release.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strategic fit and teamwork; the flow builds one branch at a time. One: Leverage AI to solve business problems. The AI read all 8 Slate exports and the packed React code, recovered 105 features from an undocumented app and found 31 gaps. Two: Deliver on time, on cost, on quality. Two developers delivered it in one PI, about 76% less effort than a generic manual estimate. Three: Ensure our operational performance. ERM is a business system; every one of its 105 features was tracked for parity, and it is rebuilt on standard, maintainable React and OSDK code, ready to replace the legacy Slate configuration. Four: Grow digital acumen and competencies. pack-project.ts and the playbook mean other teams can repeat this, which builds AI-assisted engineering skills across the organisation. Finally the team strip: business users confirmed the feature catalogue, data and security owners kept the restricted-view access model intact, and backend and frontend fixes shipped together. Name the people and teams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scale and make an ask. The method is five steps: pack, extract, compare, fix, document. The pieces are ready to reuse: pack-project.ts, the comparison template and the diagram formats. It fits other Slate apps and any low-code tool with little documentation. Then the ask: fill in what you want from the jury or leadership, for example sponsorship to run the playbook on a number of other Slate apps next PI, or a team to pilot it. End on the line on screen and invite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9811512" y="182880"/>
            <a:ext cx="2194560" cy="274320"/>
          </a:xfrm>
          <a:prstGeom prst="rect">
            <a:avLst/>
          </a:prstGeom>
          <a:noFill/>
          <a:ln/>
        </p:spPr>
        <p:txBody>
          <a:bodyPr wrap="square" lIns="0" tIns="0" rIns="0" bIns="0" rtlCol="0" anchor="ctr"/>
          <a:lstStyle/>
          <a:p>
            <a:pPr algn="r" indent="0" marL="0">
              <a:buNone/>
            </a:pPr>
            <a:r>
              <a:rPr lang="en-US" sz="1000" dirty="0">
                <a:solidFill>
                  <a:srgbClr val="D2691E"/>
                </a:solidFill>
              </a:rPr>
              <a:t>Airbus Amber</a:t>
            </a:r>
            <a:endParaRPr lang="en-US" sz="1000" dirty="0"/>
          </a:p>
        </p:txBody>
      </p:sp>
      <p:sp>
        <p:nvSpPr>
          <p:cNvPr id="3" name="Text 1"/>
          <p:cNvSpPr/>
          <p:nvPr>
            <p:ph idx="101"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9811512" y="182880"/>
            <a:ext cx="2194560" cy="274320"/>
          </a:xfrm>
          <a:prstGeom prst="rect">
            <a:avLst/>
          </a:prstGeom>
          <a:noFill/>
          <a:ln/>
        </p:spPr>
        <p:txBody>
          <a:bodyPr wrap="square" lIns="0" tIns="0" rIns="0" bIns="0" rtlCol="0" anchor="ctr"/>
          <a:lstStyle/>
          <a:p>
            <a:pPr algn="r" indent="0" marL="0">
              <a:buNone/>
            </a:pPr>
            <a:r>
              <a:rPr lang="en-US" sz="1000" dirty="0">
                <a:solidFill>
                  <a:srgbClr val="D2691E"/>
                </a:solidFill>
              </a:rPr>
              <a:t>Airbus Amber</a:t>
            </a:r>
            <a:endParaRPr lang="en-US" sz="1000" dirty="0"/>
          </a:p>
        </p:txBody>
      </p:sp>
      <p:sp>
        <p:nvSpPr>
          <p:cNvPr id="3" name="Text 1"/>
          <p:cNvSpPr/>
          <p:nvPr>
            <p:ph idx="101"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_ALT">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9811512" y="182880"/>
            <a:ext cx="2194560" cy="274320"/>
          </a:xfrm>
          <a:prstGeom prst="rect">
            <a:avLst/>
          </a:prstGeom>
          <a:noFill/>
          <a:ln/>
        </p:spPr>
        <p:txBody>
          <a:bodyPr wrap="square" lIns="0" tIns="0" rIns="0" bIns="0" rtlCol="0" anchor="ctr"/>
          <a:lstStyle/>
          <a:p>
            <a:pPr algn="r" indent="0" marL="0">
              <a:buNone/>
            </a:pPr>
            <a:r>
              <a:rPr lang="en-US" sz="1000" dirty="0">
                <a:solidFill>
                  <a:srgbClr val="D2691E"/>
                </a:solidFill>
              </a:rPr>
              <a:t>Airbus Amber</a:t>
            </a:r>
            <a:endParaRPr lang="en-US" sz="1000" dirty="0"/>
          </a:p>
        </p:txBody>
      </p:sp>
      <p:sp>
        <p:nvSpPr>
          <p:cNvPr id="3" name="Text 1"/>
          <p:cNvSpPr/>
          <p:nvPr>
            <p:ph idx="101"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gif"/><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gif"/><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eyebrow"/>
          <p:cNvSpPr txBox="1"/>
          <p:nvPr/>
        </p:nvSpPr>
        <p:spPr>
          <a:xfrm>
            <a:off x="3383280" y="2514600"/>
            <a:ext cx="8229600" cy="320040"/>
          </a:xfrm>
          <a:prstGeom prst="rect">
            <a:avLst/>
          </a:prstGeom>
          <a:noFill/>
          <a:ln/>
        </p:spPr>
        <p:txBody>
          <a:bodyPr wrap="square" lIns="0" tIns="0" rIns="0" bIns="0" rtlCol="0" anchor="t"/>
          <a:lstStyle/>
          <a:p>
            <a:pPr indent="0" marL="0">
              <a:buNone/>
            </a:pPr>
            <a:r>
              <a:rPr lang="en-US" sz="1400" b="1" spc="200" kern="0" dirty="0">
                <a:solidFill>
                  <a:schemeClr val="bg1"/>
                </a:solidFill>
              </a:rPr>
              <a:t>QUARTERLY AWARDS · INNOVATION</a:t>
            </a:r>
            <a:endParaRPr lang="en-US" sz="1400" dirty="0"/>
          </a:p>
        </p:txBody>
      </p:sp>
      <p:sp>
        <p:nvSpPr>
          <p:cNvPr id="3" name="cover-title"/>
          <p:cNvSpPr txBox="1"/>
          <p:nvPr/>
        </p:nvSpPr>
        <p:spPr>
          <a:xfrm>
            <a:off x="3383280" y="2880360"/>
            <a:ext cx="8503920" cy="685800"/>
          </a:xfrm>
          <a:prstGeom prst="rect">
            <a:avLst/>
          </a:prstGeom>
          <a:noFill/>
          <a:ln/>
        </p:spPr>
        <p:txBody>
          <a:bodyPr wrap="square" lIns="0" tIns="0" rIns="0" bIns="0" rtlCol="0" anchor="t"/>
          <a:lstStyle/>
          <a:p>
            <a:pPr indent="0" marL="0">
              <a:buNone/>
            </a:pPr>
            <a:r>
              <a:rPr lang="en-US" sz="3600" b="1" dirty="0">
                <a:solidFill>
                  <a:schemeClr val="bg1"/>
                </a:solidFill>
              </a:rPr>
              <a:t>Enterprise Risk Management (ERM)</a:t>
            </a:r>
            <a:endParaRPr lang="en-US" sz="3600" dirty="0"/>
          </a:p>
        </p:txBody>
      </p:sp>
      <p:sp>
        <p:nvSpPr>
          <p:cNvPr id="4" name="cover-answer"/>
          <p:cNvSpPr txBox="1"/>
          <p:nvPr/>
        </p:nvSpPr>
        <p:spPr>
          <a:xfrm>
            <a:off x="3383280" y="3611880"/>
            <a:ext cx="8321040" cy="914400"/>
          </a:xfrm>
          <a:prstGeom prst="rect">
            <a:avLst/>
          </a:prstGeom>
          <a:noFill/>
          <a:ln/>
        </p:spPr>
        <p:txBody>
          <a:bodyPr wrap="square" lIns="0" tIns="0" rIns="0" bIns="0" rtlCol="0" anchor="t"/>
          <a:lstStyle/>
          <a:p>
            <a:pPr indent="0" marL="0">
              <a:buNone/>
            </a:pPr>
            <a:r>
              <a:rPr lang="en-US" sz="2000" dirty="0">
                <a:solidFill>
                  <a:schemeClr val="bg1"/>
                </a:solidFill>
              </a:rPr>
              <a:t>2 developers rebuilt a business-critical, undocumented app for Airbus DevX in one PI, with an AI method any team can reuse</a:t>
            </a:r>
            <a:endParaRPr lang="en-US" sz="2000" dirty="0"/>
          </a:p>
        </p:txBody>
      </p:sp>
      <p:sp>
        <p:nvSpPr>
          <p:cNvPr id="5" name="presenters"/>
          <p:cNvSpPr txBox="1"/>
          <p:nvPr/>
        </p:nvSpPr>
        <p:spPr>
          <a:xfrm>
            <a:off x="3383280" y="5806440"/>
            <a:ext cx="7315200" cy="365760"/>
          </a:xfrm>
          <a:prstGeom prst="rect">
            <a:avLst/>
          </a:prstGeom>
          <a:noFill/>
          <a:ln/>
        </p:spPr>
        <p:txBody>
          <a:bodyPr wrap="square" lIns="0" tIns="0" rIns="0" bIns="0" rtlCol="0" anchor="t"/>
          <a:lstStyle/>
          <a:p>
            <a:pPr indent="0" marL="0">
              <a:buNone/>
            </a:pPr>
            <a:r>
              <a:rPr lang="en-US" sz="1400" dirty="0">
                <a:solidFill>
                  <a:schemeClr val="bg1"/>
                </a:solidFill>
              </a:rPr>
              <a:t>[Team name] · [Presenter names] · [Date]</a:t>
            </a:r>
            <a:endParaRPr lang="en-US" sz="1400" dirty="0"/>
          </a:p>
        </p:txBody>
      </p:sp>
      <p:sp>
        <p:nvSpPr>
          <p:cNvPr id="7"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endParaRPr lang="en-US" sz="3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THE STAKES · IMPACT</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ERM is business-critical for 892 risk managers</a:t>
            </a:r>
            <a:endParaRPr lang="en-US" sz="3600" dirty="0"/>
          </a:p>
        </p:txBody>
      </p:sp>
      <p:sp>
        <p:nvSpPr>
          <p:cNvPr id="4" name="kpi-0-card"/>
          <p:cNvSpPr/>
          <p:nvPr/>
        </p:nvSpPr>
        <p:spPr>
          <a:xfrm>
            <a:off x="548640" y="1371600"/>
            <a:ext cx="2567864" cy="1417320"/>
          </a:xfrm>
          <a:prstGeom prst="roundRect">
            <a:avLst>
              <a:gd name="adj" fmla="val 7742"/>
            </a:avLst>
          </a:prstGeom>
          <a:solidFill>
            <a:schemeClr val="tx1"/>
          </a:solidFill>
          <a:ln/>
        </p:spPr>
      </p:sp>
      <p:sp>
        <p:nvSpPr>
          <p:cNvPr id="5" name="kpi-0-label"/>
          <p:cNvSpPr txBox="1"/>
          <p:nvPr/>
        </p:nvSpPr>
        <p:spPr>
          <a:xfrm>
            <a:off x="749808" y="1481328"/>
            <a:ext cx="2165528" cy="256032"/>
          </a:xfrm>
          <a:prstGeom prst="rect">
            <a:avLst/>
          </a:prstGeom>
          <a:noFill/>
          <a:ln/>
        </p:spPr>
        <p:txBody>
          <a:bodyPr wrap="square" lIns="0" tIns="0" rIns="0" bIns="0" rtlCol="0" anchor="t"/>
          <a:lstStyle/>
          <a:p>
            <a:pPr indent="0" marL="0">
              <a:buNone/>
            </a:pPr>
            <a:r>
              <a:rPr lang="en-US" sz="1000" b="1" spc="100" kern="0" dirty="0">
                <a:solidFill>
                  <a:schemeClr val="accent5"/>
                </a:solidFill>
              </a:rPr>
              <a:t>LIFETIME UNIQUE USERS</a:t>
            </a:r>
            <a:endParaRPr lang="en-US" sz="1000" dirty="0"/>
          </a:p>
        </p:txBody>
      </p:sp>
      <p:sp>
        <p:nvSpPr>
          <p:cNvPr id="6" name="kpi-0-value"/>
          <p:cNvSpPr txBox="1"/>
          <p:nvPr/>
        </p:nvSpPr>
        <p:spPr>
          <a:xfrm>
            <a:off x="749808" y="1737360"/>
            <a:ext cx="2165528" cy="594360"/>
          </a:xfrm>
          <a:prstGeom prst="rect">
            <a:avLst/>
          </a:prstGeom>
          <a:noFill/>
          <a:ln/>
        </p:spPr>
        <p:txBody>
          <a:bodyPr wrap="square" lIns="0" tIns="0" rIns="0" bIns="0" rtlCol="0" anchor="t"/>
          <a:lstStyle/>
          <a:p>
            <a:pPr indent="0" marL="0">
              <a:buNone/>
            </a:pPr>
            <a:r>
              <a:rPr lang="en-US" sz="3400" b="1" dirty="0">
                <a:solidFill>
                  <a:schemeClr val="bg1"/>
                </a:solidFill>
              </a:rPr>
              <a:t>892</a:t>
            </a:r>
            <a:endParaRPr lang="en-US" sz="3400" dirty="0"/>
          </a:p>
        </p:txBody>
      </p:sp>
      <p:sp>
        <p:nvSpPr>
          <p:cNvPr id="7" name="kpi-0-desc"/>
          <p:cNvSpPr txBox="1"/>
          <p:nvPr/>
        </p:nvSpPr>
        <p:spPr>
          <a:xfrm>
            <a:off x="749808" y="2331720"/>
            <a:ext cx="2165528" cy="365760"/>
          </a:xfrm>
          <a:prstGeom prst="rect">
            <a:avLst/>
          </a:prstGeom>
          <a:noFill/>
          <a:ln/>
        </p:spPr>
        <p:txBody>
          <a:bodyPr wrap="square" lIns="0" tIns="0" rIns="0" bIns="0" rtlCol="0" anchor="t"/>
          <a:lstStyle/>
          <a:p>
            <a:pPr indent="0" marL="0">
              <a:buNone/>
            </a:pPr>
            <a:r>
              <a:rPr lang="en-US" sz="1200" dirty="0">
                <a:solidFill>
                  <a:schemeClr val="accent5"/>
                </a:solidFill>
              </a:rPr>
              <a:t>Across engineering, programmes and operations</a:t>
            </a:r>
            <a:endParaRPr lang="en-US" sz="1200" dirty="0"/>
          </a:p>
        </p:txBody>
      </p:sp>
      <p:sp>
        <p:nvSpPr>
          <p:cNvPr id="8" name="kpi-1-card"/>
          <p:cNvSpPr/>
          <p:nvPr/>
        </p:nvSpPr>
        <p:spPr>
          <a:xfrm>
            <a:off x="3390824" y="1371600"/>
            <a:ext cx="2567864" cy="1417320"/>
          </a:xfrm>
          <a:prstGeom prst="roundRect">
            <a:avLst>
              <a:gd name="adj" fmla="val 7742"/>
            </a:avLst>
          </a:prstGeom>
          <a:solidFill>
            <a:schemeClr val="bg1"/>
          </a:solidFill>
          <a:ln/>
        </p:spPr>
      </p:sp>
      <p:sp>
        <p:nvSpPr>
          <p:cNvPr id="9" name="kpi-1-label"/>
          <p:cNvSpPr txBox="1"/>
          <p:nvPr/>
        </p:nvSpPr>
        <p:spPr>
          <a:xfrm>
            <a:off x="3591992" y="1481328"/>
            <a:ext cx="2165528" cy="256032"/>
          </a:xfrm>
          <a:prstGeom prst="rect">
            <a:avLst/>
          </a:prstGeom>
          <a:noFill/>
          <a:ln/>
        </p:spPr>
        <p:txBody>
          <a:bodyPr wrap="square" lIns="0" tIns="0" rIns="0" bIns="0" rtlCol="0" anchor="t"/>
          <a:lstStyle/>
          <a:p>
            <a:pPr indent="0" marL="0">
              <a:buNone/>
            </a:pPr>
            <a:r>
              <a:rPr lang="en-US" sz="1000" b="1" spc="100" kern="0" dirty="0">
                <a:solidFill>
                  <a:schemeClr val="tx2"/>
                </a:solidFill>
              </a:rPr>
              <a:t>MONTHLY ACTIVE PEAK</a:t>
            </a:r>
            <a:endParaRPr lang="en-US" sz="1000" dirty="0"/>
          </a:p>
        </p:txBody>
      </p:sp>
      <p:sp>
        <p:nvSpPr>
          <p:cNvPr id="10" name="kpi-1-value"/>
          <p:cNvSpPr txBox="1"/>
          <p:nvPr/>
        </p:nvSpPr>
        <p:spPr>
          <a:xfrm>
            <a:off x="3591992" y="1737360"/>
            <a:ext cx="2165528" cy="594360"/>
          </a:xfrm>
          <a:prstGeom prst="rect">
            <a:avLst/>
          </a:prstGeom>
          <a:noFill/>
          <a:ln/>
        </p:spPr>
        <p:txBody>
          <a:bodyPr wrap="square" lIns="0" tIns="0" rIns="0" bIns="0" rtlCol="0" anchor="t"/>
          <a:lstStyle/>
          <a:p>
            <a:pPr indent="0" marL="0">
              <a:buNone/>
            </a:pPr>
            <a:r>
              <a:rPr lang="en-US" sz="3400" b="1" dirty="0">
                <a:solidFill>
                  <a:schemeClr val="tx1"/>
                </a:solidFill>
              </a:rPr>
              <a:t>320+</a:t>
            </a:r>
            <a:endParaRPr lang="en-US" sz="3400" dirty="0"/>
          </a:p>
        </p:txBody>
      </p:sp>
      <p:sp>
        <p:nvSpPr>
          <p:cNvPr id="11" name="kpi-1-desc"/>
          <p:cNvSpPr txBox="1"/>
          <p:nvPr/>
        </p:nvSpPr>
        <p:spPr>
          <a:xfrm>
            <a:off x="3591992" y="2331720"/>
            <a:ext cx="2165528" cy="365760"/>
          </a:xfrm>
          <a:prstGeom prst="rect">
            <a:avLst/>
          </a:prstGeom>
          <a:noFill/>
          <a:ln/>
        </p:spPr>
        <p:txBody>
          <a:bodyPr wrap="square" lIns="0" tIns="0" rIns="0" bIns="0" rtlCol="0" anchor="t"/>
          <a:lstStyle/>
          <a:p>
            <a:pPr indent="0" marL="0">
              <a:buNone/>
            </a:pPr>
            <a:r>
              <a:rPr lang="en-US" sz="1200" dirty="0">
                <a:solidFill>
                  <a:schemeClr val="tx2"/>
                </a:solidFill>
              </a:rPr>
              <a:t>Active risk managers per reporting month</a:t>
            </a:r>
            <a:endParaRPr lang="en-US" sz="1200" dirty="0"/>
          </a:p>
        </p:txBody>
      </p:sp>
      <p:sp>
        <p:nvSpPr>
          <p:cNvPr id="12" name="kpi-2-card"/>
          <p:cNvSpPr/>
          <p:nvPr/>
        </p:nvSpPr>
        <p:spPr>
          <a:xfrm>
            <a:off x="6233008" y="1371600"/>
            <a:ext cx="2567864" cy="1417320"/>
          </a:xfrm>
          <a:prstGeom prst="roundRect">
            <a:avLst>
              <a:gd name="adj" fmla="val 7742"/>
            </a:avLst>
          </a:prstGeom>
          <a:solidFill>
            <a:schemeClr val="bg1"/>
          </a:solidFill>
          <a:ln/>
        </p:spPr>
      </p:sp>
      <p:sp>
        <p:nvSpPr>
          <p:cNvPr id="13" name="kpi-2-label"/>
          <p:cNvSpPr txBox="1"/>
          <p:nvPr/>
        </p:nvSpPr>
        <p:spPr>
          <a:xfrm>
            <a:off x="6434176" y="1481328"/>
            <a:ext cx="2165528" cy="256032"/>
          </a:xfrm>
          <a:prstGeom prst="rect">
            <a:avLst/>
          </a:prstGeom>
          <a:noFill/>
          <a:ln/>
        </p:spPr>
        <p:txBody>
          <a:bodyPr wrap="square" lIns="0" tIns="0" rIns="0" bIns="0" rtlCol="0" anchor="t"/>
          <a:lstStyle/>
          <a:p>
            <a:pPr indent="0" marL="0">
              <a:buNone/>
            </a:pPr>
            <a:r>
              <a:rPr lang="en-US" sz="1000" b="1" spc="100" kern="0" dirty="0">
                <a:solidFill>
                  <a:schemeClr val="tx2"/>
                </a:solidFill>
              </a:rPr>
              <a:t>DASHBOARDS CREATED</a:t>
            </a:r>
            <a:endParaRPr lang="en-US" sz="1000" dirty="0"/>
          </a:p>
        </p:txBody>
      </p:sp>
      <p:sp>
        <p:nvSpPr>
          <p:cNvPr id="14" name="kpi-2-value"/>
          <p:cNvSpPr txBox="1"/>
          <p:nvPr/>
        </p:nvSpPr>
        <p:spPr>
          <a:xfrm>
            <a:off x="6434176" y="1737360"/>
            <a:ext cx="2165528" cy="594360"/>
          </a:xfrm>
          <a:prstGeom prst="rect">
            <a:avLst/>
          </a:prstGeom>
          <a:noFill/>
          <a:ln/>
        </p:spPr>
        <p:txBody>
          <a:bodyPr wrap="square" lIns="0" tIns="0" rIns="0" bIns="0" rtlCol="0" anchor="t"/>
          <a:lstStyle/>
          <a:p>
            <a:pPr indent="0" marL="0">
              <a:buNone/>
            </a:pPr>
            <a:r>
              <a:rPr lang="en-US" sz="3400" b="1" dirty="0">
                <a:solidFill>
                  <a:schemeClr val="tx1"/>
                </a:solidFill>
              </a:rPr>
              <a:t>1,600+</a:t>
            </a:r>
            <a:endParaRPr lang="en-US" sz="3400" dirty="0"/>
          </a:p>
        </p:txBody>
      </p:sp>
      <p:sp>
        <p:nvSpPr>
          <p:cNvPr id="15" name="kpi-2-desc"/>
          <p:cNvSpPr txBox="1"/>
          <p:nvPr/>
        </p:nvSpPr>
        <p:spPr>
          <a:xfrm>
            <a:off x="6434176" y="2331720"/>
            <a:ext cx="2165528" cy="365760"/>
          </a:xfrm>
          <a:prstGeom prst="rect">
            <a:avLst/>
          </a:prstGeom>
          <a:noFill/>
          <a:ln/>
        </p:spPr>
        <p:txBody>
          <a:bodyPr wrap="square" lIns="0" tIns="0" rIns="0" bIns="0" rtlCol="0" anchor="t"/>
          <a:lstStyle/>
          <a:p>
            <a:pPr indent="0" marL="0">
              <a:buNone/>
            </a:pPr>
            <a:r>
              <a:rPr lang="en-US" sz="1200" dirty="0">
                <a:solidFill>
                  <a:schemeClr val="tx2"/>
                </a:solidFill>
              </a:rPr>
              <a:t>Custom dashboards created to date</a:t>
            </a:r>
            <a:endParaRPr lang="en-US" sz="1200" dirty="0"/>
          </a:p>
        </p:txBody>
      </p:sp>
      <p:sp>
        <p:nvSpPr>
          <p:cNvPr id="16" name="kpi-3-card"/>
          <p:cNvSpPr/>
          <p:nvPr/>
        </p:nvSpPr>
        <p:spPr>
          <a:xfrm>
            <a:off x="9075191" y="1371600"/>
            <a:ext cx="2567864" cy="1417320"/>
          </a:xfrm>
          <a:prstGeom prst="roundRect">
            <a:avLst>
              <a:gd name="adj" fmla="val 7742"/>
            </a:avLst>
          </a:prstGeom>
          <a:solidFill>
            <a:schemeClr val="bg1"/>
          </a:solidFill>
          <a:ln/>
        </p:spPr>
      </p:sp>
      <p:sp>
        <p:nvSpPr>
          <p:cNvPr id="17" name="kpi-3-label"/>
          <p:cNvSpPr txBox="1"/>
          <p:nvPr/>
        </p:nvSpPr>
        <p:spPr>
          <a:xfrm>
            <a:off x="9276359" y="1481328"/>
            <a:ext cx="2165528" cy="256032"/>
          </a:xfrm>
          <a:prstGeom prst="rect">
            <a:avLst/>
          </a:prstGeom>
          <a:noFill/>
          <a:ln/>
        </p:spPr>
        <p:txBody>
          <a:bodyPr wrap="square" lIns="0" tIns="0" rIns="0" bIns="0" rtlCol="0" anchor="t"/>
          <a:lstStyle/>
          <a:p>
            <a:pPr indent="0" marL="0">
              <a:buNone/>
            </a:pPr>
            <a:r>
              <a:rPr lang="en-US" sz="1000" b="1" spc="100" kern="0" dirty="0">
                <a:solidFill>
                  <a:schemeClr val="tx2"/>
                </a:solidFill>
              </a:rPr>
              <a:t>UPDATED DAILY</a:t>
            </a:r>
            <a:endParaRPr lang="en-US" sz="1000" dirty="0"/>
          </a:p>
        </p:txBody>
      </p:sp>
      <p:sp>
        <p:nvSpPr>
          <p:cNvPr id="18" name="kpi-3-value"/>
          <p:cNvSpPr txBox="1"/>
          <p:nvPr/>
        </p:nvSpPr>
        <p:spPr>
          <a:xfrm>
            <a:off x="9276359" y="1737360"/>
            <a:ext cx="2165528" cy="594360"/>
          </a:xfrm>
          <a:prstGeom prst="rect">
            <a:avLst/>
          </a:prstGeom>
          <a:noFill/>
          <a:ln/>
        </p:spPr>
        <p:txBody>
          <a:bodyPr wrap="square" lIns="0" tIns="0" rIns="0" bIns="0" rtlCol="0" anchor="t"/>
          <a:lstStyle/>
          <a:p>
            <a:pPr indent="0" marL="0">
              <a:buNone/>
            </a:pPr>
            <a:r>
              <a:rPr lang="en-US" sz="3400" b="1" dirty="0">
                <a:solidFill>
                  <a:schemeClr val="tx1"/>
                </a:solidFill>
              </a:rPr>
              <a:t>10+</a:t>
            </a:r>
            <a:endParaRPr lang="en-US" sz="3400" dirty="0"/>
          </a:p>
        </p:txBody>
      </p:sp>
      <p:sp>
        <p:nvSpPr>
          <p:cNvPr id="19" name="kpi-3-desc"/>
          <p:cNvSpPr txBox="1"/>
          <p:nvPr/>
        </p:nvSpPr>
        <p:spPr>
          <a:xfrm>
            <a:off x="9276359" y="2331720"/>
            <a:ext cx="2165528" cy="365760"/>
          </a:xfrm>
          <a:prstGeom prst="rect">
            <a:avLst/>
          </a:prstGeom>
          <a:noFill/>
          <a:ln/>
        </p:spPr>
        <p:txBody>
          <a:bodyPr wrap="square" lIns="0" tIns="0" rIns="0" bIns="0" rtlCol="0" anchor="t"/>
          <a:lstStyle/>
          <a:p>
            <a:pPr indent="0" marL="0">
              <a:buNone/>
            </a:pPr>
            <a:r>
              <a:rPr lang="en-US" sz="1200" dirty="0">
                <a:solidFill>
                  <a:schemeClr val="tx2"/>
                </a:solidFill>
              </a:rPr>
              <a:t>Maintained continuously by risk owners</a:t>
            </a:r>
            <a:endParaRPr lang="en-US" sz="1200" dirty="0"/>
          </a:p>
        </p:txBody>
      </p:sp>
      <p:sp>
        <p:nvSpPr>
          <p:cNvPr id="20" name="trend-card"/>
          <p:cNvSpPr/>
          <p:nvPr/>
        </p:nvSpPr>
        <p:spPr>
          <a:xfrm>
            <a:off x="548640" y="3017520"/>
            <a:ext cx="6583680" cy="3429000"/>
          </a:xfrm>
          <a:prstGeom prst="roundRect">
            <a:avLst>
              <a:gd name="adj" fmla="val 3200"/>
            </a:avLst>
          </a:prstGeom>
          <a:solidFill>
            <a:schemeClr val="bg1"/>
          </a:solidFill>
          <a:ln/>
        </p:spPr>
      </p:sp>
      <p:sp>
        <p:nvSpPr>
          <p:cNvPr id="21" name="trend-title"/>
          <p:cNvSpPr txBox="1"/>
          <p:nvPr/>
        </p:nvSpPr>
        <p:spPr>
          <a:xfrm>
            <a:off x="777240" y="3127248"/>
            <a:ext cx="6126480" cy="274320"/>
          </a:xfrm>
          <a:prstGeom prst="rect">
            <a:avLst/>
          </a:prstGeom>
          <a:noFill/>
          <a:ln/>
        </p:spPr>
        <p:txBody>
          <a:bodyPr wrap="square" lIns="0" tIns="0" rIns="0" bIns="0" rtlCol="0" anchor="t"/>
          <a:lstStyle/>
          <a:p>
            <a:pPr indent="0" marL="0">
              <a:buNone/>
            </a:pPr>
            <a:r>
              <a:rPr lang="en-US" sz="1100" b="1" spc="100" kern="0" dirty="0">
                <a:solidFill>
                  <a:schemeClr val="tx1"/>
                </a:solidFill>
              </a:rPr>
              <a:t>MONTHLY UNIQUE USERS TREND</a:t>
            </a:r>
            <a:endParaRPr lang="en-US" sz="1100" dirty="0"/>
          </a:p>
        </p:txBody>
      </p:sp>
      <p:graphicFrame>
        <p:nvGraphicFramePr>
          <p:cNvPr id="22" name="users-trend" descr=""/>
          <p:cNvGraphicFramePr/>
          <p:nvPr/>
        </p:nvGraphicFramePr>
        <p:xfrm>
          <a:off x="640080" y="3429000"/>
          <a:ext cx="6400800" cy="2743200"/>
        </p:xfrm>
        <a:graphic xmlns:a="http://schemas.openxmlformats.org/drawingml/2006/main">
          <a:graphicData uri="http://schemas.openxmlformats.org/drawingml/2006/chart">
            <c:chart xmlns:c="http://schemas.openxmlformats.org/drawingml/2006/chart" r:id="rId1"/>
          </a:graphicData>
        </a:graphic>
      </p:graphicFrame>
      <p:sp>
        <p:nvSpPr>
          <p:cNvPr id="23" name="trend-caption"/>
          <p:cNvSpPr txBox="1"/>
          <p:nvPr/>
        </p:nvSpPr>
        <p:spPr>
          <a:xfrm>
            <a:off x="777240" y="6190488"/>
            <a:ext cx="6126480" cy="228600"/>
          </a:xfrm>
          <a:prstGeom prst="rect">
            <a:avLst/>
          </a:prstGeom>
          <a:noFill/>
          <a:ln/>
        </p:spPr>
        <p:txBody>
          <a:bodyPr wrap="square" lIns="0" tIns="0" rIns="0" bIns="0" rtlCol="0" anchor="t"/>
          <a:lstStyle/>
          <a:p>
            <a:pPr indent="0" marL="0">
              <a:buNone/>
            </a:pPr>
            <a:r>
              <a:rPr lang="en-US" sz="1000" i="1" dirty="0">
                <a:solidFill>
                  <a:schemeClr val="tx2"/>
                </a:solidFill>
              </a:rPr>
              <a:t>Approximate monthly values, read from the ERM usage chart</a:t>
            </a:r>
            <a:endParaRPr lang="en-US" sz="1000" dirty="0"/>
          </a:p>
        </p:txBody>
      </p:sp>
      <p:sp>
        <p:nvSpPr>
          <p:cNvPr id="24" name="erm-card"/>
          <p:cNvSpPr/>
          <p:nvPr/>
        </p:nvSpPr>
        <p:spPr>
          <a:xfrm>
            <a:off x="7406640" y="3017520"/>
            <a:ext cx="4233672" cy="3429000"/>
          </a:xfrm>
          <a:prstGeom prst="roundRect">
            <a:avLst>
              <a:gd name="adj" fmla="val 3200"/>
            </a:avLst>
          </a:prstGeom>
          <a:solidFill>
            <a:schemeClr val="bg1"/>
          </a:solidFill>
          <a:ln/>
        </p:spPr>
      </p:sp>
      <p:sp>
        <p:nvSpPr>
          <p:cNvPr id="25" name="erm-text"/>
          <p:cNvSpPr txBox="1"/>
          <p:nvPr/>
        </p:nvSpPr>
        <p:spPr>
          <a:xfrm>
            <a:off x="7635240" y="3154680"/>
            <a:ext cx="3794760" cy="3154680"/>
          </a:xfrm>
          <a:prstGeom prst="rect">
            <a:avLst/>
          </a:prstGeom>
          <a:noFill/>
          <a:ln/>
        </p:spPr>
        <p:txBody>
          <a:bodyPr wrap="square" lIns="0" tIns="0" rIns="0" bIns="0" rtlCol="0" anchor="t"/>
          <a:lstStyle/>
          <a:p>
            <a:pPr indent="0" marL="0">
              <a:buNone/>
            </a:pPr>
            <a:r>
              <a:rPr lang="en-US" sz="1100" b="1" spc="100" kern="0" dirty="0">
                <a:solidFill>
                  <a:schemeClr val="tx1"/>
                </a:solidFill>
              </a:rPr>
              <a:t>WHAT ERM DOES</a:t>
            </a:r>
            <a:endParaRPr lang="en-US" sz="1100" dirty="0"/>
          </a:p>
          <a:p>
            <a:pPr indent="0" marL="0">
              <a:spcAft>
                <a:spcPts val="1000"/>
              </a:spcAft>
              <a:buNone/>
            </a:pPr>
            <a:r>
              <a:rPr lang="en-US" sz="1300" dirty="0">
                <a:solidFill>
                  <a:schemeClr val="tx2"/>
                </a:solidFill>
              </a:rPr>
              <a:t>One place to manage ARM risks and opportunities: custom dashboards, live editing, trend following, governed quarterly releases and cross-division sharing.</a:t>
            </a:r>
            <a:endParaRPr lang="en-US" sz="1100" dirty="0"/>
          </a:p>
          <a:p>
            <a:pPr indent="0" marL="0">
              <a:buNone/>
            </a:pPr>
            <a:r>
              <a:rPr lang="en-US" sz="1100" b="1" spc="100" kern="0" dirty="0">
                <a:solidFill>
                  <a:schemeClr val="tx1"/>
                </a:solidFill>
              </a:rPr>
              <a:t>WHERE IT IS USED</a:t>
            </a:r>
            <a:endParaRPr lang="en-US" sz="1100" dirty="0"/>
          </a:p>
          <a:p>
            <a:pPr indent="0" marL="0">
              <a:buNone/>
            </a:pPr>
            <a:r>
              <a:rPr lang="en-US" sz="1300" dirty="0">
                <a:solidFill>
                  <a:schemeClr val="tx2"/>
                </a:solidFill>
              </a:rPr>
              <a:t>France: Blagnac 271, Saint-Martin 43</a:t>
            </a:r>
            <a:endParaRPr lang="en-US" sz="1100" dirty="0"/>
          </a:p>
          <a:p>
            <a:pPr indent="0" marL="0">
              <a:buNone/>
            </a:pPr>
            <a:r>
              <a:rPr lang="en-US" sz="1300" dirty="0">
                <a:solidFill>
                  <a:schemeClr val="tx2"/>
                </a:solidFill>
              </a:rPr>
              <a:t>Germany: Hamburg Finkenwerder 205</a:t>
            </a:r>
            <a:endParaRPr lang="en-US" sz="1100" dirty="0"/>
          </a:p>
          <a:p>
            <a:pPr indent="0" marL="0">
              <a:buNone/>
            </a:pPr>
            <a:r>
              <a:rPr lang="en-US" sz="1300" dirty="0">
                <a:solidFill>
                  <a:schemeClr val="tx2"/>
                </a:solidFill>
              </a:rPr>
              <a:t>UK: Broughton 32, Filton 26</a:t>
            </a:r>
            <a:endParaRPr lang="en-US" sz="1100" dirty="0"/>
          </a:p>
          <a:p>
            <a:pPr indent="0" marL="0">
              <a:buNone/>
            </a:pPr>
            <a:r>
              <a:rPr lang="en-US" sz="1300" dirty="0">
                <a:solidFill>
                  <a:schemeClr val="tx2"/>
                </a:solidFill>
              </a:rPr>
              <a:t>Spain: Getafe 25 · Canada: Mirabel 12 · India: Bangalore 7</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5" fill="hold">
                      <p:stCondLst>
                        <p:cond delay="indefinite"/>
                        <p:cond evt="onBegin" delay="0">
                          <p:tn val="2"/>
                        </p:cond>
                      </p:stCondLst>
                      <p:childTnLst>
                        <p:par>
                          <p:cTn id="15"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50"/>
                                        <p:tgtEl>
                                          <p:spTgt spid="5"/>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50"/>
                                        <p:tgtEl>
                                          <p:spTgt spid="6"/>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50"/>
                                        <p:tgtEl>
                                          <p:spTgt spid="7"/>
                                        </p:tgtEl>
                                      </p:cBhvr>
                                    </p:animEffect>
                                  </p:childTnLst>
                                </p:cTn>
                              </p:par>
                            </p:childTnLst>
                          </p:cTn>
                        </p:par>
                        <p:par>
                          <p:cTn id="28" fill="hold">
                            <p:stCondLst>
                              <p:cond delay="400"/>
                            </p:stCondLst>
                            <p:childTnLst>
                              <p:par>
                                <p:cTn id="16" presetID="10" presetClass="entr" presetSubtype="0" fill="hold" grpId="0" nodeType="after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50"/>
                                        <p:tgtEl>
                                          <p:spTgt spid="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5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5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50"/>
                                        <p:tgtEl>
                                          <p:spTgt spid="11"/>
                                        </p:tgtEl>
                                      </p:cBhvr>
                                    </p:animEffect>
                                  </p:childTnLst>
                                </p:cTn>
                              </p:par>
                            </p:childTnLst>
                          </p:cTn>
                        </p:par>
                        <p:par>
                          <p:cTn id="41" fill="hold">
                            <p:stCondLst>
                              <p:cond delay="800"/>
                            </p:stCondLst>
                            <p:childTnLst>
                              <p:par>
                                <p:cTn id="29" presetID="10" presetClass="entr" presetSubtype="0" fill="hold" grpId="0" nodeType="after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450"/>
                                        <p:tgtEl>
                                          <p:spTgt spid="12"/>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450"/>
                                        <p:tgtEl>
                                          <p:spTgt spid="13"/>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4"/>
                                        </p:tgtEl>
                                        <p:attrNameLst>
                                          <p:attrName>style.visibility</p:attrName>
                                        </p:attrNameLst>
                                      </p:cBhvr>
                                      <p:to>
                                        <p:strVal val="visible"/>
                                      </p:to>
                                    </p:set>
                                    <p:animEffect transition="in" filter="fade">
                                      <p:cBhvr>
                                        <p:cTn id="37" dur="450"/>
                                        <p:tgtEl>
                                          <p:spTgt spid="14"/>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450"/>
                                        <p:tgtEl>
                                          <p:spTgt spid="15"/>
                                        </p:tgtEl>
                                      </p:cBhvr>
                                    </p:animEffect>
                                  </p:childTnLst>
                                </p:cTn>
                              </p:par>
                            </p:childTnLst>
                          </p:cTn>
                        </p:par>
                        <p:par>
                          <p:cTn id="54" fill="hold">
                            <p:stCondLst>
                              <p:cond delay="1200"/>
                            </p:stCondLst>
                            <p:childTnLst>
                              <p:par>
                                <p:cTn id="42" presetID="10" presetClass="entr" presetSubtype="0" fill="hold" grpId="0" nodeType="after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5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5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5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50"/>
                                        <p:tgtEl>
                                          <p:spTgt spid="19"/>
                                        </p:tgtEl>
                                      </p:cBhvr>
                                    </p:animEffect>
                                  </p:childTnLst>
                                </p:cTn>
                              </p:par>
                            </p:childTnLst>
                          </p:cTn>
                        </p:par>
                        <p:par>
                          <p:cTn id="67" fill="hold">
                            <p:stCondLst>
                              <p:cond delay="1600"/>
                            </p:stCondLst>
                            <p:childTnLst>
                              <p:par>
                                <p:cTn id="55" presetID="10" presetClass="entr" presetSubtype="0" fill="hold" grpId="0" nodeType="afterEffect">
                                  <p:stCondLst>
                                    <p:cond delay="0"/>
                                  </p:stCondLst>
                                  <p:childTnLst>
                                    <p:set>
                                      <p:cBhvr>
                                        <p:cTn id="56" dur="1" fill="hold">
                                          <p:stCondLst>
                                            <p:cond delay="0"/>
                                          </p:stCondLst>
                                        </p:cTn>
                                        <p:tgtEl>
                                          <p:spTgt spid="20"/>
                                        </p:tgtEl>
                                        <p:attrNameLst>
                                          <p:attrName>style.visibility</p:attrName>
                                        </p:attrNameLst>
                                      </p:cBhvr>
                                      <p:to>
                                        <p:strVal val="visible"/>
                                      </p:to>
                                    </p:set>
                                    <p:animEffect transition="in" filter="fade">
                                      <p:cBhvr>
                                        <p:cTn id="57" dur="450"/>
                                        <p:tgtEl>
                                          <p:spTgt spid="20"/>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1"/>
                                        </p:tgtEl>
                                        <p:attrNameLst>
                                          <p:attrName>style.visibility</p:attrName>
                                        </p:attrNameLst>
                                      </p:cBhvr>
                                      <p:to>
                                        <p:strVal val="visible"/>
                                      </p:to>
                                    </p:set>
                                    <p:animEffect transition="in" filter="fade">
                                      <p:cBhvr>
                                        <p:cTn id="60" dur="450"/>
                                        <p:tgtEl>
                                          <p:spTgt spid="21"/>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3"/>
                                        </p:tgtEl>
                                        <p:attrNameLst>
                                          <p:attrName>style.visibility</p:attrName>
                                        </p:attrNameLst>
                                      </p:cBhvr>
                                      <p:to>
                                        <p:strVal val="visible"/>
                                      </p:to>
                                    </p:set>
                                    <p:animEffect transition="in" filter="fade">
                                      <p:cBhvr>
                                        <p:cTn id="63" dur="450"/>
                                        <p:tgtEl>
                                          <p:spTgt spid="23"/>
                                        </p:tgtEl>
                                      </p:cBhvr>
                                    </p:animEffect>
                                  </p:childTnLst>
                                </p:cTn>
                              </p:par>
                              <p:par>
                                <p:cTn id="64" presetID="22" presetClass="entr" presetSubtype="8" fill="hold" grpId="0" nodeType="withEffect">
                                  <p:stCondLst>
                                    <p:cond delay="200"/>
                                  </p:stCondLst>
                                  <p:childTnLst>
                                    <p:set>
                                      <p:cBhvr>
                                        <p:cTn id="65" dur="1" fill="hold">
                                          <p:stCondLst>
                                            <p:cond delay="0"/>
                                          </p:stCondLst>
                                        </p:cTn>
                                        <p:tgtEl>
                                          <p:spTgt spid="22"/>
                                        </p:tgtEl>
                                        <p:attrNameLst>
                                          <p:attrName>style.visibility</p:attrName>
                                        </p:attrNameLst>
                                      </p:cBhvr>
                                      <p:to>
                                        <p:strVal val="visible"/>
                                      </p:to>
                                    </p:set>
                                    <p:animEffect transition="in" filter="wipe(left)">
                                      <p:cBhvr>
                                        <p:cTn id="66" dur="450"/>
                                        <p:tgtEl>
                                          <p:spTgt spid="22"/>
                                        </p:tgtEl>
                                      </p:cBhvr>
                                    </p:animEffect>
                                  </p:childTnLst>
                                </p:cTn>
                              </p:par>
                            </p:childTnLst>
                          </p:cTn>
                        </p:par>
                        <p:par>
                          <p:cTn id="74" fill="hold">
                            <p:stCondLst>
                              <p:cond delay="2000"/>
                            </p:stCondLst>
                            <p:childTnLst>
                              <p:par>
                                <p:cTn id="68" presetID="10" presetClass="entr" presetSubtype="0" fill="hold" grpId="0" nodeType="after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50"/>
                                        <p:tgtEl>
                                          <p:spTgt spid="24"/>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25"/>
                                        </p:tgtEl>
                                        <p:attrNameLst>
                                          <p:attrName>style.visibility</p:attrName>
                                        </p:attrNameLst>
                                      </p:cBhvr>
                                      <p:to>
                                        <p:strVal val="visible"/>
                                      </p:to>
                                    </p:set>
                                    <p:animEffect transition="in" filter="fade">
                                      <p:cBhvr>
                                        <p:cTn id="73" dur="45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3" grpId="0" animBg="1"/>
      <p:bldP spid="24" grpId="0" animBg="1"/>
      <p:bldP spid="25"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THE COMPLICATION</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But Slate had become the bottleneck</a:t>
            </a:r>
            <a:endParaRPr lang="en-US" sz="3600" dirty="0"/>
          </a:p>
        </p:txBody>
      </p:sp>
      <p:sp>
        <p:nvSpPr>
          <p:cNvPr id="4" name="prob-0-card"/>
          <p:cNvSpPr/>
          <p:nvPr/>
        </p:nvSpPr>
        <p:spPr>
          <a:xfrm>
            <a:off x="548640" y="1371600"/>
            <a:ext cx="5029200" cy="777240"/>
          </a:xfrm>
          <a:prstGeom prst="roundRect">
            <a:avLst>
              <a:gd name="adj" fmla="val 14118"/>
            </a:avLst>
          </a:prstGeom>
          <a:solidFill>
            <a:schemeClr val="bg2"/>
          </a:solidFill>
          <a:ln/>
        </p:spPr>
      </p:sp>
      <p:sp>
        <p:nvSpPr>
          <p:cNvPr id="5" name="prob-0-text"/>
          <p:cNvSpPr txBox="1"/>
          <p:nvPr/>
        </p:nvSpPr>
        <p:spPr>
          <a:xfrm>
            <a:off x="777240" y="1444752"/>
            <a:ext cx="4572000" cy="630936"/>
          </a:xfrm>
          <a:prstGeom prst="rect">
            <a:avLst/>
          </a:prstGeom>
          <a:noFill/>
          <a:ln/>
        </p:spPr>
        <p:txBody>
          <a:bodyPr wrap="square" lIns="0" tIns="0" rIns="0" bIns="0" rtlCol="0" anchor="ctr"/>
          <a:lstStyle/>
          <a:p>
            <a:pPr indent="0" marL="0">
              <a:buNone/>
            </a:pPr>
            <a:r>
              <a:rPr lang="en-US" sz="1500" b="1" dirty="0">
                <a:solidFill>
                  <a:schemeClr val="tx1"/>
                </a:solidFill>
              </a:rPr>
              <a:t>Tangled dependencies</a:t>
            </a:r>
            <a:endParaRPr lang="en-US" sz="1500" dirty="0"/>
          </a:p>
          <a:p>
            <a:pPr indent="0" marL="0">
              <a:buNone/>
            </a:pPr>
            <a:r>
              <a:rPr lang="en-US" sz="1300" dirty="0">
                <a:solidFill>
                  <a:schemeClr val="tx2"/>
                </a:solidFill>
              </a:rPr>
              <a:t>One user action cascades through widgets, events, actions and variables</a:t>
            </a:r>
            <a:endParaRPr lang="en-US" sz="1500" dirty="0"/>
          </a:p>
        </p:txBody>
      </p:sp>
      <p:sp>
        <p:nvSpPr>
          <p:cNvPr id="6" name="prob-1-card"/>
          <p:cNvSpPr/>
          <p:nvPr/>
        </p:nvSpPr>
        <p:spPr>
          <a:xfrm>
            <a:off x="548640" y="2258568"/>
            <a:ext cx="5029200" cy="777240"/>
          </a:xfrm>
          <a:prstGeom prst="roundRect">
            <a:avLst>
              <a:gd name="adj" fmla="val 14118"/>
            </a:avLst>
          </a:prstGeom>
          <a:solidFill>
            <a:schemeClr val="bg2"/>
          </a:solidFill>
          <a:ln/>
        </p:spPr>
      </p:sp>
      <p:sp>
        <p:nvSpPr>
          <p:cNvPr id="7" name="prob-1-text"/>
          <p:cNvSpPr txBox="1"/>
          <p:nvPr/>
        </p:nvSpPr>
        <p:spPr>
          <a:xfrm>
            <a:off x="777240" y="2331720"/>
            <a:ext cx="4572000" cy="630936"/>
          </a:xfrm>
          <a:prstGeom prst="rect">
            <a:avLst/>
          </a:prstGeom>
          <a:noFill/>
          <a:ln/>
        </p:spPr>
        <p:txBody>
          <a:bodyPr wrap="square" lIns="0" tIns="0" rIns="0" bIns="0" rtlCol="0" anchor="ctr"/>
          <a:lstStyle/>
          <a:p>
            <a:pPr indent="0" marL="0">
              <a:buNone/>
            </a:pPr>
            <a:r>
              <a:rPr lang="en-US" sz="1500" b="1" dirty="0">
                <a:solidFill>
                  <a:schemeClr val="tx1"/>
                </a:solidFill>
              </a:rPr>
              <a:t>High regression risk</a:t>
            </a:r>
            <a:endParaRPr lang="en-US" sz="1500" dirty="0"/>
          </a:p>
          <a:p>
            <a:pPr indent="0" marL="0">
              <a:buNone/>
            </a:pPr>
            <a:r>
              <a:rPr lang="en-US" sz="1300" dirty="0">
                <a:solidFill>
                  <a:schemeClr val="tx2"/>
                </a:solidFill>
              </a:rPr>
              <a:t>Changing one feature can break unrelated dashboard behaviour</a:t>
            </a:r>
            <a:endParaRPr lang="en-US" sz="1500" dirty="0"/>
          </a:p>
        </p:txBody>
      </p:sp>
      <p:sp>
        <p:nvSpPr>
          <p:cNvPr id="8" name="prob-2-card"/>
          <p:cNvSpPr/>
          <p:nvPr/>
        </p:nvSpPr>
        <p:spPr>
          <a:xfrm>
            <a:off x="548640" y="3145536"/>
            <a:ext cx="5029200" cy="777240"/>
          </a:xfrm>
          <a:prstGeom prst="roundRect">
            <a:avLst>
              <a:gd name="adj" fmla="val 14118"/>
            </a:avLst>
          </a:prstGeom>
          <a:solidFill>
            <a:schemeClr val="bg2"/>
          </a:solidFill>
          <a:ln/>
        </p:spPr>
      </p:sp>
      <p:sp>
        <p:nvSpPr>
          <p:cNvPr id="9" name="prob-2-text"/>
          <p:cNvSpPr txBox="1"/>
          <p:nvPr/>
        </p:nvSpPr>
        <p:spPr>
          <a:xfrm>
            <a:off x="777240" y="3218688"/>
            <a:ext cx="4572000" cy="630936"/>
          </a:xfrm>
          <a:prstGeom prst="rect">
            <a:avLst/>
          </a:prstGeom>
          <a:noFill/>
          <a:ln/>
        </p:spPr>
        <p:txBody>
          <a:bodyPr wrap="square" lIns="0" tIns="0" rIns="0" bIns="0" rtlCol="0" anchor="ctr"/>
          <a:lstStyle/>
          <a:p>
            <a:pPr indent="0" marL="0">
              <a:buNone/>
            </a:pPr>
            <a:r>
              <a:rPr lang="en-US" sz="1500" b="1" dirty="0">
                <a:solidFill>
                  <a:schemeClr val="tx1"/>
                </a:solidFill>
              </a:rPr>
              <a:t>Slow navigation</a:t>
            </a:r>
            <a:endParaRPr lang="en-US" sz="1500" dirty="0"/>
          </a:p>
          <a:p>
            <a:pPr indent="0" marL="0">
              <a:buNone/>
            </a:pPr>
            <a:r>
              <a:rPr lang="en-US" sz="1300" dirty="0">
                <a:solidFill>
                  <a:schemeClr val="tx2"/>
                </a:solidFill>
              </a:rPr>
              <a:t>Variable trees are recalculated on every tab switch</a:t>
            </a:r>
            <a:endParaRPr lang="en-US" sz="1500" dirty="0"/>
          </a:p>
        </p:txBody>
      </p:sp>
      <p:sp>
        <p:nvSpPr>
          <p:cNvPr id="10" name="prob-3-card"/>
          <p:cNvSpPr/>
          <p:nvPr/>
        </p:nvSpPr>
        <p:spPr>
          <a:xfrm>
            <a:off x="548640" y="4032504"/>
            <a:ext cx="5029200" cy="777240"/>
          </a:xfrm>
          <a:prstGeom prst="roundRect">
            <a:avLst>
              <a:gd name="adj" fmla="val 14118"/>
            </a:avLst>
          </a:prstGeom>
          <a:solidFill>
            <a:schemeClr val="bg2"/>
          </a:solidFill>
          <a:ln/>
        </p:spPr>
      </p:sp>
      <p:sp>
        <p:nvSpPr>
          <p:cNvPr id="11" name="prob-3-text"/>
          <p:cNvSpPr txBox="1"/>
          <p:nvPr/>
        </p:nvSpPr>
        <p:spPr>
          <a:xfrm>
            <a:off x="777240" y="4105656"/>
            <a:ext cx="4572000" cy="630936"/>
          </a:xfrm>
          <a:prstGeom prst="rect">
            <a:avLst/>
          </a:prstGeom>
          <a:noFill/>
          <a:ln/>
        </p:spPr>
        <p:txBody>
          <a:bodyPr wrap="square" lIns="0" tIns="0" rIns="0" bIns="0" rtlCol="0" anchor="ctr"/>
          <a:lstStyle/>
          <a:p>
            <a:pPr indent="0" marL="0">
              <a:buNone/>
            </a:pPr>
            <a:r>
              <a:rPr lang="en-US" sz="1500" b="1" dirty="0">
                <a:solidFill>
                  <a:schemeClr val="accent3"/>
                </a:solidFill>
              </a:rPr>
              <a:t>No documentation</a:t>
            </a:r>
            <a:endParaRPr lang="en-US" sz="1500" dirty="0"/>
          </a:p>
          <a:p>
            <a:pPr indent="0" marL="0">
              <a:buNone/>
            </a:pPr>
            <a:r>
              <a:rPr lang="en-US" sz="1300" dirty="0">
                <a:solidFill>
                  <a:schemeClr val="tx2"/>
                </a:solidFill>
              </a:rPr>
              <a:t>8 Slate exports, about 25 MB of configuration, no specs</a:t>
            </a:r>
            <a:endParaRPr lang="en-US" sz="1500" dirty="0"/>
          </a:p>
        </p:txBody>
      </p:sp>
      <p:pic>
        <p:nvPicPr>
          <p:cNvPr id="12" name="gif-legacy-breakdown" descr="Animation: the ERM Slate app splits into a shell and 7 modules, then AI extracts 105 features from them">    </p:cNvPr>
          <p:cNvPicPr>
            <a:picLocks noChangeAspect="1"/>
          </p:cNvPicPr>
          <p:nvPr/>
        </p:nvPicPr>
        <p:blipFill>
          <a:blip r:embed="rId1"/>
          <a:stretch>
            <a:fillRect/>
          </a:stretch>
        </p:blipFill>
        <p:spPr>
          <a:xfrm>
            <a:off x="5852160" y="1371600"/>
            <a:ext cx="5788152" cy="3474720"/>
          </a:xfrm>
          <a:prstGeom prst="rect">
            <a:avLst/>
          </a:prstGeom>
        </p:spPr>
      </p:pic>
      <p:sp>
        <p:nvSpPr>
          <p:cNvPr id="13" name="question-card"/>
          <p:cNvSpPr/>
          <p:nvPr/>
        </p:nvSpPr>
        <p:spPr>
          <a:xfrm>
            <a:off x="548640" y="5120640"/>
            <a:ext cx="11094415" cy="1234440"/>
          </a:xfrm>
          <a:prstGeom prst="roundRect">
            <a:avLst>
              <a:gd name="adj" fmla="val 8889"/>
            </a:avLst>
          </a:prstGeom>
          <a:solidFill>
            <a:schemeClr val="tx1"/>
          </a:solidFill>
          <a:ln/>
        </p:spPr>
      </p:sp>
      <p:sp>
        <p:nvSpPr>
          <p:cNvPr id="14" name="question-text"/>
          <p:cNvSpPr txBox="1"/>
          <p:nvPr/>
        </p:nvSpPr>
        <p:spPr>
          <a:xfrm>
            <a:off x="868680" y="5212080"/>
            <a:ext cx="10454335" cy="1051560"/>
          </a:xfrm>
          <a:prstGeom prst="rect">
            <a:avLst/>
          </a:prstGeom>
          <a:noFill/>
          <a:ln/>
        </p:spPr>
        <p:txBody>
          <a:bodyPr wrap="square" lIns="0" tIns="0" rIns="0" bIns="0" rtlCol="0" anchor="ctr"/>
          <a:lstStyle/>
          <a:p>
            <a:pPr indent="0" marL="0">
              <a:buNone/>
            </a:pPr>
            <a:r>
              <a:rPr lang="en-US" sz="1100" b="1" spc="200" kern="0" dirty="0">
                <a:solidFill>
                  <a:schemeClr val="accent5"/>
                </a:solidFill>
              </a:rPr>
              <a:t>THE QUESTION</a:t>
            </a:r>
            <a:endParaRPr lang="en-US" sz="1100" dirty="0"/>
          </a:p>
          <a:p>
            <a:pPr indent="0" marL="0">
              <a:buNone/>
            </a:pPr>
            <a:r>
              <a:rPr lang="en-US" sz="2200" b="1" dirty="0">
                <a:solidFill>
                  <a:schemeClr val="bg1"/>
                </a:solidFill>
              </a:rPr>
              <a:t>How do 2 developers move 105 hidden features in one PI, without breaking risk reporting?</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8" fill="hold">
                      <p:stCondLst>
                        <p:cond delay="indefinite"/>
                        <p:cond evt="onBegin" delay="0">
                          <p:tn val="2"/>
                        </p:cond>
                      </p:stCondLst>
                      <p:childTnLst>
                        <p:par>
                          <p:cTn id="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50"/>
                                        <p:tgtEl>
                                          <p:spTgt spid="5"/>
                                        </p:tgtEl>
                                      </p:cBhvr>
                                    </p:animEffect>
                                  </p:childTnLst>
                                </p:cTn>
                              </p:par>
                            </p:childTnLst>
                          </p:cTn>
                        </p:par>
                        <p:par>
                          <p:cTn id="16" fill="hold">
                            <p:stCondLst>
                              <p:cond delay="450"/>
                            </p:stCondLst>
                            <p:childTnLst>
                              <p:par>
                                <p:cTn id="10" presetID="10" presetClass="entr" presetSubtype="0" fill="hold" grpId="0" nodeType="after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450"/>
                                        <p:tgtEl>
                                          <p:spTgt spid="6"/>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50"/>
                                        <p:tgtEl>
                                          <p:spTgt spid="7"/>
                                        </p:tgtEl>
                                      </p:cBhvr>
                                    </p:animEffect>
                                  </p:childTnLst>
                                </p:cTn>
                              </p:par>
                            </p:childTnLst>
                          </p:cTn>
                        </p:par>
                        <p:par>
                          <p:cTn id="23" fill="hold">
                            <p:stCondLst>
                              <p:cond delay="900"/>
                            </p:stCondLst>
                            <p:childTnLst>
                              <p:par>
                                <p:cTn id="17" presetID="10" presetClass="entr" presetSubtype="0" fill="hold" grpId="0" nodeType="after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50"/>
                                        <p:tgtEl>
                                          <p:spTgt spid="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450"/>
                                        <p:tgtEl>
                                          <p:spTgt spid="9"/>
                                        </p:tgtEl>
                                      </p:cBhvr>
                                    </p:animEffect>
                                  </p:childTnLst>
                                </p:cTn>
                              </p:par>
                            </p:childTnLst>
                          </p:cTn>
                        </p:par>
                        <p:par>
                          <p:cTn id="30" fill="hold">
                            <p:stCondLst>
                              <p:cond delay="1350"/>
                            </p:stCondLst>
                            <p:childTnLst>
                              <p:par>
                                <p:cTn id="24" presetID="10" presetClass="entr" presetSubtype="0" fill="hold" grpId="0" nodeType="after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450"/>
                                        <p:tgtEl>
                                          <p:spTgt spid="10"/>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50"/>
                                        <p:tgtEl>
                                          <p:spTgt spid="11"/>
                                        </p:tgtEl>
                                      </p:cBhvr>
                                    </p:animEffect>
                                  </p:childTnLst>
                                </p:cTn>
                              </p:par>
                            </p:childTnLst>
                          </p:cTn>
                        </p:par>
                        <p:par>
                          <p:cTn id="37" fill="hold">
                            <p:stCondLst>
                              <p:cond delay="1800"/>
                            </p:stCondLst>
                            <p:childTnLst>
                              <p:par>
                                <p:cTn id="31" presetID="22" presetClass="entr" presetSubtype="8" fill="hold" grpId="0" nodeType="afterEffect">
                                  <p:stCondLst>
                                    <p:cond delay="300"/>
                                  </p:stCondLst>
                                  <p:childTnLst>
                                    <p:set>
                                      <p:cBhvr>
                                        <p:cTn id="32" dur="1" fill="hold">
                                          <p:stCondLst>
                                            <p:cond delay="0"/>
                                          </p:stCondLst>
                                        </p:cTn>
                                        <p:tgtEl>
                                          <p:spTgt spid="13"/>
                                        </p:tgtEl>
                                        <p:attrNameLst>
                                          <p:attrName>style.visibility</p:attrName>
                                        </p:attrNameLst>
                                      </p:cBhvr>
                                      <p:to>
                                        <p:strVal val="visible"/>
                                      </p:to>
                                    </p:set>
                                    <p:animEffect transition="in" filter="wipe(left)">
                                      <p:cBhvr>
                                        <p:cTn id="33" dur="450"/>
                                        <p:tgtEl>
                                          <p:spTgt spid="13"/>
                                        </p:tgtEl>
                                      </p:cBhvr>
                                    </p:animEffect>
                                  </p:childTnLst>
                                </p:cTn>
                              </p:par>
                              <p:par>
                                <p:cTn id="34" presetID="22" presetClass="entr" presetSubtype="8" fill="hold" grpId="0" nodeType="withEffect">
                                  <p:stCondLst>
                                    <p:cond delay="300"/>
                                  </p:stCondLst>
                                  <p:childTnLst>
                                    <p:set>
                                      <p:cBhvr>
                                        <p:cTn id="35" dur="1" fill="hold">
                                          <p:stCondLst>
                                            <p:cond delay="0"/>
                                          </p:stCondLst>
                                        </p:cTn>
                                        <p:tgtEl>
                                          <p:spTgt spid="14"/>
                                        </p:tgtEl>
                                        <p:attrNameLst>
                                          <p:attrName>style.visibility</p:attrName>
                                        </p:attrNameLst>
                                      </p:cBhvr>
                                      <p:to>
                                        <p:strVal val="visible"/>
                                      </p:to>
                                    </p:set>
                                    <p:animEffect transition="in" filter="wipe(left)">
                                      <p:cBhvr>
                                        <p:cTn id="36" dur="4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3" grpId="0" animBg="1"/>
      <p:bldP spid="14"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THE INSIGHT · INNOVATION</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Our answer: AI reverse-engineers, people verify</a:t>
            </a:r>
            <a:endParaRPr lang="en-US" sz="3600" dirty="0"/>
          </a:p>
        </p:txBody>
      </p:sp>
      <p:pic>
        <p:nvPicPr>
          <p:cNvPr id="4" name="gif-migration" descr="Animation: features flow from each Slate module through the 105-feature catalogue into the matching React tab, then new features appear">    </p:cNvPr>
          <p:cNvPicPr>
            <a:picLocks noChangeAspect="1"/>
          </p:cNvPicPr>
          <p:nvPr/>
        </p:nvPicPr>
        <p:blipFill>
          <a:blip r:embed="rId1"/>
          <a:stretch>
            <a:fillRect/>
          </a:stretch>
        </p:blipFill>
        <p:spPr>
          <a:xfrm>
            <a:off x="548640" y="1371600"/>
            <a:ext cx="5486400" cy="3291840"/>
          </a:xfrm>
          <a:prstGeom prst="rect">
            <a:avLst/>
          </a:prstGeom>
        </p:spPr>
      </p:pic>
      <p:sp>
        <p:nvSpPr>
          <p:cNvPr id="5" name="pack-card"/>
          <p:cNvSpPr/>
          <p:nvPr/>
        </p:nvSpPr>
        <p:spPr>
          <a:xfrm>
            <a:off x="548640" y="4846320"/>
            <a:ext cx="5486400" cy="1508760"/>
          </a:xfrm>
          <a:prstGeom prst="roundRect">
            <a:avLst>
              <a:gd name="adj" fmla="val 7273"/>
            </a:avLst>
          </a:prstGeom>
          <a:solidFill>
            <a:schemeClr val="tx1"/>
          </a:solidFill>
          <a:ln/>
        </p:spPr>
      </p:sp>
      <p:sp>
        <p:nvSpPr>
          <p:cNvPr id="6" name="pack-text"/>
          <p:cNvSpPr txBox="1"/>
          <p:nvPr/>
        </p:nvSpPr>
        <p:spPr>
          <a:xfrm>
            <a:off x="822960" y="4956048"/>
            <a:ext cx="4937760" cy="1289304"/>
          </a:xfrm>
          <a:prstGeom prst="rect">
            <a:avLst/>
          </a:prstGeom>
          <a:noFill/>
          <a:ln/>
        </p:spPr>
        <p:txBody>
          <a:bodyPr wrap="square" lIns="0" tIns="0" rIns="0" bIns="0" rtlCol="0" anchor="ctr"/>
          <a:lstStyle/>
          <a:p>
            <a:pPr indent="0" marL="0">
              <a:buNone/>
            </a:pPr>
            <a:r>
              <a:rPr lang="en-US" sz="1800" b="1" dirty="0">
                <a:solidFill>
                  <a:schemeClr val="bg1"/>
                </a:solidFill>
              </a:rPr>
              <a:t>pack-project.ts</a:t>
            </a:r>
            <a:endParaRPr lang="en-US" sz="1800" dirty="0"/>
          </a:p>
          <a:p>
            <a:pPr indent="0" marL="0">
              <a:buNone/>
            </a:pPr>
            <a:r>
              <a:rPr lang="en-US" sz="1300" dirty="0">
                <a:solidFill>
                  <a:schemeClr val="accent5"/>
                </a:solidFill>
              </a:rPr>
              <a:t>Our script packs the whole React app, 75 files, into one dated context the AI reads in one go. The 8 Slate exports complete the picture.</a:t>
            </a:r>
            <a:endParaRPr lang="en-US" sz="1800" dirty="0"/>
          </a:p>
        </p:txBody>
      </p:sp>
      <p:sp>
        <p:nvSpPr>
          <p:cNvPr id="7" name="cmp-head-old"/>
          <p:cNvSpPr txBox="1"/>
          <p:nvPr/>
        </p:nvSpPr>
        <p:spPr>
          <a:xfrm>
            <a:off x="6309360" y="1371600"/>
            <a:ext cx="2596896" cy="274320"/>
          </a:xfrm>
          <a:prstGeom prst="rect">
            <a:avLst/>
          </a:prstGeom>
          <a:noFill/>
          <a:ln/>
        </p:spPr>
        <p:txBody>
          <a:bodyPr wrap="square" lIns="0" tIns="0" rIns="0" bIns="0" rtlCol="0" anchor="t"/>
          <a:lstStyle/>
          <a:p>
            <a:pPr indent="0" marL="0">
              <a:buNone/>
            </a:pPr>
            <a:r>
              <a:rPr lang="en-US" sz="1100" b="1" spc="100" kern="0" dirty="0">
                <a:solidFill>
                  <a:schemeClr val="tx2"/>
                </a:solidFill>
              </a:rPr>
              <a:t>USUAL MIGRATION</a:t>
            </a:r>
            <a:endParaRPr lang="en-US" sz="1100" dirty="0"/>
          </a:p>
        </p:txBody>
      </p:sp>
      <p:sp>
        <p:nvSpPr>
          <p:cNvPr id="8" name="cmp-head-new"/>
          <p:cNvSpPr txBox="1"/>
          <p:nvPr/>
        </p:nvSpPr>
        <p:spPr>
          <a:xfrm>
            <a:off x="9043416" y="1371600"/>
            <a:ext cx="2596896" cy="274320"/>
          </a:xfrm>
          <a:prstGeom prst="rect">
            <a:avLst/>
          </a:prstGeom>
          <a:noFill/>
          <a:ln/>
        </p:spPr>
        <p:txBody>
          <a:bodyPr wrap="square" lIns="0" tIns="0" rIns="0" bIns="0" rtlCol="0" anchor="t"/>
          <a:lstStyle/>
          <a:p>
            <a:pPr indent="0" marL="0">
              <a:buNone/>
            </a:pPr>
            <a:r>
              <a:rPr lang="en-US" sz="1100" b="1" spc="100" kern="0" dirty="0">
                <a:solidFill>
                  <a:schemeClr val="accent3"/>
                </a:solidFill>
              </a:rPr>
              <a:t>OUR METHOD</a:t>
            </a:r>
            <a:endParaRPr lang="en-US" sz="1100" dirty="0"/>
          </a:p>
        </p:txBody>
      </p:sp>
      <p:sp>
        <p:nvSpPr>
          <p:cNvPr id="9" name="cmp-0-old"/>
          <p:cNvSpPr/>
          <p:nvPr/>
        </p:nvSpPr>
        <p:spPr>
          <a:xfrm>
            <a:off x="6309360" y="1719072"/>
            <a:ext cx="2596896" cy="1042416"/>
          </a:xfrm>
          <a:prstGeom prst="roundRect">
            <a:avLst>
              <a:gd name="adj" fmla="val 10526"/>
            </a:avLst>
          </a:prstGeom>
          <a:solidFill>
            <a:schemeClr val="bg1"/>
          </a:solidFill>
          <a:ln/>
        </p:spPr>
      </p:sp>
      <p:sp>
        <p:nvSpPr>
          <p:cNvPr id="10" name="cmp-0-oldtext"/>
          <p:cNvSpPr txBox="1"/>
          <p:nvPr/>
        </p:nvSpPr>
        <p:spPr>
          <a:xfrm>
            <a:off x="6473952" y="1810512"/>
            <a:ext cx="2267712" cy="859536"/>
          </a:xfrm>
          <a:prstGeom prst="rect">
            <a:avLst/>
          </a:prstGeom>
          <a:noFill/>
          <a:ln/>
        </p:spPr>
        <p:txBody>
          <a:bodyPr wrap="square" lIns="0" tIns="0" rIns="0" bIns="0" rtlCol="0" anchor="ctr"/>
          <a:lstStyle/>
          <a:p>
            <a:pPr indent="0" marL="0">
              <a:buNone/>
            </a:pPr>
            <a:r>
              <a:rPr lang="en-US" sz="1300" b="1" dirty="0">
                <a:solidFill>
                  <a:schemeClr val="tx2"/>
                </a:solidFill>
              </a:rPr>
              <a:t>Discovery</a:t>
            </a:r>
            <a:endParaRPr lang="en-US" sz="1300" dirty="0"/>
          </a:p>
          <a:p>
            <a:pPr indent="0" marL="0">
              <a:buNone/>
            </a:pPr>
            <a:r>
              <a:rPr lang="en-US" sz="1300" dirty="0">
                <a:solidFill>
                  <a:schemeClr val="tx2"/>
                </a:solidFill>
              </a:rPr>
              <a:t>Interviews and clicking through screens</a:t>
            </a:r>
            <a:endParaRPr lang="en-US" sz="1300" dirty="0"/>
          </a:p>
        </p:txBody>
      </p:sp>
      <p:sp>
        <p:nvSpPr>
          <p:cNvPr id="11" name="cmp-0-new"/>
          <p:cNvSpPr/>
          <p:nvPr/>
        </p:nvSpPr>
        <p:spPr>
          <a:xfrm>
            <a:off x="9043416" y="1719072"/>
            <a:ext cx="2596896" cy="1042416"/>
          </a:xfrm>
          <a:prstGeom prst="roundRect">
            <a:avLst>
              <a:gd name="adj" fmla="val 10526"/>
            </a:avLst>
          </a:prstGeom>
          <a:solidFill>
            <a:schemeClr val="tx1"/>
          </a:solidFill>
          <a:ln/>
        </p:spPr>
      </p:sp>
      <p:sp>
        <p:nvSpPr>
          <p:cNvPr id="12" name="cmp-0-newtext"/>
          <p:cNvSpPr txBox="1"/>
          <p:nvPr/>
        </p:nvSpPr>
        <p:spPr>
          <a:xfrm>
            <a:off x="9208008" y="1810512"/>
            <a:ext cx="2267712" cy="859536"/>
          </a:xfrm>
          <a:prstGeom prst="rect">
            <a:avLst/>
          </a:prstGeom>
          <a:noFill/>
          <a:ln/>
        </p:spPr>
        <p:txBody>
          <a:bodyPr wrap="square" lIns="0" tIns="0" rIns="0" bIns="0" rtlCol="0" anchor="ctr"/>
          <a:lstStyle/>
          <a:p>
            <a:pPr indent="0" marL="0">
              <a:buNone/>
            </a:pPr>
            <a:r>
              <a:rPr lang="en-US" sz="1300" b="1" dirty="0">
                <a:solidFill>
                  <a:schemeClr val="bg1"/>
                </a:solidFill>
              </a:rPr>
              <a:t>Discovery</a:t>
            </a:r>
            <a:endParaRPr lang="en-US" sz="1300" dirty="0"/>
          </a:p>
          <a:p>
            <a:pPr indent="0" marL="0">
              <a:buNone/>
            </a:pPr>
            <a:r>
              <a:rPr lang="en-US" sz="1300" dirty="0">
                <a:solidFill>
                  <a:schemeClr val="accent5"/>
                </a:solidFill>
              </a:rPr>
              <a:t>AI reads all 8 Slate exports: 105 features catalogued</a:t>
            </a:r>
            <a:endParaRPr lang="en-US" sz="1300" dirty="0"/>
          </a:p>
        </p:txBody>
      </p:sp>
      <p:sp>
        <p:nvSpPr>
          <p:cNvPr id="13" name="cmp-1-old"/>
          <p:cNvSpPr/>
          <p:nvPr/>
        </p:nvSpPr>
        <p:spPr>
          <a:xfrm>
            <a:off x="6309360" y="2889504"/>
            <a:ext cx="2596896" cy="1042416"/>
          </a:xfrm>
          <a:prstGeom prst="roundRect">
            <a:avLst>
              <a:gd name="adj" fmla="val 10526"/>
            </a:avLst>
          </a:prstGeom>
          <a:solidFill>
            <a:schemeClr val="bg1"/>
          </a:solidFill>
          <a:ln/>
        </p:spPr>
      </p:sp>
      <p:sp>
        <p:nvSpPr>
          <p:cNvPr id="14" name="cmp-1-oldtext"/>
          <p:cNvSpPr txBox="1"/>
          <p:nvPr/>
        </p:nvSpPr>
        <p:spPr>
          <a:xfrm>
            <a:off x="6473952" y="2980944"/>
            <a:ext cx="2267712" cy="859536"/>
          </a:xfrm>
          <a:prstGeom prst="rect">
            <a:avLst/>
          </a:prstGeom>
          <a:noFill/>
          <a:ln/>
        </p:spPr>
        <p:txBody>
          <a:bodyPr wrap="square" lIns="0" tIns="0" rIns="0" bIns="0" rtlCol="0" anchor="ctr"/>
          <a:lstStyle/>
          <a:p>
            <a:pPr indent="0" marL="0">
              <a:buNone/>
            </a:pPr>
            <a:r>
              <a:rPr lang="en-US" sz="1300" b="1" dirty="0">
                <a:solidFill>
                  <a:schemeClr val="tx2"/>
                </a:solidFill>
              </a:rPr>
              <a:t>Context</a:t>
            </a:r>
            <a:endParaRPr lang="en-US" sz="1300" dirty="0"/>
          </a:p>
          <a:p>
            <a:pPr indent="0" marL="0">
              <a:buNone/>
            </a:pPr>
            <a:r>
              <a:rPr lang="en-US" sz="1300" dirty="0">
                <a:solidFill>
                  <a:schemeClr val="tx2"/>
                </a:solidFill>
              </a:rPr>
              <a:t>Code read in fragments</a:t>
            </a:r>
            <a:endParaRPr lang="en-US" sz="1300" dirty="0"/>
          </a:p>
        </p:txBody>
      </p:sp>
      <p:sp>
        <p:nvSpPr>
          <p:cNvPr id="15" name="cmp-1-new"/>
          <p:cNvSpPr/>
          <p:nvPr/>
        </p:nvSpPr>
        <p:spPr>
          <a:xfrm>
            <a:off x="9043416" y="2889504"/>
            <a:ext cx="2596896" cy="1042416"/>
          </a:xfrm>
          <a:prstGeom prst="roundRect">
            <a:avLst>
              <a:gd name="adj" fmla="val 10526"/>
            </a:avLst>
          </a:prstGeom>
          <a:solidFill>
            <a:schemeClr val="tx1"/>
          </a:solidFill>
          <a:ln/>
        </p:spPr>
      </p:sp>
      <p:sp>
        <p:nvSpPr>
          <p:cNvPr id="16" name="cmp-1-newtext"/>
          <p:cNvSpPr txBox="1"/>
          <p:nvPr/>
        </p:nvSpPr>
        <p:spPr>
          <a:xfrm>
            <a:off x="9208008" y="2980944"/>
            <a:ext cx="2267712" cy="859536"/>
          </a:xfrm>
          <a:prstGeom prst="rect">
            <a:avLst/>
          </a:prstGeom>
          <a:noFill/>
          <a:ln/>
        </p:spPr>
        <p:txBody>
          <a:bodyPr wrap="square" lIns="0" tIns="0" rIns="0" bIns="0" rtlCol="0" anchor="ctr"/>
          <a:lstStyle/>
          <a:p>
            <a:pPr indent="0" marL="0">
              <a:buNone/>
            </a:pPr>
            <a:r>
              <a:rPr lang="en-US" sz="1300" b="1" dirty="0">
                <a:solidFill>
                  <a:schemeClr val="bg1"/>
                </a:solidFill>
              </a:rPr>
              <a:t>Context</a:t>
            </a:r>
            <a:endParaRPr lang="en-US" sz="1300" dirty="0"/>
          </a:p>
          <a:p>
            <a:pPr indent="0" marL="0">
              <a:buNone/>
            </a:pPr>
            <a:r>
              <a:rPr lang="en-US" sz="1300" dirty="0">
                <a:solidFill>
                  <a:schemeClr val="accent5"/>
                </a:solidFill>
              </a:rPr>
              <a:t>pack-project.ts gives the AI the whole app at once</a:t>
            </a:r>
            <a:endParaRPr lang="en-US" sz="1300" dirty="0"/>
          </a:p>
        </p:txBody>
      </p:sp>
      <p:sp>
        <p:nvSpPr>
          <p:cNvPr id="17" name="cmp-2-old"/>
          <p:cNvSpPr/>
          <p:nvPr/>
        </p:nvSpPr>
        <p:spPr>
          <a:xfrm>
            <a:off x="6309360" y="4059936"/>
            <a:ext cx="2596896" cy="1042416"/>
          </a:xfrm>
          <a:prstGeom prst="roundRect">
            <a:avLst>
              <a:gd name="adj" fmla="val 10526"/>
            </a:avLst>
          </a:prstGeom>
          <a:solidFill>
            <a:schemeClr val="bg1"/>
          </a:solidFill>
          <a:ln/>
        </p:spPr>
      </p:sp>
      <p:sp>
        <p:nvSpPr>
          <p:cNvPr id="18" name="cmp-2-oldtext"/>
          <p:cNvSpPr txBox="1"/>
          <p:nvPr/>
        </p:nvSpPr>
        <p:spPr>
          <a:xfrm>
            <a:off x="6473952" y="4151376"/>
            <a:ext cx="2267712" cy="859536"/>
          </a:xfrm>
          <a:prstGeom prst="rect">
            <a:avLst/>
          </a:prstGeom>
          <a:noFill/>
          <a:ln/>
        </p:spPr>
        <p:txBody>
          <a:bodyPr wrap="square" lIns="0" tIns="0" rIns="0" bIns="0" rtlCol="0" anchor="ctr"/>
          <a:lstStyle/>
          <a:p>
            <a:pPr indent="0" marL="0">
              <a:buNone/>
            </a:pPr>
            <a:r>
              <a:rPr lang="en-US" sz="1300" b="1" dirty="0">
                <a:solidFill>
                  <a:schemeClr val="tx2"/>
                </a:solidFill>
              </a:rPr>
              <a:t>Parity check</a:t>
            </a:r>
            <a:endParaRPr lang="en-US" sz="1300" dirty="0"/>
          </a:p>
          <a:p>
            <a:pPr indent="0" marL="0">
              <a:buNone/>
            </a:pPr>
            <a:r>
              <a:rPr lang="en-US" sz="1300" dirty="0">
                <a:solidFill>
                  <a:schemeClr val="tx2"/>
                </a:solidFill>
              </a:rPr>
              <a:t>Manual testing, gaps found late</a:t>
            </a:r>
            <a:endParaRPr lang="en-US" sz="1300" dirty="0"/>
          </a:p>
        </p:txBody>
      </p:sp>
      <p:sp>
        <p:nvSpPr>
          <p:cNvPr id="19" name="cmp-2-new"/>
          <p:cNvSpPr/>
          <p:nvPr/>
        </p:nvSpPr>
        <p:spPr>
          <a:xfrm>
            <a:off x="9043416" y="4059936"/>
            <a:ext cx="2596896" cy="1042416"/>
          </a:xfrm>
          <a:prstGeom prst="roundRect">
            <a:avLst>
              <a:gd name="adj" fmla="val 10526"/>
            </a:avLst>
          </a:prstGeom>
          <a:solidFill>
            <a:schemeClr val="tx1"/>
          </a:solidFill>
          <a:ln/>
        </p:spPr>
      </p:sp>
      <p:sp>
        <p:nvSpPr>
          <p:cNvPr id="20" name="cmp-2-newtext"/>
          <p:cNvSpPr txBox="1"/>
          <p:nvPr/>
        </p:nvSpPr>
        <p:spPr>
          <a:xfrm>
            <a:off x="9208008" y="4151376"/>
            <a:ext cx="2267712" cy="859536"/>
          </a:xfrm>
          <a:prstGeom prst="rect">
            <a:avLst/>
          </a:prstGeom>
          <a:noFill/>
          <a:ln/>
        </p:spPr>
        <p:txBody>
          <a:bodyPr wrap="square" lIns="0" tIns="0" rIns="0" bIns="0" rtlCol="0" anchor="ctr"/>
          <a:lstStyle/>
          <a:p>
            <a:pPr indent="0" marL="0">
              <a:buNone/>
            </a:pPr>
            <a:r>
              <a:rPr lang="en-US" sz="1300" b="1" dirty="0">
                <a:solidFill>
                  <a:schemeClr val="bg1"/>
                </a:solidFill>
              </a:rPr>
              <a:t>Parity check</a:t>
            </a:r>
            <a:endParaRPr lang="en-US" sz="1300" dirty="0"/>
          </a:p>
          <a:p>
            <a:pPr indent="0" marL="0">
              <a:buNone/>
            </a:pPr>
            <a:r>
              <a:rPr lang="en-US" sz="1300" dirty="0">
                <a:solidFill>
                  <a:schemeClr val="accent5"/>
                </a:solidFill>
              </a:rPr>
              <a:t>Every feature checked against the code: 31 gaps found</a:t>
            </a:r>
            <a:endParaRPr lang="en-US" sz="1300" dirty="0"/>
          </a:p>
        </p:txBody>
      </p:sp>
      <p:sp>
        <p:nvSpPr>
          <p:cNvPr id="21" name="cmp-3-old"/>
          <p:cNvSpPr/>
          <p:nvPr/>
        </p:nvSpPr>
        <p:spPr>
          <a:xfrm>
            <a:off x="6309360" y="5230368"/>
            <a:ext cx="2596896" cy="1042416"/>
          </a:xfrm>
          <a:prstGeom prst="roundRect">
            <a:avLst>
              <a:gd name="adj" fmla="val 10526"/>
            </a:avLst>
          </a:prstGeom>
          <a:solidFill>
            <a:schemeClr val="bg1"/>
          </a:solidFill>
          <a:ln/>
        </p:spPr>
      </p:sp>
      <p:sp>
        <p:nvSpPr>
          <p:cNvPr id="22" name="cmp-3-oldtext"/>
          <p:cNvSpPr txBox="1"/>
          <p:nvPr/>
        </p:nvSpPr>
        <p:spPr>
          <a:xfrm>
            <a:off x="6473952" y="5321808"/>
            <a:ext cx="2267712" cy="859536"/>
          </a:xfrm>
          <a:prstGeom prst="rect">
            <a:avLst/>
          </a:prstGeom>
          <a:noFill/>
          <a:ln/>
        </p:spPr>
        <p:txBody>
          <a:bodyPr wrap="square" lIns="0" tIns="0" rIns="0" bIns="0" rtlCol="0" anchor="ctr"/>
          <a:lstStyle/>
          <a:p>
            <a:pPr indent="0" marL="0">
              <a:buNone/>
            </a:pPr>
            <a:r>
              <a:rPr lang="en-US" sz="1300" b="1" dirty="0">
                <a:solidFill>
                  <a:schemeClr val="tx2"/>
                </a:solidFill>
              </a:rPr>
              <a:t>Documentation</a:t>
            </a:r>
            <a:endParaRPr lang="en-US" sz="1300" dirty="0"/>
          </a:p>
          <a:p>
            <a:pPr indent="0" marL="0">
              <a:buNone/>
            </a:pPr>
            <a:r>
              <a:rPr lang="en-US" sz="1300" dirty="0">
                <a:solidFill>
                  <a:schemeClr val="tx2"/>
                </a:solidFill>
              </a:rPr>
              <a:t>Written afterwards, if at all</a:t>
            </a:r>
            <a:endParaRPr lang="en-US" sz="1300" dirty="0"/>
          </a:p>
        </p:txBody>
      </p:sp>
      <p:sp>
        <p:nvSpPr>
          <p:cNvPr id="23" name="cmp-3-new"/>
          <p:cNvSpPr/>
          <p:nvPr/>
        </p:nvSpPr>
        <p:spPr>
          <a:xfrm>
            <a:off x="9043416" y="5230368"/>
            <a:ext cx="2596896" cy="1042416"/>
          </a:xfrm>
          <a:prstGeom prst="roundRect">
            <a:avLst>
              <a:gd name="adj" fmla="val 10526"/>
            </a:avLst>
          </a:prstGeom>
          <a:solidFill>
            <a:schemeClr val="tx1"/>
          </a:solidFill>
          <a:ln/>
        </p:spPr>
      </p:sp>
      <p:sp>
        <p:nvSpPr>
          <p:cNvPr id="24" name="cmp-3-newtext"/>
          <p:cNvSpPr txBox="1"/>
          <p:nvPr/>
        </p:nvSpPr>
        <p:spPr>
          <a:xfrm>
            <a:off x="9208008" y="5321808"/>
            <a:ext cx="2267712" cy="859536"/>
          </a:xfrm>
          <a:prstGeom prst="rect">
            <a:avLst/>
          </a:prstGeom>
          <a:noFill/>
          <a:ln/>
        </p:spPr>
        <p:txBody>
          <a:bodyPr wrap="square" lIns="0" tIns="0" rIns="0" bIns="0" rtlCol="0" anchor="ctr"/>
          <a:lstStyle/>
          <a:p>
            <a:pPr indent="0" marL="0">
              <a:buNone/>
            </a:pPr>
            <a:r>
              <a:rPr lang="en-US" sz="1300" b="1" dirty="0">
                <a:solidFill>
                  <a:schemeClr val="bg1"/>
                </a:solidFill>
              </a:rPr>
              <a:t>Documentation</a:t>
            </a:r>
            <a:endParaRPr lang="en-US" sz="1300" dirty="0"/>
          </a:p>
          <a:p>
            <a:pPr indent="0" marL="0">
              <a:buNone/>
            </a:pPr>
            <a:r>
              <a:rPr lang="en-US" sz="1300" dirty="0">
                <a:solidFill>
                  <a:schemeClr val="accent5"/>
                </a:solidFill>
              </a:rPr>
              <a:t>8 architecture and lifecycle diagrams made alongside</a:t>
            </a:r>
            <a:endParaRPr lang="en-US"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9" fill="hold">
                      <p:stCondLst>
                        <p:cond delay="indefinite"/>
                        <p:cond evt="onBegin" delay="0">
                          <p:tn val="2"/>
                        </p:cond>
                      </p:stCondLst>
                      <p:childTnLst>
                        <p:par>
                          <p:cTn id="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7"/>
                                        </p:tgtEl>
                                        <p:attrNameLst>
                                          <p:attrName>style.visibility</p:attrName>
                                        </p:attrNameLst>
                                      </p:cBhvr>
                                      <p:to>
                                        <p:strVal val="visible"/>
                                      </p:to>
                                    </p:set>
                                    <p:animEffect transition="in" filter="fade">
                                      <p:cBhvr>
                                        <p:cTn id="5" dur="450"/>
                                        <p:tgtEl>
                                          <p:spTgt spid="7"/>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50"/>
                                        <p:tgtEl>
                                          <p:spTgt spid="8"/>
                                        </p:tgtEl>
                                      </p:cBhvr>
                                    </p:animEffect>
                                  </p:childTnLst>
                                </p:cTn>
                              </p:par>
                            </p:childTnLst>
                          </p:cTn>
                        </p:par>
                        <p:par>
                          <p:cTn id="22" fill="hold">
                            <p:stCondLst>
                              <p:cond delay="600"/>
                            </p:stCondLst>
                            <p:childTnLst>
                              <p:par>
                                <p:cTn id="10" presetID="10" presetClass="entr" presetSubtype="0" fill="hold" grpId="0" nodeType="after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450"/>
                                        <p:tgtEl>
                                          <p:spTgt spid="9"/>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450"/>
                                        <p:tgtEl>
                                          <p:spTgt spid="10"/>
                                        </p:tgtEl>
                                      </p:cBhvr>
                                    </p:animEffect>
                                  </p:childTnLst>
                                </p:cTn>
                              </p:par>
                              <p:par>
                                <p:cTn id="16" presetID="22" presetClass="entr" presetSubtype="8" fill="hold" grpId="0" nodeType="withEffect">
                                  <p:stCondLst>
                                    <p:cond delay="300"/>
                                  </p:stCondLst>
                                  <p:childTnLst>
                                    <p:set>
                                      <p:cBhvr>
                                        <p:cTn id="17" dur="1" fill="hold">
                                          <p:stCondLst>
                                            <p:cond delay="0"/>
                                          </p:stCondLst>
                                        </p:cTn>
                                        <p:tgtEl>
                                          <p:spTgt spid="11"/>
                                        </p:tgtEl>
                                        <p:attrNameLst>
                                          <p:attrName>style.visibility</p:attrName>
                                        </p:attrNameLst>
                                      </p:cBhvr>
                                      <p:to>
                                        <p:strVal val="visible"/>
                                      </p:to>
                                    </p:set>
                                    <p:animEffect transition="in" filter="wipe(left)">
                                      <p:cBhvr>
                                        <p:cTn id="18" dur="450"/>
                                        <p:tgtEl>
                                          <p:spTgt spid="11"/>
                                        </p:tgtEl>
                                      </p:cBhvr>
                                    </p:animEffect>
                                  </p:childTnLst>
                                </p:cTn>
                              </p:par>
                              <p:par>
                                <p:cTn id="19" presetID="22" presetClass="entr" presetSubtype="8" fill="hold" grpId="0" nodeType="withEffect">
                                  <p:stCondLst>
                                    <p:cond delay="300"/>
                                  </p:stCondLst>
                                  <p:childTnLst>
                                    <p:set>
                                      <p:cBhvr>
                                        <p:cTn id="20" dur="1" fill="hold">
                                          <p:stCondLst>
                                            <p:cond delay="0"/>
                                          </p:stCondLst>
                                        </p:cTn>
                                        <p:tgtEl>
                                          <p:spTgt spid="12"/>
                                        </p:tgtEl>
                                        <p:attrNameLst>
                                          <p:attrName>style.visibility</p:attrName>
                                        </p:attrNameLst>
                                      </p:cBhvr>
                                      <p:to>
                                        <p:strVal val="visible"/>
                                      </p:to>
                                    </p:set>
                                    <p:animEffect transition="in" filter="wipe(left)">
                                      <p:cBhvr>
                                        <p:cTn id="21" dur="450"/>
                                        <p:tgtEl>
                                          <p:spTgt spid="12"/>
                                        </p:tgtEl>
                                      </p:cBhvr>
                                    </p:animEffect>
                                  </p:childTnLst>
                                </p:cTn>
                              </p:par>
                            </p:childTnLst>
                          </p:cTn>
                        </p:par>
                        <p:par>
                          <p:cTn id="35" fill="hold">
                            <p:stCondLst>
                              <p:cond delay="1200"/>
                            </p:stCondLst>
                            <p:childTnLst>
                              <p:par>
                                <p:cTn id="23" presetID="10" presetClass="entr" presetSubtype="0" fill="hold" grpId="0" nodeType="after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fade">
                                      <p:cBhvr>
                                        <p:cTn id="25" dur="450"/>
                                        <p:tgtEl>
                                          <p:spTgt spid="13"/>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fade">
                                      <p:cBhvr>
                                        <p:cTn id="28" dur="450"/>
                                        <p:tgtEl>
                                          <p:spTgt spid="14"/>
                                        </p:tgtEl>
                                      </p:cBhvr>
                                    </p:animEffect>
                                  </p:childTnLst>
                                </p:cTn>
                              </p:par>
                              <p:par>
                                <p:cTn id="29" presetID="22" presetClass="entr" presetSubtype="8" fill="hold" grpId="0" nodeType="withEffect">
                                  <p:stCondLst>
                                    <p:cond delay="300"/>
                                  </p:stCondLst>
                                  <p:childTnLst>
                                    <p:set>
                                      <p:cBhvr>
                                        <p:cTn id="30" dur="1" fill="hold">
                                          <p:stCondLst>
                                            <p:cond delay="0"/>
                                          </p:stCondLst>
                                        </p:cTn>
                                        <p:tgtEl>
                                          <p:spTgt spid="15"/>
                                        </p:tgtEl>
                                        <p:attrNameLst>
                                          <p:attrName>style.visibility</p:attrName>
                                        </p:attrNameLst>
                                      </p:cBhvr>
                                      <p:to>
                                        <p:strVal val="visible"/>
                                      </p:to>
                                    </p:set>
                                    <p:animEffect transition="in" filter="wipe(left)">
                                      <p:cBhvr>
                                        <p:cTn id="31" dur="450"/>
                                        <p:tgtEl>
                                          <p:spTgt spid="15"/>
                                        </p:tgtEl>
                                      </p:cBhvr>
                                    </p:animEffect>
                                  </p:childTnLst>
                                </p:cTn>
                              </p:par>
                              <p:par>
                                <p:cTn id="32" presetID="22" presetClass="entr" presetSubtype="8" fill="hold" grpId="0" nodeType="withEffect">
                                  <p:stCondLst>
                                    <p:cond delay="300"/>
                                  </p:stCondLst>
                                  <p:childTnLst>
                                    <p:set>
                                      <p:cBhvr>
                                        <p:cTn id="33" dur="1" fill="hold">
                                          <p:stCondLst>
                                            <p:cond delay="0"/>
                                          </p:stCondLst>
                                        </p:cTn>
                                        <p:tgtEl>
                                          <p:spTgt spid="16"/>
                                        </p:tgtEl>
                                        <p:attrNameLst>
                                          <p:attrName>style.visibility</p:attrName>
                                        </p:attrNameLst>
                                      </p:cBhvr>
                                      <p:to>
                                        <p:strVal val="visible"/>
                                      </p:to>
                                    </p:set>
                                    <p:animEffect transition="in" filter="wipe(left)">
                                      <p:cBhvr>
                                        <p:cTn id="34" dur="450"/>
                                        <p:tgtEl>
                                          <p:spTgt spid="16"/>
                                        </p:tgtEl>
                                      </p:cBhvr>
                                    </p:animEffect>
                                  </p:childTnLst>
                                </p:cTn>
                              </p:par>
                            </p:childTnLst>
                          </p:cTn>
                        </p:par>
                        <p:par>
                          <p:cTn id="48" fill="hold">
                            <p:stCondLst>
                              <p:cond delay="1800"/>
                            </p:stCondLst>
                            <p:childTnLst>
                              <p:par>
                                <p:cTn id="36" presetID="10" presetClass="entr" presetSubtype="0" fill="hold" grpId="0" nodeType="afterEffect">
                                  <p:stCondLst>
                                    <p:cond delay="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450"/>
                                        <p:tgtEl>
                                          <p:spTgt spid="17"/>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8"/>
                                        </p:tgtEl>
                                        <p:attrNameLst>
                                          <p:attrName>style.visibility</p:attrName>
                                        </p:attrNameLst>
                                      </p:cBhvr>
                                      <p:to>
                                        <p:strVal val="visible"/>
                                      </p:to>
                                    </p:set>
                                    <p:animEffect transition="in" filter="fade">
                                      <p:cBhvr>
                                        <p:cTn id="41" dur="450"/>
                                        <p:tgtEl>
                                          <p:spTgt spid="18"/>
                                        </p:tgtEl>
                                      </p:cBhvr>
                                    </p:animEffect>
                                  </p:childTnLst>
                                </p:cTn>
                              </p:par>
                              <p:par>
                                <p:cTn id="42" presetID="22" presetClass="entr" presetSubtype="8" fill="hold" grpId="0" nodeType="withEffect">
                                  <p:stCondLst>
                                    <p:cond delay="300"/>
                                  </p:stCondLst>
                                  <p:childTnLst>
                                    <p:set>
                                      <p:cBhvr>
                                        <p:cTn id="43" dur="1" fill="hold">
                                          <p:stCondLst>
                                            <p:cond delay="0"/>
                                          </p:stCondLst>
                                        </p:cTn>
                                        <p:tgtEl>
                                          <p:spTgt spid="19"/>
                                        </p:tgtEl>
                                        <p:attrNameLst>
                                          <p:attrName>style.visibility</p:attrName>
                                        </p:attrNameLst>
                                      </p:cBhvr>
                                      <p:to>
                                        <p:strVal val="visible"/>
                                      </p:to>
                                    </p:set>
                                    <p:animEffect transition="in" filter="wipe(left)">
                                      <p:cBhvr>
                                        <p:cTn id="44" dur="450"/>
                                        <p:tgtEl>
                                          <p:spTgt spid="19"/>
                                        </p:tgtEl>
                                      </p:cBhvr>
                                    </p:animEffect>
                                  </p:childTnLst>
                                </p:cTn>
                              </p:par>
                              <p:par>
                                <p:cTn id="45" presetID="22" presetClass="entr" presetSubtype="8" fill="hold" grpId="0" nodeType="withEffect">
                                  <p:stCondLst>
                                    <p:cond delay="300"/>
                                  </p:stCondLst>
                                  <p:childTnLst>
                                    <p:set>
                                      <p:cBhvr>
                                        <p:cTn id="46" dur="1" fill="hold">
                                          <p:stCondLst>
                                            <p:cond delay="0"/>
                                          </p:stCondLst>
                                        </p:cTn>
                                        <p:tgtEl>
                                          <p:spTgt spid="20"/>
                                        </p:tgtEl>
                                        <p:attrNameLst>
                                          <p:attrName>style.visibility</p:attrName>
                                        </p:attrNameLst>
                                      </p:cBhvr>
                                      <p:to>
                                        <p:strVal val="visible"/>
                                      </p:to>
                                    </p:set>
                                    <p:animEffect transition="in" filter="wipe(left)">
                                      <p:cBhvr>
                                        <p:cTn id="47" dur="450"/>
                                        <p:tgtEl>
                                          <p:spTgt spid="20"/>
                                        </p:tgtEl>
                                      </p:cBhvr>
                                    </p:animEffect>
                                  </p:childTnLst>
                                </p:cTn>
                              </p:par>
                            </p:childTnLst>
                          </p:cTn>
                        </p:par>
                        <p:par>
                          <p:cTn id="61" fill="hold">
                            <p:stCondLst>
                              <p:cond delay="2400"/>
                            </p:stCondLst>
                            <p:childTnLst>
                              <p:par>
                                <p:cTn id="49" presetID="10" presetClass="entr" presetSubtype="0" fill="hold" grpId="0" nodeType="afterEffect">
                                  <p:stCondLst>
                                    <p:cond delay="0"/>
                                  </p:stCondLst>
                                  <p:childTnLst>
                                    <p:set>
                                      <p:cBhvr>
                                        <p:cTn id="50" dur="1" fill="hold">
                                          <p:stCondLst>
                                            <p:cond delay="0"/>
                                          </p:stCondLst>
                                        </p:cTn>
                                        <p:tgtEl>
                                          <p:spTgt spid="21"/>
                                        </p:tgtEl>
                                        <p:attrNameLst>
                                          <p:attrName>style.visibility</p:attrName>
                                        </p:attrNameLst>
                                      </p:cBhvr>
                                      <p:to>
                                        <p:strVal val="visible"/>
                                      </p:to>
                                    </p:set>
                                    <p:animEffect transition="in" filter="fade">
                                      <p:cBhvr>
                                        <p:cTn id="51" dur="450"/>
                                        <p:tgtEl>
                                          <p:spTgt spid="21"/>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22"/>
                                        </p:tgtEl>
                                        <p:attrNameLst>
                                          <p:attrName>style.visibility</p:attrName>
                                        </p:attrNameLst>
                                      </p:cBhvr>
                                      <p:to>
                                        <p:strVal val="visible"/>
                                      </p:to>
                                    </p:set>
                                    <p:animEffect transition="in" filter="fade">
                                      <p:cBhvr>
                                        <p:cTn id="54" dur="450"/>
                                        <p:tgtEl>
                                          <p:spTgt spid="22"/>
                                        </p:tgtEl>
                                      </p:cBhvr>
                                    </p:animEffect>
                                  </p:childTnLst>
                                </p:cTn>
                              </p:par>
                              <p:par>
                                <p:cTn id="55" presetID="22" presetClass="entr" presetSubtype="8" fill="hold" grpId="0" nodeType="withEffect">
                                  <p:stCondLst>
                                    <p:cond delay="300"/>
                                  </p:stCondLst>
                                  <p:childTnLst>
                                    <p:set>
                                      <p:cBhvr>
                                        <p:cTn id="56" dur="1" fill="hold">
                                          <p:stCondLst>
                                            <p:cond delay="0"/>
                                          </p:stCondLst>
                                        </p:cTn>
                                        <p:tgtEl>
                                          <p:spTgt spid="23"/>
                                        </p:tgtEl>
                                        <p:attrNameLst>
                                          <p:attrName>style.visibility</p:attrName>
                                        </p:attrNameLst>
                                      </p:cBhvr>
                                      <p:to>
                                        <p:strVal val="visible"/>
                                      </p:to>
                                    </p:set>
                                    <p:animEffect transition="in" filter="wipe(left)">
                                      <p:cBhvr>
                                        <p:cTn id="57" dur="450"/>
                                        <p:tgtEl>
                                          <p:spTgt spid="23"/>
                                        </p:tgtEl>
                                      </p:cBhvr>
                                    </p:animEffect>
                                  </p:childTnLst>
                                </p:cTn>
                              </p:par>
                              <p:par>
                                <p:cTn id="58" presetID="22" presetClass="entr" presetSubtype="8" fill="hold" grpId="0" nodeType="withEffect">
                                  <p:stCondLst>
                                    <p:cond delay="300"/>
                                  </p:stCondLst>
                                  <p:childTnLst>
                                    <p:set>
                                      <p:cBhvr>
                                        <p:cTn id="59" dur="1" fill="hold">
                                          <p:stCondLst>
                                            <p:cond delay="0"/>
                                          </p:stCondLst>
                                        </p:cTn>
                                        <p:tgtEl>
                                          <p:spTgt spid="24"/>
                                        </p:tgtEl>
                                        <p:attrNameLst>
                                          <p:attrName>style.visibility</p:attrName>
                                        </p:attrNameLst>
                                      </p:cBhvr>
                                      <p:to>
                                        <p:strVal val="visible"/>
                                      </p:to>
                                    </p:set>
                                    <p:animEffect transition="in" filter="wipe(left)">
                                      <p:cBhvr>
                                        <p:cTn id="60" dur="450"/>
                                        <p:tgtEl>
                                          <p:spTgt spid="24"/>
                                        </p:tgtEl>
                                      </p:cBhvr>
                                    </p:animEffect>
                                  </p:childTnLst>
                                </p:cTn>
                              </p:par>
                            </p:childTnLst>
                          </p:cTn>
                        </p:par>
                        <p:par>
                          <p:cTn id="68" fill="hold">
                            <p:stCondLst>
                              <p:cond delay="3000"/>
                            </p:stCondLst>
                            <p:childTnLst>
                              <p:par>
                                <p:cTn id="62" presetID="10" presetClass="entr" presetSubtype="0" fill="hold" grpId="0" nodeType="afterEffect">
                                  <p:stCondLst>
                                    <p:cond delay="0"/>
                                  </p:stCondLst>
                                  <p:childTnLst>
                                    <p:set>
                                      <p:cBhvr>
                                        <p:cTn id="63" dur="1" fill="hold">
                                          <p:stCondLst>
                                            <p:cond delay="0"/>
                                          </p:stCondLst>
                                        </p:cTn>
                                        <p:tgtEl>
                                          <p:spTgt spid="5"/>
                                        </p:tgtEl>
                                        <p:attrNameLst>
                                          <p:attrName>style.visibility</p:attrName>
                                        </p:attrNameLst>
                                      </p:cBhvr>
                                      <p:to>
                                        <p:strVal val="visible"/>
                                      </p:to>
                                    </p:set>
                                    <p:animEffect transition="in" filter="fade">
                                      <p:cBhvr>
                                        <p:cTn id="64" dur="450"/>
                                        <p:tgtEl>
                                          <p:spTgt spid="5"/>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6"/>
                                        </p:tgtEl>
                                        <p:attrNameLst>
                                          <p:attrName>style.visibility</p:attrName>
                                        </p:attrNameLst>
                                      </p:cBhvr>
                                      <p:to>
                                        <p:strVal val="visible"/>
                                      </p:to>
                                    </p:set>
                                    <p:animEffect transition="in" filter="fade">
                                      <p:cBhvr>
                                        <p:cTn id="67" dur="45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5" grpId="0" animBg="1"/>
      <p:bldP spid="6"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THE PROOF · IMPACT</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Same features, one PI, two developers</a:t>
            </a:r>
            <a:endParaRPr lang="en-US" sz="3600" dirty="0"/>
          </a:p>
        </p:txBody>
      </p:sp>
      <p:sp>
        <p:nvSpPr>
          <p:cNvPr id="4" name="fact-0-card"/>
          <p:cNvSpPr/>
          <p:nvPr/>
        </p:nvSpPr>
        <p:spPr>
          <a:xfrm>
            <a:off x="548640" y="1371600"/>
            <a:ext cx="2225040" cy="1481328"/>
          </a:xfrm>
          <a:prstGeom prst="roundRect">
            <a:avLst>
              <a:gd name="adj" fmla="val 7407"/>
            </a:avLst>
          </a:prstGeom>
          <a:solidFill>
            <a:schemeClr val="bg2"/>
          </a:solidFill>
          <a:ln/>
        </p:spPr>
      </p:sp>
      <p:sp>
        <p:nvSpPr>
          <p:cNvPr id="5" name="fact-0-value"/>
          <p:cNvSpPr txBox="1"/>
          <p:nvPr/>
        </p:nvSpPr>
        <p:spPr>
          <a:xfrm>
            <a:off x="749808" y="1508760"/>
            <a:ext cx="1822704" cy="640080"/>
          </a:xfrm>
          <a:prstGeom prst="rect">
            <a:avLst/>
          </a:prstGeom>
          <a:noFill/>
          <a:ln/>
        </p:spPr>
        <p:txBody>
          <a:bodyPr wrap="square" lIns="0" tIns="0" rIns="0" bIns="0" rtlCol="0" anchor="t"/>
          <a:lstStyle/>
          <a:p>
            <a:pPr indent="0" marL="0">
              <a:buNone/>
            </a:pPr>
            <a:r>
              <a:rPr lang="en-US" sz="3600" b="1" dirty="0">
                <a:solidFill>
                  <a:schemeClr val="tx1"/>
                </a:solidFill>
              </a:rPr>
              <a:t>1 PI</a:t>
            </a:r>
            <a:endParaRPr lang="en-US" sz="3600" dirty="0"/>
          </a:p>
        </p:txBody>
      </p:sp>
      <p:sp>
        <p:nvSpPr>
          <p:cNvPr id="6" name="fact-0-label"/>
          <p:cNvSpPr txBox="1"/>
          <p:nvPr/>
        </p:nvSpPr>
        <p:spPr>
          <a:xfrm>
            <a:off x="749808" y="2176272"/>
            <a:ext cx="1822704" cy="594360"/>
          </a:xfrm>
          <a:prstGeom prst="rect">
            <a:avLst/>
          </a:prstGeom>
          <a:noFill/>
          <a:ln/>
        </p:spPr>
        <p:txBody>
          <a:bodyPr wrap="square" lIns="0" tIns="0" rIns="0" bIns="0" rtlCol="0" anchor="t"/>
          <a:lstStyle/>
          <a:p>
            <a:pPr indent="0" marL="0">
              <a:buNone/>
            </a:pPr>
            <a:r>
              <a:rPr lang="en-US" sz="1300" dirty="0">
                <a:solidFill>
                  <a:schemeClr val="tx2"/>
                </a:solidFill>
              </a:rPr>
              <a:t>for the whole migration</a:t>
            </a:r>
            <a:endParaRPr lang="en-US" sz="1300" dirty="0"/>
          </a:p>
        </p:txBody>
      </p:sp>
      <p:sp>
        <p:nvSpPr>
          <p:cNvPr id="7" name="fact-1-card"/>
          <p:cNvSpPr/>
          <p:nvPr/>
        </p:nvSpPr>
        <p:spPr>
          <a:xfrm>
            <a:off x="3048000" y="1371600"/>
            <a:ext cx="2225040" cy="1481328"/>
          </a:xfrm>
          <a:prstGeom prst="roundRect">
            <a:avLst>
              <a:gd name="adj" fmla="val 7407"/>
            </a:avLst>
          </a:prstGeom>
          <a:solidFill>
            <a:schemeClr val="bg2"/>
          </a:solidFill>
          <a:ln/>
        </p:spPr>
      </p:sp>
      <p:sp>
        <p:nvSpPr>
          <p:cNvPr id="8" name="fact-1-value"/>
          <p:cNvSpPr txBox="1"/>
          <p:nvPr/>
        </p:nvSpPr>
        <p:spPr>
          <a:xfrm>
            <a:off x="3249168" y="1508760"/>
            <a:ext cx="1822704" cy="640080"/>
          </a:xfrm>
          <a:prstGeom prst="rect">
            <a:avLst/>
          </a:prstGeom>
          <a:noFill/>
          <a:ln/>
        </p:spPr>
        <p:txBody>
          <a:bodyPr wrap="square" lIns="0" tIns="0" rIns="0" bIns="0" rtlCol="0" anchor="t"/>
          <a:lstStyle/>
          <a:p>
            <a:pPr indent="0" marL="0">
              <a:buNone/>
            </a:pPr>
            <a:r>
              <a:rPr lang="en-US" sz="3600" b="1" dirty="0">
                <a:solidFill>
                  <a:schemeClr val="tx1"/>
                </a:solidFill>
              </a:rPr>
              <a:t>2</a:t>
            </a:r>
            <a:endParaRPr lang="en-US" sz="3600" dirty="0"/>
          </a:p>
        </p:txBody>
      </p:sp>
      <p:sp>
        <p:nvSpPr>
          <p:cNvPr id="9" name="fact-1-label"/>
          <p:cNvSpPr txBox="1"/>
          <p:nvPr/>
        </p:nvSpPr>
        <p:spPr>
          <a:xfrm>
            <a:off x="3249168" y="2176272"/>
            <a:ext cx="1822704" cy="594360"/>
          </a:xfrm>
          <a:prstGeom prst="rect">
            <a:avLst/>
          </a:prstGeom>
          <a:noFill/>
          <a:ln/>
        </p:spPr>
        <p:txBody>
          <a:bodyPr wrap="square" lIns="0" tIns="0" rIns="0" bIns="0" rtlCol="0" anchor="t"/>
          <a:lstStyle/>
          <a:p>
            <a:pPr indent="0" marL="0">
              <a:buNone/>
            </a:pPr>
            <a:r>
              <a:rPr lang="en-US" sz="1300" dirty="0">
                <a:solidFill>
                  <a:schemeClr val="tx2"/>
                </a:solidFill>
              </a:rPr>
              <a:t>developers</a:t>
            </a:r>
            <a:endParaRPr lang="en-US" sz="1300" dirty="0"/>
          </a:p>
        </p:txBody>
      </p:sp>
      <p:sp>
        <p:nvSpPr>
          <p:cNvPr id="10" name="fact-2-card"/>
          <p:cNvSpPr/>
          <p:nvPr/>
        </p:nvSpPr>
        <p:spPr>
          <a:xfrm>
            <a:off x="5547360" y="1371600"/>
            <a:ext cx="2225040" cy="1481328"/>
          </a:xfrm>
          <a:prstGeom prst="roundRect">
            <a:avLst>
              <a:gd name="adj" fmla="val 7407"/>
            </a:avLst>
          </a:prstGeom>
          <a:solidFill>
            <a:schemeClr val="bg2"/>
          </a:solidFill>
          <a:ln/>
        </p:spPr>
      </p:sp>
      <p:sp>
        <p:nvSpPr>
          <p:cNvPr id="11" name="fact-2-value"/>
          <p:cNvSpPr txBox="1"/>
          <p:nvPr/>
        </p:nvSpPr>
        <p:spPr>
          <a:xfrm>
            <a:off x="5748528" y="1508760"/>
            <a:ext cx="1822704" cy="640080"/>
          </a:xfrm>
          <a:prstGeom prst="rect">
            <a:avLst/>
          </a:prstGeom>
          <a:noFill/>
          <a:ln/>
        </p:spPr>
        <p:txBody>
          <a:bodyPr wrap="square" lIns="0" tIns="0" rIns="0" bIns="0" rtlCol="0" anchor="t"/>
          <a:lstStyle/>
          <a:p>
            <a:pPr indent="0" marL="0">
              <a:buNone/>
            </a:pPr>
            <a:r>
              <a:rPr lang="en-US" sz="3600" b="1" dirty="0">
                <a:solidFill>
                  <a:schemeClr val="tx1"/>
                </a:solidFill>
              </a:rPr>
              <a:t>105</a:t>
            </a:r>
            <a:endParaRPr lang="en-US" sz="3600" dirty="0"/>
          </a:p>
        </p:txBody>
      </p:sp>
      <p:sp>
        <p:nvSpPr>
          <p:cNvPr id="12" name="fact-2-label"/>
          <p:cNvSpPr txBox="1"/>
          <p:nvPr/>
        </p:nvSpPr>
        <p:spPr>
          <a:xfrm>
            <a:off x="5748528" y="2176272"/>
            <a:ext cx="1822704" cy="594360"/>
          </a:xfrm>
          <a:prstGeom prst="rect">
            <a:avLst/>
          </a:prstGeom>
          <a:noFill/>
          <a:ln/>
        </p:spPr>
        <p:txBody>
          <a:bodyPr wrap="square" lIns="0" tIns="0" rIns="0" bIns="0" rtlCol="0" anchor="t"/>
          <a:lstStyle/>
          <a:p>
            <a:pPr indent="0" marL="0">
              <a:buNone/>
            </a:pPr>
            <a:r>
              <a:rPr lang="en-US" sz="1300" dirty="0">
                <a:solidFill>
                  <a:schemeClr val="tx2"/>
                </a:solidFill>
              </a:rPr>
              <a:t>features carried over and checked</a:t>
            </a:r>
            <a:endParaRPr lang="en-US" sz="1300" dirty="0"/>
          </a:p>
        </p:txBody>
      </p:sp>
      <p:sp>
        <p:nvSpPr>
          <p:cNvPr id="13" name="fact-3-card"/>
          <p:cNvSpPr/>
          <p:nvPr/>
        </p:nvSpPr>
        <p:spPr>
          <a:xfrm>
            <a:off x="548640" y="3081528"/>
            <a:ext cx="2225040" cy="1481328"/>
          </a:xfrm>
          <a:prstGeom prst="roundRect">
            <a:avLst>
              <a:gd name="adj" fmla="val 7407"/>
            </a:avLst>
          </a:prstGeom>
          <a:solidFill>
            <a:schemeClr val="bg2"/>
          </a:solidFill>
          <a:ln/>
        </p:spPr>
      </p:sp>
      <p:sp>
        <p:nvSpPr>
          <p:cNvPr id="14" name="fact-3-value"/>
          <p:cNvSpPr txBox="1"/>
          <p:nvPr/>
        </p:nvSpPr>
        <p:spPr>
          <a:xfrm>
            <a:off x="749808" y="3218688"/>
            <a:ext cx="1822704" cy="640080"/>
          </a:xfrm>
          <a:prstGeom prst="rect">
            <a:avLst/>
          </a:prstGeom>
          <a:noFill/>
          <a:ln/>
        </p:spPr>
        <p:txBody>
          <a:bodyPr wrap="square" lIns="0" tIns="0" rIns="0" bIns="0" rtlCol="0" anchor="t"/>
          <a:lstStyle/>
          <a:p>
            <a:pPr indent="0" marL="0">
              <a:buNone/>
            </a:pPr>
            <a:r>
              <a:rPr lang="en-US" sz="3600" b="1" dirty="0">
                <a:solidFill>
                  <a:schemeClr val="tx1"/>
                </a:solidFill>
              </a:rPr>
              <a:t>31</a:t>
            </a:r>
            <a:endParaRPr lang="en-US" sz="3600" dirty="0"/>
          </a:p>
        </p:txBody>
      </p:sp>
      <p:sp>
        <p:nvSpPr>
          <p:cNvPr id="15" name="fact-3-label"/>
          <p:cNvSpPr txBox="1"/>
          <p:nvPr/>
        </p:nvSpPr>
        <p:spPr>
          <a:xfrm>
            <a:off x="749808" y="3886200"/>
            <a:ext cx="1822704" cy="594360"/>
          </a:xfrm>
          <a:prstGeom prst="rect">
            <a:avLst/>
          </a:prstGeom>
          <a:noFill/>
          <a:ln/>
        </p:spPr>
        <p:txBody>
          <a:bodyPr wrap="square" lIns="0" tIns="0" rIns="0" bIns="0" rtlCol="0" anchor="t"/>
          <a:lstStyle/>
          <a:p>
            <a:pPr indent="0" marL="0">
              <a:buNone/>
            </a:pPr>
            <a:r>
              <a:rPr lang="en-US" sz="1300" dirty="0">
                <a:solidFill>
                  <a:schemeClr val="tx2"/>
                </a:solidFill>
              </a:rPr>
              <a:t>gaps found and prioritised by AI review</a:t>
            </a:r>
            <a:endParaRPr lang="en-US" sz="1300" dirty="0"/>
          </a:p>
        </p:txBody>
      </p:sp>
      <p:sp>
        <p:nvSpPr>
          <p:cNvPr id="16" name="fact-4-card"/>
          <p:cNvSpPr/>
          <p:nvPr/>
        </p:nvSpPr>
        <p:spPr>
          <a:xfrm>
            <a:off x="3048000" y="3081528"/>
            <a:ext cx="2225040" cy="1481328"/>
          </a:xfrm>
          <a:prstGeom prst="roundRect">
            <a:avLst>
              <a:gd name="adj" fmla="val 7407"/>
            </a:avLst>
          </a:prstGeom>
          <a:solidFill>
            <a:schemeClr val="bg2"/>
          </a:solidFill>
          <a:ln/>
        </p:spPr>
      </p:sp>
      <p:sp>
        <p:nvSpPr>
          <p:cNvPr id="17" name="fact-4-value"/>
          <p:cNvSpPr txBox="1"/>
          <p:nvPr/>
        </p:nvSpPr>
        <p:spPr>
          <a:xfrm>
            <a:off x="3249168" y="3218688"/>
            <a:ext cx="1822704" cy="640080"/>
          </a:xfrm>
          <a:prstGeom prst="rect">
            <a:avLst/>
          </a:prstGeom>
          <a:noFill/>
          <a:ln/>
        </p:spPr>
        <p:txBody>
          <a:bodyPr wrap="square" lIns="0" tIns="0" rIns="0" bIns="0" rtlCol="0" anchor="t"/>
          <a:lstStyle/>
          <a:p>
            <a:pPr indent="0" marL="0">
              <a:buNone/>
            </a:pPr>
            <a:r>
              <a:rPr lang="en-US" sz="3600" b="1" dirty="0">
                <a:solidFill>
                  <a:schemeClr val="accent3"/>
                </a:solidFill>
              </a:rPr>
              <a:t>7</a:t>
            </a:r>
            <a:endParaRPr lang="en-US" sz="3600" dirty="0"/>
          </a:p>
        </p:txBody>
      </p:sp>
      <p:sp>
        <p:nvSpPr>
          <p:cNvPr id="18" name="fact-4-label"/>
          <p:cNvSpPr txBox="1"/>
          <p:nvPr/>
        </p:nvSpPr>
        <p:spPr>
          <a:xfrm>
            <a:off x="3249168" y="3886200"/>
            <a:ext cx="1822704" cy="594360"/>
          </a:xfrm>
          <a:prstGeom prst="rect">
            <a:avLst/>
          </a:prstGeom>
          <a:noFill/>
          <a:ln/>
        </p:spPr>
        <p:txBody>
          <a:bodyPr wrap="square" lIns="0" tIns="0" rIns="0" bIns="0" rtlCol="0" anchor="t"/>
          <a:lstStyle/>
          <a:p>
            <a:pPr indent="0" marL="0">
              <a:buNone/>
            </a:pPr>
            <a:r>
              <a:rPr lang="en-US" sz="1300" dirty="0">
                <a:solidFill>
                  <a:schemeClr val="tx2"/>
                </a:solidFill>
              </a:rPr>
              <a:t>security and data-integrity issues caught in review</a:t>
            </a:r>
            <a:endParaRPr lang="en-US" sz="1300" dirty="0"/>
          </a:p>
        </p:txBody>
      </p:sp>
      <p:sp>
        <p:nvSpPr>
          <p:cNvPr id="19" name="fact-5-card"/>
          <p:cNvSpPr/>
          <p:nvPr/>
        </p:nvSpPr>
        <p:spPr>
          <a:xfrm>
            <a:off x="5547360" y="3081528"/>
            <a:ext cx="2225040" cy="1481328"/>
          </a:xfrm>
          <a:prstGeom prst="roundRect">
            <a:avLst>
              <a:gd name="adj" fmla="val 7407"/>
            </a:avLst>
          </a:prstGeom>
          <a:solidFill>
            <a:schemeClr val="bg2"/>
          </a:solidFill>
          <a:ln/>
        </p:spPr>
      </p:sp>
      <p:sp>
        <p:nvSpPr>
          <p:cNvPr id="20" name="fact-5-value"/>
          <p:cNvSpPr txBox="1"/>
          <p:nvPr/>
        </p:nvSpPr>
        <p:spPr>
          <a:xfrm>
            <a:off x="5748528" y="3218688"/>
            <a:ext cx="1822704" cy="640080"/>
          </a:xfrm>
          <a:prstGeom prst="rect">
            <a:avLst/>
          </a:prstGeom>
          <a:noFill/>
          <a:ln/>
        </p:spPr>
        <p:txBody>
          <a:bodyPr wrap="square" lIns="0" tIns="0" rIns="0" bIns="0" rtlCol="0" anchor="t"/>
          <a:lstStyle/>
          <a:p>
            <a:pPr indent="0" marL="0">
              <a:buNone/>
            </a:pPr>
            <a:r>
              <a:rPr lang="en-US" sz="3600" b="1" dirty="0">
                <a:solidFill>
                  <a:schemeClr val="tx1"/>
                </a:solidFill>
              </a:rPr>
              <a:t>0 → 10</a:t>
            </a:r>
            <a:endParaRPr lang="en-US" sz="3600" dirty="0"/>
          </a:p>
        </p:txBody>
      </p:sp>
      <p:sp>
        <p:nvSpPr>
          <p:cNvPr id="21" name="fact-5-label"/>
          <p:cNvSpPr txBox="1"/>
          <p:nvPr/>
        </p:nvSpPr>
        <p:spPr>
          <a:xfrm>
            <a:off x="5748528" y="3886200"/>
            <a:ext cx="1822704" cy="594360"/>
          </a:xfrm>
          <a:prstGeom prst="rect">
            <a:avLst/>
          </a:prstGeom>
          <a:noFill/>
          <a:ln/>
        </p:spPr>
        <p:txBody>
          <a:bodyPr wrap="square" lIns="0" tIns="0" rIns="0" bIns="0" rtlCol="0" anchor="t"/>
          <a:lstStyle/>
          <a:p>
            <a:pPr indent="0" marL="0">
              <a:buNone/>
            </a:pPr>
            <a:r>
              <a:rPr lang="en-US" sz="1300" dirty="0">
                <a:solidFill>
                  <a:schemeClr val="tx2"/>
                </a:solidFill>
              </a:rPr>
              <a:t>documents: 8 diagrams and 2 guides</a:t>
            </a:r>
            <a:endParaRPr lang="en-US" sz="1300" dirty="0"/>
          </a:p>
        </p:txBody>
      </p:sp>
      <p:sp>
        <p:nvSpPr>
          <p:cNvPr id="22" name="effort-card"/>
          <p:cNvSpPr/>
          <p:nvPr/>
        </p:nvSpPr>
        <p:spPr>
          <a:xfrm>
            <a:off x="8046720" y="1371600"/>
            <a:ext cx="3593592" cy="3191256"/>
          </a:xfrm>
          <a:prstGeom prst="roundRect">
            <a:avLst>
              <a:gd name="adj" fmla="val 3438"/>
            </a:avLst>
          </a:prstGeom>
          <a:solidFill>
            <a:schemeClr val="tx1"/>
          </a:solidFill>
          <a:ln/>
        </p:spPr>
      </p:sp>
      <p:sp>
        <p:nvSpPr>
          <p:cNvPr id="23" name="effort-text"/>
          <p:cNvSpPr txBox="1"/>
          <p:nvPr/>
        </p:nvSpPr>
        <p:spPr>
          <a:xfrm>
            <a:off x="8275320" y="1554480"/>
            <a:ext cx="3136392" cy="2834640"/>
          </a:xfrm>
          <a:prstGeom prst="rect">
            <a:avLst/>
          </a:prstGeom>
          <a:noFill/>
          <a:ln/>
        </p:spPr>
        <p:txBody>
          <a:bodyPr wrap="square" lIns="0" tIns="0" rIns="0" bIns="0" rtlCol="0" anchor="t"/>
          <a:lstStyle/>
          <a:p>
            <a:pPr indent="0" marL="0">
              <a:buNone/>
            </a:pPr>
            <a:r>
              <a:rPr lang="en-US" sz="4800" b="1" dirty="0">
                <a:solidFill>
                  <a:schemeClr val="accent5"/>
                </a:solidFill>
              </a:rPr>
              <a:t>~76%</a:t>
            </a:r>
            <a:endParaRPr lang="en-US" sz="4800" dirty="0"/>
          </a:p>
          <a:p>
            <a:pPr indent="0" marL="0">
              <a:buNone/>
            </a:pPr>
            <a:r>
              <a:rPr lang="en-US" sz="1600" b="1" dirty="0">
                <a:solidFill>
                  <a:schemeClr val="bg1"/>
                </a:solidFill>
              </a:rPr>
              <a:t>less effort than a manual migration</a:t>
            </a:r>
            <a:endParaRPr lang="en-US" sz="4800" dirty="0"/>
          </a:p>
          <a:p>
            <a:pPr indent="0" marL="0">
              <a:buNone/>
            </a:pPr>
            <a:r>
              <a:rPr lang="en-US" sz="800" dirty="0">
                <a:solidFill>
                  <a:srgbClr val="000000"/>
                </a:solidFill>
              </a:rPr>
              <a:t> </a:t>
            </a:r>
            <a:endParaRPr lang="en-US" sz="4800" dirty="0"/>
          </a:p>
          <a:p>
            <a:pPr indent="0" marL="0">
              <a:buNone/>
            </a:pPr>
            <a:r>
              <a:rPr lang="en-US" sz="1300" dirty="0">
                <a:solidFill>
                  <a:schemeClr val="accent5"/>
                </a:solidFill>
              </a:rPr>
              <a:t>4 sprints actual vs ~17 sprints estimated for 2 developers</a:t>
            </a:r>
            <a:endParaRPr lang="en-US" sz="4800" dirty="0"/>
          </a:p>
          <a:p>
            <a:pPr indent="0" marL="0">
              <a:buNone/>
            </a:pPr>
            <a:r>
              <a:rPr lang="en-US" sz="1100" i="1" dirty="0">
                <a:solidFill>
                  <a:schemeClr val="accent5"/>
                </a:solidFill>
              </a:rPr>
              <a:t>Generic estimate: 105 features × 3 days + 25 days docs ≈ 340 person-days</a:t>
            </a:r>
            <a:endParaRPr lang="en-US" sz="4800" dirty="0"/>
          </a:p>
        </p:txBody>
      </p:sp>
      <p:sp>
        <p:nvSpPr>
          <p:cNvPr id="24" name="golive-card"/>
          <p:cNvSpPr/>
          <p:nvPr/>
        </p:nvSpPr>
        <p:spPr>
          <a:xfrm>
            <a:off x="548640" y="4800600"/>
            <a:ext cx="11094415" cy="1554480"/>
          </a:xfrm>
          <a:prstGeom prst="roundRect">
            <a:avLst>
              <a:gd name="adj" fmla="val 7059"/>
            </a:avLst>
          </a:prstGeom>
          <a:solidFill>
            <a:schemeClr val="bg1"/>
          </a:solidFill>
          <a:ln w="12700">
            <a:solidFill>
              <a:srgbClr val="DCE3EE"/>
            </a:solidFill>
            <a:prstDash val="solid"/>
          </a:ln>
        </p:spPr>
      </p:sp>
      <p:sp>
        <p:nvSpPr>
          <p:cNvPr id="25" name="golive-title"/>
          <p:cNvSpPr txBox="1"/>
          <p:nvPr/>
        </p:nvSpPr>
        <p:spPr>
          <a:xfrm>
            <a:off x="822960" y="4937760"/>
            <a:ext cx="7315200" cy="274320"/>
          </a:xfrm>
          <a:prstGeom prst="rect">
            <a:avLst/>
          </a:prstGeom>
          <a:noFill/>
          <a:ln/>
        </p:spPr>
        <p:txBody>
          <a:bodyPr wrap="square" lIns="0" tIns="0" rIns="0" bIns="0" rtlCol="0" anchor="t"/>
          <a:lstStyle/>
          <a:p>
            <a:pPr indent="0" marL="0">
              <a:buNone/>
            </a:pPr>
            <a:r>
              <a:rPr lang="en-US" sz="1100" b="1" spc="200" kern="0" dirty="0">
                <a:solidFill>
                  <a:schemeClr val="accent3"/>
                </a:solidFill>
              </a:rPr>
              <a:t>READY FOR GO-LIVE · [planned date]</a:t>
            </a:r>
            <a:endParaRPr lang="en-US" sz="1100" dirty="0"/>
          </a:p>
        </p:txBody>
      </p:sp>
      <p:sp>
        <p:nvSpPr>
          <p:cNvPr id="26" name="golive-0"/>
          <p:cNvSpPr txBox="1"/>
          <p:nvPr/>
        </p:nvSpPr>
        <p:spPr>
          <a:xfrm>
            <a:off x="822960" y="5257800"/>
            <a:ext cx="3383280" cy="960120"/>
          </a:xfrm>
          <a:prstGeom prst="rect">
            <a:avLst/>
          </a:prstGeom>
          <a:noFill/>
          <a:ln/>
        </p:spPr>
        <p:txBody>
          <a:bodyPr wrap="square" lIns="0" tIns="0" rIns="0" bIns="0" rtlCol="0" anchor="t"/>
          <a:lstStyle/>
          <a:p>
            <a:pPr indent="0" marL="0">
              <a:buNone/>
            </a:pPr>
            <a:r>
              <a:rPr lang="en-US" sz="1600" b="1" dirty="0">
                <a:solidFill>
                  <a:schemeClr val="tx1"/>
                </a:solidFill>
              </a:rPr>
              <a:t>Ready now</a:t>
            </a:r>
            <a:endParaRPr lang="en-US" sz="1600" dirty="0"/>
          </a:p>
          <a:p>
            <a:pPr indent="0" marL="0">
              <a:buNone/>
            </a:pPr>
            <a:r>
              <a:rPr lang="en-US" sz="1300" dirty="0">
                <a:solidFill>
                  <a:schemeClr val="tx2"/>
                </a:solidFill>
              </a:rPr>
              <a:t>All 105 features checked against the code; backend sharing fix deployed</a:t>
            </a:r>
            <a:endParaRPr lang="en-US" sz="1600" dirty="0"/>
          </a:p>
        </p:txBody>
      </p:sp>
      <p:sp>
        <p:nvSpPr>
          <p:cNvPr id="27" name="golive-1"/>
          <p:cNvSpPr txBox="1"/>
          <p:nvPr/>
        </p:nvSpPr>
        <p:spPr>
          <a:xfrm>
            <a:off x="4480560" y="5257800"/>
            <a:ext cx="3383280" cy="960120"/>
          </a:xfrm>
          <a:prstGeom prst="rect">
            <a:avLst/>
          </a:prstGeom>
          <a:noFill/>
          <a:ln/>
        </p:spPr>
        <p:txBody>
          <a:bodyPr wrap="square" lIns="0" tIns="0" rIns="0" bIns="0" rtlCol="0" anchor="t"/>
          <a:lstStyle/>
          <a:p>
            <a:pPr indent="0" marL="0">
              <a:buNone/>
            </a:pPr>
            <a:r>
              <a:rPr lang="en-US" sz="1600" b="1" dirty="0">
                <a:solidFill>
                  <a:schemeClr val="tx1"/>
                </a:solidFill>
              </a:rPr>
              <a:t>Next</a:t>
            </a:r>
            <a:endParaRPr lang="en-US" sz="1600" dirty="0"/>
          </a:p>
          <a:p>
            <a:pPr indent="0" marL="0">
              <a:buNone/>
            </a:pPr>
            <a:r>
              <a:rPr lang="en-US" sz="1300" dirty="0">
                <a:solidFill>
                  <a:schemeClr val="tx2"/>
                </a:solidFill>
              </a:rPr>
              <a:t>Go-live to 892 users across 6 countries, then retire the Slate app</a:t>
            </a:r>
            <a:endParaRPr lang="en-US" sz="1600" dirty="0"/>
          </a:p>
        </p:txBody>
      </p:sp>
      <p:sp>
        <p:nvSpPr>
          <p:cNvPr id="28" name="golive-2"/>
          <p:cNvSpPr txBox="1"/>
          <p:nvPr/>
        </p:nvSpPr>
        <p:spPr>
          <a:xfrm>
            <a:off x="8138160" y="5257800"/>
            <a:ext cx="3383280" cy="960120"/>
          </a:xfrm>
          <a:prstGeom prst="rect">
            <a:avLst/>
          </a:prstGeom>
          <a:noFill/>
          <a:ln/>
        </p:spPr>
        <p:txBody>
          <a:bodyPr wrap="square" lIns="0" tIns="0" rIns="0" bIns="0" rtlCol="0" anchor="t"/>
          <a:lstStyle/>
          <a:p>
            <a:pPr indent="0" marL="0">
              <a:buNone/>
            </a:pPr>
            <a:r>
              <a:rPr lang="en-US" sz="1600" b="1" dirty="0">
                <a:solidFill>
                  <a:schemeClr val="tx1"/>
                </a:solidFill>
              </a:rPr>
              <a:t>We will measure</a:t>
            </a:r>
            <a:endParaRPr lang="en-US" sz="1600" dirty="0"/>
          </a:p>
          <a:p>
            <a:pPr indent="0" marL="0">
              <a:buNone/>
            </a:pPr>
            <a:r>
              <a:rPr lang="en-US" sz="1300" dirty="0">
                <a:solidFill>
                  <a:schemeClr val="tx2"/>
                </a:solidFill>
              </a:rPr>
              <a:t>Users retained, page-switch time against Slate, incidents after release</a:t>
            </a:r>
            <a:endParaRPr lang="en-US" sz="1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6" fill="hold">
                      <p:stCondLst>
                        <p:cond delay="indefinite"/>
                        <p:cond evt="onBegin" delay="0">
                          <p:tn val="2"/>
                        </p:cond>
                      </p:stCondLst>
                      <p:childTnLst>
                        <p:par>
                          <p:cTn id="12"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50"/>
                                        <p:tgtEl>
                                          <p:spTgt spid="5"/>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50"/>
                                        <p:tgtEl>
                                          <p:spTgt spid="6"/>
                                        </p:tgtEl>
                                      </p:cBhvr>
                                    </p:animEffect>
                                  </p:childTnLst>
                                </p:cTn>
                              </p:par>
                            </p:childTnLst>
                          </p:cTn>
                        </p:par>
                        <p:par>
                          <p:cTn id="22" fill="hold">
                            <p:stCondLst>
                              <p:cond delay="350"/>
                            </p:stCondLst>
                            <p:childTnLst>
                              <p:par>
                                <p:cTn id="13" presetID="10" presetClass="entr" presetSubtype="0" fill="hold" grpId="0" nodeType="after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50"/>
                                        <p:tgtEl>
                                          <p:spTgt spid="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450"/>
                                        <p:tgtEl>
                                          <p:spTgt spid="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450"/>
                                        <p:tgtEl>
                                          <p:spTgt spid="9"/>
                                        </p:tgtEl>
                                      </p:cBhvr>
                                    </p:animEffect>
                                  </p:childTnLst>
                                </p:cTn>
                              </p:par>
                            </p:childTnLst>
                          </p:cTn>
                        </p:par>
                        <p:par>
                          <p:cTn id="32" fill="hold">
                            <p:stCondLst>
                              <p:cond delay="700"/>
                            </p:stCondLst>
                            <p:childTnLst>
                              <p:par>
                                <p:cTn id="23" presetID="10" presetClass="entr" presetSubtype="0" fill="hold" grpId="0" nodeType="after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45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450"/>
                                        <p:tgtEl>
                                          <p:spTgt spid="1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450"/>
                                        <p:tgtEl>
                                          <p:spTgt spid="12"/>
                                        </p:tgtEl>
                                      </p:cBhvr>
                                    </p:animEffect>
                                  </p:childTnLst>
                                </p:cTn>
                              </p:par>
                            </p:childTnLst>
                          </p:cTn>
                        </p:par>
                        <p:par>
                          <p:cTn id="42" fill="hold">
                            <p:stCondLst>
                              <p:cond delay="1050"/>
                            </p:stCondLst>
                            <p:childTnLst>
                              <p:par>
                                <p:cTn id="33" presetID="10" presetClass="entr" presetSubtype="0" fill="hold" grpId="0" nodeType="after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5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5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50"/>
                                        <p:tgtEl>
                                          <p:spTgt spid="15"/>
                                        </p:tgtEl>
                                      </p:cBhvr>
                                    </p:animEffect>
                                  </p:childTnLst>
                                </p:cTn>
                              </p:par>
                            </p:childTnLst>
                          </p:cTn>
                        </p:par>
                        <p:par>
                          <p:cTn id="52" fill="hold">
                            <p:stCondLst>
                              <p:cond delay="1400"/>
                            </p:stCondLst>
                            <p:childTnLst>
                              <p:par>
                                <p:cTn id="43" presetID="10" presetClass="entr" presetSubtype="0" fill="hold" grpId="0" nodeType="afterEffect">
                                  <p:stCondLst>
                                    <p:cond delay="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450"/>
                                        <p:tgtEl>
                                          <p:spTgt spid="16"/>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450"/>
                                        <p:tgtEl>
                                          <p:spTgt spid="1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450"/>
                                        <p:tgtEl>
                                          <p:spTgt spid="18"/>
                                        </p:tgtEl>
                                      </p:cBhvr>
                                    </p:animEffect>
                                  </p:childTnLst>
                                </p:cTn>
                              </p:par>
                            </p:childTnLst>
                          </p:cTn>
                        </p:par>
                        <p:par>
                          <p:cTn id="62" fill="hold">
                            <p:stCondLst>
                              <p:cond delay="1750"/>
                            </p:stCondLst>
                            <p:childTnLst>
                              <p:par>
                                <p:cTn id="53" presetID="10" presetClass="entr" presetSubtype="0" fill="hold" grpId="0" nodeType="after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5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5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50"/>
                                        <p:tgtEl>
                                          <p:spTgt spid="21"/>
                                        </p:tgtEl>
                                      </p:cBhvr>
                                    </p:animEffect>
                                  </p:childTnLst>
                                </p:cTn>
                              </p:par>
                            </p:childTnLst>
                          </p:cTn>
                        </p:par>
                        <p:par>
                          <p:cTn id="69" fill="hold">
                            <p:stCondLst>
                              <p:cond delay="2100"/>
                            </p:stCondLst>
                            <p:childTnLst>
                              <p:par>
                                <p:cTn id="63" presetID="22" presetClass="entr" presetSubtype="8" fill="hold" grpId="0" nodeType="afterEffect">
                                  <p:stCondLst>
                                    <p:cond delay="0"/>
                                  </p:stCondLst>
                                  <p:childTnLst>
                                    <p:set>
                                      <p:cBhvr>
                                        <p:cTn id="64" dur="1" fill="hold">
                                          <p:stCondLst>
                                            <p:cond delay="0"/>
                                          </p:stCondLst>
                                        </p:cTn>
                                        <p:tgtEl>
                                          <p:spTgt spid="22"/>
                                        </p:tgtEl>
                                        <p:attrNameLst>
                                          <p:attrName>style.visibility</p:attrName>
                                        </p:attrNameLst>
                                      </p:cBhvr>
                                      <p:to>
                                        <p:strVal val="visible"/>
                                      </p:to>
                                    </p:set>
                                    <p:animEffect transition="in" filter="wipe(left)">
                                      <p:cBhvr>
                                        <p:cTn id="65" dur="450"/>
                                        <p:tgtEl>
                                          <p:spTgt spid="22"/>
                                        </p:tgtEl>
                                      </p:cBhvr>
                                    </p:animEffect>
                                  </p:childTnLst>
                                </p:cTn>
                              </p:par>
                              <p:par>
                                <p:cTn id="66" presetID="22" presetClass="entr" presetSubtype="8" fill="hold" grpId="0" nodeType="withEffect">
                                  <p:stCondLst>
                                    <p:cond delay="0"/>
                                  </p:stCondLst>
                                  <p:childTnLst>
                                    <p:set>
                                      <p:cBhvr>
                                        <p:cTn id="67" dur="1" fill="hold">
                                          <p:stCondLst>
                                            <p:cond delay="0"/>
                                          </p:stCondLst>
                                        </p:cTn>
                                        <p:tgtEl>
                                          <p:spTgt spid="23"/>
                                        </p:tgtEl>
                                        <p:attrNameLst>
                                          <p:attrName>style.visibility</p:attrName>
                                        </p:attrNameLst>
                                      </p:cBhvr>
                                      <p:to>
                                        <p:strVal val="visible"/>
                                      </p:to>
                                    </p:set>
                                    <p:animEffect transition="in" filter="wipe(left)">
                                      <p:cBhvr>
                                        <p:cTn id="68" dur="450"/>
                                        <p:tgtEl>
                                          <p:spTgt spid="23"/>
                                        </p:tgtEl>
                                      </p:cBhvr>
                                    </p:animEffect>
                                  </p:childTnLst>
                                </p:cTn>
                              </p:par>
                            </p:childTnLst>
                          </p:cTn>
                        </p:par>
                        <p:par>
                          <p:cTn id="85" fill="hold">
                            <p:stCondLst>
                              <p:cond delay="2450"/>
                            </p:stCondLst>
                            <p:childTnLst>
                              <p:par>
                                <p:cTn id="70" presetID="10" presetClass="entr" presetSubtype="0" fill="hold" grpId="0" nodeType="afterEffect">
                                  <p:stCondLst>
                                    <p:cond delay="0"/>
                                  </p:stCondLst>
                                  <p:childTnLst>
                                    <p:set>
                                      <p:cBhvr>
                                        <p:cTn id="71" dur="1" fill="hold">
                                          <p:stCondLst>
                                            <p:cond delay="0"/>
                                          </p:stCondLst>
                                        </p:cTn>
                                        <p:tgtEl>
                                          <p:spTgt spid="24"/>
                                        </p:tgtEl>
                                        <p:attrNameLst>
                                          <p:attrName>style.visibility</p:attrName>
                                        </p:attrNameLst>
                                      </p:cBhvr>
                                      <p:to>
                                        <p:strVal val="visible"/>
                                      </p:to>
                                    </p:set>
                                    <p:animEffect transition="in" filter="fade">
                                      <p:cBhvr>
                                        <p:cTn id="72" dur="450"/>
                                        <p:tgtEl>
                                          <p:spTgt spid="24"/>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50"/>
                                        <p:tgtEl>
                                          <p:spTgt spid="2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450"/>
                                        <p:tgtEl>
                                          <p:spTgt spid="26"/>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7"/>
                                        </p:tgtEl>
                                        <p:attrNameLst>
                                          <p:attrName>style.visibility</p:attrName>
                                        </p:attrNameLst>
                                      </p:cBhvr>
                                      <p:to>
                                        <p:strVal val="visible"/>
                                      </p:to>
                                    </p:set>
                                    <p:animEffect transition="in" filter="fade">
                                      <p:cBhvr>
                                        <p:cTn id="81" dur="450"/>
                                        <p:tgtEl>
                                          <p:spTgt spid="27"/>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8"/>
                                        </p:tgtEl>
                                        <p:attrNameLst>
                                          <p:attrName>style.visibility</p:attrName>
                                        </p:attrNameLst>
                                      </p:cBhvr>
                                      <p:to>
                                        <p:strVal val="visible"/>
                                      </p:to>
                                    </p:set>
                                    <p:animEffect transition="in" filter="fade">
                                      <p:cBhvr>
                                        <p:cTn id="84" dur="45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3"/>
                </a:solidFill>
              </a:rPr>
              <a:t>STRATEGIC FIT · TEAMWORK</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Four 2026 objectives, one team effort</a:t>
            </a:r>
            <a:endParaRPr lang="en-US" sz="3600" dirty="0"/>
          </a:p>
        </p:txBody>
      </p:sp>
      <p:sp>
        <p:nvSpPr>
          <p:cNvPr id="4" name="flowhead-src"/>
          <p:cNvSpPr txBox="1"/>
          <p:nvPr/>
        </p:nvSpPr>
        <p:spPr>
          <a:xfrm>
            <a:off x="548640" y="1325880"/>
            <a:ext cx="2377440" cy="274320"/>
          </a:xfrm>
          <a:prstGeom prst="rect">
            <a:avLst/>
          </a:prstGeom>
          <a:noFill/>
          <a:ln/>
        </p:spPr>
        <p:txBody>
          <a:bodyPr wrap="square" lIns="0" tIns="0" rIns="0" bIns="0" rtlCol="0" anchor="t"/>
          <a:lstStyle/>
          <a:p>
            <a:pPr indent="0" marL="0">
              <a:buNone/>
            </a:pPr>
            <a:r>
              <a:rPr lang="en-US" sz="1100" b="1" spc="100" kern="0" dirty="0">
                <a:solidFill>
                  <a:schemeClr val="tx2"/>
                </a:solidFill>
              </a:rPr>
              <a:t>OUR PROJECT</a:t>
            </a:r>
            <a:endParaRPr lang="en-US" sz="1100" dirty="0"/>
          </a:p>
        </p:txBody>
      </p:sp>
      <p:sp>
        <p:nvSpPr>
          <p:cNvPr id="5" name="flowhead-ev"/>
          <p:cNvSpPr txBox="1"/>
          <p:nvPr/>
        </p:nvSpPr>
        <p:spPr>
          <a:xfrm>
            <a:off x="3429000" y="1325880"/>
            <a:ext cx="4069080" cy="274320"/>
          </a:xfrm>
          <a:prstGeom prst="rect">
            <a:avLst/>
          </a:prstGeom>
          <a:noFill/>
          <a:ln/>
        </p:spPr>
        <p:txBody>
          <a:bodyPr wrap="square" lIns="0" tIns="0" rIns="0" bIns="0" rtlCol="0" anchor="t"/>
          <a:lstStyle/>
          <a:p>
            <a:pPr indent="0" marL="0">
              <a:buNone/>
            </a:pPr>
            <a:r>
              <a:rPr lang="en-US" sz="1100" b="1" spc="100" kern="0" dirty="0">
                <a:solidFill>
                  <a:schemeClr val="tx2"/>
                </a:solidFill>
              </a:rPr>
              <a:t>EVIDENCE</a:t>
            </a:r>
            <a:endParaRPr lang="en-US" sz="1100" dirty="0"/>
          </a:p>
        </p:txBody>
      </p:sp>
      <p:sp>
        <p:nvSpPr>
          <p:cNvPr id="6" name="flowhead-obj"/>
          <p:cNvSpPr txBox="1"/>
          <p:nvPr/>
        </p:nvSpPr>
        <p:spPr>
          <a:xfrm>
            <a:off x="8001000" y="1325880"/>
            <a:ext cx="3639312" cy="274320"/>
          </a:xfrm>
          <a:prstGeom prst="rect">
            <a:avLst/>
          </a:prstGeom>
          <a:noFill/>
          <a:ln/>
        </p:spPr>
        <p:txBody>
          <a:bodyPr wrap="square" lIns="0" tIns="0" rIns="0" bIns="0" rtlCol="0" anchor="t"/>
          <a:lstStyle/>
          <a:p>
            <a:pPr indent="0" marL="0">
              <a:buNone/>
            </a:pPr>
            <a:r>
              <a:rPr lang="en-US" sz="1100" b="1" spc="100" kern="0" dirty="0">
                <a:solidFill>
                  <a:schemeClr val="tx2"/>
                </a:solidFill>
              </a:rPr>
              <a:t>2026 OBJECTIVE</a:t>
            </a:r>
            <a:endParaRPr lang="en-US" sz="1100" dirty="0"/>
          </a:p>
        </p:txBody>
      </p:sp>
      <p:sp>
        <p:nvSpPr>
          <p:cNvPr id="7" name="flow-src-box"/>
          <p:cNvSpPr/>
          <p:nvPr/>
        </p:nvSpPr>
        <p:spPr>
          <a:xfrm>
            <a:off x="548640" y="1691640"/>
            <a:ext cx="2377440" cy="3602736"/>
          </a:xfrm>
          <a:prstGeom prst="roundRect">
            <a:avLst>
              <a:gd name="adj" fmla="val 4615"/>
            </a:avLst>
          </a:prstGeom>
          <a:solidFill>
            <a:schemeClr val="accent4"/>
          </a:solidFill>
          <a:ln/>
        </p:spPr>
      </p:sp>
      <p:sp>
        <p:nvSpPr>
          <p:cNvPr id="8" name="flow-src-text"/>
          <p:cNvSpPr txBox="1"/>
          <p:nvPr/>
        </p:nvSpPr>
        <p:spPr>
          <a:xfrm>
            <a:off x="777240" y="1965960"/>
            <a:ext cx="1920240" cy="3054096"/>
          </a:xfrm>
          <a:prstGeom prst="rect">
            <a:avLst/>
          </a:prstGeom>
          <a:noFill/>
          <a:ln/>
        </p:spPr>
        <p:txBody>
          <a:bodyPr wrap="square" lIns="0" tIns="0" rIns="0" bIns="0" rtlCol="0" anchor="ctr"/>
          <a:lstStyle/>
          <a:p>
            <a:pPr indent="0" marL="0">
              <a:buNone/>
            </a:pPr>
            <a:r>
              <a:rPr lang="en-US" sz="2000" b="1" dirty="0">
                <a:solidFill>
                  <a:schemeClr val="bg1"/>
                </a:solidFill>
              </a:rPr>
              <a:t>AI-assisted migration of ERM</a:t>
            </a:r>
            <a:endParaRPr lang="en-US" sz="2000" dirty="0"/>
          </a:p>
          <a:p>
            <a:pPr indent="0" marL="0">
              <a:buNone/>
            </a:pPr>
            <a:r>
              <a:rPr lang="en-US" sz="1000" dirty="0">
                <a:solidFill>
                  <a:srgbClr val="000000"/>
                </a:solidFill>
              </a:rPr>
              <a:t> </a:t>
            </a:r>
            <a:endParaRPr lang="en-US" sz="2000" dirty="0"/>
          </a:p>
          <a:p>
            <a:pPr indent="0" marL="0">
              <a:buNone/>
            </a:pPr>
            <a:r>
              <a:rPr lang="en-US" sz="1400" dirty="0">
                <a:solidFill>
                  <a:schemeClr val="bg1"/>
                </a:solidFill>
              </a:rPr>
              <a:t>Slate to React + OSDK</a:t>
            </a:r>
            <a:endParaRPr lang="en-US" sz="2000" dirty="0"/>
          </a:p>
          <a:p>
            <a:pPr indent="0" marL="0">
              <a:buNone/>
            </a:pPr>
            <a:r>
              <a:rPr lang="en-US" sz="1400" dirty="0">
                <a:solidFill>
                  <a:schemeClr val="bg1"/>
                </a:solidFill>
              </a:rPr>
              <a:t>2 developers · 1 PI</a:t>
            </a:r>
            <a:endParaRPr lang="en-US" sz="2000" dirty="0"/>
          </a:p>
          <a:p>
            <a:pPr indent="0" marL="0">
              <a:buNone/>
            </a:pPr>
            <a:r>
              <a:rPr lang="en-US" sz="1400" dirty="0">
                <a:solidFill>
                  <a:schemeClr val="bg1"/>
                </a:solidFill>
              </a:rPr>
              <a:t>pack-project.ts</a:t>
            </a:r>
            <a:endParaRPr lang="en-US" sz="2000" dirty="0"/>
          </a:p>
        </p:txBody>
      </p:sp>
      <p:sp>
        <p:nvSpPr>
          <p:cNvPr id="9" name="flow-0-arrow1"/>
          <p:cNvSpPr/>
          <p:nvPr/>
        </p:nvSpPr>
        <p:spPr>
          <a:xfrm>
            <a:off x="2971800" y="2093976"/>
            <a:ext cx="411480" cy="0"/>
          </a:xfrm>
          <a:prstGeom prst="line">
            <a:avLst/>
          </a:prstGeom>
          <a:noFill/>
          <a:ln w="22225">
            <a:solidFill>
              <a:schemeClr val="tx2"/>
            </a:solidFill>
            <a:prstDash val="solid"/>
            <a:tailEnd type="triangle"/>
          </a:ln>
        </p:spPr>
      </p:sp>
      <p:sp>
        <p:nvSpPr>
          <p:cNvPr id="10" name="flow-0-evbox"/>
          <p:cNvSpPr/>
          <p:nvPr/>
        </p:nvSpPr>
        <p:spPr>
          <a:xfrm>
            <a:off x="3429000" y="1691640"/>
            <a:ext cx="4069080" cy="804672"/>
          </a:xfrm>
          <a:prstGeom prst="roundRect">
            <a:avLst>
              <a:gd name="adj" fmla="val 13636"/>
            </a:avLst>
          </a:prstGeom>
          <a:solidFill>
            <a:schemeClr val="bg2"/>
          </a:solidFill>
          <a:ln/>
        </p:spPr>
      </p:sp>
      <p:sp>
        <p:nvSpPr>
          <p:cNvPr id="11" name="flow-0-evtext"/>
          <p:cNvSpPr txBox="1"/>
          <p:nvPr/>
        </p:nvSpPr>
        <p:spPr>
          <a:xfrm>
            <a:off x="3611880" y="1783080"/>
            <a:ext cx="3703320" cy="621792"/>
          </a:xfrm>
          <a:prstGeom prst="rect">
            <a:avLst/>
          </a:prstGeom>
          <a:noFill/>
          <a:ln/>
        </p:spPr>
        <p:txBody>
          <a:bodyPr wrap="square" lIns="0" tIns="0" rIns="0" bIns="0" rtlCol="0" anchor="ctr"/>
          <a:lstStyle/>
          <a:p>
            <a:pPr indent="0" marL="0">
              <a:buNone/>
            </a:pPr>
            <a:r>
              <a:rPr lang="en-US" sz="1300" dirty="0">
                <a:solidFill>
                  <a:schemeClr val="tx1"/>
                </a:solidFill>
              </a:rPr>
              <a:t>AI read 8 Slate exports and the packed React code: 105 features recovered, 31 gaps found</a:t>
            </a:r>
            <a:endParaRPr lang="en-US" sz="1300" dirty="0"/>
          </a:p>
        </p:txBody>
      </p:sp>
      <p:sp>
        <p:nvSpPr>
          <p:cNvPr id="12" name="flow-0-arrow2"/>
          <p:cNvSpPr/>
          <p:nvPr/>
        </p:nvSpPr>
        <p:spPr>
          <a:xfrm>
            <a:off x="7543800" y="2093976"/>
            <a:ext cx="411480" cy="0"/>
          </a:xfrm>
          <a:prstGeom prst="line">
            <a:avLst/>
          </a:prstGeom>
          <a:noFill/>
          <a:ln w="22225">
            <a:solidFill>
              <a:schemeClr val="tx2"/>
            </a:solidFill>
            <a:prstDash val="solid"/>
            <a:tailEnd type="triangle"/>
          </a:ln>
        </p:spPr>
      </p:sp>
      <p:sp>
        <p:nvSpPr>
          <p:cNvPr id="13" name="flow-0-objbox"/>
          <p:cNvSpPr/>
          <p:nvPr/>
        </p:nvSpPr>
        <p:spPr>
          <a:xfrm>
            <a:off x="8001000" y="1691640"/>
            <a:ext cx="3639312" cy="804672"/>
          </a:xfrm>
          <a:prstGeom prst="roundRect">
            <a:avLst>
              <a:gd name="adj" fmla="val 13636"/>
            </a:avLst>
          </a:prstGeom>
          <a:solidFill>
            <a:schemeClr val="tx1"/>
          </a:solidFill>
          <a:ln/>
        </p:spPr>
      </p:sp>
      <p:sp>
        <p:nvSpPr>
          <p:cNvPr id="14" name="flow-0-objtext"/>
          <p:cNvSpPr txBox="1"/>
          <p:nvPr/>
        </p:nvSpPr>
        <p:spPr>
          <a:xfrm>
            <a:off x="8183880" y="1783080"/>
            <a:ext cx="3273552" cy="621792"/>
          </a:xfrm>
          <a:prstGeom prst="rect">
            <a:avLst/>
          </a:prstGeom>
          <a:noFill/>
          <a:ln/>
        </p:spPr>
        <p:txBody>
          <a:bodyPr wrap="square" lIns="0" tIns="0" rIns="0" bIns="0" rtlCol="0" anchor="ctr"/>
          <a:lstStyle/>
          <a:p>
            <a:pPr indent="0" marL="0">
              <a:buNone/>
            </a:pPr>
            <a:r>
              <a:rPr lang="en-US" sz="1400" b="1" dirty="0">
                <a:solidFill>
                  <a:schemeClr val="bg1"/>
                </a:solidFill>
              </a:rPr>
              <a:t>Leverage AI to solve business problems</a:t>
            </a:r>
            <a:endParaRPr lang="en-US" sz="1400" dirty="0"/>
          </a:p>
          <a:p>
            <a:pPr indent="0" marL="0">
              <a:buNone/>
            </a:pPr>
            <a:r>
              <a:rPr lang="en-US" sz="1100" dirty="0">
                <a:solidFill>
                  <a:schemeClr val="accent5"/>
                </a:solidFill>
              </a:rPr>
              <a:t>India TFO · Digital: democratise AI</a:t>
            </a:r>
            <a:endParaRPr lang="en-US" sz="1400" dirty="0"/>
          </a:p>
        </p:txBody>
      </p:sp>
      <p:sp>
        <p:nvSpPr>
          <p:cNvPr id="15" name="flow-1-arrow1"/>
          <p:cNvSpPr/>
          <p:nvPr/>
        </p:nvSpPr>
        <p:spPr>
          <a:xfrm>
            <a:off x="2971800" y="3026664"/>
            <a:ext cx="411480" cy="0"/>
          </a:xfrm>
          <a:prstGeom prst="line">
            <a:avLst/>
          </a:prstGeom>
          <a:noFill/>
          <a:ln w="22225">
            <a:solidFill>
              <a:schemeClr val="tx2"/>
            </a:solidFill>
            <a:prstDash val="solid"/>
            <a:tailEnd type="triangle"/>
          </a:ln>
        </p:spPr>
      </p:sp>
      <p:sp>
        <p:nvSpPr>
          <p:cNvPr id="16" name="flow-1-evbox"/>
          <p:cNvSpPr/>
          <p:nvPr/>
        </p:nvSpPr>
        <p:spPr>
          <a:xfrm>
            <a:off x="3429000" y="2624328"/>
            <a:ext cx="4069080" cy="804672"/>
          </a:xfrm>
          <a:prstGeom prst="roundRect">
            <a:avLst>
              <a:gd name="adj" fmla="val 13636"/>
            </a:avLst>
          </a:prstGeom>
          <a:solidFill>
            <a:schemeClr val="bg2"/>
          </a:solidFill>
          <a:ln/>
        </p:spPr>
      </p:sp>
      <p:sp>
        <p:nvSpPr>
          <p:cNvPr id="17" name="flow-1-evtext"/>
          <p:cNvSpPr txBox="1"/>
          <p:nvPr/>
        </p:nvSpPr>
        <p:spPr>
          <a:xfrm>
            <a:off x="3611880" y="2715768"/>
            <a:ext cx="3703320" cy="621792"/>
          </a:xfrm>
          <a:prstGeom prst="rect">
            <a:avLst/>
          </a:prstGeom>
          <a:noFill/>
          <a:ln/>
        </p:spPr>
        <p:txBody>
          <a:bodyPr wrap="square" lIns="0" tIns="0" rIns="0" bIns="0" rtlCol="0" anchor="ctr"/>
          <a:lstStyle/>
          <a:p>
            <a:pPr indent="0" marL="0">
              <a:buNone/>
            </a:pPr>
            <a:r>
              <a:rPr lang="en-US" sz="1300" dirty="0">
                <a:solidFill>
                  <a:schemeClr val="tx1"/>
                </a:solidFill>
              </a:rPr>
              <a:t>Delivered in 1 PI by 2 developers, about 76% less effort than a manual estimate</a:t>
            </a:r>
            <a:endParaRPr lang="en-US" sz="1300" dirty="0"/>
          </a:p>
        </p:txBody>
      </p:sp>
      <p:sp>
        <p:nvSpPr>
          <p:cNvPr id="18" name="flow-1-arrow2"/>
          <p:cNvSpPr/>
          <p:nvPr/>
        </p:nvSpPr>
        <p:spPr>
          <a:xfrm>
            <a:off x="7543800" y="3026664"/>
            <a:ext cx="411480" cy="0"/>
          </a:xfrm>
          <a:prstGeom prst="line">
            <a:avLst/>
          </a:prstGeom>
          <a:noFill/>
          <a:ln w="22225">
            <a:solidFill>
              <a:schemeClr val="tx2"/>
            </a:solidFill>
            <a:prstDash val="solid"/>
            <a:tailEnd type="triangle"/>
          </a:ln>
        </p:spPr>
      </p:sp>
      <p:sp>
        <p:nvSpPr>
          <p:cNvPr id="19" name="flow-1-objbox"/>
          <p:cNvSpPr/>
          <p:nvPr/>
        </p:nvSpPr>
        <p:spPr>
          <a:xfrm>
            <a:off x="8001000" y="2624328"/>
            <a:ext cx="3639312" cy="804672"/>
          </a:xfrm>
          <a:prstGeom prst="roundRect">
            <a:avLst>
              <a:gd name="adj" fmla="val 13636"/>
            </a:avLst>
          </a:prstGeom>
          <a:solidFill>
            <a:schemeClr val="tx1"/>
          </a:solidFill>
          <a:ln/>
        </p:spPr>
      </p:sp>
      <p:sp>
        <p:nvSpPr>
          <p:cNvPr id="20" name="flow-1-objtext"/>
          <p:cNvSpPr txBox="1"/>
          <p:nvPr/>
        </p:nvSpPr>
        <p:spPr>
          <a:xfrm>
            <a:off x="8183880" y="2715768"/>
            <a:ext cx="3273552" cy="621792"/>
          </a:xfrm>
          <a:prstGeom prst="rect">
            <a:avLst/>
          </a:prstGeom>
          <a:noFill/>
          <a:ln/>
        </p:spPr>
        <p:txBody>
          <a:bodyPr wrap="square" lIns="0" tIns="0" rIns="0" bIns="0" rtlCol="0" anchor="ctr"/>
          <a:lstStyle/>
          <a:p>
            <a:pPr indent="0" marL="0">
              <a:buNone/>
            </a:pPr>
            <a:r>
              <a:rPr lang="en-US" sz="1400" b="1" dirty="0">
                <a:solidFill>
                  <a:schemeClr val="bg1"/>
                </a:solidFill>
              </a:rPr>
              <a:t>Deliver on time, on cost, on quality</a:t>
            </a:r>
            <a:endParaRPr lang="en-US" sz="1400" dirty="0"/>
          </a:p>
          <a:p>
            <a:pPr indent="0" marL="0">
              <a:buNone/>
            </a:pPr>
            <a:r>
              <a:rPr lang="en-US" sz="1100" dirty="0">
                <a:solidFill>
                  <a:schemeClr val="accent5"/>
                </a:solidFill>
              </a:rPr>
              <a:t>Digital: optimise our digital resources</a:t>
            </a:r>
            <a:endParaRPr lang="en-US" sz="1400" dirty="0"/>
          </a:p>
        </p:txBody>
      </p:sp>
      <p:sp>
        <p:nvSpPr>
          <p:cNvPr id="21" name="flow-2-arrow1"/>
          <p:cNvSpPr/>
          <p:nvPr/>
        </p:nvSpPr>
        <p:spPr>
          <a:xfrm>
            <a:off x="2971800" y="3959352"/>
            <a:ext cx="411480" cy="0"/>
          </a:xfrm>
          <a:prstGeom prst="line">
            <a:avLst/>
          </a:prstGeom>
          <a:noFill/>
          <a:ln w="22225">
            <a:solidFill>
              <a:schemeClr val="tx2"/>
            </a:solidFill>
            <a:prstDash val="solid"/>
            <a:tailEnd type="triangle"/>
          </a:ln>
        </p:spPr>
      </p:sp>
      <p:sp>
        <p:nvSpPr>
          <p:cNvPr id="22" name="flow-2-evbox"/>
          <p:cNvSpPr/>
          <p:nvPr/>
        </p:nvSpPr>
        <p:spPr>
          <a:xfrm>
            <a:off x="3429000" y="3557016"/>
            <a:ext cx="4069080" cy="804672"/>
          </a:xfrm>
          <a:prstGeom prst="roundRect">
            <a:avLst>
              <a:gd name="adj" fmla="val 13636"/>
            </a:avLst>
          </a:prstGeom>
          <a:solidFill>
            <a:schemeClr val="bg2"/>
          </a:solidFill>
          <a:ln/>
        </p:spPr>
      </p:sp>
      <p:sp>
        <p:nvSpPr>
          <p:cNvPr id="23" name="flow-2-evtext"/>
          <p:cNvSpPr txBox="1"/>
          <p:nvPr/>
        </p:nvSpPr>
        <p:spPr>
          <a:xfrm>
            <a:off x="3611880" y="3648456"/>
            <a:ext cx="3703320" cy="621792"/>
          </a:xfrm>
          <a:prstGeom prst="rect">
            <a:avLst/>
          </a:prstGeom>
          <a:noFill/>
          <a:ln/>
        </p:spPr>
        <p:txBody>
          <a:bodyPr wrap="square" lIns="0" tIns="0" rIns="0" bIns="0" rtlCol="0" anchor="ctr"/>
          <a:lstStyle/>
          <a:p>
            <a:pPr indent="0" marL="0">
              <a:buNone/>
            </a:pPr>
            <a:r>
              <a:rPr lang="en-US" sz="1300" dirty="0">
                <a:solidFill>
                  <a:schemeClr val="tx1"/>
                </a:solidFill>
              </a:rPr>
              <a:t>All 105 features tracked for parity; ERM rebuilt on a standard, maintainable stack, ready to leave Slate</a:t>
            </a:r>
            <a:endParaRPr lang="en-US" sz="1300" dirty="0"/>
          </a:p>
        </p:txBody>
      </p:sp>
      <p:sp>
        <p:nvSpPr>
          <p:cNvPr id="24" name="flow-2-arrow2"/>
          <p:cNvSpPr/>
          <p:nvPr/>
        </p:nvSpPr>
        <p:spPr>
          <a:xfrm>
            <a:off x="7543800" y="3959352"/>
            <a:ext cx="411480" cy="0"/>
          </a:xfrm>
          <a:prstGeom prst="line">
            <a:avLst/>
          </a:prstGeom>
          <a:noFill/>
          <a:ln w="22225">
            <a:solidFill>
              <a:schemeClr val="tx2"/>
            </a:solidFill>
            <a:prstDash val="solid"/>
            <a:tailEnd type="triangle"/>
          </a:ln>
        </p:spPr>
      </p:sp>
      <p:sp>
        <p:nvSpPr>
          <p:cNvPr id="25" name="flow-2-objbox"/>
          <p:cNvSpPr/>
          <p:nvPr/>
        </p:nvSpPr>
        <p:spPr>
          <a:xfrm>
            <a:off x="8001000" y="3557016"/>
            <a:ext cx="3639312" cy="804672"/>
          </a:xfrm>
          <a:prstGeom prst="roundRect">
            <a:avLst>
              <a:gd name="adj" fmla="val 13636"/>
            </a:avLst>
          </a:prstGeom>
          <a:solidFill>
            <a:schemeClr val="tx1"/>
          </a:solidFill>
          <a:ln/>
        </p:spPr>
      </p:sp>
      <p:sp>
        <p:nvSpPr>
          <p:cNvPr id="26" name="flow-2-objtext"/>
          <p:cNvSpPr txBox="1"/>
          <p:nvPr/>
        </p:nvSpPr>
        <p:spPr>
          <a:xfrm>
            <a:off x="8183880" y="3648456"/>
            <a:ext cx="3273552" cy="621792"/>
          </a:xfrm>
          <a:prstGeom prst="rect">
            <a:avLst/>
          </a:prstGeom>
          <a:noFill/>
          <a:ln/>
        </p:spPr>
        <p:txBody>
          <a:bodyPr wrap="square" lIns="0" tIns="0" rIns="0" bIns="0" rtlCol="0" anchor="ctr"/>
          <a:lstStyle/>
          <a:p>
            <a:pPr indent="0" marL="0">
              <a:buNone/>
            </a:pPr>
            <a:r>
              <a:rPr lang="en-US" sz="1400" b="1" dirty="0">
                <a:solidFill>
                  <a:schemeClr val="bg1"/>
                </a:solidFill>
              </a:rPr>
              <a:t>Ensure our operational performance</a:t>
            </a:r>
            <a:endParaRPr lang="en-US" sz="1400" dirty="0"/>
          </a:p>
          <a:p>
            <a:pPr indent="0" marL="0">
              <a:buNone/>
            </a:pPr>
            <a:r>
              <a:rPr lang="en-US" sz="1100" dirty="0">
                <a:solidFill>
                  <a:schemeClr val="accent5"/>
                </a:solidFill>
              </a:rPr>
              <a:t>Digital: availability of systems for operations</a:t>
            </a:r>
            <a:endParaRPr lang="en-US" sz="1400" dirty="0"/>
          </a:p>
        </p:txBody>
      </p:sp>
      <p:sp>
        <p:nvSpPr>
          <p:cNvPr id="27" name="flow-3-arrow1"/>
          <p:cNvSpPr/>
          <p:nvPr/>
        </p:nvSpPr>
        <p:spPr>
          <a:xfrm>
            <a:off x="2971800" y="4892040"/>
            <a:ext cx="411480" cy="0"/>
          </a:xfrm>
          <a:prstGeom prst="line">
            <a:avLst/>
          </a:prstGeom>
          <a:noFill/>
          <a:ln w="22225">
            <a:solidFill>
              <a:schemeClr val="tx2"/>
            </a:solidFill>
            <a:prstDash val="solid"/>
            <a:tailEnd type="triangle"/>
          </a:ln>
        </p:spPr>
      </p:sp>
      <p:sp>
        <p:nvSpPr>
          <p:cNvPr id="28" name="flow-3-evbox"/>
          <p:cNvSpPr/>
          <p:nvPr/>
        </p:nvSpPr>
        <p:spPr>
          <a:xfrm>
            <a:off x="3429000" y="4489704"/>
            <a:ext cx="4069080" cy="804672"/>
          </a:xfrm>
          <a:prstGeom prst="roundRect">
            <a:avLst>
              <a:gd name="adj" fmla="val 13636"/>
            </a:avLst>
          </a:prstGeom>
          <a:solidFill>
            <a:schemeClr val="bg2"/>
          </a:solidFill>
          <a:ln/>
        </p:spPr>
      </p:sp>
      <p:sp>
        <p:nvSpPr>
          <p:cNvPr id="29" name="flow-3-evtext"/>
          <p:cNvSpPr txBox="1"/>
          <p:nvPr/>
        </p:nvSpPr>
        <p:spPr>
          <a:xfrm>
            <a:off x="3611880" y="4581144"/>
            <a:ext cx="3703320" cy="621792"/>
          </a:xfrm>
          <a:prstGeom prst="rect">
            <a:avLst/>
          </a:prstGeom>
          <a:noFill/>
          <a:ln/>
        </p:spPr>
        <p:txBody>
          <a:bodyPr wrap="square" lIns="0" tIns="0" rIns="0" bIns="0" rtlCol="0" anchor="ctr"/>
          <a:lstStyle/>
          <a:p>
            <a:pPr indent="0" marL="0">
              <a:buNone/>
            </a:pPr>
            <a:r>
              <a:rPr lang="en-US" sz="1300" dirty="0">
                <a:solidFill>
                  <a:schemeClr val="tx1"/>
                </a:solidFill>
              </a:rPr>
              <a:t>pack-project.ts and the playbook let any team repeat the method</a:t>
            </a:r>
            <a:endParaRPr lang="en-US" sz="1300" dirty="0"/>
          </a:p>
        </p:txBody>
      </p:sp>
      <p:sp>
        <p:nvSpPr>
          <p:cNvPr id="30" name="flow-3-arrow2"/>
          <p:cNvSpPr/>
          <p:nvPr/>
        </p:nvSpPr>
        <p:spPr>
          <a:xfrm>
            <a:off x="7543800" y="4892040"/>
            <a:ext cx="411480" cy="0"/>
          </a:xfrm>
          <a:prstGeom prst="line">
            <a:avLst/>
          </a:prstGeom>
          <a:noFill/>
          <a:ln w="22225">
            <a:solidFill>
              <a:schemeClr val="tx2"/>
            </a:solidFill>
            <a:prstDash val="solid"/>
            <a:tailEnd type="triangle"/>
          </a:ln>
        </p:spPr>
      </p:sp>
      <p:sp>
        <p:nvSpPr>
          <p:cNvPr id="31" name="flow-3-objbox"/>
          <p:cNvSpPr/>
          <p:nvPr/>
        </p:nvSpPr>
        <p:spPr>
          <a:xfrm>
            <a:off x="8001000" y="4489704"/>
            <a:ext cx="3639312" cy="804672"/>
          </a:xfrm>
          <a:prstGeom prst="roundRect">
            <a:avLst>
              <a:gd name="adj" fmla="val 13636"/>
            </a:avLst>
          </a:prstGeom>
          <a:solidFill>
            <a:schemeClr val="tx1"/>
          </a:solidFill>
          <a:ln/>
        </p:spPr>
      </p:sp>
      <p:sp>
        <p:nvSpPr>
          <p:cNvPr id="32" name="flow-3-objtext"/>
          <p:cNvSpPr txBox="1"/>
          <p:nvPr/>
        </p:nvSpPr>
        <p:spPr>
          <a:xfrm>
            <a:off x="8183880" y="4581144"/>
            <a:ext cx="3273552" cy="621792"/>
          </a:xfrm>
          <a:prstGeom prst="rect">
            <a:avLst/>
          </a:prstGeom>
          <a:noFill/>
          <a:ln/>
        </p:spPr>
        <p:txBody>
          <a:bodyPr wrap="square" lIns="0" tIns="0" rIns="0" bIns="0" rtlCol="0" anchor="ctr"/>
          <a:lstStyle/>
          <a:p>
            <a:pPr indent="0" marL="0">
              <a:buNone/>
            </a:pPr>
            <a:r>
              <a:rPr lang="en-US" sz="1400" b="1" dirty="0">
                <a:solidFill>
                  <a:schemeClr val="bg1"/>
                </a:solidFill>
              </a:rPr>
              <a:t>Grow digital acumen and competencies</a:t>
            </a:r>
            <a:endParaRPr lang="en-US" sz="1400" dirty="0"/>
          </a:p>
          <a:p>
            <a:pPr indent="0" marL="0">
              <a:buNone/>
            </a:pPr>
            <a:r>
              <a:rPr lang="en-US" sz="1100" dirty="0">
                <a:solidFill>
                  <a:schemeClr val="accent5"/>
                </a:solidFill>
              </a:rPr>
              <a:t>Digital: develop our people · India TFO</a:t>
            </a:r>
            <a:endParaRPr lang="en-US" sz="1400" dirty="0"/>
          </a:p>
        </p:txBody>
      </p:sp>
      <p:sp>
        <p:nvSpPr>
          <p:cNvPr id="33" name="team-card"/>
          <p:cNvSpPr/>
          <p:nvPr/>
        </p:nvSpPr>
        <p:spPr>
          <a:xfrm>
            <a:off x="548640" y="5477256"/>
            <a:ext cx="11094415" cy="969264"/>
          </a:xfrm>
          <a:prstGeom prst="roundRect">
            <a:avLst>
              <a:gd name="adj" fmla="val 11321"/>
            </a:avLst>
          </a:prstGeom>
          <a:solidFill>
            <a:schemeClr val="bg1"/>
          </a:solidFill>
          <a:ln/>
        </p:spPr>
      </p:sp>
      <p:sp>
        <p:nvSpPr>
          <p:cNvPr id="34" name="team-text"/>
          <p:cNvSpPr txBox="1"/>
          <p:nvPr/>
        </p:nvSpPr>
        <p:spPr>
          <a:xfrm>
            <a:off x="822960" y="5477256"/>
            <a:ext cx="10545775" cy="969264"/>
          </a:xfrm>
          <a:prstGeom prst="rect">
            <a:avLst/>
          </a:prstGeom>
          <a:noFill/>
          <a:ln/>
        </p:spPr>
        <p:txBody>
          <a:bodyPr wrap="square" lIns="0" tIns="0" rIns="0" bIns="0" rtlCol="0" anchor="ctr"/>
          <a:lstStyle/>
          <a:p>
            <a:pPr indent="0" marL="0">
              <a:buNone/>
            </a:pPr>
            <a:r>
              <a:rPr lang="en-US" sz="1100" b="1" spc="200" kern="0" dirty="0">
                <a:solidFill>
                  <a:schemeClr val="accent3"/>
                </a:solidFill>
              </a:rPr>
              <a:t>BUILT TOGETHER  </a:t>
            </a:r>
            <a:pPr indent="0" marL="0">
              <a:buNone/>
            </a:pPr>
            <a:r>
              <a:rPr lang="en-US" sz="1300" dirty="0">
                <a:solidFill>
                  <a:schemeClr val="tx1"/>
                </a:solidFill>
              </a:rPr>
              <a:t>Business users confirmed the feature catalogue · Data and security owners kept restricted views intact · Backend and frontend fixes shipped together</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3" fill="hold">
                      <p:stCondLst>
                        <p:cond delay="indefinite"/>
                        <p:cond evt="onBegin" delay="0">
                          <p:tn val="2"/>
                        </p:cond>
                      </p:stCondLst>
                      <p:childTnLst>
                        <p:par>
                          <p:cTn id="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7"/>
                                        </p:tgtEl>
                                        <p:attrNameLst>
                                          <p:attrName>style.visibility</p:attrName>
                                        </p:attrNameLst>
                                      </p:cBhvr>
                                      <p:to>
                                        <p:strVal val="visible"/>
                                      </p:to>
                                    </p:set>
                                    <p:animEffect transition="in" filter="fade">
                                      <p:cBhvr>
                                        <p:cTn id="5" dur="450"/>
                                        <p:tgtEl>
                                          <p:spTgt spid="7"/>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50"/>
                                        <p:tgtEl>
                                          <p:spTgt spid="8"/>
                                        </p:tgtEl>
                                      </p:cBhvr>
                                    </p:animEffect>
                                  </p:childTnLst>
                                </p:cTn>
                              </p:par>
                            </p:childTnLst>
                          </p:cTn>
                        </p:par>
                        <p:par>
                          <p:cTn id="28" fill="hold">
                            <p:stCondLst>
                              <p:cond delay="1100"/>
                            </p:stCondLst>
                            <p:childTnLst>
                              <p:par>
                                <p:cTn id="10" presetID="22" presetClass="entr" presetSubtype="8" fill="hold" grpId="0" nodeType="after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left)">
                                      <p:cBhvr>
                                        <p:cTn id="12" dur="450"/>
                                        <p:tgtEl>
                                          <p:spTgt spid="9"/>
                                        </p:tgtEl>
                                      </p:cBhvr>
                                    </p:animEffect>
                                  </p:childTnLst>
                                </p:cTn>
                              </p:par>
                              <p:par>
                                <p:cTn id="13" presetID="10" presetClass="entr" presetSubtype="0" fill="hold" grpId="0" nodeType="withEffect">
                                  <p:stCondLst>
                                    <p:cond delay="25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450"/>
                                        <p:tgtEl>
                                          <p:spTgt spid="10"/>
                                        </p:tgtEl>
                                      </p:cBhvr>
                                    </p:animEffect>
                                  </p:childTnLst>
                                </p:cTn>
                              </p:par>
                              <p:par>
                                <p:cTn id="16" presetID="10" presetClass="entr" presetSubtype="0" fill="hold" grpId="0" nodeType="withEffect">
                                  <p:stCondLst>
                                    <p:cond delay="25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450"/>
                                        <p:tgtEl>
                                          <p:spTgt spid="11"/>
                                        </p:tgtEl>
                                      </p:cBhvr>
                                    </p:animEffect>
                                  </p:childTnLst>
                                </p:cTn>
                              </p:par>
                              <p:par>
                                <p:cTn id="19" presetID="22" presetClass="entr" presetSubtype="8" fill="hold" grpId="0" nodeType="withEffect">
                                  <p:stCondLst>
                                    <p:cond delay="550"/>
                                  </p:stCondLst>
                                  <p:childTnLst>
                                    <p:set>
                                      <p:cBhvr>
                                        <p:cTn id="20" dur="1" fill="hold">
                                          <p:stCondLst>
                                            <p:cond delay="0"/>
                                          </p:stCondLst>
                                        </p:cTn>
                                        <p:tgtEl>
                                          <p:spTgt spid="12"/>
                                        </p:tgtEl>
                                        <p:attrNameLst>
                                          <p:attrName>style.visibility</p:attrName>
                                        </p:attrNameLst>
                                      </p:cBhvr>
                                      <p:to>
                                        <p:strVal val="visible"/>
                                      </p:to>
                                    </p:set>
                                    <p:animEffect transition="in" filter="wipe(left)">
                                      <p:cBhvr>
                                        <p:cTn id="21" dur="450"/>
                                        <p:tgtEl>
                                          <p:spTgt spid="12"/>
                                        </p:tgtEl>
                                      </p:cBhvr>
                                    </p:animEffect>
                                  </p:childTnLst>
                                </p:cTn>
                              </p:par>
                              <p:par>
                                <p:cTn id="22" presetID="10" presetClass="entr" presetSubtype="0" fill="hold" grpId="0" nodeType="withEffect">
                                  <p:stCondLst>
                                    <p:cond delay="80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50"/>
                                        <p:tgtEl>
                                          <p:spTgt spid="13"/>
                                        </p:tgtEl>
                                      </p:cBhvr>
                                    </p:animEffect>
                                  </p:childTnLst>
                                </p:cTn>
                              </p:par>
                              <p:par>
                                <p:cTn id="25" presetID="10" presetClass="entr" presetSubtype="0" fill="hold" grpId="0" nodeType="withEffect">
                                  <p:stCondLst>
                                    <p:cond delay="800"/>
                                  </p:stCondLst>
                                  <p:childTnLst>
                                    <p:set>
                                      <p:cBhvr>
                                        <p:cTn id="26" dur="1" fill="hold">
                                          <p:stCondLst>
                                            <p:cond delay="0"/>
                                          </p:stCondLst>
                                        </p:cTn>
                                        <p:tgtEl>
                                          <p:spTgt spid="14"/>
                                        </p:tgtEl>
                                        <p:attrNameLst>
                                          <p:attrName>style.visibility</p:attrName>
                                        </p:attrNameLst>
                                      </p:cBhvr>
                                      <p:to>
                                        <p:strVal val="visible"/>
                                      </p:to>
                                    </p:set>
                                    <p:animEffect transition="in" filter="fade">
                                      <p:cBhvr>
                                        <p:cTn id="27" dur="450"/>
                                        <p:tgtEl>
                                          <p:spTgt spid="14"/>
                                        </p:tgtEl>
                                      </p:cBhvr>
                                    </p:animEffect>
                                  </p:childTnLst>
                                </p:cTn>
                              </p:par>
                            </p:childTnLst>
                          </p:cTn>
                        </p:par>
                        <p:par>
                          <p:cTn id="47" fill="hold">
                            <p:stCondLst>
                              <p:cond delay="2200"/>
                            </p:stCondLst>
                            <p:childTnLst>
                              <p:par>
                                <p:cTn id="29" presetID="22" presetClass="entr" presetSubtype="8" fill="hold" grpId="0" nodeType="afterEffect">
                                  <p:stCondLst>
                                    <p:cond delay="0"/>
                                  </p:stCondLst>
                                  <p:childTnLst>
                                    <p:set>
                                      <p:cBhvr>
                                        <p:cTn id="30" dur="1" fill="hold">
                                          <p:stCondLst>
                                            <p:cond delay="0"/>
                                          </p:stCondLst>
                                        </p:cTn>
                                        <p:tgtEl>
                                          <p:spTgt spid="15"/>
                                        </p:tgtEl>
                                        <p:attrNameLst>
                                          <p:attrName>style.visibility</p:attrName>
                                        </p:attrNameLst>
                                      </p:cBhvr>
                                      <p:to>
                                        <p:strVal val="visible"/>
                                      </p:to>
                                    </p:set>
                                    <p:animEffect transition="in" filter="wipe(left)">
                                      <p:cBhvr>
                                        <p:cTn id="31" dur="450"/>
                                        <p:tgtEl>
                                          <p:spTgt spid="15"/>
                                        </p:tgtEl>
                                      </p:cBhvr>
                                    </p:animEffect>
                                  </p:childTnLst>
                                </p:cTn>
                              </p:par>
                              <p:par>
                                <p:cTn id="32" presetID="10" presetClass="entr" presetSubtype="0" fill="hold" grpId="0" nodeType="withEffect">
                                  <p:stCondLst>
                                    <p:cond delay="250"/>
                                  </p:stCondLst>
                                  <p:childTnLst>
                                    <p:set>
                                      <p:cBhvr>
                                        <p:cTn id="33" dur="1" fill="hold">
                                          <p:stCondLst>
                                            <p:cond delay="0"/>
                                          </p:stCondLst>
                                        </p:cTn>
                                        <p:tgtEl>
                                          <p:spTgt spid="16"/>
                                        </p:tgtEl>
                                        <p:attrNameLst>
                                          <p:attrName>style.visibility</p:attrName>
                                        </p:attrNameLst>
                                      </p:cBhvr>
                                      <p:to>
                                        <p:strVal val="visible"/>
                                      </p:to>
                                    </p:set>
                                    <p:animEffect transition="in" filter="fade">
                                      <p:cBhvr>
                                        <p:cTn id="34" dur="450"/>
                                        <p:tgtEl>
                                          <p:spTgt spid="16"/>
                                        </p:tgtEl>
                                      </p:cBhvr>
                                    </p:animEffect>
                                  </p:childTnLst>
                                </p:cTn>
                              </p:par>
                              <p:par>
                                <p:cTn id="35" presetID="10" presetClass="entr" presetSubtype="0" fill="hold" grpId="0" nodeType="withEffect">
                                  <p:stCondLst>
                                    <p:cond delay="25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450"/>
                                        <p:tgtEl>
                                          <p:spTgt spid="17"/>
                                        </p:tgtEl>
                                      </p:cBhvr>
                                    </p:animEffect>
                                  </p:childTnLst>
                                </p:cTn>
                              </p:par>
                              <p:par>
                                <p:cTn id="38" presetID="22" presetClass="entr" presetSubtype="8" fill="hold" grpId="0" nodeType="withEffect">
                                  <p:stCondLst>
                                    <p:cond delay="550"/>
                                  </p:stCondLst>
                                  <p:childTnLst>
                                    <p:set>
                                      <p:cBhvr>
                                        <p:cTn id="39" dur="1" fill="hold">
                                          <p:stCondLst>
                                            <p:cond delay="0"/>
                                          </p:stCondLst>
                                        </p:cTn>
                                        <p:tgtEl>
                                          <p:spTgt spid="18"/>
                                        </p:tgtEl>
                                        <p:attrNameLst>
                                          <p:attrName>style.visibility</p:attrName>
                                        </p:attrNameLst>
                                      </p:cBhvr>
                                      <p:to>
                                        <p:strVal val="visible"/>
                                      </p:to>
                                    </p:set>
                                    <p:animEffect transition="in" filter="wipe(left)">
                                      <p:cBhvr>
                                        <p:cTn id="40" dur="450"/>
                                        <p:tgtEl>
                                          <p:spTgt spid="18"/>
                                        </p:tgtEl>
                                      </p:cBhvr>
                                    </p:animEffect>
                                  </p:childTnLst>
                                </p:cTn>
                              </p:par>
                              <p:par>
                                <p:cTn id="41" presetID="10" presetClass="entr" presetSubtype="0" fill="hold" grpId="0" nodeType="withEffect">
                                  <p:stCondLst>
                                    <p:cond delay="800"/>
                                  </p:stCondLst>
                                  <p:childTnLst>
                                    <p:set>
                                      <p:cBhvr>
                                        <p:cTn id="42" dur="1" fill="hold">
                                          <p:stCondLst>
                                            <p:cond delay="0"/>
                                          </p:stCondLst>
                                        </p:cTn>
                                        <p:tgtEl>
                                          <p:spTgt spid="19"/>
                                        </p:tgtEl>
                                        <p:attrNameLst>
                                          <p:attrName>style.visibility</p:attrName>
                                        </p:attrNameLst>
                                      </p:cBhvr>
                                      <p:to>
                                        <p:strVal val="visible"/>
                                      </p:to>
                                    </p:set>
                                    <p:animEffect transition="in" filter="fade">
                                      <p:cBhvr>
                                        <p:cTn id="43" dur="450"/>
                                        <p:tgtEl>
                                          <p:spTgt spid="19"/>
                                        </p:tgtEl>
                                      </p:cBhvr>
                                    </p:animEffect>
                                  </p:childTnLst>
                                </p:cTn>
                              </p:par>
                              <p:par>
                                <p:cTn id="44" presetID="10" presetClass="entr" presetSubtype="0" fill="hold" grpId="0" nodeType="withEffect">
                                  <p:stCondLst>
                                    <p:cond delay="80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450"/>
                                        <p:tgtEl>
                                          <p:spTgt spid="20"/>
                                        </p:tgtEl>
                                      </p:cBhvr>
                                    </p:animEffect>
                                  </p:childTnLst>
                                </p:cTn>
                              </p:par>
                            </p:childTnLst>
                          </p:cTn>
                        </p:par>
                        <p:par>
                          <p:cTn id="66" fill="hold">
                            <p:stCondLst>
                              <p:cond delay="3300"/>
                            </p:stCondLst>
                            <p:childTnLst>
                              <p:par>
                                <p:cTn id="48" presetID="22" presetClass="entr" presetSubtype="8" fill="hold" grpId="0" nodeType="afterEffect">
                                  <p:stCondLst>
                                    <p:cond delay="0"/>
                                  </p:stCondLst>
                                  <p:childTnLst>
                                    <p:set>
                                      <p:cBhvr>
                                        <p:cTn id="49" dur="1" fill="hold">
                                          <p:stCondLst>
                                            <p:cond delay="0"/>
                                          </p:stCondLst>
                                        </p:cTn>
                                        <p:tgtEl>
                                          <p:spTgt spid="21"/>
                                        </p:tgtEl>
                                        <p:attrNameLst>
                                          <p:attrName>style.visibility</p:attrName>
                                        </p:attrNameLst>
                                      </p:cBhvr>
                                      <p:to>
                                        <p:strVal val="visible"/>
                                      </p:to>
                                    </p:set>
                                    <p:animEffect transition="in" filter="wipe(left)">
                                      <p:cBhvr>
                                        <p:cTn id="50" dur="450"/>
                                        <p:tgtEl>
                                          <p:spTgt spid="21"/>
                                        </p:tgtEl>
                                      </p:cBhvr>
                                    </p:animEffect>
                                  </p:childTnLst>
                                </p:cTn>
                              </p:par>
                              <p:par>
                                <p:cTn id="51" presetID="10" presetClass="entr" presetSubtype="0" fill="hold" grpId="0" nodeType="withEffect">
                                  <p:stCondLst>
                                    <p:cond delay="250"/>
                                  </p:stCondLst>
                                  <p:childTnLst>
                                    <p:set>
                                      <p:cBhvr>
                                        <p:cTn id="52" dur="1" fill="hold">
                                          <p:stCondLst>
                                            <p:cond delay="0"/>
                                          </p:stCondLst>
                                        </p:cTn>
                                        <p:tgtEl>
                                          <p:spTgt spid="22"/>
                                        </p:tgtEl>
                                        <p:attrNameLst>
                                          <p:attrName>style.visibility</p:attrName>
                                        </p:attrNameLst>
                                      </p:cBhvr>
                                      <p:to>
                                        <p:strVal val="visible"/>
                                      </p:to>
                                    </p:set>
                                    <p:animEffect transition="in" filter="fade">
                                      <p:cBhvr>
                                        <p:cTn id="53" dur="450"/>
                                        <p:tgtEl>
                                          <p:spTgt spid="22"/>
                                        </p:tgtEl>
                                      </p:cBhvr>
                                    </p:animEffect>
                                  </p:childTnLst>
                                </p:cTn>
                              </p:par>
                              <p:par>
                                <p:cTn id="54" presetID="10" presetClass="entr" presetSubtype="0" fill="hold" grpId="0" nodeType="withEffect">
                                  <p:stCondLst>
                                    <p:cond delay="250"/>
                                  </p:stCondLst>
                                  <p:childTnLst>
                                    <p:set>
                                      <p:cBhvr>
                                        <p:cTn id="55" dur="1" fill="hold">
                                          <p:stCondLst>
                                            <p:cond delay="0"/>
                                          </p:stCondLst>
                                        </p:cTn>
                                        <p:tgtEl>
                                          <p:spTgt spid="23"/>
                                        </p:tgtEl>
                                        <p:attrNameLst>
                                          <p:attrName>style.visibility</p:attrName>
                                        </p:attrNameLst>
                                      </p:cBhvr>
                                      <p:to>
                                        <p:strVal val="visible"/>
                                      </p:to>
                                    </p:set>
                                    <p:animEffect transition="in" filter="fade">
                                      <p:cBhvr>
                                        <p:cTn id="56" dur="450"/>
                                        <p:tgtEl>
                                          <p:spTgt spid="23"/>
                                        </p:tgtEl>
                                      </p:cBhvr>
                                    </p:animEffect>
                                  </p:childTnLst>
                                </p:cTn>
                              </p:par>
                              <p:par>
                                <p:cTn id="57" presetID="22" presetClass="entr" presetSubtype="8" fill="hold" grpId="0" nodeType="withEffect">
                                  <p:stCondLst>
                                    <p:cond delay="550"/>
                                  </p:stCondLst>
                                  <p:childTnLst>
                                    <p:set>
                                      <p:cBhvr>
                                        <p:cTn id="58" dur="1" fill="hold">
                                          <p:stCondLst>
                                            <p:cond delay="0"/>
                                          </p:stCondLst>
                                        </p:cTn>
                                        <p:tgtEl>
                                          <p:spTgt spid="24"/>
                                        </p:tgtEl>
                                        <p:attrNameLst>
                                          <p:attrName>style.visibility</p:attrName>
                                        </p:attrNameLst>
                                      </p:cBhvr>
                                      <p:to>
                                        <p:strVal val="visible"/>
                                      </p:to>
                                    </p:set>
                                    <p:animEffect transition="in" filter="wipe(left)">
                                      <p:cBhvr>
                                        <p:cTn id="59" dur="450"/>
                                        <p:tgtEl>
                                          <p:spTgt spid="24"/>
                                        </p:tgtEl>
                                      </p:cBhvr>
                                    </p:animEffect>
                                  </p:childTnLst>
                                </p:cTn>
                              </p:par>
                              <p:par>
                                <p:cTn id="60" presetID="10" presetClass="entr" presetSubtype="0" fill="hold" grpId="0" nodeType="withEffect">
                                  <p:stCondLst>
                                    <p:cond delay="800"/>
                                  </p:stCondLst>
                                  <p:childTnLst>
                                    <p:set>
                                      <p:cBhvr>
                                        <p:cTn id="61" dur="1" fill="hold">
                                          <p:stCondLst>
                                            <p:cond delay="0"/>
                                          </p:stCondLst>
                                        </p:cTn>
                                        <p:tgtEl>
                                          <p:spTgt spid="25"/>
                                        </p:tgtEl>
                                        <p:attrNameLst>
                                          <p:attrName>style.visibility</p:attrName>
                                        </p:attrNameLst>
                                      </p:cBhvr>
                                      <p:to>
                                        <p:strVal val="visible"/>
                                      </p:to>
                                    </p:set>
                                    <p:animEffect transition="in" filter="fade">
                                      <p:cBhvr>
                                        <p:cTn id="62" dur="450"/>
                                        <p:tgtEl>
                                          <p:spTgt spid="25"/>
                                        </p:tgtEl>
                                      </p:cBhvr>
                                    </p:animEffect>
                                  </p:childTnLst>
                                </p:cTn>
                              </p:par>
                              <p:par>
                                <p:cTn id="63" presetID="10" presetClass="entr" presetSubtype="0" fill="hold" grpId="0" nodeType="withEffect">
                                  <p:stCondLst>
                                    <p:cond delay="800"/>
                                  </p:stCondLst>
                                  <p:childTnLst>
                                    <p:set>
                                      <p:cBhvr>
                                        <p:cTn id="64" dur="1" fill="hold">
                                          <p:stCondLst>
                                            <p:cond delay="0"/>
                                          </p:stCondLst>
                                        </p:cTn>
                                        <p:tgtEl>
                                          <p:spTgt spid="26"/>
                                        </p:tgtEl>
                                        <p:attrNameLst>
                                          <p:attrName>style.visibility</p:attrName>
                                        </p:attrNameLst>
                                      </p:cBhvr>
                                      <p:to>
                                        <p:strVal val="visible"/>
                                      </p:to>
                                    </p:set>
                                    <p:animEffect transition="in" filter="fade">
                                      <p:cBhvr>
                                        <p:cTn id="65" dur="450"/>
                                        <p:tgtEl>
                                          <p:spTgt spid="26"/>
                                        </p:tgtEl>
                                      </p:cBhvr>
                                    </p:animEffect>
                                  </p:childTnLst>
                                </p:cTn>
                              </p:par>
                            </p:childTnLst>
                          </p:cTn>
                        </p:par>
                        <p:par>
                          <p:cTn id="85" fill="hold">
                            <p:stCondLst>
                              <p:cond delay="4400"/>
                            </p:stCondLst>
                            <p:childTnLst>
                              <p:par>
                                <p:cTn id="67" presetID="22" presetClass="entr" presetSubtype="8" fill="hold" grpId="0" nodeType="afterEffect">
                                  <p:stCondLst>
                                    <p:cond delay="0"/>
                                  </p:stCondLst>
                                  <p:childTnLst>
                                    <p:set>
                                      <p:cBhvr>
                                        <p:cTn id="68" dur="1" fill="hold">
                                          <p:stCondLst>
                                            <p:cond delay="0"/>
                                          </p:stCondLst>
                                        </p:cTn>
                                        <p:tgtEl>
                                          <p:spTgt spid="27"/>
                                        </p:tgtEl>
                                        <p:attrNameLst>
                                          <p:attrName>style.visibility</p:attrName>
                                        </p:attrNameLst>
                                      </p:cBhvr>
                                      <p:to>
                                        <p:strVal val="visible"/>
                                      </p:to>
                                    </p:set>
                                    <p:animEffect transition="in" filter="wipe(left)">
                                      <p:cBhvr>
                                        <p:cTn id="69" dur="450"/>
                                        <p:tgtEl>
                                          <p:spTgt spid="27"/>
                                        </p:tgtEl>
                                      </p:cBhvr>
                                    </p:animEffect>
                                  </p:childTnLst>
                                </p:cTn>
                              </p:par>
                              <p:par>
                                <p:cTn id="70" presetID="10" presetClass="entr" presetSubtype="0" fill="hold" grpId="0" nodeType="withEffect">
                                  <p:stCondLst>
                                    <p:cond delay="250"/>
                                  </p:stCondLst>
                                  <p:childTnLst>
                                    <p:set>
                                      <p:cBhvr>
                                        <p:cTn id="71" dur="1" fill="hold">
                                          <p:stCondLst>
                                            <p:cond delay="0"/>
                                          </p:stCondLst>
                                        </p:cTn>
                                        <p:tgtEl>
                                          <p:spTgt spid="28"/>
                                        </p:tgtEl>
                                        <p:attrNameLst>
                                          <p:attrName>style.visibility</p:attrName>
                                        </p:attrNameLst>
                                      </p:cBhvr>
                                      <p:to>
                                        <p:strVal val="visible"/>
                                      </p:to>
                                    </p:set>
                                    <p:animEffect transition="in" filter="fade">
                                      <p:cBhvr>
                                        <p:cTn id="72" dur="450"/>
                                        <p:tgtEl>
                                          <p:spTgt spid="28"/>
                                        </p:tgtEl>
                                      </p:cBhvr>
                                    </p:animEffect>
                                  </p:childTnLst>
                                </p:cTn>
                              </p:par>
                              <p:par>
                                <p:cTn id="73" presetID="10" presetClass="entr" presetSubtype="0" fill="hold" grpId="0" nodeType="withEffect">
                                  <p:stCondLst>
                                    <p:cond delay="250"/>
                                  </p:stCondLst>
                                  <p:childTnLst>
                                    <p:set>
                                      <p:cBhvr>
                                        <p:cTn id="74" dur="1" fill="hold">
                                          <p:stCondLst>
                                            <p:cond delay="0"/>
                                          </p:stCondLst>
                                        </p:cTn>
                                        <p:tgtEl>
                                          <p:spTgt spid="29"/>
                                        </p:tgtEl>
                                        <p:attrNameLst>
                                          <p:attrName>style.visibility</p:attrName>
                                        </p:attrNameLst>
                                      </p:cBhvr>
                                      <p:to>
                                        <p:strVal val="visible"/>
                                      </p:to>
                                    </p:set>
                                    <p:animEffect transition="in" filter="fade">
                                      <p:cBhvr>
                                        <p:cTn id="75" dur="450"/>
                                        <p:tgtEl>
                                          <p:spTgt spid="29"/>
                                        </p:tgtEl>
                                      </p:cBhvr>
                                    </p:animEffect>
                                  </p:childTnLst>
                                </p:cTn>
                              </p:par>
                              <p:par>
                                <p:cTn id="76" presetID="22" presetClass="entr" presetSubtype="8" fill="hold" grpId="0" nodeType="withEffect">
                                  <p:stCondLst>
                                    <p:cond delay="550"/>
                                  </p:stCondLst>
                                  <p:childTnLst>
                                    <p:set>
                                      <p:cBhvr>
                                        <p:cTn id="77" dur="1" fill="hold">
                                          <p:stCondLst>
                                            <p:cond delay="0"/>
                                          </p:stCondLst>
                                        </p:cTn>
                                        <p:tgtEl>
                                          <p:spTgt spid="30"/>
                                        </p:tgtEl>
                                        <p:attrNameLst>
                                          <p:attrName>style.visibility</p:attrName>
                                        </p:attrNameLst>
                                      </p:cBhvr>
                                      <p:to>
                                        <p:strVal val="visible"/>
                                      </p:to>
                                    </p:set>
                                    <p:animEffect transition="in" filter="wipe(left)">
                                      <p:cBhvr>
                                        <p:cTn id="78" dur="450"/>
                                        <p:tgtEl>
                                          <p:spTgt spid="30"/>
                                        </p:tgtEl>
                                      </p:cBhvr>
                                    </p:animEffect>
                                  </p:childTnLst>
                                </p:cTn>
                              </p:par>
                              <p:par>
                                <p:cTn id="79" presetID="10" presetClass="entr" presetSubtype="0" fill="hold" grpId="0" nodeType="withEffect">
                                  <p:stCondLst>
                                    <p:cond delay="800"/>
                                  </p:stCondLst>
                                  <p:childTnLst>
                                    <p:set>
                                      <p:cBhvr>
                                        <p:cTn id="80" dur="1" fill="hold">
                                          <p:stCondLst>
                                            <p:cond delay="0"/>
                                          </p:stCondLst>
                                        </p:cTn>
                                        <p:tgtEl>
                                          <p:spTgt spid="31"/>
                                        </p:tgtEl>
                                        <p:attrNameLst>
                                          <p:attrName>style.visibility</p:attrName>
                                        </p:attrNameLst>
                                      </p:cBhvr>
                                      <p:to>
                                        <p:strVal val="visible"/>
                                      </p:to>
                                    </p:set>
                                    <p:animEffect transition="in" filter="fade">
                                      <p:cBhvr>
                                        <p:cTn id="81" dur="450"/>
                                        <p:tgtEl>
                                          <p:spTgt spid="31"/>
                                        </p:tgtEl>
                                      </p:cBhvr>
                                    </p:animEffect>
                                  </p:childTnLst>
                                </p:cTn>
                              </p:par>
                              <p:par>
                                <p:cTn id="82" presetID="10" presetClass="entr" presetSubtype="0" fill="hold" grpId="0" nodeType="withEffect">
                                  <p:stCondLst>
                                    <p:cond delay="800"/>
                                  </p:stCondLst>
                                  <p:childTnLst>
                                    <p:set>
                                      <p:cBhvr>
                                        <p:cTn id="83" dur="1" fill="hold">
                                          <p:stCondLst>
                                            <p:cond delay="0"/>
                                          </p:stCondLst>
                                        </p:cTn>
                                        <p:tgtEl>
                                          <p:spTgt spid="32"/>
                                        </p:tgtEl>
                                        <p:attrNameLst>
                                          <p:attrName>style.visibility</p:attrName>
                                        </p:attrNameLst>
                                      </p:cBhvr>
                                      <p:to>
                                        <p:strVal val="visible"/>
                                      </p:to>
                                    </p:set>
                                    <p:animEffect transition="in" filter="fade">
                                      <p:cBhvr>
                                        <p:cTn id="84" dur="450"/>
                                        <p:tgtEl>
                                          <p:spTgt spid="32"/>
                                        </p:tgtEl>
                                      </p:cBhvr>
                                    </p:animEffect>
                                  </p:childTnLst>
                                </p:cTn>
                              </p:par>
                            </p:childTnLst>
                          </p:cTn>
                        </p:par>
                        <p:par>
                          <p:cTn id="92" fill="hold">
                            <p:stCondLst>
                              <p:cond delay="5500"/>
                            </p:stCondLst>
                            <p:childTnLst>
                              <p:par>
                                <p:cTn id="86" presetID="22" presetClass="entr" presetSubtype="8" fill="hold" grpId="0" nodeType="afterEffect">
                                  <p:stCondLst>
                                    <p:cond delay="0"/>
                                  </p:stCondLst>
                                  <p:childTnLst>
                                    <p:set>
                                      <p:cBhvr>
                                        <p:cTn id="87" dur="1" fill="hold">
                                          <p:stCondLst>
                                            <p:cond delay="0"/>
                                          </p:stCondLst>
                                        </p:cTn>
                                        <p:tgtEl>
                                          <p:spTgt spid="33"/>
                                        </p:tgtEl>
                                        <p:attrNameLst>
                                          <p:attrName>style.visibility</p:attrName>
                                        </p:attrNameLst>
                                      </p:cBhvr>
                                      <p:to>
                                        <p:strVal val="visible"/>
                                      </p:to>
                                    </p:set>
                                    <p:animEffect transition="in" filter="wipe(left)">
                                      <p:cBhvr>
                                        <p:cTn id="88" dur="450"/>
                                        <p:tgtEl>
                                          <p:spTgt spid="33"/>
                                        </p:tgtEl>
                                      </p:cBhvr>
                                    </p:animEffect>
                                  </p:childTnLst>
                                </p:cTn>
                              </p:par>
                              <p:par>
                                <p:cTn id="89" presetID="22" presetClass="entr" presetSubtype="8" fill="hold" grpId="0" nodeType="withEffect">
                                  <p:stCondLst>
                                    <p:cond delay="0"/>
                                  </p:stCondLst>
                                  <p:childTnLst>
                                    <p:set>
                                      <p:cBhvr>
                                        <p:cTn id="90" dur="1" fill="hold">
                                          <p:stCondLst>
                                            <p:cond delay="0"/>
                                          </p:stCondLst>
                                        </p:cTn>
                                        <p:tgtEl>
                                          <p:spTgt spid="34"/>
                                        </p:tgtEl>
                                        <p:attrNameLst>
                                          <p:attrName>style.visibility</p:attrName>
                                        </p:attrNameLst>
                                      </p:cBhvr>
                                      <p:to>
                                        <p:strVal val="visible"/>
                                      </p:to>
                                    </p:set>
                                    <p:animEffect transition="in" filter="wipe(left)">
                                      <p:cBhvr>
                                        <p:cTn id="91" dur="45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criterion"/>
          <p:cNvSpPr txBox="1"/>
          <p:nvPr/>
        </p:nvSpPr>
        <p:spPr>
          <a:xfrm>
            <a:off x="548640" y="201168"/>
            <a:ext cx="5486400" cy="256032"/>
          </a:xfrm>
          <a:prstGeom prst="rect">
            <a:avLst/>
          </a:prstGeom>
          <a:noFill/>
          <a:ln/>
        </p:spPr>
        <p:txBody>
          <a:bodyPr wrap="square" lIns="0" tIns="0" rIns="0" bIns="0" rtlCol="0" anchor="t"/>
          <a:lstStyle/>
          <a:p>
            <a:pPr indent="0" marL="0">
              <a:buNone/>
            </a:pPr>
            <a:r>
              <a:rPr lang="en-US" sz="1100" b="1" spc="200" kern="0" dirty="0">
                <a:solidFill>
                  <a:schemeClr val="accent5"/>
                </a:solidFill>
              </a:rPr>
              <a:t>SCALE · TRANSFERABILITY</a:t>
            </a:r>
            <a:endParaRPr lang="en-US" sz="1100" dirty="0"/>
          </a:p>
        </p:txBody>
      </p:sp>
      <p:sp>
        <p:nvSpPr>
          <p:cNvPr id="3"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bg1"/>
                </a:solidFill>
              </a:rPr>
              <a:t>A playbook any team can run next</a:t>
            </a:r>
            <a:endParaRPr lang="en-US" sz="3600" dirty="0"/>
          </a:p>
        </p:txBody>
      </p:sp>
      <p:sp>
        <p:nvSpPr>
          <p:cNvPr id="4" name="step-0"/>
          <p:cNvSpPr/>
          <p:nvPr/>
        </p:nvSpPr>
        <p:spPr>
          <a:xfrm>
            <a:off x="548640" y="1463040"/>
            <a:ext cx="2131101" cy="777240"/>
          </a:xfrm>
          <a:prstGeom prst="chevron">
            <a:avLst/>
          </a:prstGeom>
          <a:solidFill>
            <a:schemeClr val="accent2"/>
          </a:solidFill>
          <a:ln/>
        </p:spPr>
      </p:sp>
      <p:sp>
        <p:nvSpPr>
          <p:cNvPr id="5" name="step-0-text"/>
          <p:cNvSpPr txBox="1"/>
          <p:nvPr/>
        </p:nvSpPr>
        <p:spPr>
          <a:xfrm>
            <a:off x="822960" y="1463040"/>
            <a:ext cx="1582461" cy="777240"/>
          </a:xfrm>
          <a:prstGeom prst="rect">
            <a:avLst/>
          </a:prstGeom>
          <a:noFill/>
          <a:ln/>
        </p:spPr>
        <p:txBody>
          <a:bodyPr wrap="square" lIns="0" tIns="0" rIns="0" bIns="0" rtlCol="0" anchor="ctr"/>
          <a:lstStyle/>
          <a:p>
            <a:pPr algn="ctr" indent="0" marL="0">
              <a:buNone/>
            </a:pPr>
            <a:r>
              <a:rPr lang="en-US" sz="1800" b="1" dirty="0">
                <a:solidFill>
                  <a:schemeClr val="bg1"/>
                </a:solidFill>
              </a:rPr>
              <a:t>Pack</a:t>
            </a:r>
            <a:endParaRPr lang="en-US" sz="1800" dirty="0"/>
          </a:p>
        </p:txBody>
      </p:sp>
      <p:sp>
        <p:nvSpPr>
          <p:cNvPr id="6" name="step-1"/>
          <p:cNvSpPr/>
          <p:nvPr/>
        </p:nvSpPr>
        <p:spPr>
          <a:xfrm>
            <a:off x="2789469" y="1463040"/>
            <a:ext cx="2131101" cy="777240"/>
          </a:xfrm>
          <a:prstGeom prst="chevron">
            <a:avLst/>
          </a:prstGeom>
          <a:solidFill>
            <a:schemeClr val="accent4"/>
          </a:solidFill>
          <a:ln/>
        </p:spPr>
      </p:sp>
      <p:sp>
        <p:nvSpPr>
          <p:cNvPr id="7" name="step-1-text"/>
          <p:cNvSpPr txBox="1"/>
          <p:nvPr/>
        </p:nvSpPr>
        <p:spPr>
          <a:xfrm>
            <a:off x="3063789" y="1463040"/>
            <a:ext cx="1582461" cy="777240"/>
          </a:xfrm>
          <a:prstGeom prst="rect">
            <a:avLst/>
          </a:prstGeom>
          <a:noFill/>
          <a:ln/>
        </p:spPr>
        <p:txBody>
          <a:bodyPr wrap="square" lIns="0" tIns="0" rIns="0" bIns="0" rtlCol="0" anchor="ctr"/>
          <a:lstStyle/>
          <a:p>
            <a:pPr algn="ctr" indent="0" marL="0">
              <a:buNone/>
            </a:pPr>
            <a:r>
              <a:rPr lang="en-US" sz="1800" b="1" dirty="0">
                <a:solidFill>
                  <a:schemeClr val="bg1"/>
                </a:solidFill>
              </a:rPr>
              <a:t>Extract</a:t>
            </a:r>
            <a:endParaRPr lang="en-US" sz="1800" dirty="0"/>
          </a:p>
        </p:txBody>
      </p:sp>
      <p:sp>
        <p:nvSpPr>
          <p:cNvPr id="8" name="step-2"/>
          <p:cNvSpPr/>
          <p:nvPr/>
        </p:nvSpPr>
        <p:spPr>
          <a:xfrm>
            <a:off x="5030297" y="1463040"/>
            <a:ext cx="2131101" cy="777240"/>
          </a:xfrm>
          <a:prstGeom prst="chevron">
            <a:avLst/>
          </a:prstGeom>
          <a:solidFill>
            <a:schemeClr val="accent4"/>
          </a:solidFill>
          <a:ln/>
        </p:spPr>
      </p:sp>
      <p:sp>
        <p:nvSpPr>
          <p:cNvPr id="9" name="step-2-text"/>
          <p:cNvSpPr txBox="1"/>
          <p:nvPr/>
        </p:nvSpPr>
        <p:spPr>
          <a:xfrm>
            <a:off x="5304617" y="1463040"/>
            <a:ext cx="1582461" cy="777240"/>
          </a:xfrm>
          <a:prstGeom prst="rect">
            <a:avLst/>
          </a:prstGeom>
          <a:noFill/>
          <a:ln/>
        </p:spPr>
        <p:txBody>
          <a:bodyPr wrap="square" lIns="0" tIns="0" rIns="0" bIns="0" rtlCol="0" anchor="ctr"/>
          <a:lstStyle/>
          <a:p>
            <a:pPr algn="ctr" indent="0" marL="0">
              <a:buNone/>
            </a:pPr>
            <a:r>
              <a:rPr lang="en-US" sz="1800" b="1" dirty="0">
                <a:solidFill>
                  <a:schemeClr val="bg1"/>
                </a:solidFill>
              </a:rPr>
              <a:t>Compare</a:t>
            </a:r>
            <a:endParaRPr lang="en-US" sz="1800" dirty="0"/>
          </a:p>
        </p:txBody>
      </p:sp>
      <p:sp>
        <p:nvSpPr>
          <p:cNvPr id="10" name="step-3"/>
          <p:cNvSpPr/>
          <p:nvPr/>
        </p:nvSpPr>
        <p:spPr>
          <a:xfrm>
            <a:off x="7271126" y="1463040"/>
            <a:ext cx="2131101" cy="777240"/>
          </a:xfrm>
          <a:prstGeom prst="chevron">
            <a:avLst/>
          </a:prstGeom>
          <a:solidFill>
            <a:schemeClr val="accent4"/>
          </a:solidFill>
          <a:ln/>
        </p:spPr>
      </p:sp>
      <p:sp>
        <p:nvSpPr>
          <p:cNvPr id="11" name="step-3-text"/>
          <p:cNvSpPr txBox="1"/>
          <p:nvPr/>
        </p:nvSpPr>
        <p:spPr>
          <a:xfrm>
            <a:off x="7545446" y="1463040"/>
            <a:ext cx="1582461" cy="777240"/>
          </a:xfrm>
          <a:prstGeom prst="rect">
            <a:avLst/>
          </a:prstGeom>
          <a:noFill/>
          <a:ln/>
        </p:spPr>
        <p:txBody>
          <a:bodyPr wrap="square" lIns="0" tIns="0" rIns="0" bIns="0" rtlCol="0" anchor="ctr"/>
          <a:lstStyle/>
          <a:p>
            <a:pPr algn="ctr" indent="0" marL="0">
              <a:buNone/>
            </a:pPr>
            <a:r>
              <a:rPr lang="en-US" sz="1800" b="1" dirty="0">
                <a:solidFill>
                  <a:schemeClr val="bg1"/>
                </a:solidFill>
              </a:rPr>
              <a:t>Fix</a:t>
            </a:r>
            <a:endParaRPr lang="en-US" sz="1800" dirty="0"/>
          </a:p>
        </p:txBody>
      </p:sp>
      <p:sp>
        <p:nvSpPr>
          <p:cNvPr id="12" name="step-4"/>
          <p:cNvSpPr/>
          <p:nvPr/>
        </p:nvSpPr>
        <p:spPr>
          <a:xfrm>
            <a:off x="9511955" y="1463040"/>
            <a:ext cx="2131101" cy="777240"/>
          </a:xfrm>
          <a:prstGeom prst="chevron">
            <a:avLst/>
          </a:prstGeom>
          <a:solidFill>
            <a:schemeClr val="accent4"/>
          </a:solidFill>
          <a:ln/>
        </p:spPr>
      </p:sp>
      <p:sp>
        <p:nvSpPr>
          <p:cNvPr id="13" name="step-4-text"/>
          <p:cNvSpPr txBox="1"/>
          <p:nvPr/>
        </p:nvSpPr>
        <p:spPr>
          <a:xfrm>
            <a:off x="9786275" y="1463040"/>
            <a:ext cx="1582461" cy="777240"/>
          </a:xfrm>
          <a:prstGeom prst="rect">
            <a:avLst/>
          </a:prstGeom>
          <a:noFill/>
          <a:ln/>
        </p:spPr>
        <p:txBody>
          <a:bodyPr wrap="square" lIns="0" tIns="0" rIns="0" bIns="0" rtlCol="0" anchor="ctr"/>
          <a:lstStyle/>
          <a:p>
            <a:pPr algn="ctr" indent="0" marL="0">
              <a:buNone/>
            </a:pPr>
            <a:r>
              <a:rPr lang="en-US" sz="1800" b="1" dirty="0">
                <a:solidFill>
                  <a:schemeClr val="bg1"/>
                </a:solidFill>
              </a:rPr>
              <a:t>Document</a:t>
            </a:r>
            <a:endParaRPr lang="en-US" sz="1800" dirty="0"/>
          </a:p>
        </p:txBody>
      </p:sp>
      <p:sp>
        <p:nvSpPr>
          <p:cNvPr id="14" name="reuse-0-card"/>
          <p:cNvSpPr/>
          <p:nvPr/>
        </p:nvSpPr>
        <p:spPr>
          <a:xfrm>
            <a:off x="548640" y="2560320"/>
            <a:ext cx="3515258" cy="2743200"/>
          </a:xfrm>
          <a:prstGeom prst="roundRect">
            <a:avLst>
              <a:gd name="adj" fmla="val 4000"/>
            </a:avLst>
          </a:prstGeom>
          <a:solidFill>
            <a:schemeClr val="accent4"/>
          </a:solidFill>
          <a:ln/>
        </p:spPr>
      </p:sp>
      <p:sp>
        <p:nvSpPr>
          <p:cNvPr id="15" name="reuse-0-title"/>
          <p:cNvSpPr txBox="1"/>
          <p:nvPr/>
        </p:nvSpPr>
        <p:spPr>
          <a:xfrm>
            <a:off x="822960" y="2743200"/>
            <a:ext cx="2966618" cy="411480"/>
          </a:xfrm>
          <a:prstGeom prst="rect">
            <a:avLst/>
          </a:prstGeom>
          <a:noFill/>
          <a:ln/>
        </p:spPr>
        <p:txBody>
          <a:bodyPr wrap="square" lIns="0" tIns="0" rIns="0" bIns="0" rtlCol="0" anchor="t"/>
          <a:lstStyle/>
          <a:p>
            <a:pPr indent="0" marL="0">
              <a:buNone/>
            </a:pPr>
            <a:r>
              <a:rPr lang="en-US" sz="2000" b="1" dirty="0">
                <a:solidFill>
                  <a:schemeClr val="accent5"/>
                </a:solidFill>
              </a:rPr>
              <a:t>Ready to reuse</a:t>
            </a:r>
            <a:endParaRPr lang="en-US" sz="2000" dirty="0"/>
          </a:p>
        </p:txBody>
      </p:sp>
      <p:sp>
        <p:nvSpPr>
          <p:cNvPr id="16" name="reuse-0-list"/>
          <p:cNvSpPr txBox="1"/>
          <p:nvPr/>
        </p:nvSpPr>
        <p:spPr>
          <a:xfrm>
            <a:off x="822960" y="3246120"/>
            <a:ext cx="2966618" cy="19202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accent6"/>
                </a:solidFill>
              </a:rPr>
              <a:t>pack-project.ts: whole-app context in one command</a:t>
            </a:r>
            <a:endParaRPr lang="en-US" sz="1400" dirty="0"/>
          </a:p>
          <a:p>
            <a:pPr marL="342900" indent="-342900">
              <a:spcAft>
                <a:spcPts val="800"/>
              </a:spcAft>
              <a:buSzPct val="100000"/>
              <a:buChar char="•"/>
            </a:pPr>
            <a:r>
              <a:rPr lang="en-US" sz="1400" dirty="0">
                <a:solidFill>
                  <a:schemeClr val="accent6"/>
                </a:solidFill>
              </a:rPr>
              <a:t>Feature comparison template</a:t>
            </a:r>
            <a:endParaRPr lang="en-US" sz="1400" dirty="0"/>
          </a:p>
          <a:p>
            <a:pPr marL="342900" indent="-342900">
              <a:spcAft>
                <a:spcPts val="800"/>
              </a:spcAft>
              <a:buSzPct val="100000"/>
              <a:buChar char="•"/>
            </a:pPr>
            <a:r>
              <a:rPr lang="en-US" sz="1400" dirty="0">
                <a:solidFill>
                  <a:schemeClr val="accent6"/>
                </a:solidFill>
              </a:rPr>
              <a:t>Architecture and lifecycle diagram formats</a:t>
            </a:r>
            <a:endParaRPr lang="en-US" sz="1400" dirty="0"/>
          </a:p>
        </p:txBody>
      </p:sp>
      <p:sp>
        <p:nvSpPr>
          <p:cNvPr id="17" name="reuse-1-card"/>
          <p:cNvSpPr/>
          <p:nvPr/>
        </p:nvSpPr>
        <p:spPr>
          <a:xfrm>
            <a:off x="4338218" y="2560320"/>
            <a:ext cx="3515258" cy="2743200"/>
          </a:xfrm>
          <a:prstGeom prst="roundRect">
            <a:avLst>
              <a:gd name="adj" fmla="val 4000"/>
            </a:avLst>
          </a:prstGeom>
          <a:solidFill>
            <a:schemeClr val="accent4"/>
          </a:solidFill>
          <a:ln/>
        </p:spPr>
      </p:sp>
      <p:sp>
        <p:nvSpPr>
          <p:cNvPr id="18" name="reuse-1-title"/>
          <p:cNvSpPr txBox="1"/>
          <p:nvPr/>
        </p:nvSpPr>
        <p:spPr>
          <a:xfrm>
            <a:off x="4612538" y="2743200"/>
            <a:ext cx="2966618" cy="411480"/>
          </a:xfrm>
          <a:prstGeom prst="rect">
            <a:avLst/>
          </a:prstGeom>
          <a:noFill/>
          <a:ln/>
        </p:spPr>
        <p:txBody>
          <a:bodyPr wrap="square" lIns="0" tIns="0" rIns="0" bIns="0" rtlCol="0" anchor="t"/>
          <a:lstStyle/>
          <a:p>
            <a:pPr indent="0" marL="0">
              <a:buNone/>
            </a:pPr>
            <a:r>
              <a:rPr lang="en-US" sz="2000" b="1" dirty="0">
                <a:solidFill>
                  <a:schemeClr val="accent5"/>
                </a:solidFill>
              </a:rPr>
              <a:t>Where next</a:t>
            </a:r>
            <a:endParaRPr lang="en-US" sz="2000" dirty="0"/>
          </a:p>
        </p:txBody>
      </p:sp>
      <p:sp>
        <p:nvSpPr>
          <p:cNvPr id="19" name="reuse-1-list"/>
          <p:cNvSpPr txBox="1"/>
          <p:nvPr/>
        </p:nvSpPr>
        <p:spPr>
          <a:xfrm>
            <a:off x="4612538" y="3246120"/>
            <a:ext cx="2966618" cy="19202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accent6"/>
                </a:solidFill>
              </a:rPr>
              <a:t>Other Slate apps in [business areas]</a:t>
            </a:r>
            <a:endParaRPr lang="en-US" sz="1400" dirty="0"/>
          </a:p>
          <a:p>
            <a:pPr marL="342900" indent="-342900">
              <a:spcAft>
                <a:spcPts val="800"/>
              </a:spcAft>
              <a:buSzPct val="100000"/>
              <a:buChar char="•"/>
            </a:pPr>
            <a:r>
              <a:rPr lang="en-US" sz="1400" dirty="0">
                <a:solidFill>
                  <a:schemeClr val="accent6"/>
                </a:solidFill>
              </a:rPr>
              <a:t>Any low-code tool with little documentation</a:t>
            </a:r>
            <a:endParaRPr lang="en-US" sz="1400" dirty="0"/>
          </a:p>
          <a:p>
            <a:pPr marL="342900" indent="-342900">
              <a:spcAft>
                <a:spcPts val="800"/>
              </a:spcAft>
              <a:buSzPct val="100000"/>
              <a:buChar char="•"/>
            </a:pPr>
            <a:r>
              <a:rPr lang="en-US" sz="1400" dirty="0">
                <a:solidFill>
                  <a:schemeClr val="accent6"/>
                </a:solidFill>
              </a:rPr>
              <a:t>Teams starting their first AI-assisted migration</a:t>
            </a:r>
            <a:endParaRPr lang="en-US" sz="1400" dirty="0"/>
          </a:p>
        </p:txBody>
      </p:sp>
      <p:sp>
        <p:nvSpPr>
          <p:cNvPr id="20" name="ask-card"/>
          <p:cNvSpPr/>
          <p:nvPr/>
        </p:nvSpPr>
        <p:spPr>
          <a:xfrm>
            <a:off x="8127797" y="2560320"/>
            <a:ext cx="3515258" cy="2743200"/>
          </a:xfrm>
          <a:prstGeom prst="roundRect">
            <a:avLst>
              <a:gd name="adj" fmla="val 4000"/>
            </a:avLst>
          </a:prstGeom>
          <a:solidFill>
            <a:schemeClr val="bg1"/>
          </a:solidFill>
          <a:ln/>
        </p:spPr>
      </p:sp>
      <p:sp>
        <p:nvSpPr>
          <p:cNvPr id="21" name="ask-text"/>
          <p:cNvSpPr txBox="1"/>
          <p:nvPr/>
        </p:nvSpPr>
        <p:spPr>
          <a:xfrm>
            <a:off x="8402117" y="2743200"/>
            <a:ext cx="2966618" cy="2377440"/>
          </a:xfrm>
          <a:prstGeom prst="rect">
            <a:avLst/>
          </a:prstGeom>
          <a:noFill/>
          <a:ln/>
        </p:spPr>
        <p:txBody>
          <a:bodyPr wrap="square" lIns="0" tIns="0" rIns="0" bIns="0" rtlCol="0" anchor="t"/>
          <a:lstStyle/>
          <a:p>
            <a:pPr indent="0" marL="0">
              <a:buNone/>
            </a:pPr>
            <a:r>
              <a:rPr lang="en-US" sz="2000" b="1" dirty="0">
                <a:solidFill>
                  <a:schemeClr val="accent3"/>
                </a:solidFill>
              </a:rPr>
              <a:t>Our ask</a:t>
            </a:r>
            <a:endParaRPr lang="en-US" sz="2000" dirty="0"/>
          </a:p>
          <a:p>
            <a:pPr indent="0" marL="0">
              <a:buNone/>
            </a:pPr>
            <a:r>
              <a:rPr lang="en-US" sz="800" dirty="0">
                <a:solidFill>
                  <a:srgbClr val="000000"/>
                </a:solidFill>
              </a:rPr>
              <a:t> </a:t>
            </a:r>
            <a:endParaRPr lang="en-US" sz="2000" dirty="0"/>
          </a:p>
          <a:p>
            <a:pPr indent="0" marL="0">
              <a:buNone/>
            </a:pPr>
            <a:r>
              <a:rPr lang="en-US" sz="1500" dirty="0">
                <a:solidFill>
                  <a:schemeClr val="tx1"/>
                </a:solidFill>
              </a:rPr>
              <a:t>[Sponsor a pilot: run the playbook on [N] more Slate apps in [PI]]</a:t>
            </a:r>
            <a:endParaRPr lang="en-US" sz="2000" dirty="0"/>
          </a:p>
          <a:p>
            <a:pPr indent="0" marL="0">
              <a:buNone/>
            </a:pPr>
            <a:r>
              <a:rPr lang="en-US" sz="800" dirty="0">
                <a:solidFill>
                  <a:srgbClr val="000000"/>
                </a:solidFill>
              </a:rPr>
              <a:t> </a:t>
            </a:r>
            <a:endParaRPr lang="en-US" sz="2000" dirty="0"/>
          </a:p>
          <a:p>
            <a:pPr indent="0" marL="0">
              <a:buNone/>
            </a:pPr>
            <a:r>
              <a:rPr lang="en-US" sz="1500" dirty="0">
                <a:solidFill>
                  <a:schemeClr val="tx1"/>
                </a:solidFill>
              </a:rPr>
              <a:t>[Name a contact team to adopt it]</a:t>
            </a:r>
            <a:endParaRPr lang="en-US" sz="2000" dirty="0"/>
          </a:p>
        </p:txBody>
      </p:sp>
      <p:sp>
        <p:nvSpPr>
          <p:cNvPr id="22" name="closing"/>
          <p:cNvSpPr txBox="1"/>
          <p:nvPr/>
        </p:nvSpPr>
        <p:spPr>
          <a:xfrm>
            <a:off x="548640" y="5623560"/>
            <a:ext cx="11094415" cy="502920"/>
          </a:xfrm>
          <a:prstGeom prst="rect">
            <a:avLst/>
          </a:prstGeom>
          <a:noFill/>
          <a:ln/>
        </p:spPr>
        <p:txBody>
          <a:bodyPr wrap="square" lIns="0" tIns="0" rIns="0" bIns="0" rtlCol="0" anchor="t"/>
          <a:lstStyle/>
          <a:p>
            <a:pPr indent="0" marL="0">
              <a:buNone/>
            </a:pPr>
            <a:r>
              <a:rPr lang="en-US" sz="2200" b="1" dirty="0">
                <a:solidFill>
                  <a:schemeClr val="bg1"/>
                </a:solidFill>
              </a:rPr>
              <a:t>105 features, one PI, two developers. Ready for go-live, and for the next app.</a:t>
            </a:r>
            <a:endParaRPr lang="en-US" sz="2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9" fill="hold">
                      <p:stCondLst>
                        <p:cond delay="indefinite"/>
                        <p:cond evt="onBegin" delay="0">
                          <p:tn val="2"/>
                        </p:cond>
                      </p:stCondLst>
                      <p:childTnLst>
                        <p:par>
                          <p:cTn id="9" fill="hold">
                            <p:stCondLst>
                              <p:cond delay="0"/>
                            </p:stCondLst>
                            <p:childTnLst>
                              <p:par>
                                <p:cTn id="3" presetID="22" presetClass="entr" presetSubtype="8"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wipe(left)">
                                      <p:cBhvr>
                                        <p:cTn id="5" dur="450"/>
                                        <p:tgtEl>
                                          <p:spTgt spid="4"/>
                                        </p:tgtEl>
                                      </p:cBhvr>
                                    </p:animEffect>
                                  </p:childTnLst>
                                </p:cTn>
                              </p:par>
                              <p:par>
                                <p:cTn id="6" presetID="22" presetClass="entr" presetSubtype="8"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wipe(left)">
                                      <p:cBhvr>
                                        <p:cTn id="8" dur="450"/>
                                        <p:tgtEl>
                                          <p:spTgt spid="5"/>
                                        </p:tgtEl>
                                      </p:cBhvr>
                                    </p:animEffect>
                                  </p:childTnLst>
                                </p:cTn>
                              </p:par>
                            </p:childTnLst>
                          </p:cTn>
                        </p:par>
                        <p:par>
                          <p:cTn id="16" fill="hold">
                            <p:stCondLst>
                              <p:cond delay="350"/>
                            </p:stCondLst>
                            <p:childTnLst>
                              <p:par>
                                <p:cTn id="10" presetID="22" presetClass="entr" presetSubtype="8" fill="hold" grpId="0" nodeType="after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450"/>
                                        <p:tgtEl>
                                          <p:spTgt spid="6"/>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wipe(left)">
                                      <p:cBhvr>
                                        <p:cTn id="15" dur="450"/>
                                        <p:tgtEl>
                                          <p:spTgt spid="7"/>
                                        </p:tgtEl>
                                      </p:cBhvr>
                                    </p:animEffect>
                                  </p:childTnLst>
                                </p:cTn>
                              </p:par>
                            </p:childTnLst>
                          </p:cTn>
                        </p:par>
                        <p:par>
                          <p:cTn id="23" fill="hold">
                            <p:stCondLst>
                              <p:cond delay="700"/>
                            </p:stCondLst>
                            <p:childTnLst>
                              <p:par>
                                <p:cTn id="17" presetID="22" presetClass="entr" presetSubtype="8" fill="hold" grpId="0" nodeType="after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wipe(left)">
                                      <p:cBhvr>
                                        <p:cTn id="19" dur="450"/>
                                        <p:tgtEl>
                                          <p:spTgt spid="8"/>
                                        </p:tgtEl>
                                      </p:cBhvr>
                                    </p:animEffect>
                                  </p:childTnLst>
                                </p:cTn>
                              </p:par>
                              <p:par>
                                <p:cTn id="20" presetID="22" presetClass="entr" presetSubtype="8"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wipe(left)">
                                      <p:cBhvr>
                                        <p:cTn id="22" dur="450"/>
                                        <p:tgtEl>
                                          <p:spTgt spid="9"/>
                                        </p:tgtEl>
                                      </p:cBhvr>
                                    </p:animEffect>
                                  </p:childTnLst>
                                </p:cTn>
                              </p:par>
                            </p:childTnLst>
                          </p:cTn>
                        </p:par>
                        <p:par>
                          <p:cTn id="30" fill="hold">
                            <p:stCondLst>
                              <p:cond delay="1050"/>
                            </p:stCondLst>
                            <p:childTnLst>
                              <p:par>
                                <p:cTn id="24" presetID="22" presetClass="entr" presetSubtype="8" fill="hold" grpId="0" nodeType="after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wipe(left)">
                                      <p:cBhvr>
                                        <p:cTn id="26" dur="450"/>
                                        <p:tgtEl>
                                          <p:spTgt spid="10"/>
                                        </p:tgtEl>
                                      </p:cBhvr>
                                    </p:animEffect>
                                  </p:childTnLst>
                                </p:cTn>
                              </p:par>
                              <p:par>
                                <p:cTn id="27" presetID="22" presetClass="entr" presetSubtype="8" fill="hold" grpId="0" nodeType="with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wipe(left)">
                                      <p:cBhvr>
                                        <p:cTn id="29" dur="450"/>
                                        <p:tgtEl>
                                          <p:spTgt spid="11"/>
                                        </p:tgtEl>
                                      </p:cBhvr>
                                    </p:animEffect>
                                  </p:childTnLst>
                                </p:cTn>
                              </p:par>
                            </p:childTnLst>
                          </p:cTn>
                        </p:par>
                        <p:par>
                          <p:cTn id="37" fill="hold">
                            <p:stCondLst>
                              <p:cond delay="1400"/>
                            </p:stCondLst>
                            <p:childTnLst>
                              <p:par>
                                <p:cTn id="31" presetID="22" presetClass="entr" presetSubtype="8" fill="hold" grpId="0" nodeType="after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wipe(left)">
                                      <p:cBhvr>
                                        <p:cTn id="33" dur="450"/>
                                        <p:tgtEl>
                                          <p:spTgt spid="12"/>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wipe(left)">
                                      <p:cBhvr>
                                        <p:cTn id="36" dur="450"/>
                                        <p:tgtEl>
                                          <p:spTgt spid="13"/>
                                        </p:tgtEl>
                                      </p:cBhvr>
                                    </p:animEffect>
                                  </p:childTnLst>
                                </p:cTn>
                              </p:par>
                            </p:childTnLst>
                          </p:cTn>
                        </p:par>
                        <p:par>
                          <p:cTn id="47" fill="hold">
                            <p:stCondLst>
                              <p:cond delay="1750"/>
                            </p:stCondLst>
                            <p:childTnLst>
                              <p:par>
                                <p:cTn id="38" presetID="10"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50"/>
                                        <p:tgtEl>
                                          <p:spTgt spid="14"/>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450"/>
                                        <p:tgtEl>
                                          <p:spTgt spid="15"/>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50"/>
                                        <p:tgtEl>
                                          <p:spTgt spid="16"/>
                                        </p:tgtEl>
                                      </p:cBhvr>
                                    </p:animEffect>
                                  </p:childTnLst>
                                </p:cTn>
                              </p:par>
                            </p:childTnLst>
                          </p:cTn>
                        </p:par>
                        <p:par>
                          <p:cTn id="57" fill="hold">
                            <p:stCondLst>
                              <p:cond delay="2100"/>
                            </p:stCondLst>
                            <p:childTnLst>
                              <p:par>
                                <p:cTn id="48" presetID="10" presetClass="entr" presetSubtype="0" fill="hold" grpId="0" nodeType="after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450"/>
                                        <p:tgtEl>
                                          <p:spTgt spid="1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450"/>
                                        <p:tgtEl>
                                          <p:spTgt spid="18"/>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450"/>
                                        <p:tgtEl>
                                          <p:spTgt spid="19"/>
                                        </p:tgtEl>
                                      </p:cBhvr>
                                    </p:animEffect>
                                  </p:childTnLst>
                                </p:cTn>
                              </p:par>
                            </p:childTnLst>
                          </p:cTn>
                        </p:par>
                        <p:par>
                          <p:cTn id="64" fill="hold">
                            <p:stCondLst>
                              <p:cond delay="2450"/>
                            </p:stCondLst>
                            <p:childTnLst>
                              <p:par>
                                <p:cTn id="58" presetID="10" presetClass="entr" presetSubtype="0" fill="hold" grpId="0" nodeType="after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450"/>
                                        <p:tgtEl>
                                          <p:spTgt spid="2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50"/>
                                        <p:tgtEl>
                                          <p:spTgt spid="21"/>
                                        </p:tgtEl>
                                      </p:cBhvr>
                                    </p:animEffect>
                                  </p:childTnLst>
                                </p:cTn>
                              </p:par>
                            </p:childTnLst>
                          </p:cTn>
                        </p:par>
                        <p:par>
                          <p:cTn id="68" fill="hold">
                            <p:stCondLst>
                              <p:cond delay="2800"/>
                            </p:stCondLst>
                            <p:childTnLst>
                              <p:par>
                                <p:cTn id="65" presetID="22" presetClass="entr" presetSubtype="8" fill="hold" grpId="0" nodeType="afterEffect">
                                  <p:stCondLst>
                                    <p:cond delay="0"/>
                                  </p:stCondLst>
                                  <p:childTnLst>
                                    <p:set>
                                      <p:cBhvr>
                                        <p:cTn id="66" dur="1" fill="hold">
                                          <p:stCondLst>
                                            <p:cond delay="0"/>
                                          </p:stCondLst>
                                        </p:cTn>
                                        <p:tgtEl>
                                          <p:spTgt spid="22"/>
                                        </p:tgtEl>
                                        <p:attrNameLst>
                                          <p:attrName>style.visibility</p:attrName>
                                        </p:attrNameLst>
                                      </p:cBhvr>
                                      <p:to>
                                        <p:strVal val="visible"/>
                                      </p:to>
                                    </p:set>
                                    <p:animEffect transition="in" filter="wipe(left)">
                                      <p:cBhvr>
                                        <p:cTn id="67" dur="45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Lst>
  </p:timing>
</p:sld>
</file>

<file path=ppt/theme/theme1.xml><?xml version="1.0" encoding="utf-8"?>
<a:theme xmlns:a="http://schemas.openxmlformats.org/drawingml/2006/main" name="ERM Migration Airbus">
  <a:themeElements>
    <a:clrScheme name="ERM Migration Airbus">
      <a:dk1>
        <a:srgbClr val="00205B"/>
      </a:dk1>
      <a:lt1>
        <a:srgbClr val="FFFFFF"/>
      </a:lt1>
      <a:dk2>
        <a:srgbClr val="4A5568"/>
      </a:dk2>
      <a:lt2>
        <a:srgbClr val="EEF1F7"/>
      </a:lt2>
      <a:accent1>
        <a:srgbClr val="C8326C"/>
      </a:accent1>
      <a:accent2>
        <a:srgbClr val="0085CA"/>
      </a:accent2>
      <a:accent3>
        <a:srgbClr val="B0245A"/>
      </a:accent3>
      <a:accent4>
        <a:srgbClr val="5F3A8F"/>
      </a:accent4>
      <a:accent5>
        <a:srgbClr val="C9D6EA"/>
      </a:accent5>
      <a:accent6>
        <a:srgbClr val="DCE3EE"/>
      </a:accent6>
      <a:hlink>
        <a:srgbClr val="0085CA"/>
      </a:hlink>
      <a:folHlink>
        <a:srgbClr val="5F3A8F"/>
      </a:folHlink>
    </a:clrScheme>
    <a:fontScheme name="ERM Migration Airbu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ERM Migration Jury Pitch</dc:title>
  <dc:subject>PptxGenJS Presentation</dc:subject>
  <dc:creator>PptxGenJS</dc:creator>
  <cp:lastModifiedBy>PptxGenJS</cp:lastModifiedBy>
  <cp:revision>1</cp:revision>
  <dcterms:created xsi:type="dcterms:W3CDTF">2026-10-04T07:32:37Z</dcterms:created>
  <dcterms:modified xsi:type="dcterms:W3CDTF">2026-10-04T07:32:37Z</dcterms:modified>
</cp:coreProperties>
</file>