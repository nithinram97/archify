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242bce6e-a51a-bf1f-8701-741678d46096}">
          <p14:sldIdLst>
            <p14:sldId id="256"/>
          </p14:sldIdLst>
        </p14:section>
        <p14:section name="Situation" id="{42295f35-de75-9b23-6a0c-9aed217a550f}">
          <p14:sldIdLst>
            <p14:sldId id="257"/>
            <p14:sldId id="258"/>
          </p14:sldIdLst>
        </p14:section>
        <p14:section name="Complication" id="{26165cdc-ed54-cfc4-2505-c2eb797c0fd6}">
          <p14:sldIdLst>
            <p14:sldId id="259"/>
          </p14:sldIdLst>
        </p14:section>
        <p14:section name="Answer and proof" id="{8d8070da-3bf3-efb1-9c01-2ea946c92f6b}">
          <p14:sldIdLst>
            <p14:sldId id="260"/>
            <p14:sldId id="261"/>
            <p14:sldId id="262"/>
            <p14:sldId id="263"/>
          </p14:sldIdLst>
        </p14:section>
        <p14:section name="Fit and scale" id="{d1f7c71b-a55a-7b1d-34c8-cc82a35b33a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such as unsanitised rich text and permission checks, all caught in review; the dashboard sharing-access fix is deployed. Documentation went from nothing to 10 documents. Against a generic estimate of about 340 person-days, roughly 17 sprints for two developers, we used 4 sprints: about 76% less effort. At $38.50 per developer hour that is roughly $105,000 against $25,000, around $80,000 saved. Say clearly that this is a generic estimate.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Then the readiness row: be clear the app is not live yet. Everything is checked and the backend sharing fix is deployed; go-live is planned for [date], after which the Slate app is retired. Tell the jury what you will measure after go-live: users retained, page-switch time against Slate, and incidents after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One change added app-wide notifications and automatic list refresh across 11 files.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delivered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endorse the playbook as a DevX pattern. We have already aligned with [Architect] to propose it at the architecture sync, so functions beyond DMS can use it; name the first team outside DMS if you have one.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5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500" b="1" dirty="0">
                <a:solidFill>
                  <a:schemeClr val="tx1"/>
                </a:solidFill>
              </a:rPr>
              <a:t>Every risk and opportunity review in ERM depends on it working.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4"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5" name="org-card"/>
          <p:cNvSpPr/>
          <p:nvPr/>
        </p:nvSpPr>
        <p:spPr>
          <a:xfrm>
            <a:off x="548640" y="1600200"/>
            <a:ext cx="6766560" cy="4846320"/>
          </a:xfrm>
          <a:prstGeom prst="roundRect">
            <a:avLst>
              <a:gd name="adj" fmla="val 2264"/>
            </a:avLst>
          </a:prstGeom>
          <a:solidFill>
            <a:schemeClr val="bg2"/>
          </a:solidFill>
          <a:ln/>
        </p:spPr>
      </p:sp>
      <p:sp>
        <p:nvSpPr>
          <p:cNvPr id="6"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7"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8"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9" name="loc-card"/>
          <p:cNvSpPr/>
          <p:nvPr/>
        </p:nvSpPr>
        <p:spPr>
          <a:xfrm>
            <a:off x="7589520" y="1600200"/>
            <a:ext cx="4050792" cy="4846320"/>
          </a:xfrm>
          <a:prstGeom prst="roundRect">
            <a:avLst>
              <a:gd name="adj" fmla="val 2709"/>
            </a:avLst>
          </a:prstGeom>
          <a:solidFill>
            <a:schemeClr val="tx1"/>
          </a:solidFill>
          <a:ln/>
        </p:spPr>
      </p:sp>
      <p:sp>
        <p:nvSpPr>
          <p:cNvPr id="10"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1"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2225040" cy="1481328"/>
          </a:xfrm>
          <a:prstGeom prst="roundRect">
            <a:avLst>
              <a:gd name="adj" fmla="val 7407"/>
            </a:avLst>
          </a:prstGeom>
          <a:solidFill>
            <a:schemeClr val="bg2"/>
          </a:solidFill>
          <a:ln/>
        </p:spPr>
      </p:sp>
      <p:sp>
        <p:nvSpPr>
          <p:cNvPr id="5" name="fact-0-value"/>
          <p:cNvSpPr txBox="1"/>
          <p:nvPr/>
        </p:nvSpPr>
        <p:spPr>
          <a:xfrm>
            <a:off x="74980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 PI</a:t>
            </a:r>
            <a:endParaRPr lang="en-US" sz="3600" dirty="0"/>
          </a:p>
        </p:txBody>
      </p:sp>
      <p:sp>
        <p:nvSpPr>
          <p:cNvPr id="6" name="fact-0-label"/>
          <p:cNvSpPr txBox="1"/>
          <p:nvPr/>
        </p:nvSpPr>
        <p:spPr>
          <a:xfrm>
            <a:off x="74980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for the whole migration</a:t>
            </a:r>
            <a:endParaRPr lang="en-US" sz="1300" dirty="0"/>
          </a:p>
        </p:txBody>
      </p:sp>
      <p:sp>
        <p:nvSpPr>
          <p:cNvPr id="7" name="fact-1-card"/>
          <p:cNvSpPr/>
          <p:nvPr/>
        </p:nvSpPr>
        <p:spPr>
          <a:xfrm>
            <a:off x="3048000" y="1371600"/>
            <a:ext cx="2225040" cy="1481328"/>
          </a:xfrm>
          <a:prstGeom prst="roundRect">
            <a:avLst>
              <a:gd name="adj" fmla="val 7407"/>
            </a:avLst>
          </a:prstGeom>
          <a:solidFill>
            <a:schemeClr val="bg2"/>
          </a:solidFill>
          <a:ln/>
        </p:spPr>
      </p:sp>
      <p:sp>
        <p:nvSpPr>
          <p:cNvPr id="8" name="fact-1-value"/>
          <p:cNvSpPr txBox="1"/>
          <p:nvPr/>
        </p:nvSpPr>
        <p:spPr>
          <a:xfrm>
            <a:off x="324916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2</a:t>
            </a:r>
            <a:endParaRPr lang="en-US" sz="3600" dirty="0"/>
          </a:p>
        </p:txBody>
      </p:sp>
      <p:sp>
        <p:nvSpPr>
          <p:cNvPr id="9" name="fact-1-label"/>
          <p:cNvSpPr txBox="1"/>
          <p:nvPr/>
        </p:nvSpPr>
        <p:spPr>
          <a:xfrm>
            <a:off x="324916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developers</a:t>
            </a:r>
            <a:endParaRPr lang="en-US" sz="1300" dirty="0"/>
          </a:p>
        </p:txBody>
      </p:sp>
      <p:sp>
        <p:nvSpPr>
          <p:cNvPr id="10" name="fact-2-card"/>
          <p:cNvSpPr/>
          <p:nvPr/>
        </p:nvSpPr>
        <p:spPr>
          <a:xfrm>
            <a:off x="5547360" y="1371600"/>
            <a:ext cx="2225040" cy="1481328"/>
          </a:xfrm>
          <a:prstGeom prst="roundRect">
            <a:avLst>
              <a:gd name="adj" fmla="val 7407"/>
            </a:avLst>
          </a:prstGeom>
          <a:solidFill>
            <a:schemeClr val="bg2"/>
          </a:solidFill>
          <a:ln/>
        </p:spPr>
      </p:sp>
      <p:sp>
        <p:nvSpPr>
          <p:cNvPr id="11" name="fact-2-value"/>
          <p:cNvSpPr txBox="1"/>
          <p:nvPr/>
        </p:nvSpPr>
        <p:spPr>
          <a:xfrm>
            <a:off x="574852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105</a:t>
            </a:r>
            <a:endParaRPr lang="en-US" sz="3600" dirty="0"/>
          </a:p>
        </p:txBody>
      </p:sp>
      <p:sp>
        <p:nvSpPr>
          <p:cNvPr id="12" name="fact-2-label"/>
          <p:cNvSpPr txBox="1"/>
          <p:nvPr/>
        </p:nvSpPr>
        <p:spPr>
          <a:xfrm>
            <a:off x="574852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3" name="fact-3-card"/>
          <p:cNvSpPr/>
          <p:nvPr/>
        </p:nvSpPr>
        <p:spPr>
          <a:xfrm>
            <a:off x="548640" y="3081528"/>
            <a:ext cx="2225040" cy="1481328"/>
          </a:xfrm>
          <a:prstGeom prst="roundRect">
            <a:avLst>
              <a:gd name="adj" fmla="val 7407"/>
            </a:avLst>
          </a:prstGeom>
          <a:solidFill>
            <a:schemeClr val="bg2"/>
          </a:solidFill>
          <a:ln/>
        </p:spPr>
      </p:sp>
      <p:sp>
        <p:nvSpPr>
          <p:cNvPr id="14" name="fact-3-value"/>
          <p:cNvSpPr txBox="1"/>
          <p:nvPr/>
        </p:nvSpPr>
        <p:spPr>
          <a:xfrm>
            <a:off x="74980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31</a:t>
            </a:r>
            <a:endParaRPr lang="en-US" sz="3600" dirty="0"/>
          </a:p>
        </p:txBody>
      </p:sp>
      <p:sp>
        <p:nvSpPr>
          <p:cNvPr id="15" name="fact-3-label"/>
          <p:cNvSpPr txBox="1"/>
          <p:nvPr/>
        </p:nvSpPr>
        <p:spPr>
          <a:xfrm>
            <a:off x="74980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gaps found and prioritised by AI review</a:t>
            </a:r>
            <a:endParaRPr lang="en-US" sz="1300" dirty="0"/>
          </a:p>
        </p:txBody>
      </p:sp>
      <p:sp>
        <p:nvSpPr>
          <p:cNvPr id="16" name="fact-4-card"/>
          <p:cNvSpPr/>
          <p:nvPr/>
        </p:nvSpPr>
        <p:spPr>
          <a:xfrm>
            <a:off x="3048000" y="3081528"/>
            <a:ext cx="2225040" cy="1481328"/>
          </a:xfrm>
          <a:prstGeom prst="roundRect">
            <a:avLst>
              <a:gd name="adj" fmla="val 7407"/>
            </a:avLst>
          </a:prstGeom>
          <a:solidFill>
            <a:schemeClr val="bg2"/>
          </a:solidFill>
          <a:ln/>
        </p:spPr>
      </p:sp>
      <p:sp>
        <p:nvSpPr>
          <p:cNvPr id="17" name="fact-4-value"/>
          <p:cNvSpPr txBox="1"/>
          <p:nvPr/>
        </p:nvSpPr>
        <p:spPr>
          <a:xfrm>
            <a:off x="3249168" y="3218688"/>
            <a:ext cx="1822704" cy="640080"/>
          </a:xfrm>
          <a:prstGeom prst="rect">
            <a:avLst/>
          </a:prstGeom>
          <a:noFill/>
          <a:ln/>
        </p:spPr>
        <p:txBody>
          <a:bodyPr wrap="square" lIns="0" tIns="0" rIns="0" bIns="0" rtlCol="0" anchor="t"/>
          <a:lstStyle/>
          <a:p>
            <a:pPr indent="0" marL="0">
              <a:buNone/>
            </a:pPr>
            <a:r>
              <a:rPr lang="en-US" sz="3600" b="1" dirty="0">
                <a:solidFill>
                  <a:schemeClr val="accent3"/>
                </a:solidFill>
              </a:rPr>
              <a:t>7</a:t>
            </a:r>
            <a:endParaRPr lang="en-US" sz="3600" dirty="0"/>
          </a:p>
        </p:txBody>
      </p:sp>
      <p:sp>
        <p:nvSpPr>
          <p:cNvPr id="18" name="fact-4-label"/>
          <p:cNvSpPr txBox="1"/>
          <p:nvPr/>
        </p:nvSpPr>
        <p:spPr>
          <a:xfrm>
            <a:off x="324916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security and data-integrity issues caught in review</a:t>
            </a:r>
            <a:endParaRPr lang="en-US" sz="1300" dirty="0"/>
          </a:p>
        </p:txBody>
      </p:sp>
      <p:sp>
        <p:nvSpPr>
          <p:cNvPr id="19" name="fact-5-card"/>
          <p:cNvSpPr/>
          <p:nvPr/>
        </p:nvSpPr>
        <p:spPr>
          <a:xfrm>
            <a:off x="5547360" y="3081528"/>
            <a:ext cx="2225040" cy="1481328"/>
          </a:xfrm>
          <a:prstGeom prst="roundRect">
            <a:avLst>
              <a:gd name="adj" fmla="val 7407"/>
            </a:avLst>
          </a:prstGeom>
          <a:solidFill>
            <a:schemeClr val="bg2"/>
          </a:solidFill>
          <a:ln/>
        </p:spPr>
      </p:sp>
      <p:sp>
        <p:nvSpPr>
          <p:cNvPr id="20" name="fact-5-value"/>
          <p:cNvSpPr txBox="1"/>
          <p:nvPr/>
        </p:nvSpPr>
        <p:spPr>
          <a:xfrm>
            <a:off x="574852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0 → 10</a:t>
            </a:r>
            <a:endParaRPr lang="en-US" sz="3600" dirty="0"/>
          </a:p>
        </p:txBody>
      </p:sp>
      <p:sp>
        <p:nvSpPr>
          <p:cNvPr id="21" name="fact-5-label"/>
          <p:cNvSpPr txBox="1"/>
          <p:nvPr/>
        </p:nvSpPr>
        <p:spPr>
          <a:xfrm>
            <a:off x="574852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documents: 8 diagrams and 2 guides</a:t>
            </a:r>
            <a:endParaRPr lang="en-US" sz="1300" dirty="0"/>
          </a:p>
        </p:txBody>
      </p:sp>
      <p:sp>
        <p:nvSpPr>
          <p:cNvPr id="22" name="effort-card"/>
          <p:cNvSpPr/>
          <p:nvPr/>
        </p:nvSpPr>
        <p:spPr>
          <a:xfrm>
            <a:off x="8046720" y="1371600"/>
            <a:ext cx="3593592" cy="3191256"/>
          </a:xfrm>
          <a:prstGeom prst="roundRect">
            <a:avLst>
              <a:gd name="adj" fmla="val 3438"/>
            </a:avLst>
          </a:prstGeom>
          <a:solidFill>
            <a:schemeClr val="tx1"/>
          </a:solidFill>
          <a:ln/>
        </p:spPr>
      </p:sp>
      <p:sp>
        <p:nvSpPr>
          <p:cNvPr id="23" name="effort-text"/>
          <p:cNvSpPr txBox="1"/>
          <p:nvPr/>
        </p:nvSpPr>
        <p:spPr>
          <a:xfrm>
            <a:off x="8275320" y="1554480"/>
            <a:ext cx="3136392" cy="283464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a:p>
            <a:pPr indent="0" marL="0">
              <a:buNone/>
            </a:pPr>
            <a:r>
              <a:rPr lang="en-US" sz="1600" b="1" dirty="0">
                <a:solidFill>
                  <a:schemeClr val="bg1"/>
                </a:solidFill>
              </a:rPr>
              <a:t>saved: about 76% less effort than a manual migration</a:t>
            </a:r>
            <a:endParaRPr lang="en-US" sz="4800" dirty="0"/>
          </a:p>
          <a:p>
            <a:pPr indent="0" marL="0">
              <a:buNone/>
            </a:pPr>
            <a:r>
              <a:rPr lang="en-US" sz="800" dirty="0">
                <a:solidFill>
                  <a:srgbClr val="000000"/>
                </a:solidFill>
              </a:rPr>
              <a:t> </a:t>
            </a:r>
            <a:endParaRPr lang="en-US" sz="4800" dirty="0"/>
          </a:p>
          <a:p>
            <a:pPr indent="0" marL="0">
              <a:buNone/>
            </a:pPr>
            <a:r>
              <a:rPr lang="en-US" sz="1300" dirty="0">
                <a:solidFill>
                  <a:schemeClr val="accent5"/>
                </a:solidFill>
              </a:rPr>
              <a:t>4 sprints (≈ $25K) actual vs ~17 sprints (≈ $105K) estimated for 2 developers</a:t>
            </a:r>
            <a:endParaRPr lang="en-US" sz="4800" dirty="0"/>
          </a:p>
          <a:p>
            <a:pPr indent="0" marL="0">
              <a:buNone/>
            </a:pPr>
            <a:r>
              <a:rPr lang="en-US" sz="1100" i="1" dirty="0">
                <a:solidFill>
                  <a:schemeClr val="accent5"/>
                </a:solidFill>
              </a:rPr>
              <a:t>Generic estimate: 105 features × 3 days + 25 days docs ≈ 340 person-days, at $38.50/h</a:t>
            </a:r>
            <a:endParaRPr lang="en-US" sz="4800" dirty="0"/>
          </a:p>
        </p:txBody>
      </p:sp>
      <p:sp>
        <p:nvSpPr>
          <p:cNvPr id="24" name="golive-card"/>
          <p:cNvSpPr/>
          <p:nvPr/>
        </p:nvSpPr>
        <p:spPr>
          <a:xfrm>
            <a:off x="548640" y="4800600"/>
            <a:ext cx="11094415" cy="1554480"/>
          </a:xfrm>
          <a:prstGeom prst="roundRect">
            <a:avLst>
              <a:gd name="adj" fmla="val 7059"/>
            </a:avLst>
          </a:prstGeom>
          <a:solidFill>
            <a:schemeClr val="bg1"/>
          </a:solidFill>
          <a:ln w="12700">
            <a:solidFill>
              <a:srgbClr val="DCE3EE"/>
            </a:solidFill>
            <a:prstDash val="solid"/>
          </a:ln>
        </p:spPr>
      </p:sp>
      <p:sp>
        <p:nvSpPr>
          <p:cNvPr id="25" name="golive-title"/>
          <p:cNvSpPr txBox="1"/>
          <p:nvPr/>
        </p:nvSpPr>
        <p:spPr>
          <a:xfrm>
            <a:off x="822960" y="4937760"/>
            <a:ext cx="731520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READY FOR GO-LIVE · [planned date]</a:t>
            </a:r>
            <a:endParaRPr lang="en-US" sz="1100" dirty="0"/>
          </a:p>
        </p:txBody>
      </p:sp>
      <p:sp>
        <p:nvSpPr>
          <p:cNvPr id="26" name="golive-0"/>
          <p:cNvSpPr txBox="1"/>
          <p:nvPr/>
        </p:nvSpPr>
        <p:spPr>
          <a:xfrm>
            <a:off x="8229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Ready now</a:t>
            </a:r>
            <a:endParaRPr lang="en-US" sz="1600" dirty="0"/>
          </a:p>
          <a:p>
            <a:pPr indent="0" marL="0">
              <a:buNone/>
            </a:pPr>
            <a:r>
              <a:rPr lang="en-US" sz="1300" dirty="0">
                <a:solidFill>
                  <a:schemeClr val="tx2"/>
                </a:solidFill>
              </a:rPr>
              <a:t>All 105 features checked against the code; backend sharing fix deployed</a:t>
            </a:r>
            <a:endParaRPr lang="en-US" sz="1600" dirty="0"/>
          </a:p>
        </p:txBody>
      </p:sp>
      <p:sp>
        <p:nvSpPr>
          <p:cNvPr id="27" name="golive-1"/>
          <p:cNvSpPr txBox="1"/>
          <p:nvPr/>
        </p:nvSpPr>
        <p:spPr>
          <a:xfrm>
            <a:off x="44805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Next</a:t>
            </a:r>
            <a:endParaRPr lang="en-US" sz="1600" dirty="0"/>
          </a:p>
          <a:p>
            <a:pPr indent="0" marL="0">
              <a:buNone/>
            </a:pPr>
            <a:r>
              <a:rPr lang="en-US" sz="1300" dirty="0">
                <a:solidFill>
                  <a:schemeClr val="tx2"/>
                </a:solidFill>
              </a:rPr>
              <a:t>Go-live to 892 users across 6 countries, then retire the Slate app</a:t>
            </a:r>
            <a:endParaRPr lang="en-US" sz="1600" dirty="0"/>
          </a:p>
        </p:txBody>
      </p:sp>
      <p:sp>
        <p:nvSpPr>
          <p:cNvPr id="28" name="golive-2"/>
          <p:cNvSpPr txBox="1"/>
          <p:nvPr/>
        </p:nvSpPr>
        <p:spPr>
          <a:xfrm>
            <a:off x="81381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We will measure</a:t>
            </a:r>
            <a:endParaRPr lang="en-US" sz="1600" dirty="0"/>
          </a:p>
          <a:p>
            <a:pPr indent="0" marL="0">
              <a:buNone/>
            </a:pPr>
            <a:r>
              <a:rPr lang="en-US" sz="1300" dirty="0">
                <a:solidFill>
                  <a:schemeClr val="tx2"/>
                </a:solidFill>
              </a:rPr>
              <a:t>Users retained, page-switch time against Slate, incidents after release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5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05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4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7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2100"/>
                            </p:stCondLst>
                            <p:childTnLst>
                              <p:par>
                                <p:cTn id="63" presetID="22" presetClass="entr" presetSubtype="8"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45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450"/>
                                        <p:tgtEl>
                                          <p:spTgt spid="23"/>
                                        </p:tgtEl>
                                      </p:cBhvr>
                                    </p:animEffect>
                                  </p:childTnLst>
                                </p:cTn>
                              </p:par>
                            </p:childTnLst>
                          </p:cTn>
                        </p:par>
                        <p:par>
                          <p:cTn id="85" fill="hold">
                            <p:stCondLst>
                              <p:cond delay="245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5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SUSTAINABILITY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4" name="ease-0-card"/>
          <p:cNvSpPr/>
          <p:nvPr/>
        </p:nvSpPr>
        <p:spPr>
          <a:xfrm>
            <a:off x="548640" y="1371600"/>
            <a:ext cx="2567864" cy="1554480"/>
          </a:xfrm>
          <a:prstGeom prst="roundRect">
            <a:avLst>
              <a:gd name="adj" fmla="val 7059"/>
            </a:avLst>
          </a:prstGeom>
          <a:solidFill>
            <a:schemeClr val="bg1"/>
          </a:solidFill>
          <a:ln/>
        </p:spPr>
      </p:sp>
      <p:sp>
        <p:nvSpPr>
          <p:cNvPr id="5" name="ease-0-value"/>
          <p:cNvSpPr txBox="1"/>
          <p:nvPr/>
        </p:nvSpPr>
        <p:spPr>
          <a:xfrm>
            <a:off x="749808" y="1481328"/>
            <a:ext cx="2165528"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6" name="ease-0-label"/>
          <p:cNvSpPr txBox="1"/>
          <p:nvPr/>
        </p:nvSpPr>
        <p:spPr>
          <a:xfrm>
            <a:off x="749808"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7" name="ease-1-card"/>
          <p:cNvSpPr/>
          <p:nvPr/>
        </p:nvSpPr>
        <p:spPr>
          <a:xfrm>
            <a:off x="3390824" y="1371600"/>
            <a:ext cx="2567864" cy="1554480"/>
          </a:xfrm>
          <a:prstGeom prst="roundRect">
            <a:avLst>
              <a:gd name="adj" fmla="val 7059"/>
            </a:avLst>
          </a:prstGeom>
          <a:solidFill>
            <a:schemeClr val="bg1"/>
          </a:solidFill>
          <a:ln/>
        </p:spPr>
      </p:sp>
      <p:sp>
        <p:nvSpPr>
          <p:cNvPr id="8" name="ease-1-value"/>
          <p:cNvSpPr txBox="1"/>
          <p:nvPr/>
        </p:nvSpPr>
        <p:spPr>
          <a:xfrm>
            <a:off x="3591992"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11 files</a:t>
            </a:r>
            <a:endParaRPr lang="en-US" sz="3400" dirty="0"/>
          </a:p>
        </p:txBody>
      </p:sp>
      <p:sp>
        <p:nvSpPr>
          <p:cNvPr id="9" name="ease-1-label"/>
          <p:cNvSpPr txBox="1"/>
          <p:nvPr/>
        </p:nvSpPr>
        <p:spPr>
          <a:xfrm>
            <a:off x="3591992"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one change added app-wide notifications and auto-refresh</a:t>
            </a:r>
            <a:endParaRPr lang="en-US" sz="1300" dirty="0"/>
          </a:p>
        </p:txBody>
      </p:sp>
      <p:sp>
        <p:nvSpPr>
          <p:cNvPr id="10" name="ease-2-card"/>
          <p:cNvSpPr/>
          <p:nvPr/>
        </p:nvSpPr>
        <p:spPr>
          <a:xfrm>
            <a:off x="6233008" y="1371600"/>
            <a:ext cx="2567864" cy="1554480"/>
          </a:xfrm>
          <a:prstGeom prst="roundRect">
            <a:avLst>
              <a:gd name="adj" fmla="val 7059"/>
            </a:avLst>
          </a:prstGeom>
          <a:solidFill>
            <a:schemeClr val="bg1"/>
          </a:solidFill>
          <a:ln/>
        </p:spPr>
      </p:sp>
      <p:sp>
        <p:nvSpPr>
          <p:cNvPr id="11" name="ease-2-value"/>
          <p:cNvSpPr txBox="1"/>
          <p:nvPr/>
        </p:nvSpPr>
        <p:spPr>
          <a:xfrm>
            <a:off x="6434176"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12" name="ease-2-label"/>
          <p:cNvSpPr txBox="1"/>
          <p:nvPr/>
        </p:nvSpPr>
        <p:spPr>
          <a:xfrm>
            <a:off x="6434176"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13" name="ease-3-card"/>
          <p:cNvSpPr/>
          <p:nvPr/>
        </p:nvSpPr>
        <p:spPr>
          <a:xfrm>
            <a:off x="9075191" y="1371600"/>
            <a:ext cx="2567864" cy="1554480"/>
          </a:xfrm>
          <a:prstGeom prst="roundRect">
            <a:avLst>
              <a:gd name="adj" fmla="val 7059"/>
            </a:avLst>
          </a:prstGeom>
          <a:solidFill>
            <a:schemeClr val="tx1"/>
          </a:solidFill>
          <a:ln/>
        </p:spPr>
      </p:sp>
      <p:sp>
        <p:nvSpPr>
          <p:cNvPr id="14" name="ease-3-value"/>
          <p:cNvSpPr txBox="1"/>
          <p:nvPr/>
        </p:nvSpPr>
        <p:spPr>
          <a:xfrm>
            <a:off x="9276359" y="1481328"/>
            <a:ext cx="2165528"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5" name="ease-3-label"/>
          <p:cNvSpPr txBox="1"/>
          <p:nvPr/>
        </p:nvSpPr>
        <p:spPr>
          <a:xfrm>
            <a:off x="9276359" y="2148840"/>
            <a:ext cx="2165528"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6" name="ease-old"/>
          <p:cNvSpPr/>
          <p:nvPr/>
        </p:nvSpPr>
        <p:spPr>
          <a:xfrm>
            <a:off x="548640" y="3154680"/>
            <a:ext cx="5410048" cy="2423160"/>
          </a:xfrm>
          <a:prstGeom prst="roundRect">
            <a:avLst>
              <a:gd name="adj" fmla="val 4528"/>
            </a:avLst>
          </a:prstGeom>
          <a:solidFill>
            <a:schemeClr val="bg1"/>
          </a:solidFill>
          <a:ln/>
        </p:spPr>
      </p:sp>
      <p:sp>
        <p:nvSpPr>
          <p:cNvPr id="17"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8" name="ease-new"/>
          <p:cNvSpPr/>
          <p:nvPr/>
        </p:nvSpPr>
        <p:spPr>
          <a:xfrm>
            <a:off x="6233008" y="3154680"/>
            <a:ext cx="5410048" cy="2423160"/>
          </a:xfrm>
          <a:prstGeom prst="roundRect">
            <a:avLst>
              <a:gd name="adj" fmla="val 4528"/>
            </a:avLst>
          </a:prstGeom>
          <a:solidFill>
            <a:schemeClr val="tx1"/>
          </a:solidFill>
          <a:ln/>
        </p:spPr>
      </p:sp>
      <p:sp>
        <p:nvSpPr>
          <p:cNvPr id="19"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20"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49" fill="hold">
                            <p:stCondLst>
                              <p:cond delay="16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childTnLst>
                          </p:cTn>
                        </p:par>
                        <p:par>
                          <p:cTn id="56" fill="hold">
                            <p:stCondLst>
                              <p:cond delay="2000"/>
                            </p:stCondLst>
                            <p:childTnLst>
                              <p:par>
                                <p:cTn id="50" presetID="22" presetClass="entr" presetSubtype="8" fill="hold" grpId="0" nodeType="after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45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450"/>
                                        <p:tgtEl>
                                          <p:spTgt spid="19"/>
                                        </p:tgtEl>
                                      </p:cBhvr>
                                    </p:animEffect>
                                  </p:childTnLst>
                                </p:cTn>
                              </p:par>
                            </p:childTnLst>
                          </p:cTn>
                        </p:par>
                        <p:par>
                          <p:cTn id="60" fill="hold">
                            <p:stCondLst>
                              <p:cond delay="2400"/>
                            </p:stCondLst>
                            <p:childTnLst>
                              <p:par>
                                <p:cTn id="57" presetID="10" presetClass="entr" presetSubtype="0"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delivered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2026-10-04T12:25:57Z</dcterms:created>
  <dcterms:modified xsi:type="dcterms:W3CDTF">2026-10-04T12:25:57Z</dcterms:modified>
</cp:coreProperties>
</file>