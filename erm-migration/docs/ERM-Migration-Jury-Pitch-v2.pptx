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f1ad123f-59fa-df52-e342-f52d3c00139c}">
          <p14:sldIdLst>
            <p14:sldId id="256"/>
          </p14:sldIdLst>
        </p14:section>
        <p14:section name="Situation" id="{efd43752-60d8-0d94-bea3-313a34134923}">
          <p14:sldIdLst>
            <p14:sldId id="257"/>
            <p14:sldId id="258"/>
          </p14:sldIdLst>
        </p14:section>
        <p14:section name="Complication" id="{e18ae36d-58df-8c69-2537-7404e5b8f964}">
          <p14:sldIdLst>
            <p14:sldId id="259"/>
          </p14:sldIdLst>
        </p14:section>
        <p14:section name="Answer and proof" id="{423d1203-13d2-e588-8bf3-bfb20ac4841d}">
          <p14:sldIdLst>
            <p14:sldId id="260"/>
            <p14:sldId id="261"/>
            <p14:sldId id="262"/>
            <p14:sldId id="263"/>
          </p14:sldIdLst>
        </p14:section>
        <p14:section name="Fit and scale" id="{bf09b144-95f8-cb24-ba5f-28c70428d7d5}">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strRef>
              <c:f>Sheet1!$A$2:$A$24</c:f>
              <c:strCache>
                <c:ptCount val="23"/>
                <c:pt idx="0">
                  <c:v>Aug 2024</c:v>
                </c:pt>
                <c:pt idx="1">
                  <c:v>Sep 2024</c:v>
                </c:pt>
                <c:pt idx="2">
                  <c:v>Oct 2024</c:v>
                </c:pt>
                <c:pt idx="3">
                  <c:v>Nov 2024</c:v>
                </c:pt>
                <c:pt idx="4">
                  <c:v>Dec 2024</c:v>
                </c:pt>
                <c:pt idx="5">
                  <c:v>Jan 2025</c:v>
                </c:pt>
                <c:pt idx="6">
                  <c:v>Feb 2025</c:v>
                </c:pt>
                <c:pt idx="7">
                  <c:v>Mar 2025</c:v>
                </c:pt>
                <c:pt idx="8">
                  <c:v>Apr 2025</c:v>
                </c:pt>
                <c:pt idx="9">
                  <c:v>May 2025</c:v>
                </c:pt>
                <c:pt idx="10">
                  <c:v>Jun 2025</c:v>
                </c:pt>
                <c:pt idx="11">
                  <c:v>Jul 2025</c:v>
                </c:pt>
                <c:pt idx="12">
                  <c:v>Aug 2025</c:v>
                </c:pt>
                <c:pt idx="13">
                  <c:v>Sep 2025</c:v>
                </c:pt>
                <c:pt idx="14">
                  <c:v>Oct 2025</c:v>
                </c:pt>
                <c:pt idx="15">
                  <c:v>Nov 2025</c:v>
                </c:pt>
                <c:pt idx="16">
                  <c:v>Dec 2025</c:v>
                </c:pt>
                <c:pt idx="17">
                  <c:v>Jan 2026</c:v>
                </c:pt>
                <c:pt idx="18">
                  <c:v>Feb 2026</c:v>
                </c:pt>
                <c:pt idx="19">
                  <c:v>Mar 2026</c:v>
                </c:pt>
                <c:pt idx="20">
                  <c:v>Apr 2026</c:v>
                </c:pt>
                <c:pt idx="21">
                  <c:v>May 2026</c:v>
                </c:pt>
                <c:pt idx="22">
                  <c:v>Jun 2026</c:v>
                </c:pt>
              </c:strCache>
            </c: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0"/>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Unique 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strRef>
              <c:f>Sheet1!$A$2:$A$8</c:f>
              <c:strCache>
                <c:ptCount val="7"/>
                <c:pt idx="0">
                  <c:v>B</c:v>
                </c:pt>
                <c:pt idx="1">
                  <c:v>O</c:v>
                </c:pt>
                <c:pt idx="2">
                  <c:v>P</c:v>
                </c:pt>
                <c:pt idx="3">
                  <c:v>A</c:v>
                </c:pt>
                <c:pt idx="4">
                  <c:v>L</c:v>
                </c:pt>
                <c:pt idx="5">
                  <c:v>S</c:v>
                </c:pt>
                <c:pt idx="6">
                  <c:v>K</c:v>
                </c:pt>
              </c:strCache>
            </c:strRef>
          </c:cat>
          <c:val>
            <c:numRef>
              <c:f>Sheet1!$B$2:$B$8</c:f>
              <c:numCache>
                <c:formatCode>General</c:formatCode>
                <c:ptCount val="7"/>
                <c:pt idx="0">
                  <c:v>345</c:v>
                </c:pt>
                <c:pt idx="1">
                  <c:v>120</c:v>
                </c:pt>
                <c:pt idx="2">
                  <c:v>95</c:v>
                </c:pt>
                <c:pt idx="3">
                  <c:v>60</c:v>
                </c:pt>
                <c:pt idx="4">
                  <c:v>55</c:v>
                </c:pt>
                <c:pt idx="5">
                  <c:v>55</c:v>
                </c:pt>
                <c:pt idx="6">
                  <c:v>50</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noMultiLvlLbl val="0"/>
      </c:catAx>
      <c:valAx>
        <c:axId val="2094734552"/>
        <c:scaling>
          <c:orientation val="minMax"/>
          <c:max val="400"/>
          <c:min val="0"/>
        </c:scaling>
        <c:delete val="0"/>
        <c:axPos val="l"/>
        <c:majorGridlines>
          <c:spPr>
            <a:ln w="9525" cap="flat">
              <a:solidFill>
                <a:srgbClr val="DCE3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ERM is not one team's tool. By organisation, the largest group, siglum B, has around 345 users, followed by O, P, A, L, S and K, and about a dozen smaller organisations. By site, Blagnac and Hamburg lead, with users in the UK, Spain, Canada and India too. The values on the organisation chart are read from the usage dashboard, so treat them as approximate. A migration that broke ERM would hit risk reporting across the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At $38.50 per developer hour that is roughly $105,000 against $25,000, around $80,000 saved. Say clearly that this is a generic estimate. Security and data-integrity findings caught in review: stored cross-site scripting from unsanitised rich HTML in 5 places; permission checks that matched e-mails by substring instead of exactly; sharing payload arrays misaligned with the wrong fields; settings JSON overwritten whole from a stale copy; reports printing shared risks the legacy app left out; no 100-risk print cap, a legacy cybersecurity limit; and children edits in the risk drawer silently discarded. Then the readiness row: be clear the app is not live yet. Everything is checked and the backend sharing fix is deployed; go-live is planned for [date], after which the Slate app is retired. Tell the jury what you will measure after go-live: users retained, page-switch time against Slate, and incidents after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new features is now easy, and that keeps paying back. During the same PI we built 11 features Slate never had: permissions-only edit for locked versions, a web address per tab, a searchable dashboard switcher, a criticality-differs filter, category and impact-category filters, a fourth one-pager layout with custom slots, resizable columns saved per board, report classification and cover toggle, slideshow mode, one-pager selection shortcuts, and showing risks by ID or title. One change added app-wide notifications and automatic list refresh across 11 files. 25 MB of Slate configuration became about 0.8 MB of typed source in 75 files. In Slate, a feature meant wiring widgets, events, variables and functions across 8 exports, with no documentation; in React it is one typed component and one OSDK call, and pack-project.ts gives AI the whole app as context. On recurring cost: using a common rule of thumb that maintenance costs about 20% of build effort a year, a Slate-equivalent app would need about 68 person-days a year, around $21,000 at $38.50 an hour. Assuming modular, typed, documented code halves that, we save around $10,000 a year. Say clearly these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business speak. These are testimonials sent by ERM stakeholders in September 2026 about the team and the ERM tool. A member of the ERM centre of competence: teamwork with the business and strong IT skills turned an idea into a user-friendly industrial solution, ERM reports are now generated in a much more automated way, and the user interface and performance have significantly improved. An ERM stakeholder: the ERM dashboard is a tremendous addition to the ERM toolset, and more and more users prepare and run their risk and opportunity reviews with it. A Risk and Opportunity Manager in Hamburg: new features made navigation easier and gave a much clearer view of R&amp;O data, and issues were fixed quickly. Make clear these speak about the team and the tool overall.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shipped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endorse the playbook as a DevX pattern. We have already aligned with [Architect] to propose it at the architecture sync, so functions beyond DMS can use it; name the first team outside DMS if you have one.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5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500" b="1" dirty="0">
                <a:solidFill>
                  <a:schemeClr val="tx1"/>
                </a:solidFill>
              </a:rPr>
              <a:t>Every risk and opportunity review in ERM depends on it working.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Used across Airbus organisations and sites</a:t>
            </a:r>
            <a:endParaRPr lang="en-US" sz="3600" dirty="0"/>
          </a:p>
        </p:txBody>
      </p:sp>
      <p:sp>
        <p:nvSpPr>
          <p:cNvPr id="4" name="org-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More than half of ERM users work outside its largest organisation, across 6 countries</a:t>
            </a:r>
            <a:endParaRPr lang="en-US" sz="1400" dirty="0"/>
          </a:p>
        </p:txBody>
      </p:sp>
      <p:sp>
        <p:nvSpPr>
          <p:cNvPr id="5" name="org-card"/>
          <p:cNvSpPr/>
          <p:nvPr/>
        </p:nvSpPr>
        <p:spPr>
          <a:xfrm>
            <a:off x="548640" y="1600200"/>
            <a:ext cx="6766560" cy="4846320"/>
          </a:xfrm>
          <a:prstGeom prst="roundRect">
            <a:avLst>
              <a:gd name="adj" fmla="val 2264"/>
            </a:avLst>
          </a:prstGeom>
          <a:solidFill>
            <a:schemeClr val="bg2"/>
          </a:solidFill>
          <a:ln/>
        </p:spPr>
      </p:sp>
      <p:sp>
        <p:nvSpPr>
          <p:cNvPr id="6" name="org-title"/>
          <p:cNvSpPr txBox="1"/>
          <p:nvPr/>
        </p:nvSpPr>
        <p:spPr>
          <a:xfrm>
            <a:off x="777240" y="1709928"/>
            <a:ext cx="6309360" cy="274320"/>
          </a:xfrm>
          <a:prstGeom prst="rect">
            <a:avLst/>
          </a:prstGeom>
          <a:noFill/>
          <a:ln/>
        </p:spPr>
        <p:txBody>
          <a:bodyPr wrap="square" lIns="0" tIns="0" rIns="0" bIns="0" rtlCol="0" anchor="t"/>
          <a:lstStyle/>
          <a:p>
            <a:pPr indent="0" marL="0">
              <a:buNone/>
            </a:pPr>
            <a:r>
              <a:rPr lang="en-US" sz="1100" b="1" spc="100" kern="0" dirty="0">
                <a:solidFill>
                  <a:schemeClr val="tx1"/>
                </a:solidFill>
              </a:rPr>
              <a:t>UNIQUE USERS BY ORGANISATION (SIGLUM 1)</a:t>
            </a:r>
            <a:endParaRPr lang="en-US" sz="1100" dirty="0"/>
          </a:p>
        </p:txBody>
      </p:sp>
      <p:graphicFrame>
        <p:nvGraphicFramePr>
          <p:cNvPr id="7" name="org-chart" descr=""/>
          <p:cNvGraphicFramePr/>
          <p:nvPr/>
        </p:nvGraphicFramePr>
        <p:xfrm>
          <a:off x="640080" y="2011680"/>
          <a:ext cx="6583680" cy="3794760"/>
        </p:xfrm>
        <a:graphic xmlns:a="http://schemas.openxmlformats.org/drawingml/2006/main">
          <a:graphicData uri="http://schemas.openxmlformats.org/drawingml/2006/chart">
            <c:chart xmlns:c="http://schemas.openxmlformats.org/drawingml/2006/chart" r:id="rId1"/>
          </a:graphicData>
        </a:graphic>
      </p:graphicFrame>
      <p:sp>
        <p:nvSpPr>
          <p:cNvPr id="8" name="org-caption"/>
          <p:cNvSpPr txBox="1"/>
          <p:nvPr/>
        </p:nvSpPr>
        <p:spPr>
          <a:xfrm>
            <a:off x="777240" y="5852160"/>
            <a:ext cx="6309360" cy="457200"/>
          </a:xfrm>
          <a:prstGeom prst="rect">
            <a:avLst/>
          </a:prstGeom>
          <a:noFill/>
          <a:ln/>
        </p:spPr>
        <p:txBody>
          <a:bodyPr wrap="square" lIns="0" tIns="0" rIns="0" bIns="0" rtlCol="0" anchor="t"/>
          <a:lstStyle/>
          <a:p>
            <a:pPr indent="0" marL="0">
              <a:buNone/>
            </a:pPr>
            <a:r>
              <a:rPr lang="en-US" sz="1000" i="1" dirty="0">
                <a:solidFill>
                  <a:schemeClr val="tx2"/>
                </a:solidFill>
              </a:rPr>
              <a:t>Plus about 12 smaller organisations (D, M, Z, Q, G, F, H, I, V, E, T…). Approximate values, read from the ERM usage chart</a:t>
            </a:r>
            <a:endParaRPr lang="en-US" sz="1000" dirty="0"/>
          </a:p>
        </p:txBody>
      </p:sp>
      <p:sp>
        <p:nvSpPr>
          <p:cNvPr id="9" name="loc-card"/>
          <p:cNvSpPr/>
          <p:nvPr/>
        </p:nvSpPr>
        <p:spPr>
          <a:xfrm>
            <a:off x="7589520" y="1600200"/>
            <a:ext cx="4050792" cy="4846320"/>
          </a:xfrm>
          <a:prstGeom prst="roundRect">
            <a:avLst>
              <a:gd name="adj" fmla="val 2709"/>
            </a:avLst>
          </a:prstGeom>
          <a:solidFill>
            <a:schemeClr val="tx1"/>
          </a:solidFill>
          <a:ln/>
        </p:spPr>
      </p:sp>
      <p:sp>
        <p:nvSpPr>
          <p:cNvPr id="10" name="loc-title"/>
          <p:cNvSpPr txBox="1"/>
          <p:nvPr/>
        </p:nvSpPr>
        <p:spPr>
          <a:xfrm>
            <a:off x="7818120" y="1737360"/>
            <a:ext cx="3657600" cy="274320"/>
          </a:xfrm>
          <a:prstGeom prst="rect">
            <a:avLst/>
          </a:prstGeom>
          <a:noFill/>
          <a:ln/>
        </p:spPr>
        <p:txBody>
          <a:bodyPr wrap="square" lIns="0" tIns="0" rIns="0" bIns="0" rtlCol="0" anchor="t"/>
          <a:lstStyle/>
          <a:p>
            <a:pPr indent="0" marL="0">
              <a:buNone/>
            </a:pPr>
            <a:r>
              <a:rPr lang="en-US" sz="1100" b="1" spc="200" kern="0" dirty="0">
                <a:solidFill>
                  <a:schemeClr val="accent5"/>
                </a:solidFill>
              </a:rPr>
              <a:t>LOCATION PROFILE</a:t>
            </a:r>
            <a:endParaRPr lang="en-US" sz="1100" dirty="0"/>
          </a:p>
        </p:txBody>
      </p:sp>
      <p:sp>
        <p:nvSpPr>
          <p:cNvPr id="11" name="loc-list"/>
          <p:cNvSpPr txBox="1"/>
          <p:nvPr/>
        </p:nvSpPr>
        <p:spPr>
          <a:xfrm>
            <a:off x="7818120" y="2148840"/>
            <a:ext cx="3657600" cy="4114800"/>
          </a:xfrm>
          <a:prstGeom prst="rect">
            <a:avLst/>
          </a:prstGeom>
          <a:noFill/>
          <a:ln/>
        </p:spPr>
        <p:txBody>
          <a:bodyPr wrap="square" lIns="0" tIns="0" rIns="0" bIns="0" rtlCol="0" anchor="t"/>
          <a:lstStyle/>
          <a:p>
            <a:pPr indent="0" marL="0">
              <a:buNone/>
            </a:pPr>
            <a:r>
              <a:rPr lang="en-US" sz="1500" b="1" dirty="0">
                <a:solidFill>
                  <a:schemeClr val="bg1"/>
                </a:solidFill>
              </a:rPr>
              <a:t>France</a:t>
            </a:r>
            <a:endParaRPr lang="en-US" sz="1500" dirty="0"/>
          </a:p>
          <a:p>
            <a:pPr indent="0" marL="0">
              <a:spcAft>
                <a:spcPts val="900"/>
              </a:spcAft>
              <a:buNone/>
            </a:pPr>
            <a:r>
              <a:rPr lang="en-US" sz="1300" dirty="0">
                <a:solidFill>
                  <a:schemeClr val="accent5"/>
                </a:solidFill>
              </a:rPr>
              <a:t>Blagnac Wings Campus 271, Saint-Martin 43 users</a:t>
            </a:r>
            <a:endParaRPr lang="en-US" sz="1500" dirty="0"/>
          </a:p>
          <a:p>
            <a:pPr indent="0" marL="0">
              <a:buNone/>
            </a:pPr>
            <a:r>
              <a:rPr lang="en-US" sz="1500" b="1" dirty="0">
                <a:solidFill>
                  <a:schemeClr val="bg1"/>
                </a:solidFill>
              </a:rPr>
              <a:t>Germany</a:t>
            </a:r>
            <a:endParaRPr lang="en-US" sz="1500" dirty="0"/>
          </a:p>
          <a:p>
            <a:pPr indent="0" marL="0">
              <a:spcAft>
                <a:spcPts val="900"/>
              </a:spcAft>
              <a:buNone/>
            </a:pPr>
            <a:r>
              <a:rPr lang="en-US" sz="1300" dirty="0">
                <a:solidFill>
                  <a:schemeClr val="accent5"/>
                </a:solidFill>
              </a:rPr>
              <a:t>Hamburg Finkenwerder 205 users</a:t>
            </a:r>
            <a:endParaRPr lang="en-US" sz="1500" dirty="0"/>
          </a:p>
          <a:p>
            <a:pPr indent="0" marL="0">
              <a:buNone/>
            </a:pPr>
            <a:r>
              <a:rPr lang="en-US" sz="1500" b="1" dirty="0">
                <a:solidFill>
                  <a:schemeClr val="bg1"/>
                </a:solidFill>
              </a:rPr>
              <a:t>United Kingdom</a:t>
            </a:r>
            <a:endParaRPr lang="en-US" sz="1500" dirty="0"/>
          </a:p>
          <a:p>
            <a:pPr indent="0" marL="0">
              <a:spcAft>
                <a:spcPts val="900"/>
              </a:spcAft>
              <a:buNone/>
            </a:pPr>
            <a:r>
              <a:rPr lang="en-US" sz="1300" dirty="0">
                <a:solidFill>
                  <a:schemeClr val="accent5"/>
                </a:solidFill>
              </a:rPr>
              <a:t>Broughton 32, Filton 26 users</a:t>
            </a:r>
            <a:endParaRPr lang="en-US" sz="1500" dirty="0"/>
          </a:p>
          <a:p>
            <a:pPr indent="0" marL="0">
              <a:buNone/>
            </a:pPr>
            <a:r>
              <a:rPr lang="en-US" sz="1500" b="1" dirty="0">
                <a:solidFill>
                  <a:schemeClr val="bg1"/>
                </a:solidFill>
              </a:rPr>
              <a:t>Spain</a:t>
            </a:r>
            <a:endParaRPr lang="en-US" sz="1500" dirty="0"/>
          </a:p>
          <a:p>
            <a:pPr indent="0" marL="0">
              <a:spcAft>
                <a:spcPts val="900"/>
              </a:spcAft>
              <a:buNone/>
            </a:pPr>
            <a:r>
              <a:rPr lang="en-US" sz="1300" dirty="0">
                <a:solidFill>
                  <a:schemeClr val="accent5"/>
                </a:solidFill>
              </a:rPr>
              <a:t>Getafe 25 users</a:t>
            </a:r>
            <a:endParaRPr lang="en-US" sz="1500" dirty="0"/>
          </a:p>
          <a:p>
            <a:pPr indent="0" marL="0">
              <a:buNone/>
            </a:pPr>
            <a:r>
              <a:rPr lang="en-US" sz="1500" b="1" dirty="0">
                <a:solidFill>
                  <a:schemeClr val="bg1"/>
                </a:solidFill>
              </a:rPr>
              <a:t>Canada</a:t>
            </a:r>
            <a:endParaRPr lang="en-US" sz="1500" dirty="0"/>
          </a:p>
          <a:p>
            <a:pPr indent="0" marL="0">
              <a:spcAft>
                <a:spcPts val="900"/>
              </a:spcAft>
              <a:buNone/>
            </a:pPr>
            <a:r>
              <a:rPr lang="en-US" sz="1300" dirty="0">
                <a:solidFill>
                  <a:schemeClr val="accent5"/>
                </a:solidFill>
              </a:rPr>
              <a:t>Mirabel 12 users</a:t>
            </a:r>
            <a:endParaRPr lang="en-US" sz="1500" dirty="0"/>
          </a:p>
          <a:p>
            <a:pPr indent="0" marL="0">
              <a:buNone/>
            </a:pPr>
            <a:r>
              <a:rPr lang="en-US" sz="1500" b="1" dirty="0">
                <a:solidFill>
                  <a:schemeClr val="bg1"/>
                </a:solidFill>
              </a:rPr>
              <a:t>India</a:t>
            </a:r>
            <a:endParaRPr lang="en-US" sz="1500" dirty="0"/>
          </a:p>
          <a:p>
            <a:pPr indent="0" marL="0">
              <a:spcAft>
                <a:spcPts val="900"/>
              </a:spcAft>
              <a:buNone/>
            </a:pPr>
            <a:r>
              <a:rPr lang="en-US" sz="1300" dirty="0">
                <a:solidFill>
                  <a:schemeClr val="accent5"/>
                </a:solidFill>
              </a:rPr>
              <a:t>Bangalore 7 users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5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22" presetClass="entr" presetSubtype="8"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par>
                                <p:cTn id="16" presetID="10" presetClass="entr" presetSubtype="0" fill="hold" grpId="0" nodeType="withEffect">
                                  <p:stCondLst>
                                    <p:cond delay="20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29" fill="hold">
                            <p:stCondLst>
                              <p:cond delay="10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~$80K</a:t>
            </a:r>
            <a:endParaRPr lang="en-US" sz="4800" dirty="0"/>
          </a:p>
          <a:p>
            <a:pPr indent="0" marL="0">
              <a:buNone/>
            </a:pPr>
            <a:r>
              <a:rPr lang="en-US" sz="1600" b="1" dirty="0">
                <a:solidFill>
                  <a:schemeClr val="bg1"/>
                </a:solidFill>
              </a:rPr>
              <a:t>saved: about 76% 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 $25K) actual vs ~17 sprints (≈ $105K) estimated for 2 developers</a:t>
            </a:r>
            <a:endParaRPr lang="en-US" sz="4800" dirty="0"/>
          </a:p>
          <a:p>
            <a:pPr indent="0" marL="0">
              <a:buNone/>
            </a:pPr>
            <a:r>
              <a:rPr lang="en-US" sz="1100" i="1" dirty="0">
                <a:solidFill>
                  <a:schemeClr val="accent5"/>
                </a:solidFill>
              </a:rPr>
              <a:t>Generic estimate: 105 features × 3 days + 25 days docs ≈ 340 person-days, at $38.50/h</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73152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READY FOR GO-LIVE · [planned date]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Ready now</a:t>
            </a:r>
            <a:endParaRPr lang="en-US" sz="1600" dirty="0"/>
          </a:p>
          <a:p>
            <a:pPr indent="0" marL="0">
              <a:buNone/>
            </a:pPr>
            <a:r>
              <a:rPr lang="en-US" sz="1300" dirty="0">
                <a:solidFill>
                  <a:schemeClr val="tx2"/>
                </a:solidFill>
              </a:rPr>
              <a:t>All 105 features checked against the code; backend sharing fix deployed</a:t>
            </a:r>
            <a:endParaRPr lang="en-US" sz="16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Next</a:t>
            </a:r>
            <a:endParaRPr lang="en-US" sz="1600" dirty="0"/>
          </a:p>
          <a:p>
            <a:pPr indent="0" marL="0">
              <a:buNone/>
            </a:pPr>
            <a:r>
              <a:rPr lang="en-US" sz="1300" dirty="0">
                <a:solidFill>
                  <a:schemeClr val="tx2"/>
                </a:solidFill>
              </a:rPr>
              <a:t>Go-live to 892 users across 6 countries, then retire the Slate app</a:t>
            </a:r>
            <a:endParaRPr lang="en-US" sz="16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We will measure</a:t>
            </a:r>
            <a:endParaRPr lang="en-US" sz="1600" dirty="0"/>
          </a:p>
          <a:p>
            <a:pPr indent="0" marL="0">
              <a:buNone/>
            </a:pPr>
            <a:r>
              <a:rPr lang="en-US" sz="1300" dirty="0">
                <a:solidFill>
                  <a:schemeClr val="tx2"/>
                </a:solidFill>
              </a:rPr>
              <a:t>Users retained, page-switch time against Slate, incidents after release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SUSTAINABILITY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Faster to build, cheaper to run</a:t>
            </a:r>
            <a:endParaRPr lang="en-US" sz="3600" dirty="0"/>
          </a:p>
        </p:txBody>
      </p:sp>
      <p:sp>
        <p:nvSpPr>
          <p:cNvPr id="4" name="ease-0-card"/>
          <p:cNvSpPr/>
          <p:nvPr/>
        </p:nvSpPr>
        <p:spPr>
          <a:xfrm>
            <a:off x="548640" y="1371600"/>
            <a:ext cx="2567864" cy="1554480"/>
          </a:xfrm>
          <a:prstGeom prst="roundRect">
            <a:avLst>
              <a:gd name="adj" fmla="val 7059"/>
            </a:avLst>
          </a:prstGeom>
          <a:solidFill>
            <a:schemeClr val="bg1"/>
          </a:solidFill>
          <a:ln/>
        </p:spPr>
      </p:sp>
      <p:sp>
        <p:nvSpPr>
          <p:cNvPr id="5" name="ease-0-value"/>
          <p:cNvSpPr txBox="1"/>
          <p:nvPr/>
        </p:nvSpPr>
        <p:spPr>
          <a:xfrm>
            <a:off x="749808" y="1481328"/>
            <a:ext cx="2165528" cy="640080"/>
          </a:xfrm>
          <a:prstGeom prst="rect">
            <a:avLst/>
          </a:prstGeom>
          <a:noFill/>
          <a:ln/>
        </p:spPr>
        <p:txBody>
          <a:bodyPr wrap="square" lIns="0" tIns="0" rIns="0" bIns="0" rtlCol="0" anchor="t"/>
          <a:lstStyle/>
          <a:p>
            <a:pPr indent="0" marL="0">
              <a:buNone/>
            </a:pPr>
            <a:r>
              <a:rPr lang="en-US" sz="3400" b="1" dirty="0">
                <a:solidFill>
                  <a:schemeClr val="accent3"/>
                </a:solidFill>
              </a:rPr>
              <a:t>11</a:t>
            </a:r>
            <a:endParaRPr lang="en-US" sz="3400" dirty="0"/>
          </a:p>
        </p:txBody>
      </p:sp>
      <p:sp>
        <p:nvSpPr>
          <p:cNvPr id="6" name="ease-0-label"/>
          <p:cNvSpPr txBox="1"/>
          <p:nvPr/>
        </p:nvSpPr>
        <p:spPr>
          <a:xfrm>
            <a:off x="749808"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new features Slate never had, built in the same PI</a:t>
            </a:r>
            <a:endParaRPr lang="en-US" sz="1300" dirty="0"/>
          </a:p>
        </p:txBody>
      </p:sp>
      <p:sp>
        <p:nvSpPr>
          <p:cNvPr id="7" name="ease-1-card"/>
          <p:cNvSpPr/>
          <p:nvPr/>
        </p:nvSpPr>
        <p:spPr>
          <a:xfrm>
            <a:off x="3390824" y="1371600"/>
            <a:ext cx="2567864" cy="1554480"/>
          </a:xfrm>
          <a:prstGeom prst="roundRect">
            <a:avLst>
              <a:gd name="adj" fmla="val 7059"/>
            </a:avLst>
          </a:prstGeom>
          <a:solidFill>
            <a:schemeClr val="bg1"/>
          </a:solidFill>
          <a:ln/>
        </p:spPr>
      </p:sp>
      <p:sp>
        <p:nvSpPr>
          <p:cNvPr id="8" name="ease-1-value"/>
          <p:cNvSpPr txBox="1"/>
          <p:nvPr/>
        </p:nvSpPr>
        <p:spPr>
          <a:xfrm>
            <a:off x="3591992"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11 files</a:t>
            </a:r>
            <a:endParaRPr lang="en-US" sz="3400" dirty="0"/>
          </a:p>
        </p:txBody>
      </p:sp>
      <p:sp>
        <p:nvSpPr>
          <p:cNvPr id="9" name="ease-1-label"/>
          <p:cNvSpPr txBox="1"/>
          <p:nvPr/>
        </p:nvSpPr>
        <p:spPr>
          <a:xfrm>
            <a:off x="3591992"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one change added app-wide notifications and auto-refresh</a:t>
            </a:r>
            <a:endParaRPr lang="en-US" sz="1300" dirty="0"/>
          </a:p>
        </p:txBody>
      </p:sp>
      <p:sp>
        <p:nvSpPr>
          <p:cNvPr id="10" name="ease-2-card"/>
          <p:cNvSpPr/>
          <p:nvPr/>
        </p:nvSpPr>
        <p:spPr>
          <a:xfrm>
            <a:off x="6233008" y="1371600"/>
            <a:ext cx="2567864" cy="1554480"/>
          </a:xfrm>
          <a:prstGeom prst="roundRect">
            <a:avLst>
              <a:gd name="adj" fmla="val 7059"/>
            </a:avLst>
          </a:prstGeom>
          <a:solidFill>
            <a:schemeClr val="bg1"/>
          </a:solidFill>
          <a:ln/>
        </p:spPr>
      </p:sp>
      <p:sp>
        <p:nvSpPr>
          <p:cNvPr id="11" name="ease-2-value"/>
          <p:cNvSpPr txBox="1"/>
          <p:nvPr/>
        </p:nvSpPr>
        <p:spPr>
          <a:xfrm>
            <a:off x="6434176" y="1481328"/>
            <a:ext cx="2165528" cy="640080"/>
          </a:xfrm>
          <a:prstGeom prst="rect">
            <a:avLst/>
          </a:prstGeom>
          <a:noFill/>
          <a:ln/>
        </p:spPr>
        <p:txBody>
          <a:bodyPr wrap="square" lIns="0" tIns="0" rIns="0" bIns="0" rtlCol="0" anchor="t"/>
          <a:lstStyle/>
          <a:p>
            <a:pPr indent="0" marL="0">
              <a:buNone/>
            </a:pPr>
            <a:r>
              <a:rPr lang="en-US" sz="3400" b="1" dirty="0">
                <a:solidFill>
                  <a:schemeClr val="tx1"/>
                </a:solidFill>
              </a:rPr>
              <a:t>−97%</a:t>
            </a:r>
            <a:endParaRPr lang="en-US" sz="3400" dirty="0"/>
          </a:p>
        </p:txBody>
      </p:sp>
      <p:sp>
        <p:nvSpPr>
          <p:cNvPr id="12" name="ease-2-label"/>
          <p:cNvSpPr txBox="1"/>
          <p:nvPr/>
        </p:nvSpPr>
        <p:spPr>
          <a:xfrm>
            <a:off x="6434176" y="2148840"/>
            <a:ext cx="2165528" cy="685800"/>
          </a:xfrm>
          <a:prstGeom prst="rect">
            <a:avLst/>
          </a:prstGeom>
          <a:noFill/>
          <a:ln/>
        </p:spPr>
        <p:txBody>
          <a:bodyPr wrap="square" lIns="0" tIns="0" rIns="0" bIns="0" rtlCol="0" anchor="t"/>
          <a:lstStyle/>
          <a:p>
            <a:pPr indent="0" marL="0">
              <a:buNone/>
            </a:pPr>
            <a:r>
              <a:rPr lang="en-US" sz="1300" dirty="0">
                <a:solidFill>
                  <a:schemeClr val="tx2"/>
                </a:solidFill>
              </a:rPr>
              <a:t>25 MB of Slate configuration became 0.8 MB of typed code</a:t>
            </a:r>
            <a:endParaRPr lang="en-US" sz="1300" dirty="0"/>
          </a:p>
        </p:txBody>
      </p:sp>
      <p:sp>
        <p:nvSpPr>
          <p:cNvPr id="13" name="ease-3-card"/>
          <p:cNvSpPr/>
          <p:nvPr/>
        </p:nvSpPr>
        <p:spPr>
          <a:xfrm>
            <a:off x="9075191" y="1371600"/>
            <a:ext cx="2567864" cy="1554480"/>
          </a:xfrm>
          <a:prstGeom prst="roundRect">
            <a:avLst>
              <a:gd name="adj" fmla="val 7059"/>
            </a:avLst>
          </a:prstGeom>
          <a:solidFill>
            <a:schemeClr val="tx1"/>
          </a:solidFill>
          <a:ln/>
        </p:spPr>
      </p:sp>
      <p:sp>
        <p:nvSpPr>
          <p:cNvPr id="14" name="ease-3-value"/>
          <p:cNvSpPr txBox="1"/>
          <p:nvPr/>
        </p:nvSpPr>
        <p:spPr>
          <a:xfrm>
            <a:off x="9276359" y="1481328"/>
            <a:ext cx="2165528" cy="640080"/>
          </a:xfrm>
          <a:prstGeom prst="rect">
            <a:avLst/>
          </a:prstGeom>
          <a:noFill/>
          <a:ln/>
        </p:spPr>
        <p:txBody>
          <a:bodyPr wrap="square" lIns="0" tIns="0" rIns="0" bIns="0" rtlCol="0" anchor="t"/>
          <a:lstStyle/>
          <a:p>
            <a:pPr indent="0" marL="0">
              <a:buNone/>
            </a:pPr>
            <a:r>
              <a:rPr lang="en-US" sz="3400" b="1" dirty="0">
                <a:solidFill>
                  <a:schemeClr val="accent5"/>
                </a:solidFill>
              </a:rPr>
              <a:t>~$10K</a:t>
            </a:r>
            <a:endParaRPr lang="en-US" sz="3400" dirty="0"/>
          </a:p>
        </p:txBody>
      </p:sp>
      <p:sp>
        <p:nvSpPr>
          <p:cNvPr id="15" name="ease-3-label"/>
          <p:cNvSpPr txBox="1"/>
          <p:nvPr/>
        </p:nvSpPr>
        <p:spPr>
          <a:xfrm>
            <a:off x="9276359" y="2148840"/>
            <a:ext cx="2165528" cy="685800"/>
          </a:xfrm>
          <a:prstGeom prst="rect">
            <a:avLst/>
          </a:prstGeom>
          <a:noFill/>
          <a:ln/>
        </p:spPr>
        <p:txBody>
          <a:bodyPr wrap="square" lIns="0" tIns="0" rIns="0" bIns="0" rtlCol="0" anchor="t"/>
          <a:lstStyle/>
          <a:p>
            <a:pPr indent="0" marL="0">
              <a:buNone/>
            </a:pPr>
            <a:r>
              <a:rPr lang="en-US" sz="1300" dirty="0">
                <a:solidFill>
                  <a:schemeClr val="accent5"/>
                </a:solidFill>
              </a:rPr>
              <a:t>less maintenance effort every year (estimate)</a:t>
            </a:r>
            <a:endParaRPr lang="en-US" sz="1300" dirty="0"/>
          </a:p>
        </p:txBody>
      </p:sp>
      <p:sp>
        <p:nvSpPr>
          <p:cNvPr id="16" name="ease-old"/>
          <p:cNvSpPr/>
          <p:nvPr/>
        </p:nvSpPr>
        <p:spPr>
          <a:xfrm>
            <a:off x="548640" y="3154680"/>
            <a:ext cx="5410048" cy="2423160"/>
          </a:xfrm>
          <a:prstGeom prst="roundRect">
            <a:avLst>
              <a:gd name="adj" fmla="val 4528"/>
            </a:avLst>
          </a:prstGeom>
          <a:solidFill>
            <a:schemeClr val="bg1"/>
          </a:solidFill>
          <a:ln/>
        </p:spPr>
      </p:sp>
      <p:sp>
        <p:nvSpPr>
          <p:cNvPr id="17" name="ease-old-text"/>
          <p:cNvSpPr txBox="1"/>
          <p:nvPr/>
        </p:nvSpPr>
        <p:spPr>
          <a:xfrm>
            <a:off x="822960"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tx2"/>
                </a:solidFill>
              </a:rPr>
              <a:t>ADDING A FEATURE IN SLATE</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tx1"/>
                </a:solidFill>
              </a:rPr>
              <a:t>Wire widgets, events, variables and functions across 8 exports</a:t>
            </a:r>
            <a:endParaRPr lang="en-US" sz="1100" dirty="0"/>
          </a:p>
          <a:p>
            <a:pPr marL="342900" indent="-342900">
              <a:spcAft>
                <a:spcPts val="600"/>
              </a:spcAft>
              <a:buSzPct val="100000"/>
              <a:buChar char="•"/>
            </a:pPr>
            <a:r>
              <a:rPr lang="en-US" sz="1400" dirty="0">
                <a:solidFill>
                  <a:schemeClr val="tx1"/>
                </a:solidFill>
              </a:rPr>
              <a:t>Any change can break unrelated dashboards</a:t>
            </a:r>
            <a:endParaRPr lang="en-US" sz="1100" dirty="0"/>
          </a:p>
          <a:p>
            <a:pPr marL="342900" indent="-342900">
              <a:spcAft>
                <a:spcPts val="600"/>
              </a:spcAft>
              <a:buSzPct val="100000"/>
              <a:buChar char="•"/>
            </a:pPr>
            <a:r>
              <a:rPr lang="en-US" sz="1400" dirty="0">
                <a:solidFill>
                  <a:schemeClr val="tx1"/>
                </a:solidFill>
              </a:rPr>
              <a:t>No documentation to know what depends on what</a:t>
            </a:r>
            <a:endParaRPr lang="en-US" sz="1100" dirty="0"/>
          </a:p>
        </p:txBody>
      </p:sp>
      <p:sp>
        <p:nvSpPr>
          <p:cNvPr id="18" name="ease-new"/>
          <p:cNvSpPr/>
          <p:nvPr/>
        </p:nvSpPr>
        <p:spPr>
          <a:xfrm>
            <a:off x="6233008" y="3154680"/>
            <a:ext cx="5410048" cy="2423160"/>
          </a:xfrm>
          <a:prstGeom prst="roundRect">
            <a:avLst>
              <a:gd name="adj" fmla="val 4528"/>
            </a:avLst>
          </a:prstGeom>
          <a:solidFill>
            <a:schemeClr val="tx1"/>
          </a:solidFill>
          <a:ln/>
        </p:spPr>
      </p:sp>
      <p:sp>
        <p:nvSpPr>
          <p:cNvPr id="19" name="ease-new-text"/>
          <p:cNvSpPr txBox="1"/>
          <p:nvPr/>
        </p:nvSpPr>
        <p:spPr>
          <a:xfrm>
            <a:off x="6507328" y="3291840"/>
            <a:ext cx="4861408" cy="2148840"/>
          </a:xfrm>
          <a:prstGeom prst="rect">
            <a:avLst/>
          </a:prstGeom>
          <a:noFill/>
          <a:ln/>
        </p:spPr>
        <p:txBody>
          <a:bodyPr wrap="square" lIns="0" tIns="0" rIns="0" bIns="0" rtlCol="0" anchor="t"/>
          <a:lstStyle/>
          <a:p>
            <a:pPr indent="0" marL="0">
              <a:spcAft>
                <a:spcPts val="600"/>
              </a:spcAft>
              <a:buNone/>
            </a:pPr>
            <a:r>
              <a:rPr lang="en-US" sz="1100" b="1" spc="100" kern="0" dirty="0">
                <a:solidFill>
                  <a:schemeClr val="accent5"/>
                </a:solidFill>
              </a:rPr>
              <a:t>ADDING A FEATURE IN REACT + OSDK</a:t>
            </a:r>
            <a:endParaRPr lang="en-US" sz="1100" dirty="0"/>
          </a:p>
          <a:p>
            <a:pPr indent="0" marL="0">
              <a:spcAft>
                <a:spcPts val="600"/>
              </a:spcAft>
              <a:buNone/>
            </a:pPr>
            <a:r>
              <a:rPr lang="en-US" sz="600" dirty="0">
                <a:solidFill>
                  <a:srgbClr val="000000"/>
                </a:solidFill>
              </a:rPr>
              <a:t> </a:t>
            </a:r>
            <a:endParaRPr lang="en-US" sz="1100" dirty="0"/>
          </a:p>
          <a:p>
            <a:pPr marL="342900" indent="-342900">
              <a:spcAft>
                <a:spcPts val="600"/>
              </a:spcAft>
              <a:buSzPct val="100000"/>
              <a:buChar char="•"/>
            </a:pPr>
            <a:r>
              <a:rPr lang="en-US" sz="1400" dirty="0">
                <a:solidFill>
                  <a:schemeClr val="bg1"/>
                </a:solidFill>
              </a:rPr>
              <a:t>One isolated, typed component plus one OSDK call</a:t>
            </a:r>
            <a:endParaRPr lang="en-US" sz="1100" dirty="0"/>
          </a:p>
          <a:p>
            <a:pPr marL="342900" indent="-342900">
              <a:spcAft>
                <a:spcPts val="600"/>
              </a:spcAft>
              <a:buSzPct val="100000"/>
              <a:buChar char="•"/>
            </a:pPr>
            <a:r>
              <a:rPr lang="en-US" sz="1400" dirty="0">
                <a:solidFill>
                  <a:schemeClr val="bg1"/>
                </a:solidFill>
              </a:rPr>
              <a:t>pack-project.ts gives AI the whole app as context</a:t>
            </a:r>
            <a:endParaRPr lang="en-US" sz="1100" dirty="0"/>
          </a:p>
          <a:p>
            <a:pPr marL="342900" indent="-342900">
              <a:spcAft>
                <a:spcPts val="600"/>
              </a:spcAft>
              <a:buSzPct val="100000"/>
              <a:buChar char="•"/>
            </a:pPr>
            <a:r>
              <a:rPr lang="en-US" sz="1400" dirty="0">
                <a:solidFill>
                  <a:schemeClr val="bg1"/>
                </a:solidFill>
              </a:rPr>
              <a:t>Architecture and lifecycle diagrams show the impact</a:t>
            </a:r>
            <a:endParaRPr lang="en-US" sz="1100" dirty="0"/>
          </a:p>
        </p:txBody>
      </p:sp>
      <p:sp>
        <p:nvSpPr>
          <p:cNvPr id="20" name="ease-foot"/>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100" i="1" dirty="0">
                <a:solidFill>
                  <a:schemeClr val="tx2"/>
                </a:solidFill>
              </a:rPr>
              <a:t>Estimates at $38.50 per developer hour, 8 hours a day. Maintenance: rule of thumb of ~20% of build effort a year (340 person-days → 68 a year, ≈ $21K), assumed halved by modular, typed, documented code (≈ $10K a year saved).</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1"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40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8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2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49" fill="hold">
                            <p:stCondLst>
                              <p:cond delay="16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childTnLst>
                          </p:cTn>
                        </p:par>
                        <p:par>
                          <p:cTn id="56" fill="hold">
                            <p:stCondLst>
                              <p:cond delay="2000"/>
                            </p:stCondLst>
                            <p:childTnLst>
                              <p:par>
                                <p:cTn id="50" presetID="22" presetClass="entr" presetSubtype="8" fill="hold" grpId="0" nodeType="after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45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450"/>
                                        <p:tgtEl>
                                          <p:spTgt spid="19"/>
                                        </p:tgtEl>
                                      </p:cBhvr>
                                    </p:animEffect>
                                  </p:childTnLst>
                                </p:cTn>
                              </p:par>
                            </p:childTnLst>
                          </p:cTn>
                        </p:par>
                        <p:par>
                          <p:cTn id="60" fill="hold">
                            <p:stCondLst>
                              <p:cond delay="2400"/>
                            </p:stCondLst>
                            <p:childTnLst>
                              <p:par>
                                <p:cTn id="57" presetID="10" presetClass="entr" presetSubtype="0"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VOICE OF THE BUSINESS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the business says</a:t>
            </a:r>
            <a:endParaRPr lang="en-US" sz="3600" dirty="0"/>
          </a:p>
        </p:txBody>
      </p:sp>
      <p:sp>
        <p:nvSpPr>
          <p:cNvPr id="4" name="quote-sub"/>
          <p:cNvSpPr txBox="1"/>
          <p:nvPr/>
        </p:nvSpPr>
        <p:spPr>
          <a:xfrm>
            <a:off x="548640" y="1115568"/>
            <a:ext cx="11094415" cy="320040"/>
          </a:xfrm>
          <a:prstGeom prst="rect">
            <a:avLst/>
          </a:prstGeom>
          <a:noFill/>
          <a:ln/>
        </p:spPr>
        <p:txBody>
          <a:bodyPr wrap="square" lIns="0" tIns="0" rIns="0" bIns="0" rtlCol="0" anchor="t"/>
          <a:lstStyle/>
          <a:p>
            <a:pPr indent="0" marL="0">
              <a:buNone/>
            </a:pPr>
            <a:r>
              <a:rPr lang="en-US" sz="1400" dirty="0">
                <a:solidFill>
                  <a:schemeClr val="tx2"/>
                </a:solidFill>
              </a:rPr>
              <a:t>Feedback from ERM business stakeholders, September 2026</a:t>
            </a:r>
            <a:endParaRPr lang="en-US" sz="1400" dirty="0"/>
          </a:p>
        </p:txBody>
      </p:sp>
      <p:sp>
        <p:nvSpPr>
          <p:cNvPr id="5" name="quote-0-card"/>
          <p:cNvSpPr/>
          <p:nvPr/>
        </p:nvSpPr>
        <p:spPr>
          <a:xfrm>
            <a:off x="548640" y="1645920"/>
            <a:ext cx="3515258" cy="4480560"/>
          </a:xfrm>
          <a:prstGeom prst="roundRect">
            <a:avLst>
              <a:gd name="adj" fmla="val 3121"/>
            </a:avLst>
          </a:prstGeom>
          <a:solidFill>
            <a:schemeClr val="tx1"/>
          </a:solidFill>
          <a:ln/>
        </p:spPr>
      </p:sp>
      <p:sp>
        <p:nvSpPr>
          <p:cNvPr id="6" name="quote-0-mark"/>
          <p:cNvSpPr txBox="1"/>
          <p:nvPr/>
        </p:nvSpPr>
        <p:spPr>
          <a:xfrm>
            <a:off x="822960" y="1783080"/>
            <a:ext cx="914400" cy="731520"/>
          </a:xfrm>
          <a:prstGeom prst="rect">
            <a:avLst/>
          </a:prstGeom>
          <a:noFill/>
          <a:ln/>
        </p:spPr>
        <p:txBody>
          <a:bodyPr wrap="square" lIns="0" tIns="0" rIns="0" bIns="0" rtlCol="0" anchor="t"/>
          <a:lstStyle/>
          <a:p>
            <a:pPr indent="0" marL="0">
              <a:buNone/>
            </a:pPr>
            <a:r>
              <a:rPr lang="en-US" sz="6000" b="1" dirty="0">
                <a:solidFill>
                  <a:schemeClr val="accent5"/>
                </a:solidFill>
              </a:rPr>
              <a:t>“</a:t>
            </a:r>
            <a:endParaRPr lang="en-US" sz="6000" dirty="0"/>
          </a:p>
        </p:txBody>
      </p:sp>
      <p:sp>
        <p:nvSpPr>
          <p:cNvPr id="7" name="quote-0-text"/>
          <p:cNvSpPr txBox="1"/>
          <p:nvPr/>
        </p:nvSpPr>
        <p:spPr>
          <a:xfrm>
            <a:off x="822960" y="2514600"/>
            <a:ext cx="2966618" cy="2606040"/>
          </a:xfrm>
          <a:prstGeom prst="rect">
            <a:avLst/>
          </a:prstGeom>
          <a:noFill/>
          <a:ln/>
        </p:spPr>
        <p:txBody>
          <a:bodyPr wrap="square" lIns="0" tIns="0" rIns="0" bIns="0" rtlCol="0" anchor="t"/>
          <a:lstStyle/>
          <a:p>
            <a:pPr indent="0" marL="0">
              <a:buNone/>
            </a:pPr>
            <a:r>
              <a:rPr lang="en-US" sz="1800" i="1" dirty="0">
                <a:solidFill>
                  <a:schemeClr val="bg1"/>
                </a:solidFill>
              </a:rPr>
              <a:t>Thanks to a mix of regular teamwork with the business and strong IT skills, they have turned an idea into a user-friendly industrial [solution]… User interface and performance have significantly improved.</a:t>
            </a:r>
            <a:endParaRPr lang="en-US" sz="1800" dirty="0"/>
          </a:p>
        </p:txBody>
      </p:sp>
      <p:sp>
        <p:nvSpPr>
          <p:cNvPr id="8" name="quote-0-who"/>
          <p:cNvSpPr txBox="1"/>
          <p:nvPr/>
        </p:nvSpPr>
        <p:spPr>
          <a:xfrm>
            <a:off x="822960" y="5166360"/>
            <a:ext cx="2966618" cy="731520"/>
          </a:xfrm>
          <a:prstGeom prst="rect">
            <a:avLst/>
          </a:prstGeom>
          <a:noFill/>
          <a:ln/>
        </p:spPr>
        <p:txBody>
          <a:bodyPr wrap="square" lIns="0" tIns="0" rIns="0" bIns="0" rtlCol="0" anchor="b"/>
          <a:lstStyle/>
          <a:p>
            <a:pPr indent="0" marL="0">
              <a:buNone/>
            </a:pPr>
            <a:r>
              <a:rPr lang="en-US" sz="1400" b="1" dirty="0">
                <a:solidFill>
                  <a:schemeClr val="bg1"/>
                </a:solidFill>
              </a:rPr>
              <a:t>ERM Centre of Competence</a:t>
            </a:r>
            <a:endParaRPr lang="en-US" sz="1400" dirty="0"/>
          </a:p>
          <a:p>
            <a:pPr indent="0" marL="0">
              <a:buNone/>
            </a:pPr>
            <a:r>
              <a:rPr lang="en-US" sz="1200" dirty="0">
                <a:solidFill>
                  <a:schemeClr val="accent5"/>
                </a:solidFill>
              </a:rPr>
              <a:t>Enterprise Risk Management</a:t>
            </a:r>
            <a:endParaRPr lang="en-US" sz="1400" dirty="0"/>
          </a:p>
        </p:txBody>
      </p:sp>
      <p:sp>
        <p:nvSpPr>
          <p:cNvPr id="9" name="quote-1-card"/>
          <p:cNvSpPr/>
          <p:nvPr/>
        </p:nvSpPr>
        <p:spPr>
          <a:xfrm>
            <a:off x="4338218" y="1645920"/>
            <a:ext cx="3515258" cy="4480560"/>
          </a:xfrm>
          <a:prstGeom prst="roundRect">
            <a:avLst>
              <a:gd name="adj" fmla="val 3121"/>
            </a:avLst>
          </a:prstGeom>
          <a:solidFill>
            <a:schemeClr val="bg1"/>
          </a:solidFill>
          <a:ln/>
        </p:spPr>
      </p:sp>
      <p:sp>
        <p:nvSpPr>
          <p:cNvPr id="10" name="quote-1-mark"/>
          <p:cNvSpPr txBox="1"/>
          <p:nvPr/>
        </p:nvSpPr>
        <p:spPr>
          <a:xfrm>
            <a:off x="4612538"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1" name="quote-1-text"/>
          <p:cNvSpPr txBox="1"/>
          <p:nvPr/>
        </p:nvSpPr>
        <p:spPr>
          <a:xfrm>
            <a:off x="4612538"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 Skywise ERM dashboard application is a tremendous addition to our ERM toolset… More and more users regularly prepare and facilitate risks &amp; opportunities reviews with the application.</a:t>
            </a:r>
            <a:endParaRPr lang="en-US" sz="1800" dirty="0"/>
          </a:p>
        </p:txBody>
      </p:sp>
      <p:sp>
        <p:nvSpPr>
          <p:cNvPr id="12" name="quote-1-who"/>
          <p:cNvSpPr txBox="1"/>
          <p:nvPr/>
        </p:nvSpPr>
        <p:spPr>
          <a:xfrm>
            <a:off x="4612538"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ERM stakeholder</a:t>
            </a:r>
            <a:endParaRPr lang="en-US" sz="1400" dirty="0"/>
          </a:p>
          <a:p>
            <a:pPr indent="0" marL="0">
              <a:buNone/>
            </a:pPr>
            <a:r>
              <a:rPr lang="en-US" sz="1200" dirty="0">
                <a:solidFill>
                  <a:schemeClr val="tx2"/>
                </a:solidFill>
              </a:rPr>
              <a:t>[Role]</a:t>
            </a:r>
            <a:endParaRPr lang="en-US" sz="1400" dirty="0"/>
          </a:p>
        </p:txBody>
      </p:sp>
      <p:sp>
        <p:nvSpPr>
          <p:cNvPr id="13" name="quote-2-card"/>
          <p:cNvSpPr/>
          <p:nvPr/>
        </p:nvSpPr>
        <p:spPr>
          <a:xfrm>
            <a:off x="8127797" y="1645920"/>
            <a:ext cx="3515258" cy="4480560"/>
          </a:xfrm>
          <a:prstGeom prst="roundRect">
            <a:avLst>
              <a:gd name="adj" fmla="val 3121"/>
            </a:avLst>
          </a:prstGeom>
          <a:solidFill>
            <a:schemeClr val="bg1"/>
          </a:solidFill>
          <a:ln/>
        </p:spPr>
      </p:sp>
      <p:sp>
        <p:nvSpPr>
          <p:cNvPr id="14" name="quote-2-mark"/>
          <p:cNvSpPr txBox="1"/>
          <p:nvPr/>
        </p:nvSpPr>
        <p:spPr>
          <a:xfrm>
            <a:off x="8402117" y="1783080"/>
            <a:ext cx="914400" cy="731520"/>
          </a:xfrm>
          <a:prstGeom prst="rect">
            <a:avLst/>
          </a:prstGeom>
          <a:noFill/>
          <a:ln/>
        </p:spPr>
        <p:txBody>
          <a:bodyPr wrap="square" lIns="0" tIns="0" rIns="0" bIns="0" rtlCol="0" anchor="t"/>
          <a:lstStyle/>
          <a:p>
            <a:pPr indent="0" marL="0">
              <a:buNone/>
            </a:pPr>
            <a:r>
              <a:rPr lang="en-US" sz="6000" b="1" dirty="0">
                <a:solidFill>
                  <a:schemeClr val="accent3"/>
                </a:solidFill>
              </a:rPr>
              <a:t>“</a:t>
            </a:r>
            <a:endParaRPr lang="en-US" sz="6000" dirty="0"/>
          </a:p>
        </p:txBody>
      </p:sp>
      <p:sp>
        <p:nvSpPr>
          <p:cNvPr id="15" name="quote-2-text"/>
          <p:cNvSpPr txBox="1"/>
          <p:nvPr/>
        </p:nvSpPr>
        <p:spPr>
          <a:xfrm>
            <a:off x="8402117" y="2514600"/>
            <a:ext cx="2966618" cy="2606040"/>
          </a:xfrm>
          <a:prstGeom prst="rect">
            <a:avLst/>
          </a:prstGeom>
          <a:noFill/>
          <a:ln/>
        </p:spPr>
        <p:txBody>
          <a:bodyPr wrap="square" lIns="0" tIns="0" rIns="0" bIns="0" rtlCol="0" anchor="t"/>
          <a:lstStyle/>
          <a:p>
            <a:pPr indent="0" marL="0">
              <a:buNone/>
            </a:pPr>
            <a:r>
              <a:rPr lang="en-US" sz="1800" i="1" dirty="0">
                <a:solidFill>
                  <a:schemeClr val="tx1"/>
                </a:solidFill>
              </a:rPr>
              <a:t>They built great new features that make navigation easier and give us a much clearer view of our R&amp;O data. Whenever bugs or issues came up, they fixed them quickly and efficiently.</a:t>
            </a:r>
            <a:endParaRPr lang="en-US" sz="1800" dirty="0"/>
          </a:p>
        </p:txBody>
      </p:sp>
      <p:sp>
        <p:nvSpPr>
          <p:cNvPr id="16" name="quote-2-who"/>
          <p:cNvSpPr txBox="1"/>
          <p:nvPr/>
        </p:nvSpPr>
        <p:spPr>
          <a:xfrm>
            <a:off x="8402117" y="5166360"/>
            <a:ext cx="2966618" cy="731520"/>
          </a:xfrm>
          <a:prstGeom prst="rect">
            <a:avLst/>
          </a:prstGeom>
          <a:noFill/>
          <a:ln/>
        </p:spPr>
        <p:txBody>
          <a:bodyPr wrap="square" lIns="0" tIns="0" rIns="0" bIns="0" rtlCol="0" anchor="b"/>
          <a:lstStyle/>
          <a:p>
            <a:pPr indent="0" marL="0">
              <a:buNone/>
            </a:pPr>
            <a:r>
              <a:rPr lang="en-US" sz="1400" b="1" dirty="0">
                <a:solidFill>
                  <a:schemeClr val="tx1"/>
                </a:solidFill>
              </a:rPr>
              <a:t>Risk and Opportunity Manager</a:t>
            </a:r>
            <a:endParaRPr lang="en-US" sz="1400" dirty="0"/>
          </a:p>
          <a:p>
            <a:pPr indent="0" marL="0">
              <a:buNone/>
            </a:pPr>
            <a:r>
              <a:rPr lang="en-US" sz="1200" dirty="0">
                <a:solidFill>
                  <a:schemeClr val="tx2"/>
                </a:solidFill>
              </a:rPr>
              <a:t>Airbus Operations GmbH, Hamburg</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6"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childTnLst>
                          </p:cTn>
                        </p:par>
                        <p:par>
                          <p:cTn id="19" fill="hold">
                            <p:stCondLst>
                              <p:cond delay="600"/>
                            </p:stCondLst>
                            <p:childTnLst>
                              <p:par>
                                <p:cTn id="7" presetID="10" presetClass="entr" presetSubtype="0"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450"/>
                                        <p:tgtEl>
                                          <p:spTgt spid="5"/>
                                        </p:tgtEl>
                                      </p:cBhvr>
                                    </p:animEffect>
                                  </p:childTnLst>
                                </p:cTn>
                              </p:par>
                              <p:par>
                                <p:cTn id="10" presetID="10" presetClass="entr" presetSubtype="0" fill="hold" grpId="0"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childTnLst>
                          </p:cTn>
                        </p:par>
                        <p:par>
                          <p:cTn id="32" fill="hold">
                            <p:stCondLst>
                              <p:cond delay="1200"/>
                            </p:stCondLst>
                            <p:childTnLst>
                              <p:par>
                                <p:cTn id="20" presetID="10" presetClass="entr" presetSubtype="0" fill="hold" grpId="0" nodeType="after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5" fill="hold">
                            <p:stCondLst>
                              <p:cond delay="180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shipped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Functions beyond DMS, via the architecture sync</a:t>
            </a:r>
            <a:endParaRPr lang="en-US" sz="1400" dirty="0"/>
          </a:p>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Any team starting an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Endorse the playbook as a DevX pattern. We have aligned with [Architect] to propose it at the architecture sync, so functions beyond DMS can use it.</a:t>
            </a:r>
            <a:endParaRPr lang="en-US" sz="2000" dirty="0"/>
          </a:p>
          <a:p>
            <a:pPr indent="0" marL="0">
              <a:buNone/>
            </a:pPr>
            <a:r>
              <a:rPr lang="en-US" sz="800" dirty="0">
                <a:solidFill>
                  <a:srgbClr val="000000"/>
                </a:solidFill>
              </a:rPr>
              <a:t> </a:t>
            </a:r>
            <a:endParaRPr lang="en-US" sz="2000" dirty="0"/>
          </a:p>
          <a:p>
            <a:pPr indent="0" marL="0">
              <a:buNone/>
            </a:pPr>
            <a:r>
              <a:rPr lang="en-US" sz="1400" dirty="0">
                <a:solidFill>
                  <a:schemeClr val="tx2"/>
                </a:solidFill>
              </a:rPr>
              <a:t>[Next: a first team outside DMS]</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2026-10-04T12:25:24Z</dcterms:created>
  <dcterms:modified xsi:type="dcterms:W3CDTF">2026-10-04T12:25:24Z</dcterms:modified>
</cp:coreProperties>
</file>