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a9bd7520-df5c-b441-ac04-643b581bb624}">
          <p14:sldIdLst>
            <p14:sldId id="256"/>
          </p14:sldIdLst>
        </p14:section>
        <p14:section name="Situation" id="{626ad569-38b7-a086-0428-dedeaa18c6dd}">
          <p14:sldIdLst>
            <p14:sldId id="257"/>
            <p14:sldId id="258"/>
          </p14:sldIdLst>
        </p14:section>
        <p14:section name="Complication" id="{135e0fbc-796b-89ca-23fa-51008eff29b9}">
          <p14:sldIdLst>
            <p14:sldId id="259"/>
          </p14:sldIdLst>
        </p14:section>
        <p14:section name="Answer and proof" id="{3d2c786e-a394-9368-cc4f-25351aac8de2}">
          <p14:sldIdLst>
            <p14:sldId id="260"/>
            <p14:sldId id="261"/>
            <p14:sldId id="262"/>
          </p14:sldIdLst>
        </p14:section>
        <p14:section name="Fit and scale" id="{adf4ed7d-499e-6ede-d1ed-72e87238a9ff}">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answer first, in one breath: two developers rebuilt ERM, a business-critical Slate application with no documentation, for Airbus DevX with React and OSDK in a single PI, ready for go-live, using an AI-assisted method we designed and that any team can reuse. Then: let me show you why that was hard, what we did differently, and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ERM is where Airbus risk managers manage ARM risks and opportunities: custom dashboards, live editing, trend following, governed quarterly releases and sharing across divisions. 892 people have used it; more than 320 are active in a peak month; more than 1,600 dashboards exist and more than 10 are updated every day. Usage has grown steadily since launch. So whatever we did, we could not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is not one team's tool. By organisation, the largest group, siglum B, has around 345 users, followed by O, P, A, L, S and K, and about a dozen smaller organisations. By site, Blagnac and Hamburg lead, with users in the UK, Spain, Canada and India too. The values on the organisation chart are read from the usage dashboard, so treat them as approximate. A migration that broke ERM would hit risk reporting across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complication. In Slate, one simple action triggers a cascade of widgets, events, actions and variables, so any change risks breaking something unrelated, and every tab switch recalculates large variable trees. And nothing was documented: 8 exports, about 25 MB of configuration. Let the animation play: the app breaks into a shell and 7 modules, and 105 features come out of it. Then ask the question on screen: how do two developers move 105 hidden features in one PI without breaking risk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A usual migration starts with interviews and clicking through screens, reads code in fragments, finds gaps late in testing and documents afterwards, if at all. We flipped it. The AI read all 8 Slate exports and catalogued 105 features. Our script, pack-project.ts, packs the whole React app into one dated file, so the AI sees every component and OSDK call at once. The AI then checked every feature against the code and found 31 gaps; people reviewed, fixed and deployed. The diagrams were produced alongside the work. AI drafts, people verify. If time allows, show the live app here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hard facts first. One PI. Two developers. All 105 features carried over and checked. The AI review found and prioritised 31 gaps, including 7 security and data-integrity issues, all caught in review; the dashboard sharing-access fix is deployed. We also built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Documentation went from nothing to 10 documents. Building features is now easy: in Slate a feature meant wiring widgets, events and variables across 8 exports with no documentation; in React it is one typed component and one OSDK call, pack-project.ts gives AI the whole app, and 25 MB of Slate configuration became 0.8 MB of typed code. On cost: against a generic estimate of about 340 person-days, roughly 17 sprints for two developers, we used 4 sprints, about 76% less effort; at $38.50 per developer hour that is roughly $105,000 against $25,000, around $80,000 saved. Maintenance: with a rule of thumb of 20% of build effort a year, a Slate-equivalent app needs about $21,000 a year; assuming modular, typed, documented code halves that, we save around $10,000 a year. Say clearly these are estimates.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strategic fit and teamwork;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 Finally the team strip: business users confirmed the feature catalogue, data and security owners kept the restricted-view access model intact, and backend and frontend fixes delivered together. Name the people and teams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scale and make an ask. The method is five steps: pack, extract, compare, fix, document. The pieces are ready to reuse: pack-project.ts, the comparison template and the diagram formats. It fits other Slate apps and any low-code tool with little documentation. Then the ask: endorse the playbook as a DevX pattern. We have already aligned with [Architect] to propose it at the architecture sync, so functions beyond DMS can use it; name the first team outside DMS if you have one. End on the line on screen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risk managers</a:t>
            </a:r>
            <a:endParaRPr lang="en-US" sz="3600" dirty="0"/>
          </a:p>
        </p:txBody>
      </p:sp>
      <p:sp>
        <p:nvSpPr>
          <p:cNvPr id="4" name="kpi-0-card"/>
          <p:cNvSpPr/>
          <p:nvPr/>
        </p:nvSpPr>
        <p:spPr>
          <a:xfrm>
            <a:off x="548640" y="1371600"/>
            <a:ext cx="2567864" cy="1417320"/>
          </a:xfrm>
          <a:prstGeom prst="roundRect">
            <a:avLst>
              <a:gd name="adj" fmla="val 7742"/>
            </a:avLst>
          </a:prstGeom>
          <a:solidFill>
            <a:schemeClr val="tx1"/>
          </a:solidFill>
          <a:ln/>
        </p:spPr>
      </p:sp>
      <p:sp>
        <p:nvSpPr>
          <p:cNvPr id="5" name="kpi-0-label"/>
          <p:cNvSpPr txBox="1"/>
          <p:nvPr/>
        </p:nvSpPr>
        <p:spPr>
          <a:xfrm>
            <a:off x="749808" y="148132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kpi-0-value"/>
          <p:cNvSpPr txBox="1"/>
          <p:nvPr/>
        </p:nvSpPr>
        <p:spPr>
          <a:xfrm>
            <a:off x="749808" y="173736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kpi-0-desc"/>
          <p:cNvSpPr txBox="1"/>
          <p:nvPr/>
        </p:nvSpPr>
        <p:spPr>
          <a:xfrm>
            <a:off x="749808" y="233172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kpi-1-card"/>
          <p:cNvSpPr/>
          <p:nvPr/>
        </p:nvSpPr>
        <p:spPr>
          <a:xfrm>
            <a:off x="3390824" y="1371600"/>
            <a:ext cx="2567864" cy="1417320"/>
          </a:xfrm>
          <a:prstGeom prst="roundRect">
            <a:avLst>
              <a:gd name="adj" fmla="val 7742"/>
            </a:avLst>
          </a:prstGeom>
          <a:solidFill>
            <a:schemeClr val="bg1"/>
          </a:solidFill>
          <a:ln/>
        </p:spPr>
      </p:sp>
      <p:sp>
        <p:nvSpPr>
          <p:cNvPr id="9" name="kpi-1-label"/>
          <p:cNvSpPr txBox="1"/>
          <p:nvPr/>
        </p:nvSpPr>
        <p:spPr>
          <a:xfrm>
            <a:off x="3591992"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kpi-1-value"/>
          <p:cNvSpPr txBox="1"/>
          <p:nvPr/>
        </p:nvSpPr>
        <p:spPr>
          <a:xfrm>
            <a:off x="3591992"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kpi-1-desc"/>
          <p:cNvSpPr txBox="1"/>
          <p:nvPr/>
        </p:nvSpPr>
        <p:spPr>
          <a:xfrm>
            <a:off x="3591992"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kpi-2-card"/>
          <p:cNvSpPr/>
          <p:nvPr/>
        </p:nvSpPr>
        <p:spPr>
          <a:xfrm>
            <a:off x="6233008" y="1371600"/>
            <a:ext cx="2567864" cy="1417320"/>
          </a:xfrm>
          <a:prstGeom prst="roundRect">
            <a:avLst>
              <a:gd name="adj" fmla="val 7742"/>
            </a:avLst>
          </a:prstGeom>
          <a:solidFill>
            <a:schemeClr val="bg1"/>
          </a:solidFill>
          <a:ln/>
        </p:spPr>
      </p:sp>
      <p:sp>
        <p:nvSpPr>
          <p:cNvPr id="13" name="kpi-2-label"/>
          <p:cNvSpPr txBox="1"/>
          <p:nvPr/>
        </p:nvSpPr>
        <p:spPr>
          <a:xfrm>
            <a:off x="6434176"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kpi-2-value"/>
          <p:cNvSpPr txBox="1"/>
          <p:nvPr/>
        </p:nvSpPr>
        <p:spPr>
          <a:xfrm>
            <a:off x="6434176"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kpi-2-desc"/>
          <p:cNvSpPr txBox="1"/>
          <p:nvPr/>
        </p:nvSpPr>
        <p:spPr>
          <a:xfrm>
            <a:off x="6434176"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kpi-3-card"/>
          <p:cNvSpPr/>
          <p:nvPr/>
        </p:nvSpPr>
        <p:spPr>
          <a:xfrm>
            <a:off x="9075191" y="1371600"/>
            <a:ext cx="2567864" cy="1417320"/>
          </a:xfrm>
          <a:prstGeom prst="roundRect">
            <a:avLst>
              <a:gd name="adj" fmla="val 7742"/>
            </a:avLst>
          </a:prstGeom>
          <a:solidFill>
            <a:schemeClr val="bg1"/>
          </a:solidFill>
          <a:ln/>
        </p:spPr>
      </p:sp>
      <p:sp>
        <p:nvSpPr>
          <p:cNvPr id="17" name="kpi-3-label"/>
          <p:cNvSpPr txBox="1"/>
          <p:nvPr/>
        </p:nvSpPr>
        <p:spPr>
          <a:xfrm>
            <a:off x="9276359"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kpi-3-value"/>
          <p:cNvSpPr txBox="1"/>
          <p:nvPr/>
        </p:nvSpPr>
        <p:spPr>
          <a:xfrm>
            <a:off x="9276359"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kpi-3-desc"/>
          <p:cNvSpPr txBox="1"/>
          <p:nvPr/>
        </p:nvSpPr>
        <p:spPr>
          <a:xfrm>
            <a:off x="9276359"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017520"/>
            <a:ext cx="6583680" cy="3429000"/>
          </a:xfrm>
          <a:prstGeom prst="roundRect">
            <a:avLst>
              <a:gd name="adj" fmla="val 3200"/>
            </a:avLst>
          </a:prstGeom>
          <a:solidFill>
            <a:schemeClr val="bg1"/>
          </a:solidFill>
          <a:ln/>
        </p:spPr>
      </p:sp>
      <p:sp>
        <p:nvSpPr>
          <p:cNvPr id="21" name="trend-title"/>
          <p:cNvSpPr txBox="1"/>
          <p:nvPr/>
        </p:nvSpPr>
        <p:spPr>
          <a:xfrm>
            <a:off x="777240" y="3127248"/>
            <a:ext cx="6126480"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429000"/>
          <a:ext cx="6400800" cy="274320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90488"/>
            <a:ext cx="6126480"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
        <p:nvSpPr>
          <p:cNvPr id="24" name="erm-card"/>
          <p:cNvSpPr/>
          <p:nvPr/>
        </p:nvSpPr>
        <p:spPr>
          <a:xfrm>
            <a:off x="7406640" y="3017520"/>
            <a:ext cx="4233672" cy="3429000"/>
          </a:xfrm>
          <a:prstGeom prst="roundRect">
            <a:avLst>
              <a:gd name="adj" fmla="val 3200"/>
            </a:avLst>
          </a:prstGeom>
          <a:solidFill>
            <a:schemeClr val="bg1"/>
          </a:solidFill>
          <a:ln/>
        </p:spPr>
      </p:sp>
      <p:sp>
        <p:nvSpPr>
          <p:cNvPr id="25" name="erm-text"/>
          <p:cNvSpPr txBox="1"/>
          <p:nvPr/>
        </p:nvSpPr>
        <p:spPr>
          <a:xfrm>
            <a:off x="7635240" y="3154680"/>
            <a:ext cx="3794760" cy="3154680"/>
          </a:xfrm>
          <a:prstGeom prst="rect">
            <a:avLst/>
          </a:prstGeom>
          <a:noFill/>
          <a:ln/>
        </p:spPr>
        <p:txBody>
          <a:bodyPr wrap="square" lIns="0" tIns="0" rIns="0" bIns="0" rtlCol="0" anchor="t"/>
          <a:lstStyle/>
          <a:p>
            <a:pPr indent="0" marL="0">
              <a:buNone/>
            </a:pPr>
            <a:r>
              <a:rPr lang="en-US" sz="1100" b="1" spc="100" kern="0" dirty="0">
                <a:solidFill>
                  <a:schemeClr val="tx1"/>
                </a:solidFill>
              </a:rPr>
              <a:t>WHAT ERM DOES</a:t>
            </a:r>
            <a:endParaRPr lang="en-US" sz="1100" dirty="0"/>
          </a:p>
          <a:p>
            <a:pPr indent="0" marL="0">
              <a:spcAft>
                <a:spcPts val="1000"/>
              </a:spcAft>
              <a:buNone/>
            </a:pPr>
            <a:r>
              <a:rPr lang="en-US" sz="1500" dirty="0">
                <a:solidFill>
                  <a:schemeClr val="tx2"/>
                </a:solidFill>
              </a:rPr>
              <a:t>One place to manage ARM risks and opportunities: custom dashboards, live editing, trend following, governed quarterly releases and cross-division sharing.</a:t>
            </a:r>
            <a:endParaRPr lang="en-US" sz="1100" dirty="0"/>
          </a:p>
          <a:p>
            <a:pPr indent="0" marL="0">
              <a:buNone/>
            </a:pPr>
            <a:r>
              <a:rPr lang="en-US" sz="1500" b="1" dirty="0">
                <a:solidFill>
                  <a:schemeClr val="tx1"/>
                </a:solidFill>
              </a:rPr>
              <a:t>Every risk and opportunity review in ERM depends on it working.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8" fill="hold">
                            <p:stCondLst>
                              <p:cond delay="4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41" fill="hold">
                            <p:stCondLst>
                              <p:cond delay="80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par>
                          <p:cTn id="54"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childTnLst>
                          </p:cTn>
                        </p:par>
                        <p:par>
                          <p:cTn id="67" fill="hold">
                            <p:stCondLst>
                              <p:cond delay="1600"/>
                            </p:stCondLst>
                            <p:childTnLst>
                              <p:par>
                                <p:cTn id="55" presetID="10" presetClass="entr" presetSubtype="0" fill="hold" grpId="0" nodeType="after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50"/>
                                        <p:tgtEl>
                                          <p:spTgt spid="23"/>
                                        </p:tgtEl>
                                      </p:cBhvr>
                                    </p:animEffect>
                                  </p:childTnLst>
                                </p:cTn>
                              </p:par>
                              <p:par>
                                <p:cTn id="64" presetID="22" presetClass="entr" presetSubtype="8" fill="hold" grpId="0" nodeType="withEffect">
                                  <p:stCondLst>
                                    <p:cond delay="200"/>
                                  </p:stCondLst>
                                  <p:childTnLst>
                                    <p:set>
                                      <p:cBhvr>
                                        <p:cTn id="65" dur="1" fill="hold">
                                          <p:stCondLst>
                                            <p:cond delay="0"/>
                                          </p:stCondLst>
                                        </p:cTn>
                                        <p:tgtEl>
                                          <p:spTgt spid="22"/>
                                        </p:tgtEl>
                                        <p:attrNameLst>
                                          <p:attrName>style.visibility</p:attrName>
                                        </p:attrNameLst>
                                      </p:cBhvr>
                                      <p:to>
                                        <p:strVal val="visible"/>
                                      </p:to>
                                    </p:set>
                                    <p:animEffect transition="in" filter="wipe(left)">
                                      <p:cBhvr>
                                        <p:cTn id="66" dur="450"/>
                                        <p:tgtEl>
                                          <p:spTgt spid="22"/>
                                        </p:tgtEl>
                                      </p:cBhvr>
                                    </p:animEffect>
                                  </p:childTnLst>
                                </p:cTn>
                              </p:par>
                            </p:childTnLst>
                          </p:cTn>
                        </p:par>
                        <p:par>
                          <p:cTn id="74" fill="hold">
                            <p:stCondLst>
                              <p:cond delay="2000"/>
                            </p:stCondLst>
                            <p:childTnLst>
                              <p:par>
                                <p:cTn id="68" presetID="10" presetClass="entr" presetSubtype="0"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4"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5" name="org-card"/>
          <p:cNvSpPr/>
          <p:nvPr/>
        </p:nvSpPr>
        <p:spPr>
          <a:xfrm>
            <a:off x="548640" y="1600200"/>
            <a:ext cx="6766560" cy="4846320"/>
          </a:xfrm>
          <a:prstGeom prst="roundRect">
            <a:avLst>
              <a:gd name="adj" fmla="val 2264"/>
            </a:avLst>
          </a:prstGeom>
          <a:solidFill>
            <a:schemeClr val="bg2"/>
          </a:solidFill>
          <a:ln/>
        </p:spPr>
      </p:sp>
      <p:sp>
        <p:nvSpPr>
          <p:cNvPr id="6"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7"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8"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9" name="loc-card"/>
          <p:cNvSpPr/>
          <p:nvPr/>
        </p:nvSpPr>
        <p:spPr>
          <a:xfrm>
            <a:off x="7589520" y="1600200"/>
            <a:ext cx="4050792" cy="4846320"/>
          </a:xfrm>
          <a:prstGeom prst="roundRect">
            <a:avLst>
              <a:gd name="adj" fmla="val 2709"/>
            </a:avLst>
          </a:prstGeom>
          <a:solidFill>
            <a:schemeClr val="tx1"/>
          </a:solidFill>
          <a:ln/>
        </p:spPr>
      </p:sp>
      <p:sp>
        <p:nvSpPr>
          <p:cNvPr id="10"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1"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1696669" cy="1463040"/>
          </a:xfrm>
          <a:prstGeom prst="roundRect">
            <a:avLst>
              <a:gd name="adj" fmla="val 7500"/>
            </a:avLst>
          </a:prstGeom>
          <a:solidFill>
            <a:schemeClr val="bg2"/>
          </a:solidFill>
          <a:ln/>
        </p:spPr>
      </p:sp>
      <p:sp>
        <p:nvSpPr>
          <p:cNvPr id="5" name="fact-0-value"/>
          <p:cNvSpPr txBox="1"/>
          <p:nvPr/>
        </p:nvSpPr>
        <p:spPr>
          <a:xfrm>
            <a:off x="713232" y="1481328"/>
            <a:ext cx="1367485" cy="594360"/>
          </a:xfrm>
          <a:prstGeom prst="rect">
            <a:avLst/>
          </a:prstGeom>
          <a:noFill/>
          <a:ln/>
        </p:spPr>
        <p:txBody>
          <a:bodyPr wrap="square" lIns="0" tIns="0" rIns="0" bIns="0" rtlCol="0" anchor="t"/>
          <a:lstStyle/>
          <a:p>
            <a:pPr indent="0" marL="0">
              <a:buNone/>
            </a:pPr>
            <a:r>
              <a:rPr lang="en-US" sz="3000" b="1" dirty="0">
                <a:solidFill>
                  <a:schemeClr val="tx1"/>
                </a:solidFill>
              </a:rPr>
              <a:t>1 PI</a:t>
            </a:r>
            <a:endParaRPr lang="en-US" sz="3000" dirty="0"/>
          </a:p>
        </p:txBody>
      </p:sp>
      <p:sp>
        <p:nvSpPr>
          <p:cNvPr id="6" name="fact-0-label"/>
          <p:cNvSpPr txBox="1"/>
          <p:nvPr/>
        </p:nvSpPr>
        <p:spPr>
          <a:xfrm>
            <a:off x="713232"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2 developers, whole migration</a:t>
            </a:r>
            <a:endParaRPr lang="en-US" sz="1300" dirty="0"/>
          </a:p>
        </p:txBody>
      </p:sp>
      <p:sp>
        <p:nvSpPr>
          <p:cNvPr id="7" name="fact-1-card"/>
          <p:cNvSpPr/>
          <p:nvPr/>
        </p:nvSpPr>
        <p:spPr>
          <a:xfrm>
            <a:off x="2428189" y="1371600"/>
            <a:ext cx="1696669" cy="1463040"/>
          </a:xfrm>
          <a:prstGeom prst="roundRect">
            <a:avLst>
              <a:gd name="adj" fmla="val 7500"/>
            </a:avLst>
          </a:prstGeom>
          <a:solidFill>
            <a:schemeClr val="bg2"/>
          </a:solidFill>
          <a:ln/>
        </p:spPr>
      </p:sp>
      <p:sp>
        <p:nvSpPr>
          <p:cNvPr id="8" name="fact-1-value"/>
          <p:cNvSpPr txBox="1"/>
          <p:nvPr/>
        </p:nvSpPr>
        <p:spPr>
          <a:xfrm>
            <a:off x="2592781" y="1481328"/>
            <a:ext cx="1367485" cy="594360"/>
          </a:xfrm>
          <a:prstGeom prst="rect">
            <a:avLst/>
          </a:prstGeom>
          <a:noFill/>
          <a:ln/>
        </p:spPr>
        <p:txBody>
          <a:bodyPr wrap="square" lIns="0" tIns="0" rIns="0" bIns="0" rtlCol="0" anchor="t"/>
          <a:lstStyle/>
          <a:p>
            <a:pPr indent="0" marL="0">
              <a:buNone/>
            </a:pPr>
            <a:r>
              <a:rPr lang="en-US" sz="3000" b="1" dirty="0">
                <a:solidFill>
                  <a:schemeClr val="tx1"/>
                </a:solidFill>
              </a:rPr>
              <a:t>105</a:t>
            </a:r>
            <a:endParaRPr lang="en-US" sz="3000" dirty="0"/>
          </a:p>
        </p:txBody>
      </p:sp>
      <p:sp>
        <p:nvSpPr>
          <p:cNvPr id="9" name="fact-1-label"/>
          <p:cNvSpPr txBox="1"/>
          <p:nvPr/>
        </p:nvSpPr>
        <p:spPr>
          <a:xfrm>
            <a:off x="2592781"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features carried over and checked</a:t>
            </a:r>
            <a:endParaRPr lang="en-US" sz="1300" dirty="0"/>
          </a:p>
        </p:txBody>
      </p:sp>
      <p:sp>
        <p:nvSpPr>
          <p:cNvPr id="10" name="fact-2-card"/>
          <p:cNvSpPr/>
          <p:nvPr/>
        </p:nvSpPr>
        <p:spPr>
          <a:xfrm>
            <a:off x="4307738" y="1371600"/>
            <a:ext cx="1696669" cy="1463040"/>
          </a:xfrm>
          <a:prstGeom prst="roundRect">
            <a:avLst>
              <a:gd name="adj" fmla="val 7500"/>
            </a:avLst>
          </a:prstGeom>
          <a:solidFill>
            <a:schemeClr val="bg2"/>
          </a:solidFill>
          <a:ln/>
        </p:spPr>
      </p:sp>
      <p:sp>
        <p:nvSpPr>
          <p:cNvPr id="11" name="fact-2-value"/>
          <p:cNvSpPr txBox="1"/>
          <p:nvPr/>
        </p:nvSpPr>
        <p:spPr>
          <a:xfrm>
            <a:off x="4472330" y="1481328"/>
            <a:ext cx="1367485" cy="594360"/>
          </a:xfrm>
          <a:prstGeom prst="rect">
            <a:avLst/>
          </a:prstGeom>
          <a:noFill/>
          <a:ln/>
        </p:spPr>
        <p:txBody>
          <a:bodyPr wrap="square" lIns="0" tIns="0" rIns="0" bIns="0" rtlCol="0" anchor="t"/>
          <a:lstStyle/>
          <a:p>
            <a:pPr indent="0" marL="0">
              <a:buNone/>
            </a:pPr>
            <a:r>
              <a:rPr lang="en-US" sz="3000" b="1" dirty="0">
                <a:solidFill>
                  <a:schemeClr val="tx1"/>
                </a:solidFill>
              </a:rPr>
              <a:t>31</a:t>
            </a:r>
            <a:endParaRPr lang="en-US" sz="3000" dirty="0"/>
          </a:p>
        </p:txBody>
      </p:sp>
      <p:sp>
        <p:nvSpPr>
          <p:cNvPr id="12" name="fact-2-label"/>
          <p:cNvSpPr txBox="1"/>
          <p:nvPr/>
        </p:nvSpPr>
        <p:spPr>
          <a:xfrm>
            <a:off x="4472330"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gaps found by AI review</a:t>
            </a:r>
            <a:endParaRPr lang="en-US" sz="1300" dirty="0"/>
          </a:p>
        </p:txBody>
      </p:sp>
      <p:sp>
        <p:nvSpPr>
          <p:cNvPr id="13" name="fact-3-card"/>
          <p:cNvSpPr/>
          <p:nvPr/>
        </p:nvSpPr>
        <p:spPr>
          <a:xfrm>
            <a:off x="6187288" y="1371600"/>
            <a:ext cx="1696669" cy="1463040"/>
          </a:xfrm>
          <a:prstGeom prst="roundRect">
            <a:avLst>
              <a:gd name="adj" fmla="val 7500"/>
            </a:avLst>
          </a:prstGeom>
          <a:solidFill>
            <a:schemeClr val="bg2"/>
          </a:solidFill>
          <a:ln/>
        </p:spPr>
      </p:sp>
      <p:sp>
        <p:nvSpPr>
          <p:cNvPr id="14" name="fact-3-value"/>
          <p:cNvSpPr txBox="1"/>
          <p:nvPr/>
        </p:nvSpPr>
        <p:spPr>
          <a:xfrm>
            <a:off x="6351880" y="1481328"/>
            <a:ext cx="1367485" cy="594360"/>
          </a:xfrm>
          <a:prstGeom prst="rect">
            <a:avLst/>
          </a:prstGeom>
          <a:noFill/>
          <a:ln/>
        </p:spPr>
        <p:txBody>
          <a:bodyPr wrap="square" lIns="0" tIns="0" rIns="0" bIns="0" rtlCol="0" anchor="t"/>
          <a:lstStyle/>
          <a:p>
            <a:pPr indent="0" marL="0">
              <a:buNone/>
            </a:pPr>
            <a:r>
              <a:rPr lang="en-US" sz="3000" b="1" dirty="0">
                <a:solidFill>
                  <a:schemeClr val="accent3"/>
                </a:solidFill>
              </a:rPr>
              <a:t>7</a:t>
            </a:r>
            <a:endParaRPr lang="en-US" sz="3000" dirty="0"/>
          </a:p>
        </p:txBody>
      </p:sp>
      <p:sp>
        <p:nvSpPr>
          <p:cNvPr id="15" name="fact-3-label"/>
          <p:cNvSpPr txBox="1"/>
          <p:nvPr/>
        </p:nvSpPr>
        <p:spPr>
          <a:xfrm>
            <a:off x="6351880"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security issues caught in review</a:t>
            </a:r>
            <a:endParaRPr lang="en-US" sz="1300" dirty="0"/>
          </a:p>
        </p:txBody>
      </p:sp>
      <p:sp>
        <p:nvSpPr>
          <p:cNvPr id="16" name="fact-4-card"/>
          <p:cNvSpPr/>
          <p:nvPr/>
        </p:nvSpPr>
        <p:spPr>
          <a:xfrm>
            <a:off x="8066837" y="1371600"/>
            <a:ext cx="1696669" cy="1463040"/>
          </a:xfrm>
          <a:prstGeom prst="roundRect">
            <a:avLst>
              <a:gd name="adj" fmla="val 7500"/>
            </a:avLst>
          </a:prstGeom>
          <a:solidFill>
            <a:schemeClr val="bg2"/>
          </a:solidFill>
          <a:ln/>
        </p:spPr>
      </p:sp>
      <p:sp>
        <p:nvSpPr>
          <p:cNvPr id="17" name="fact-4-value"/>
          <p:cNvSpPr txBox="1"/>
          <p:nvPr/>
        </p:nvSpPr>
        <p:spPr>
          <a:xfrm>
            <a:off x="8231429" y="1481328"/>
            <a:ext cx="1367485" cy="594360"/>
          </a:xfrm>
          <a:prstGeom prst="rect">
            <a:avLst/>
          </a:prstGeom>
          <a:noFill/>
          <a:ln/>
        </p:spPr>
        <p:txBody>
          <a:bodyPr wrap="square" lIns="0" tIns="0" rIns="0" bIns="0" rtlCol="0" anchor="t"/>
          <a:lstStyle/>
          <a:p>
            <a:pPr indent="0" marL="0">
              <a:buNone/>
            </a:pPr>
            <a:r>
              <a:rPr lang="en-US" sz="3000" b="1" dirty="0">
                <a:solidFill>
                  <a:schemeClr val="accent3"/>
                </a:solidFill>
              </a:rPr>
              <a:t>11</a:t>
            </a:r>
            <a:endParaRPr lang="en-US" sz="3000" dirty="0"/>
          </a:p>
        </p:txBody>
      </p:sp>
      <p:sp>
        <p:nvSpPr>
          <p:cNvPr id="18" name="fact-4-label"/>
          <p:cNvSpPr txBox="1"/>
          <p:nvPr/>
        </p:nvSpPr>
        <p:spPr>
          <a:xfrm>
            <a:off x="8231429"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a:t>
            </a:r>
            <a:endParaRPr lang="en-US" sz="1300" dirty="0"/>
          </a:p>
        </p:txBody>
      </p:sp>
      <p:sp>
        <p:nvSpPr>
          <p:cNvPr id="19" name="fact-5-card"/>
          <p:cNvSpPr/>
          <p:nvPr/>
        </p:nvSpPr>
        <p:spPr>
          <a:xfrm>
            <a:off x="9946386" y="1371600"/>
            <a:ext cx="1696669" cy="1463040"/>
          </a:xfrm>
          <a:prstGeom prst="roundRect">
            <a:avLst>
              <a:gd name="adj" fmla="val 7500"/>
            </a:avLst>
          </a:prstGeom>
          <a:solidFill>
            <a:schemeClr val="bg2"/>
          </a:solidFill>
          <a:ln/>
        </p:spPr>
      </p:sp>
      <p:sp>
        <p:nvSpPr>
          <p:cNvPr id="20" name="fact-5-value"/>
          <p:cNvSpPr txBox="1"/>
          <p:nvPr/>
        </p:nvSpPr>
        <p:spPr>
          <a:xfrm>
            <a:off x="10110978" y="1481328"/>
            <a:ext cx="1367485" cy="594360"/>
          </a:xfrm>
          <a:prstGeom prst="rect">
            <a:avLst/>
          </a:prstGeom>
          <a:noFill/>
          <a:ln/>
        </p:spPr>
        <p:txBody>
          <a:bodyPr wrap="square" lIns="0" tIns="0" rIns="0" bIns="0" rtlCol="0" anchor="t"/>
          <a:lstStyle/>
          <a:p>
            <a:pPr indent="0" marL="0">
              <a:buNone/>
            </a:pPr>
            <a:r>
              <a:rPr lang="en-US" sz="3000" b="1" dirty="0">
                <a:solidFill>
                  <a:schemeClr val="tx1"/>
                </a:solidFill>
              </a:rPr>
              <a:t>0 → 10</a:t>
            </a:r>
            <a:endParaRPr lang="en-US" sz="3000" dirty="0"/>
          </a:p>
        </p:txBody>
      </p:sp>
      <p:sp>
        <p:nvSpPr>
          <p:cNvPr id="21" name="fact-5-label"/>
          <p:cNvSpPr txBox="1"/>
          <p:nvPr/>
        </p:nvSpPr>
        <p:spPr>
          <a:xfrm>
            <a:off x="10110978"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documents: 8 diagrams, 2 guides</a:t>
            </a:r>
            <a:endParaRPr lang="en-US" sz="1300" dirty="0"/>
          </a:p>
        </p:txBody>
      </p:sp>
      <p:sp>
        <p:nvSpPr>
          <p:cNvPr id="22" name="cmp2-old"/>
          <p:cNvSpPr/>
          <p:nvPr/>
        </p:nvSpPr>
        <p:spPr>
          <a:xfrm>
            <a:off x="548640" y="3063240"/>
            <a:ext cx="3611880" cy="2697480"/>
          </a:xfrm>
          <a:prstGeom prst="roundRect">
            <a:avLst>
              <a:gd name="adj" fmla="val 4068"/>
            </a:avLst>
          </a:prstGeom>
          <a:solidFill>
            <a:schemeClr val="bg2"/>
          </a:solidFill>
          <a:ln/>
        </p:spPr>
      </p:sp>
      <p:sp>
        <p:nvSpPr>
          <p:cNvPr id="23" name="cmp2-oldtext"/>
          <p:cNvSpPr txBox="1"/>
          <p:nvPr/>
        </p:nvSpPr>
        <p:spPr>
          <a:xfrm>
            <a:off x="77724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and variables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docs to know what depends on what</a:t>
            </a:r>
            <a:endParaRPr lang="en-US" sz="1100" dirty="0"/>
          </a:p>
        </p:txBody>
      </p:sp>
      <p:sp>
        <p:nvSpPr>
          <p:cNvPr id="24" name="cmp2-new"/>
          <p:cNvSpPr/>
          <p:nvPr/>
        </p:nvSpPr>
        <p:spPr>
          <a:xfrm>
            <a:off x="4389120" y="3063240"/>
            <a:ext cx="3611880" cy="2697480"/>
          </a:xfrm>
          <a:prstGeom prst="roundRect">
            <a:avLst>
              <a:gd name="adj" fmla="val 4068"/>
            </a:avLst>
          </a:prstGeom>
          <a:solidFill>
            <a:schemeClr val="tx1"/>
          </a:solidFill>
          <a:ln/>
        </p:spPr>
      </p:sp>
      <p:sp>
        <p:nvSpPr>
          <p:cNvPr id="25" name="cmp2-newtext"/>
          <p:cNvSpPr txBox="1"/>
          <p:nvPr/>
        </p:nvSpPr>
        <p:spPr>
          <a:xfrm>
            <a:off x="461772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a:t>
            </a:r>
            <a:endParaRPr lang="en-US" sz="1100" dirty="0"/>
          </a:p>
          <a:p>
            <a:pPr marL="342900" indent="-342900">
              <a:spcAft>
                <a:spcPts val="600"/>
              </a:spcAft>
              <a:buSzPct val="100000"/>
              <a:buChar char="•"/>
            </a:pPr>
            <a:r>
              <a:rPr lang="en-US" sz="1400" dirty="0">
                <a:solidFill>
                  <a:schemeClr val="bg1"/>
                </a:solidFill>
              </a:rPr>
              <a:t>25 MB of Slate config became 0.8 MB of typed code (−97%)</a:t>
            </a:r>
            <a:endParaRPr lang="en-US" sz="1100" dirty="0"/>
          </a:p>
        </p:txBody>
      </p:sp>
      <p:sp>
        <p:nvSpPr>
          <p:cNvPr id="26" name="money-card"/>
          <p:cNvSpPr/>
          <p:nvPr/>
        </p:nvSpPr>
        <p:spPr>
          <a:xfrm>
            <a:off x="8229600" y="3063240"/>
            <a:ext cx="3413455" cy="2697480"/>
          </a:xfrm>
          <a:prstGeom prst="roundRect">
            <a:avLst>
              <a:gd name="adj" fmla="val 4068"/>
            </a:avLst>
          </a:prstGeom>
          <a:solidFill>
            <a:schemeClr val="accent4"/>
          </a:solidFill>
          <a:ln/>
        </p:spPr>
      </p:sp>
      <p:sp>
        <p:nvSpPr>
          <p:cNvPr id="27" name="money-text"/>
          <p:cNvSpPr txBox="1"/>
          <p:nvPr/>
        </p:nvSpPr>
        <p:spPr>
          <a:xfrm>
            <a:off x="8458200" y="3200400"/>
            <a:ext cx="2956255" cy="2423160"/>
          </a:xfrm>
          <a:prstGeom prst="rect">
            <a:avLst/>
          </a:prstGeom>
          <a:noFill/>
          <a:ln/>
        </p:spPr>
        <p:txBody>
          <a:bodyPr wrap="square" lIns="0" tIns="0" rIns="0" bIns="0" rtlCol="0" anchor="t"/>
          <a:lstStyle/>
          <a:p>
            <a:pPr indent="0" marL="0">
              <a:buNone/>
            </a:pPr>
            <a:r>
              <a:rPr lang="en-US" sz="4000" b="1" dirty="0">
                <a:solidFill>
                  <a:schemeClr val="bg1"/>
                </a:solidFill>
              </a:rPr>
              <a:t>~$80K</a:t>
            </a:r>
            <a:endParaRPr lang="en-US" sz="4000" dirty="0"/>
          </a:p>
          <a:p>
            <a:pPr indent="0" marL="0">
              <a:buNone/>
            </a:pPr>
            <a:r>
              <a:rPr lang="en-US" sz="1400" b="1" dirty="0">
                <a:solidFill>
                  <a:schemeClr val="bg1"/>
                </a:solidFill>
              </a:rPr>
              <a:t>saved: about 76% less effort than a manual migration</a:t>
            </a:r>
            <a:endParaRPr lang="en-US" sz="4000" dirty="0"/>
          </a:p>
          <a:p>
            <a:pPr indent="0" marL="0">
              <a:buNone/>
            </a:pPr>
            <a:r>
              <a:rPr lang="en-US" sz="800" dirty="0">
                <a:solidFill>
                  <a:srgbClr val="000000"/>
                </a:solidFill>
              </a:rPr>
              <a:t> </a:t>
            </a:r>
            <a:endParaRPr lang="en-US" sz="4000" dirty="0"/>
          </a:p>
          <a:p>
            <a:pPr indent="0" marL="0">
              <a:buNone/>
            </a:pPr>
            <a:r>
              <a:rPr lang="en-US" sz="2800" b="1" dirty="0">
                <a:solidFill>
                  <a:schemeClr val="bg1"/>
                </a:solidFill>
              </a:rPr>
              <a:t>~$10K a year</a:t>
            </a:r>
            <a:endParaRPr lang="en-US" sz="4000" dirty="0"/>
          </a:p>
          <a:p>
            <a:pPr indent="0" marL="0">
              <a:buNone/>
            </a:pPr>
            <a:r>
              <a:rPr lang="en-US" sz="1400" dirty="0">
                <a:solidFill>
                  <a:schemeClr val="accent5"/>
                </a:solidFill>
              </a:rPr>
              <a:t>less maintenance effort</a:t>
            </a:r>
            <a:endParaRPr lang="en-US" sz="4000" dirty="0"/>
          </a:p>
        </p:txBody>
      </p:sp>
      <p:sp>
        <p:nvSpPr>
          <p:cNvPr id="28" name="proof-foot"/>
          <p:cNvSpPr txBox="1"/>
          <p:nvPr/>
        </p:nvSpPr>
        <p:spPr>
          <a:xfrm>
            <a:off x="548640" y="5897880"/>
            <a:ext cx="11094415" cy="502920"/>
          </a:xfrm>
          <a:prstGeom prst="rect">
            <a:avLst/>
          </a:prstGeom>
          <a:noFill/>
          <a:ln/>
        </p:spPr>
        <p:txBody>
          <a:bodyPr wrap="square" lIns="0" tIns="0" rIns="0" bIns="0" rtlCol="0" anchor="t"/>
          <a:lstStyle/>
          <a:p>
            <a:pPr indent="0" marL="0">
              <a:buNone/>
            </a:pPr>
            <a:r>
              <a:rPr lang="en-US" sz="1100" i="1" dirty="0">
                <a:solidFill>
                  <a:schemeClr val="tx2"/>
                </a:solidFill>
              </a:rPr>
              <a:t>Generic estimates at $38.50 per developer hour, 8 hours a day: 4 sprints (≈ $25K) actual against ~17 sprints (≈ $105K) for a manual migration of 105 features. Maintenance: ~20% of build effort a year (≈ $21K), assumed halved by modular, typed, documented code.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childTnLst>
                          </p:cTn>
                        </p:par>
                        <p:par>
                          <p:cTn id="76" fill="hold">
                            <p:stCondLst>
                              <p:cond delay="210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45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450"/>
                                        <p:tgtEl>
                                          <p:spTgt spid="25"/>
                                        </p:tgtEl>
                                      </p:cBhvr>
                                    </p:animEffect>
                                  </p:childTnLst>
                                </p:cTn>
                              </p:par>
                            </p:childTnLst>
                          </p:cTn>
                        </p:par>
                        <p:par>
                          <p:cTn id="83" fill="hold">
                            <p:stCondLst>
                              <p:cond delay="24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5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450"/>
                                        <p:tgtEl>
                                          <p:spTgt spid="27"/>
                                        </p:tgtEl>
                                      </p:cBhvr>
                                    </p:animEffect>
                                  </p:childTnLst>
                                </p:cTn>
                              </p:par>
                            </p:childTnLst>
                          </p:cTn>
                        </p:par>
                        <p:par>
                          <p:cTn id="87" fill="hold">
                            <p:stCondLst>
                              <p:cond delay="2700"/>
                            </p:stCondLst>
                            <p:childTnLst>
                              <p:par>
                                <p:cTn id="84" presetID="10" presetClass="entr" presetSubtype="0" fill="hold" grpId="0" nodeType="after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delivered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Any team starting an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Endorse the playbook as a DevX pattern. We have aligned with [Architect] to propose it at the architecture sync, so functions beyond DMS can use it.</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for go-live,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2026-10-04T12:53:00Z</dcterms:created>
  <dcterms:modified xsi:type="dcterms:W3CDTF">2026-10-04T12:53:00Z</dcterms:modified>
</cp:coreProperties>
</file>