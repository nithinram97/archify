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c385cd09-5aae-0743-b1e1-68604ea84a34}">
          <p14:sldIdLst>
            <p14:sldId id="256"/>
          </p14:sldIdLst>
        </p14:section>
        <p14:section name="Situation" id="{95ebc8af-8776-54ca-2e21-6222fb639e25}">
          <p14:sldIdLst>
            <p14:sldId id="257"/>
            <p14:sldId id="258"/>
          </p14:sldIdLst>
        </p14:section>
        <p14:section name="Complication" id="{39c00a09-d578-d945-fa40-f1d12ac59cab}">
          <p14:sldIdLst>
            <p14:sldId id="259"/>
          </p14:sldIdLst>
        </p14:section>
        <p14:section name="Answer and proof" id="{8514d95d-486b-6719-0466-aa8db855070c}">
          <p14:sldIdLst>
            <p14:sldId id="260"/>
            <p14:sldId id="261"/>
            <p14:sldId id="262"/>
            <p14:sldId id="263"/>
          </p14:sldIdLst>
        </p14:section>
        <p14:section name="Fit and scale" id="{1b799534-7ed1-edee-4cad-ecb7f364ec18}">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multiLvlStrRef>
              <c:f>Sheet1!$A$2:$A$8</c:f>
              <c:multiLvlStrCache>
                <c:ptCount val="7"/>
                <c:lvl>
                  <c:pt idx="0">
                    <c:v>B</c:v>
                  </c:pt>
                  <c:pt idx="1">
                    <c:v>O</c:v>
                  </c:pt>
                  <c:pt idx="2">
                    <c:v>P</c:v>
                  </c:pt>
                  <c:pt idx="3">
                    <c:v>A</c:v>
                  </c:pt>
                  <c:pt idx="4">
                    <c:v>L</c:v>
                  </c:pt>
                  <c:pt idx="5">
                    <c:v>S</c:v>
                  </c:pt>
                  <c:pt idx="6">
                    <c:v>K</c:v>
                  </c:pt>
                </c:lvl>
              </c:multiLvlStrCache>
            </c:multiLvl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At $38.50 per developer hour that is roughly $105,000 against $25,000, around $80,000 saved. Say clearly that this is a generic estimate.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Then the readiness row: be clear the app is not live yet. Everything is checked and the backend sharing fix is deployed; go-live is planned for [date], after which the Slate app is retired. Tell the jury what you will measure after go-live: users retained, page-switch time against Slate, and incidents after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shipped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shipped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5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500" b="1" dirty="0">
                <a:solidFill>
                  <a:schemeClr val="tx1"/>
                </a:solidFill>
              </a:rPr>
              <a:t>Every risk and opportunity review in ERM depends on it working.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4"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5" name="org-card"/>
          <p:cNvSpPr/>
          <p:nvPr/>
        </p:nvSpPr>
        <p:spPr>
          <a:xfrm>
            <a:off x="548640" y="1600200"/>
            <a:ext cx="6766560" cy="4846320"/>
          </a:xfrm>
          <a:prstGeom prst="roundRect">
            <a:avLst>
              <a:gd name="adj" fmla="val 2264"/>
            </a:avLst>
          </a:prstGeom>
          <a:solidFill>
            <a:schemeClr val="bg2"/>
          </a:solidFill>
          <a:ln/>
        </p:spPr>
      </p:sp>
      <p:sp>
        <p:nvSpPr>
          <p:cNvPr id="6"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7"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8"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9" name="loc-card"/>
          <p:cNvSpPr/>
          <p:nvPr/>
        </p:nvSpPr>
        <p:spPr>
          <a:xfrm>
            <a:off x="7589520" y="1600200"/>
            <a:ext cx="4050792" cy="4846320"/>
          </a:xfrm>
          <a:prstGeom prst="roundRect">
            <a:avLst>
              <a:gd name="adj" fmla="val 2709"/>
            </a:avLst>
          </a:prstGeom>
          <a:solidFill>
            <a:schemeClr val="tx1"/>
          </a:solidFill>
          <a:ln/>
        </p:spPr>
      </p:sp>
      <p:sp>
        <p:nvSpPr>
          <p:cNvPr id="10"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1"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a:p>
            <a:pPr indent="0" marL="0">
              <a:buNone/>
            </a:pPr>
            <a:r>
              <a:rPr lang="en-US" sz="1600" b="1" dirty="0">
                <a:solidFill>
                  <a:schemeClr val="bg1"/>
                </a:solidFill>
              </a:rPr>
              <a:t>saved: about 76% 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 $25K) actual vs ~17 sprints (≈ $105K) estimated for 2 developers</a:t>
            </a:r>
            <a:endParaRPr lang="en-US" sz="4800" dirty="0"/>
          </a:p>
          <a:p>
            <a:pPr indent="0" marL="0">
              <a:buNone/>
            </a:pPr>
            <a:r>
              <a:rPr lang="en-US" sz="1100" i="1" dirty="0">
                <a:solidFill>
                  <a:schemeClr val="accent5"/>
                </a:solidFill>
              </a:rPr>
              <a:t>Generic estimate: 105 features × 3 days + 25 days docs ≈ 340 person-days, at $38.50/h</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73152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READY FOR GO-LIVE · [planned date]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Ready now</a:t>
            </a:r>
            <a:endParaRPr lang="en-US" sz="1600" dirty="0"/>
          </a:p>
          <a:p>
            <a:pPr indent="0" marL="0">
              <a:buNone/>
            </a:pPr>
            <a:r>
              <a:rPr lang="en-US" sz="1300" dirty="0">
                <a:solidFill>
                  <a:schemeClr val="tx2"/>
                </a:solidFill>
              </a:rPr>
              <a:t>All 105 features checked against the code; backend sharing fix deployed</a:t>
            </a:r>
            <a:endParaRPr lang="en-US" sz="16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Next</a:t>
            </a:r>
            <a:endParaRPr lang="en-US" sz="1600" dirty="0"/>
          </a:p>
          <a:p>
            <a:pPr indent="0" marL="0">
              <a:buNone/>
            </a:pPr>
            <a:r>
              <a:rPr lang="en-US" sz="1300" dirty="0">
                <a:solidFill>
                  <a:schemeClr val="tx2"/>
                </a:solidFill>
              </a:rPr>
              <a:t>Go-live to 892 users across 6 countries, then retire the Slate app</a:t>
            </a:r>
            <a:endParaRPr lang="en-US" sz="16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We will measure</a:t>
            </a:r>
            <a:endParaRPr lang="en-US" sz="1600" dirty="0"/>
          </a:p>
          <a:p>
            <a:pPr indent="0" marL="0">
              <a:buNone/>
            </a:pPr>
            <a:r>
              <a:rPr lang="en-US" sz="1300" dirty="0">
                <a:solidFill>
                  <a:schemeClr val="tx2"/>
                </a:solidFill>
              </a:rPr>
              <a:t>Users retained, page-switch time against Slate, incidents after release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SUSTAINABILITY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4" name="ease-0-card"/>
          <p:cNvSpPr/>
          <p:nvPr/>
        </p:nvSpPr>
        <p:spPr>
          <a:xfrm>
            <a:off x="548640" y="1371600"/>
            <a:ext cx="2567864" cy="1554480"/>
          </a:xfrm>
          <a:prstGeom prst="roundRect">
            <a:avLst>
              <a:gd name="adj" fmla="val 7059"/>
            </a:avLst>
          </a:prstGeom>
          <a:solidFill>
            <a:schemeClr val="bg1"/>
          </a:solidFill>
          <a:ln/>
        </p:spPr>
      </p:sp>
      <p:sp>
        <p:nvSpPr>
          <p:cNvPr id="5"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6"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shipped in the same PI</a:t>
            </a:r>
            <a:endParaRPr lang="en-US" sz="1300" dirty="0"/>
          </a:p>
        </p:txBody>
      </p:sp>
      <p:sp>
        <p:nvSpPr>
          <p:cNvPr id="7" name="ease-1-card"/>
          <p:cNvSpPr/>
          <p:nvPr/>
        </p:nvSpPr>
        <p:spPr>
          <a:xfrm>
            <a:off x="3390824" y="1371600"/>
            <a:ext cx="2567864" cy="1554480"/>
          </a:xfrm>
          <a:prstGeom prst="roundRect">
            <a:avLst>
              <a:gd name="adj" fmla="val 7059"/>
            </a:avLst>
          </a:prstGeom>
          <a:solidFill>
            <a:schemeClr val="bg1"/>
          </a:solidFill>
          <a:ln/>
        </p:spPr>
      </p:sp>
      <p:sp>
        <p:nvSpPr>
          <p:cNvPr id="8"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9"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10" name="ease-2-card"/>
          <p:cNvSpPr/>
          <p:nvPr/>
        </p:nvSpPr>
        <p:spPr>
          <a:xfrm>
            <a:off x="6233008" y="1371600"/>
            <a:ext cx="2567864" cy="1554480"/>
          </a:xfrm>
          <a:prstGeom prst="roundRect">
            <a:avLst>
              <a:gd name="adj" fmla="val 7059"/>
            </a:avLst>
          </a:prstGeom>
          <a:solidFill>
            <a:schemeClr val="bg1"/>
          </a:solidFill>
          <a:ln/>
        </p:spPr>
      </p:sp>
      <p:sp>
        <p:nvSpPr>
          <p:cNvPr id="11"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2"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3" name="ease-3-card"/>
          <p:cNvSpPr/>
          <p:nvPr/>
        </p:nvSpPr>
        <p:spPr>
          <a:xfrm>
            <a:off x="9075191" y="1371600"/>
            <a:ext cx="2567864" cy="1554480"/>
          </a:xfrm>
          <a:prstGeom prst="roundRect">
            <a:avLst>
              <a:gd name="adj" fmla="val 7059"/>
            </a:avLst>
          </a:prstGeom>
          <a:solidFill>
            <a:schemeClr val="tx1"/>
          </a:solidFill>
          <a:ln/>
        </p:spPr>
      </p:sp>
      <p:sp>
        <p:nvSpPr>
          <p:cNvPr id="14"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5"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6" name="ease-old"/>
          <p:cNvSpPr/>
          <p:nvPr/>
        </p:nvSpPr>
        <p:spPr>
          <a:xfrm>
            <a:off x="548640" y="3154680"/>
            <a:ext cx="5410048" cy="2423160"/>
          </a:xfrm>
          <a:prstGeom prst="roundRect">
            <a:avLst>
              <a:gd name="adj" fmla="val 4528"/>
            </a:avLst>
          </a:prstGeom>
          <a:solidFill>
            <a:schemeClr val="bg1"/>
          </a:solidFill>
          <a:ln/>
        </p:spPr>
      </p:sp>
      <p:sp>
        <p:nvSpPr>
          <p:cNvPr id="17"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8" name="ease-new"/>
          <p:cNvSpPr/>
          <p:nvPr/>
        </p:nvSpPr>
        <p:spPr>
          <a:xfrm>
            <a:off x="6233008" y="3154680"/>
            <a:ext cx="5410048" cy="2423160"/>
          </a:xfrm>
          <a:prstGeom prst="roundRect">
            <a:avLst>
              <a:gd name="adj" fmla="val 4528"/>
            </a:avLst>
          </a:prstGeom>
          <a:solidFill>
            <a:schemeClr val="tx1"/>
          </a:solidFill>
          <a:ln/>
        </p:spPr>
      </p:sp>
      <p:sp>
        <p:nvSpPr>
          <p:cNvPr id="19"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20"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45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450"/>
                                        <p:tgtEl>
                                          <p:spTgt spid="19"/>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shipped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2026-10-04T12:13:51Z</dcterms:created>
  <dcterms:modified xsi:type="dcterms:W3CDTF">2026-10-04T12:13:51Z</dcterms:modified>
</cp:coreProperties>
</file>