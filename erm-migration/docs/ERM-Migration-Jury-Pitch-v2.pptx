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0913389d-fe40-4b35-f775-02699813e442}">
          <p14:sldIdLst>
            <p14:sldId id="256"/>
          </p14:sldIdLst>
        </p14:section>
        <p14:section name="Situation" id="{146a4fb3-8002-73a2-d75a-f0dde4e461f6}">
          <p14:sldIdLst>
            <p14:sldId id="257"/>
          </p14:sldIdLst>
        </p14:section>
        <p14:section name="Complication" id="{d885f62a-c52e-d037-7740-af94192bdde2}">
          <p14:sldIdLst>
            <p14:sldId id="258"/>
          </p14:sldIdLst>
        </p14:section>
        <p14:section name="Answer and proof" id="{42e58e2e-fad3-005b-75d5-487b91187fdd}">
          <p14:sldIdLst>
            <p14:sldId id="259"/>
            <p14:sldId id="260"/>
            <p14:sldId id="261"/>
          </p14:sldIdLst>
        </p14:section>
        <p14:section name="Fit and scale" id="{2cc562e5-8b4b-126e-e637-732b1c97a085}">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5"/>
      </c:catAx>
      <c:valAx>
        <c:axId val="2094734552"/>
        <c:scaling>
          <c:orientation val="minMax"/>
          <c:max val="35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in one view.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Monthly users have grown steadily since launch, to around 300 in 2026. It is not one team's tool: the largest organisation, siglum B, has around 345 users, then O, P, A, L, S and K and about a dozen smaller ones; by site, Blagnac and Hamburg lead, with users in the UK, Spain, Canada and India. Chart values are read from the usage dashboard, so treat them as approximate.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all caught in review; the dashboard sharing-access fix is deployed. We also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Documentation went from nothing to 10 documents. Building features is now easy: in Slate a feature meant wiring widgets, events and variables across 8 exports with no documentation; in React it is one typed component and one OSDK call, pack-project.ts gives AI the whole app, and 25 MB of Slate configuration became 0.8 MB of typed code. On cost: against a generic estimate of about 340 person-days, roughly 17 sprints for two developers, we used 4 sprints, about 76% less effort; at $38.50 per developer hour that is roughly $105,000 against $25,000, around $80,000 saved. Maintenance: with a rule of thumb of 20% of build effort a year, a Slate-equivalent app needs about $21,000 a year; assuming modular, typed, documented code halves that, we save around $10,000 a year. Say clearly these are estimates.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delivered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endorse the playbook as a DevX pattern. We have already aligned with [Architect] to propose it at the architecture sync, so functions beyond DMS can use it; name the first team outside DMS if you have one.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ARM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graphicFrame>
        <p:nvGraphicFramePr>
          <p:cNvPr id="19" name="users-trend" descr=""/>
          <p:cNvGraphicFramePr/>
          <p:nvPr/>
        </p:nvGraphicFramePr>
        <p:xfrm>
          <a:off x="594360" y="3063240"/>
          <a:ext cx="4480560" cy="2971800"/>
        </p:xfrm>
        <a:graphic xmlns:a="http://schemas.openxmlformats.org/drawingml/2006/main">
          <a:graphicData uri="http://schemas.openxmlformats.org/drawingml/2006/chart">
            <c:chart xmlns:c="http://schemas.openxmlformats.org/drawingml/2006/chart" r:id="rId1"/>
          </a:graphicData>
        </a:graphic>
      </p:graphicFrame>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ORGANISATION (SIGLUM 1)</a:t>
            </a:r>
            <a:endParaRPr lang="en-US" sz="1000" dirty="0"/>
          </a:p>
        </p:txBody>
      </p:sp>
      <p:graphicFrame>
        <p:nvGraphicFramePr>
          <p:cNvPr id="23" name="org-chart" descr=""/>
          <p:cNvGraphicFramePr/>
          <p:nvPr/>
        </p:nvGraphicFramePr>
        <p:xfrm>
          <a:off x="5394960" y="3063240"/>
          <a:ext cx="3749040" cy="2971800"/>
        </p:xfrm>
        <a:graphic xmlns:a="http://schemas.openxmlformats.org/drawingml/2006/main">
          <a:graphicData uri="http://schemas.openxmlformats.org/drawingml/2006/chart">
            <c:chart xmlns:c="http://schemas.openxmlformats.org/drawingml/2006/chart" r:id="rId2"/>
          </a:graphicData>
        </a:graphic>
      </p:graphicFrame>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154680"/>
            <a:ext cx="1858975" cy="3154680"/>
          </a:xfrm>
          <a:prstGeom prst="rect">
            <a:avLst/>
          </a:prstGeom>
          <a:noFill/>
          <a:ln/>
        </p:spPr>
        <p:txBody>
          <a:bodyPr wrap="square" lIns="0" tIns="0" rIns="0" bIns="0" rtlCol="0" anchor="t"/>
          <a:lstStyle/>
          <a:p>
            <a:pPr indent="0" marL="0">
              <a:buNone/>
            </a:pPr>
            <a:r>
              <a:rPr lang="en-US" sz="1200" b="1" dirty="0">
                <a:solidFill>
                  <a:schemeClr val="bg1"/>
                </a:solidFill>
              </a:rPr>
              <a:t>France</a:t>
            </a:r>
            <a:endParaRPr lang="en-US" sz="1200" dirty="0"/>
          </a:p>
          <a:p>
            <a:pPr indent="0" marL="0">
              <a:spcAft>
                <a:spcPts val="600"/>
              </a:spcAft>
              <a:buNone/>
            </a:pPr>
            <a:r>
              <a:rPr lang="en-US" sz="1100" dirty="0">
                <a:solidFill>
                  <a:schemeClr val="accent5"/>
                </a:solidFill>
              </a:rPr>
              <a:t>Blagnac 271, Saint-Martin 43</a:t>
            </a:r>
            <a:endParaRPr lang="en-US" sz="1200" dirty="0"/>
          </a:p>
          <a:p>
            <a:pPr indent="0" marL="0">
              <a:buNone/>
            </a:pPr>
            <a:r>
              <a:rPr lang="en-US" sz="1200" b="1" dirty="0">
                <a:solidFill>
                  <a:schemeClr val="bg1"/>
                </a:solidFill>
              </a:rPr>
              <a:t>Germany</a:t>
            </a:r>
            <a:endParaRPr lang="en-US" sz="1200" dirty="0"/>
          </a:p>
          <a:p>
            <a:pPr indent="0" marL="0">
              <a:spcAft>
                <a:spcPts val="600"/>
              </a:spcAft>
              <a:buNone/>
            </a:pPr>
            <a:r>
              <a:rPr lang="en-US" sz="1100" dirty="0">
                <a:solidFill>
                  <a:schemeClr val="accent5"/>
                </a:solidFill>
              </a:rPr>
              <a:t>Hamburg 205</a:t>
            </a:r>
            <a:endParaRPr lang="en-US" sz="1200" dirty="0"/>
          </a:p>
          <a:p>
            <a:pPr indent="0" marL="0">
              <a:buNone/>
            </a:pPr>
            <a:r>
              <a:rPr lang="en-US" sz="1200" b="1" dirty="0">
                <a:solidFill>
                  <a:schemeClr val="bg1"/>
                </a:solidFill>
              </a:rPr>
              <a:t>United Kingdom</a:t>
            </a:r>
            <a:endParaRPr lang="en-US" sz="1200" dirty="0"/>
          </a:p>
          <a:p>
            <a:pPr indent="0" marL="0">
              <a:spcAft>
                <a:spcPts val="600"/>
              </a:spcAft>
              <a:buNone/>
            </a:pPr>
            <a:r>
              <a:rPr lang="en-US" sz="1100" dirty="0">
                <a:solidFill>
                  <a:schemeClr val="accent5"/>
                </a:solidFill>
              </a:rPr>
              <a:t>Broughton 32, Filton 26</a:t>
            </a:r>
            <a:endParaRPr lang="en-US" sz="1200" dirty="0"/>
          </a:p>
          <a:p>
            <a:pPr indent="0" marL="0">
              <a:buNone/>
            </a:pPr>
            <a:r>
              <a:rPr lang="en-US" sz="1200" b="1" dirty="0">
                <a:solidFill>
                  <a:schemeClr val="bg1"/>
                </a:solidFill>
              </a:rPr>
              <a:t>Spain</a:t>
            </a:r>
            <a:endParaRPr lang="en-US" sz="1200" dirty="0"/>
          </a:p>
          <a:p>
            <a:pPr indent="0" marL="0">
              <a:spcAft>
                <a:spcPts val="600"/>
              </a:spcAft>
              <a:buNone/>
            </a:pPr>
            <a:r>
              <a:rPr lang="en-US" sz="1100" dirty="0">
                <a:solidFill>
                  <a:schemeClr val="accent5"/>
                </a:solidFill>
              </a:rPr>
              <a:t>Getafe 25</a:t>
            </a:r>
            <a:endParaRPr lang="en-US" sz="1200" dirty="0"/>
          </a:p>
          <a:p>
            <a:pPr indent="0" marL="0">
              <a:buNone/>
            </a:pPr>
            <a:r>
              <a:rPr lang="en-US" sz="1200" b="1" dirty="0">
                <a:solidFill>
                  <a:schemeClr val="bg1"/>
                </a:solidFill>
              </a:rPr>
              <a:t>Canada</a:t>
            </a:r>
            <a:endParaRPr lang="en-US" sz="1200" dirty="0"/>
          </a:p>
          <a:p>
            <a:pPr indent="0" marL="0">
              <a:spcAft>
                <a:spcPts val="600"/>
              </a:spcAft>
              <a:buNone/>
            </a:pPr>
            <a:r>
              <a:rPr lang="en-US" sz="1100" dirty="0">
                <a:solidFill>
                  <a:schemeClr val="accent5"/>
                </a:solidFill>
              </a:rPr>
              <a:t>Mirabel 12</a:t>
            </a:r>
            <a:endParaRPr lang="en-US" sz="1200" dirty="0"/>
          </a:p>
          <a:p>
            <a:pPr indent="0" marL="0">
              <a:buNone/>
            </a:pPr>
            <a:r>
              <a:rPr lang="en-US" sz="1200" b="1" dirty="0">
                <a:solidFill>
                  <a:schemeClr val="bg1"/>
                </a:solidFill>
              </a:rPr>
              <a:t>India</a:t>
            </a:r>
            <a:endParaRPr lang="en-US" sz="1200" dirty="0"/>
          </a:p>
          <a:p>
            <a:pPr indent="0" marL="0">
              <a:spcAft>
                <a:spcPts val="600"/>
              </a:spcAft>
              <a:buNone/>
            </a:pPr>
            <a:r>
              <a:rPr lang="en-US" sz="1100" dirty="0">
                <a:solidFill>
                  <a:schemeClr val="accent5"/>
                </a:solidFill>
              </a:rPr>
              <a:t>Bangalore 7</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22" presetClass="entr" presetSubtype="8" fill="hold" grpId="0" nodeType="withEffect">
                                  <p:stCondLst>
                                    <p:cond delay="20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1 PI</a:t>
            </a:r>
            <a:endParaRPr lang="en-US" sz="3000" dirty="0"/>
          </a:p>
        </p:txBody>
      </p:sp>
      <p:sp>
        <p:nvSpPr>
          <p:cNvPr id="6" name="fact-0-label"/>
          <p:cNvSpPr txBox="1"/>
          <p:nvPr/>
        </p:nvSpPr>
        <p:spPr>
          <a:xfrm>
            <a:off x="713232"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2 developers, whole migration</a:t>
            </a:r>
            <a:endParaRPr lang="en-US" sz="13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105</a:t>
            </a:r>
            <a:endParaRPr lang="en-US" sz="3000" dirty="0"/>
          </a:p>
        </p:txBody>
      </p:sp>
      <p:sp>
        <p:nvSpPr>
          <p:cNvPr id="9" name="fact-1-label"/>
          <p:cNvSpPr txBox="1"/>
          <p:nvPr/>
        </p:nvSpPr>
        <p:spPr>
          <a:xfrm>
            <a:off x="2592781"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31</a:t>
            </a:r>
            <a:endParaRPr lang="en-US" sz="3000" dirty="0"/>
          </a:p>
        </p:txBody>
      </p:sp>
      <p:sp>
        <p:nvSpPr>
          <p:cNvPr id="12" name="fact-2-label"/>
          <p:cNvSpPr txBox="1"/>
          <p:nvPr/>
        </p:nvSpPr>
        <p:spPr>
          <a:xfrm>
            <a:off x="4472330"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gaps found by AI review</a:t>
            </a:r>
            <a:endParaRPr lang="en-US" sz="13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94360"/>
          </a:xfrm>
          <a:prstGeom prst="rect">
            <a:avLst/>
          </a:prstGeom>
          <a:noFill/>
          <a:ln/>
        </p:spPr>
        <p:txBody>
          <a:bodyPr wrap="square" lIns="0" tIns="0" rIns="0" bIns="0" rtlCol="0" anchor="t"/>
          <a:lstStyle/>
          <a:p>
            <a:pPr indent="0" marL="0">
              <a:buNone/>
            </a:pPr>
            <a:r>
              <a:rPr lang="en-US" sz="3000" b="1" dirty="0">
                <a:solidFill>
                  <a:schemeClr val="accent3"/>
                </a:solidFill>
              </a:rPr>
              <a:t>7</a:t>
            </a:r>
            <a:endParaRPr lang="en-US" sz="3000" dirty="0"/>
          </a:p>
        </p:txBody>
      </p:sp>
      <p:sp>
        <p:nvSpPr>
          <p:cNvPr id="15" name="fact-3-label"/>
          <p:cNvSpPr txBox="1"/>
          <p:nvPr/>
        </p:nvSpPr>
        <p:spPr>
          <a:xfrm>
            <a:off x="6351880"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security issues caught in review</a:t>
            </a:r>
            <a:endParaRPr lang="en-US" sz="13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94360"/>
          </a:xfrm>
          <a:prstGeom prst="rect">
            <a:avLst/>
          </a:prstGeom>
          <a:noFill/>
          <a:ln/>
        </p:spPr>
        <p:txBody>
          <a:bodyPr wrap="square" lIns="0" tIns="0" rIns="0" bIns="0" rtlCol="0" anchor="t"/>
          <a:lstStyle/>
          <a:p>
            <a:pPr indent="0" marL="0">
              <a:buNone/>
            </a:pPr>
            <a:r>
              <a:rPr lang="en-US" sz="3000" b="1" dirty="0">
                <a:solidFill>
                  <a:schemeClr val="accent3"/>
                </a:solidFill>
              </a:rPr>
              <a:t>11</a:t>
            </a:r>
            <a:endParaRPr lang="en-US" sz="3000" dirty="0"/>
          </a:p>
        </p:txBody>
      </p:sp>
      <p:sp>
        <p:nvSpPr>
          <p:cNvPr id="18" name="fact-4-label"/>
          <p:cNvSpPr txBox="1"/>
          <p:nvPr/>
        </p:nvSpPr>
        <p:spPr>
          <a:xfrm>
            <a:off x="8231429"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a:t>
            </a:r>
            <a:endParaRPr lang="en-US" sz="13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94360"/>
          </a:xfrm>
          <a:prstGeom prst="rect">
            <a:avLst/>
          </a:prstGeom>
          <a:noFill/>
          <a:ln/>
        </p:spPr>
        <p:txBody>
          <a:bodyPr wrap="square" lIns="0" tIns="0" rIns="0" bIns="0" rtlCol="0" anchor="t"/>
          <a:lstStyle/>
          <a:p>
            <a:pPr indent="0" marL="0">
              <a:buNone/>
            </a:pPr>
            <a:r>
              <a:rPr lang="en-US" sz="3000" b="1" dirty="0">
                <a:solidFill>
                  <a:schemeClr val="tx1"/>
                </a:solidFill>
              </a:rPr>
              <a:t>0 → 10</a:t>
            </a:r>
            <a:endParaRPr lang="en-US" sz="3000" dirty="0"/>
          </a:p>
        </p:txBody>
      </p:sp>
      <p:sp>
        <p:nvSpPr>
          <p:cNvPr id="21" name="fact-5-label"/>
          <p:cNvSpPr txBox="1"/>
          <p:nvPr/>
        </p:nvSpPr>
        <p:spPr>
          <a:xfrm>
            <a:off x="10110978" y="2103120"/>
            <a:ext cx="1367485" cy="640080"/>
          </a:xfrm>
          <a:prstGeom prst="rect">
            <a:avLst/>
          </a:prstGeom>
          <a:noFill/>
          <a:ln/>
        </p:spPr>
        <p:txBody>
          <a:bodyPr wrap="square" lIns="0" tIns="0" rIns="0" bIns="0" rtlCol="0" anchor="t"/>
          <a:lstStyle/>
          <a:p>
            <a:pPr indent="0" marL="0">
              <a:buNone/>
            </a:pPr>
            <a:r>
              <a:rPr lang="en-US" sz="1300" dirty="0">
                <a:solidFill>
                  <a:schemeClr val="tx2"/>
                </a:solidFill>
              </a:rPr>
              <a:t>documents: 8 diagrams, 2 guides</a:t>
            </a:r>
            <a:endParaRPr lang="en-US" sz="13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and variables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docs to know what depends on what</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a:t>
            </a:r>
            <a:endParaRPr lang="en-US" sz="1100" dirty="0"/>
          </a:p>
          <a:p>
            <a:pPr marL="342900" indent="-342900">
              <a:spcAft>
                <a:spcPts val="600"/>
              </a:spcAft>
              <a:buSzPct val="100000"/>
              <a:buChar char="•"/>
            </a:pPr>
            <a:r>
              <a:rPr lang="en-US" sz="1400" dirty="0">
                <a:solidFill>
                  <a:schemeClr val="bg1"/>
                </a:solidFill>
              </a:rPr>
              <a:t>25 MB of Slate config became 0.8 MB of typed code (−97%)</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t"/>
          <a:lstStyle/>
          <a:p>
            <a:pPr indent="0" marL="0">
              <a:buNone/>
            </a:pPr>
            <a:r>
              <a:rPr lang="en-US" sz="4000" b="1" dirty="0">
                <a:solidFill>
                  <a:schemeClr val="bg1"/>
                </a:solidFill>
              </a:rPr>
              <a:t>~$80K</a:t>
            </a:r>
            <a:endParaRPr lang="en-US" sz="4000" dirty="0"/>
          </a:p>
          <a:p>
            <a:pPr indent="0" marL="0">
              <a:buNone/>
            </a:pPr>
            <a:r>
              <a:rPr lang="en-US" sz="1400" b="1" dirty="0">
                <a:solidFill>
                  <a:schemeClr val="bg1"/>
                </a:solidFill>
              </a:rPr>
              <a:t>saved: about 76% less effort than a manual migration</a:t>
            </a:r>
            <a:endParaRPr lang="en-US" sz="4000" dirty="0"/>
          </a:p>
          <a:p>
            <a:pPr indent="0" marL="0">
              <a:buNone/>
            </a:pPr>
            <a:r>
              <a:rPr lang="en-US" sz="800" dirty="0">
                <a:solidFill>
                  <a:srgbClr val="000000"/>
                </a:solidFill>
              </a:rPr>
              <a:t> </a:t>
            </a:r>
            <a:endParaRPr lang="en-US" sz="4000" dirty="0"/>
          </a:p>
          <a:p>
            <a:pPr indent="0" marL="0">
              <a:buNone/>
            </a:pPr>
            <a:r>
              <a:rPr lang="en-US" sz="2800" b="1" dirty="0">
                <a:solidFill>
                  <a:schemeClr val="bg1"/>
                </a:solidFill>
              </a:rPr>
              <a:t>~$10K a year</a:t>
            </a:r>
            <a:endParaRPr lang="en-US" sz="4000" dirty="0"/>
          </a:p>
          <a:p>
            <a:pPr indent="0" marL="0">
              <a:buNone/>
            </a:pPr>
            <a:r>
              <a:rPr lang="en-US" sz="1400" dirty="0">
                <a:solidFill>
                  <a:schemeClr val="accent5"/>
                </a:solidFill>
              </a:rPr>
              <a:t>less maintenance effort</a:t>
            </a:r>
            <a:endParaRPr lang="en-US" sz="40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Generic estimates at $38.50 per developer hour, 8 hours a day: 4 sprints (≈ $25K) actual against ~17 sprints (≈ $105K) for a manual migration of 105 features. Maintenance: ~20% of build effort a year (≈ $21K), assumed halved by modular, typed,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delivered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2026-10-04T15:01:25Z</dcterms:created>
  <dcterms:modified xsi:type="dcterms:W3CDTF">2026-10-04T15:01:25Z</dcterms:modified>
</cp:coreProperties>
</file>