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2b2d7114-d823-b424-9d64-c0d3e9213a57}">
          <p14:sldIdLst>
            <p14:sldId id="256"/>
          </p14:sldIdLst>
        </p14:section>
        <p14:section name="Situation" id="{28bc32a9-d50c-0057-d80a-627b7e73cebf}">
          <p14:sldIdLst>
            <p14:sldId id="257"/>
          </p14:sldIdLst>
        </p14:section>
        <p14:section name="Complication" id="{94e86031-1ccd-9354-9f15-feaa44d6bae9}">
          <p14:sldIdLst>
            <p14:sldId id="258"/>
          </p14:sldIdLst>
        </p14:section>
        <p14:section name="Answer and proof" id="{306d7dee-85cc-f0da-2c90-830d004c7327}">
          <p14:sldIdLst>
            <p14:sldId id="259"/>
            <p14:sldId id="260"/>
          </p14:sldIdLst>
        </p14:section>
        <p14:section name="Fit and scale" id="{03418415-bf70-30a9-d0b5-9b9fcd4d0bc2}">
          <p14:sldIdLst>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085CA"/>
              </a:solidFill>
              <a:ln w="9525" cap="flat">
                <a:solidFill>
                  <a:srgbClr val="0085CA"/>
                </a:solidFill>
                <a:prstDash val="solid"/>
                <a:round/>
              </a:ln>
              <a:effectLst/>
            </c:spPr>
          </c:marker>
          <c:cat>
            <c:multiLvlStrRef>
              <c:f>Sheet1!$A$2:$A$24</c:f>
              <c:multiLvlStrCache>
                <c:ptCount val="23"/>
                <c:lvl>
                  <c:pt idx="0">
                    <c:v>Aug 24</c:v>
                  </c:pt>
                  <c:pt idx="1">
                    <c:v>Sep 24</c:v>
                  </c:pt>
                  <c:pt idx="2">
                    <c:v>Oct 24</c:v>
                  </c:pt>
                  <c:pt idx="3">
                    <c:v>Nov 24</c:v>
                  </c:pt>
                  <c:pt idx="4">
                    <c:v>Dec 24</c:v>
                  </c:pt>
                  <c:pt idx="5">
                    <c:v>Jan 25</c:v>
                  </c:pt>
                  <c:pt idx="6">
                    <c:v>Feb 25</c:v>
                  </c:pt>
                  <c:pt idx="7">
                    <c:v>Mar 25</c:v>
                  </c:pt>
                  <c:pt idx="8">
                    <c:v>Apr 25</c:v>
                  </c:pt>
                  <c:pt idx="9">
                    <c:v>May 25</c:v>
                  </c:pt>
                  <c:pt idx="10">
                    <c:v>Jun 25</c:v>
                  </c:pt>
                  <c:pt idx="11">
                    <c:v>Jul 25</c:v>
                  </c:pt>
                  <c:pt idx="12">
                    <c:v>Aug 25</c:v>
                  </c:pt>
                  <c:pt idx="13">
                    <c:v>Sep 25</c:v>
                  </c:pt>
                  <c:pt idx="14">
                    <c:v>Oct 25</c:v>
                  </c:pt>
                  <c:pt idx="15">
                    <c:v>Nov 25</c:v>
                  </c:pt>
                  <c:pt idx="16">
                    <c:v>Dec 25</c:v>
                  </c:pt>
                  <c:pt idx="17">
                    <c:v>Jan 26</c:v>
                  </c:pt>
                  <c:pt idx="18">
                    <c:v>Feb 26</c:v>
                  </c:pt>
                  <c:pt idx="19">
                    <c:v>Mar 26</c:v>
                  </c:pt>
                  <c:pt idx="20">
                    <c:v>Apr 26</c:v>
                  </c:pt>
                  <c:pt idx="21">
                    <c:v>May 26</c:v>
                  </c:pt>
                  <c:pt idx="22">
                    <c:v>Jun 26</c:v>
                  </c:pt>
                </c:lvl>
              </c:multiLvlStrCache>
            </c:multiLvl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tickLblSkip val="2"/>
      </c:catAx>
      <c:valAx>
        <c:axId val="2094734552"/>
        <c:scaling>
          <c:orientation val="minMax"/>
          <c:max val="350"/>
          <c:min val="0"/>
        </c:scaling>
        <c:delete val="0"/>
        <c:axPos val="l"/>
        <c:majorGridlines>
          <c:spPr>
            <a:ln w="9525" cap="flat">
              <a:solidFill>
                <a:srgbClr val="DCE3EE"/>
              </a:solidFill>
              <a:prstDash val="solid"/>
              <a:round/>
            </a:ln>
          </c:spPr>
        </c:majorGridlines>
        <c:title>
          <c:tx>
            <c:rich>
              <a:bodyPr/>
              <a:lstStyle/>
              <a:p>
                <a:pPr>
                  <a:defRPr sz="1000" b="0" i="0" u="none" strike="noStrike">
                    <a:solidFill>
                      <a:srgbClr val="4A5568"/>
                    </a:solidFill>
                    <a:latin typeface="Arial"/>
                  </a:defRPr>
                </a:pPr>
                <a:r>
                  <a:rPr sz="1000" b="0" i="0" u="none" strike="noStrike">
                    <a:solidFill>
                      <a:srgbClr val="4A5568"/>
                    </a:solidFill>
                    <a:latin typeface="Arial"/>
                  </a:rPr>
                  <a:t>Unique users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answer first, in one breath: two developers moved ERM, a business-critical Slate application with no documentation, to Airbus DevX with React and OSDK in a single PI, using an AI-assisted method we designed and that any team can reuse. Then: let me show you why that was hard, what we did differently, and the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stakes. ERM is where Airbus risk managers manage ARM risks and opportunities: custom dashboards, live editing, trend following, governed quarterly releases and sharing across divisions. 892 people have used it; more than 320 are active in a peak month; more than 1,600 dashboards exist and more than 10 are updated every day, from Blagnac and Hamburg to Broughton, Getafe, Mirabel and Bangalore. Usage has grown steadily since launch. So whatever we did, we could not break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complication. In Slate, one simple action triggers a cascade of widgets, events, actions and variables, so any change risks breaking something unrelated, and every tab switch recalculates large variable trees. And nothing was documented: 8 exports, about 25 MB of configuration. Let the animation play: the app breaks into a shell and 7 modules, and 105 features come out of it. Then ask the question on screen: how do two developers move 105 hidden features in one PI without breaking risk reporting?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innovation. A usual migration starts with interviews and clicking through screens, reads code in fragments, finds gaps late in testing and documents afterwards, if at all. We flipped it. The AI read all 8 Slate exports and catalogued 105 features. Our script, pack-project.ts, packs the whole React app into one dated file, so the AI sees every component and OSDK call at once. The AI then checked every feature against the code and found 31 gaps; people reviewed, fixed and deployed. The diagrams were produced alongside the work. AI drafts, people verify. If time allows, show the live app here for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hard facts first. One PI. Two developers. All 105 features carried over and checked. The AI review found and prioritised 31 gaps, including 7 security and data-integrity issues such as unsanitised rich text and permission checks, all caught in review; the dashboard sharing-access fix is deployed. Documentation went from nothing to 10 documents. Against a generic estimate of about 340 person-days, roughly 17 sprints for two developers, we used 4 sprints: about 76% less effort. Say clearly that this is a generic estimate. Then the after-go-live row: fill in real numbers for users retained, page-switch time and incidents before presenting, or remove the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strategic fit and teamwork; the flow builds one branch at a time. One: Leverage AI to solve business problems. The AI read all 8 Slate exports and the packed React code, recovered 105 features from an undocumented app and found 31 gaps. Two: Deliver on time, on cost, on quality. Two developers delivered it in one PI, about 76% less effort than a generic manual estimate. Three: Ensure our operational performance. ERM is a business system; every one of its 105 features was tracked for parity, and it now runs on standard, maintainable React and OSDK code instead of legacy Slate configuration. Four: Grow digital acumen and competencies. pack-project.ts and the playbook mean other teams can repeat this, which builds AI-assisted engineering skills across the organisation. Finally the team strip: business users confirmed the feature catalogue, data and security owners kept the restricted-view access model intact, and backend and frontend fixes shipped together. Name the people and teams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scale and make an ask. The method is five steps: pack, extract, compare, fix, document. The pieces are ready to reuse: pack-project.ts, the comparison template and the diagram formats. It fits other Slate apps and any low-code tool with little documentation. Then the ask: fill in what you want from the jury or leadership, for example sponsorship to run the playbook on a number of other Slate apps next PI, or a team to pilot it. End on the line on screen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251460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QUARTERLY AWARDS · INNOVATION</a:t>
            </a:r>
            <a:endParaRPr lang="en-US" sz="1400" dirty="0"/>
          </a:p>
        </p:txBody>
      </p:sp>
      <p:sp>
        <p:nvSpPr>
          <p:cNvPr id="3" name="cover-title"/>
          <p:cNvSpPr txBox="1"/>
          <p:nvPr/>
        </p:nvSpPr>
        <p:spPr>
          <a:xfrm>
            <a:off x="3383280" y="2880360"/>
            <a:ext cx="8503920" cy="685800"/>
          </a:xfrm>
          <a:prstGeom prst="rect">
            <a:avLst/>
          </a:prstGeom>
          <a:noFill/>
          <a:ln/>
        </p:spPr>
        <p:txBody>
          <a:bodyPr wrap="square" lIns="0" tIns="0" rIns="0" bIns="0" rtlCol="0" anchor="t"/>
          <a:lstStyle/>
          <a:p>
            <a:pPr indent="0" marL="0">
              <a:buNone/>
            </a:pPr>
            <a:r>
              <a:rPr lang="en-US" sz="3600" b="1" dirty="0">
                <a:solidFill>
                  <a:schemeClr val="bg1"/>
                </a:solidFill>
              </a:rPr>
              <a:t>Enterprise Risk Management (ERM)</a:t>
            </a:r>
            <a:endParaRPr lang="en-US" sz="3600" dirty="0"/>
          </a:p>
        </p:txBody>
      </p:sp>
      <p:sp>
        <p:nvSpPr>
          <p:cNvPr id="4" name="cover-answer"/>
          <p:cNvSpPr txBox="1"/>
          <p:nvPr/>
        </p:nvSpPr>
        <p:spPr>
          <a:xfrm>
            <a:off x="3383280" y="3611880"/>
            <a:ext cx="8321040" cy="914400"/>
          </a:xfrm>
          <a:prstGeom prst="rect">
            <a:avLst/>
          </a:prstGeom>
          <a:noFill/>
          <a:ln/>
        </p:spPr>
        <p:txBody>
          <a:bodyPr wrap="square" lIns="0" tIns="0" rIns="0" bIns="0" rtlCol="0" anchor="t"/>
          <a:lstStyle/>
          <a:p>
            <a:pPr indent="0" marL="0">
              <a:buNone/>
            </a:pPr>
            <a:r>
              <a:rPr lang="en-US" sz="2000" dirty="0">
                <a:solidFill>
                  <a:schemeClr val="bg1"/>
                </a:solidFill>
              </a:rPr>
              <a:t>2 developers moved a business-critical, undocumented app to Airbus DevX in one PI, with an AI method any team can reuse</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STAKES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is business-critical for 892 risk managers</a:t>
            </a:r>
            <a:endParaRPr lang="en-US" sz="3600" dirty="0"/>
          </a:p>
        </p:txBody>
      </p:sp>
      <p:sp>
        <p:nvSpPr>
          <p:cNvPr id="4" name="kpi-0-card"/>
          <p:cNvSpPr/>
          <p:nvPr/>
        </p:nvSpPr>
        <p:spPr>
          <a:xfrm>
            <a:off x="548640" y="1371600"/>
            <a:ext cx="2567864" cy="1417320"/>
          </a:xfrm>
          <a:prstGeom prst="roundRect">
            <a:avLst>
              <a:gd name="adj" fmla="val 7742"/>
            </a:avLst>
          </a:prstGeom>
          <a:solidFill>
            <a:schemeClr val="tx1"/>
          </a:solidFill>
          <a:ln/>
        </p:spPr>
      </p:sp>
      <p:sp>
        <p:nvSpPr>
          <p:cNvPr id="5" name="kpi-0-label"/>
          <p:cNvSpPr txBox="1"/>
          <p:nvPr/>
        </p:nvSpPr>
        <p:spPr>
          <a:xfrm>
            <a:off x="749808" y="1481328"/>
            <a:ext cx="2165528"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LIFETIME UNIQUE USERS</a:t>
            </a:r>
            <a:endParaRPr lang="en-US" sz="1000" dirty="0"/>
          </a:p>
        </p:txBody>
      </p:sp>
      <p:sp>
        <p:nvSpPr>
          <p:cNvPr id="6" name="kpi-0-value"/>
          <p:cNvSpPr txBox="1"/>
          <p:nvPr/>
        </p:nvSpPr>
        <p:spPr>
          <a:xfrm>
            <a:off x="749808" y="1737360"/>
            <a:ext cx="2165528" cy="594360"/>
          </a:xfrm>
          <a:prstGeom prst="rect">
            <a:avLst/>
          </a:prstGeom>
          <a:noFill/>
          <a:ln/>
        </p:spPr>
        <p:txBody>
          <a:bodyPr wrap="square" lIns="0" tIns="0" rIns="0" bIns="0" rtlCol="0" anchor="t"/>
          <a:lstStyle/>
          <a:p>
            <a:pPr indent="0" marL="0">
              <a:buNone/>
            </a:pPr>
            <a:r>
              <a:rPr lang="en-US" sz="3400" b="1" dirty="0">
                <a:solidFill>
                  <a:schemeClr val="bg1"/>
                </a:solidFill>
              </a:rPr>
              <a:t>892</a:t>
            </a:r>
            <a:endParaRPr lang="en-US" sz="3400" dirty="0"/>
          </a:p>
        </p:txBody>
      </p:sp>
      <p:sp>
        <p:nvSpPr>
          <p:cNvPr id="7" name="kpi-0-desc"/>
          <p:cNvSpPr txBox="1"/>
          <p:nvPr/>
        </p:nvSpPr>
        <p:spPr>
          <a:xfrm>
            <a:off x="749808" y="2331720"/>
            <a:ext cx="2165528" cy="365760"/>
          </a:xfrm>
          <a:prstGeom prst="rect">
            <a:avLst/>
          </a:prstGeom>
          <a:noFill/>
          <a:ln/>
        </p:spPr>
        <p:txBody>
          <a:bodyPr wrap="square" lIns="0" tIns="0" rIns="0" bIns="0" rtlCol="0" anchor="t"/>
          <a:lstStyle/>
          <a:p>
            <a:pPr indent="0" marL="0">
              <a:buNone/>
            </a:pPr>
            <a:r>
              <a:rPr lang="en-US" sz="1200" dirty="0">
                <a:solidFill>
                  <a:schemeClr val="accent5"/>
                </a:solidFill>
              </a:rPr>
              <a:t>Across engineering, programmes and operations</a:t>
            </a:r>
            <a:endParaRPr lang="en-US" sz="1200" dirty="0"/>
          </a:p>
        </p:txBody>
      </p:sp>
      <p:sp>
        <p:nvSpPr>
          <p:cNvPr id="8" name="kpi-1-card"/>
          <p:cNvSpPr/>
          <p:nvPr/>
        </p:nvSpPr>
        <p:spPr>
          <a:xfrm>
            <a:off x="3390824" y="1371600"/>
            <a:ext cx="2567864" cy="1417320"/>
          </a:xfrm>
          <a:prstGeom prst="roundRect">
            <a:avLst>
              <a:gd name="adj" fmla="val 7742"/>
            </a:avLst>
          </a:prstGeom>
          <a:solidFill>
            <a:schemeClr val="bg1"/>
          </a:solidFill>
          <a:ln/>
        </p:spPr>
      </p:sp>
      <p:sp>
        <p:nvSpPr>
          <p:cNvPr id="9" name="kpi-1-label"/>
          <p:cNvSpPr txBox="1"/>
          <p:nvPr/>
        </p:nvSpPr>
        <p:spPr>
          <a:xfrm>
            <a:off x="3591992" y="148132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MONTHLY ACTIVE PEAK</a:t>
            </a:r>
            <a:endParaRPr lang="en-US" sz="1000" dirty="0"/>
          </a:p>
        </p:txBody>
      </p:sp>
      <p:sp>
        <p:nvSpPr>
          <p:cNvPr id="10" name="kpi-1-value"/>
          <p:cNvSpPr txBox="1"/>
          <p:nvPr/>
        </p:nvSpPr>
        <p:spPr>
          <a:xfrm>
            <a:off x="3591992" y="1737360"/>
            <a:ext cx="2165528" cy="594360"/>
          </a:xfrm>
          <a:prstGeom prst="rect">
            <a:avLst/>
          </a:prstGeom>
          <a:noFill/>
          <a:ln/>
        </p:spPr>
        <p:txBody>
          <a:bodyPr wrap="square" lIns="0" tIns="0" rIns="0" bIns="0" rtlCol="0" anchor="t"/>
          <a:lstStyle/>
          <a:p>
            <a:pPr indent="0" marL="0">
              <a:buNone/>
            </a:pPr>
            <a:r>
              <a:rPr lang="en-US" sz="3400" b="1" dirty="0">
                <a:solidFill>
                  <a:schemeClr val="tx1"/>
                </a:solidFill>
              </a:rPr>
              <a:t>320+</a:t>
            </a:r>
            <a:endParaRPr lang="en-US" sz="3400" dirty="0"/>
          </a:p>
        </p:txBody>
      </p:sp>
      <p:sp>
        <p:nvSpPr>
          <p:cNvPr id="11" name="kpi-1-desc"/>
          <p:cNvSpPr txBox="1"/>
          <p:nvPr/>
        </p:nvSpPr>
        <p:spPr>
          <a:xfrm>
            <a:off x="3591992" y="2331720"/>
            <a:ext cx="2165528" cy="365760"/>
          </a:xfrm>
          <a:prstGeom prst="rect">
            <a:avLst/>
          </a:prstGeom>
          <a:noFill/>
          <a:ln/>
        </p:spPr>
        <p:txBody>
          <a:bodyPr wrap="square" lIns="0" tIns="0" rIns="0" bIns="0" rtlCol="0" anchor="t"/>
          <a:lstStyle/>
          <a:p>
            <a:pPr indent="0" marL="0">
              <a:buNone/>
            </a:pPr>
            <a:r>
              <a:rPr lang="en-US" sz="1200" dirty="0">
                <a:solidFill>
                  <a:schemeClr val="tx2"/>
                </a:solidFill>
              </a:rPr>
              <a:t>Active risk managers per reporting month</a:t>
            </a:r>
            <a:endParaRPr lang="en-US" sz="1200" dirty="0"/>
          </a:p>
        </p:txBody>
      </p:sp>
      <p:sp>
        <p:nvSpPr>
          <p:cNvPr id="12" name="kpi-2-card"/>
          <p:cNvSpPr/>
          <p:nvPr/>
        </p:nvSpPr>
        <p:spPr>
          <a:xfrm>
            <a:off x="6233008" y="1371600"/>
            <a:ext cx="2567864" cy="1417320"/>
          </a:xfrm>
          <a:prstGeom prst="roundRect">
            <a:avLst>
              <a:gd name="adj" fmla="val 7742"/>
            </a:avLst>
          </a:prstGeom>
          <a:solidFill>
            <a:schemeClr val="bg1"/>
          </a:solidFill>
          <a:ln/>
        </p:spPr>
      </p:sp>
      <p:sp>
        <p:nvSpPr>
          <p:cNvPr id="13" name="kpi-2-label"/>
          <p:cNvSpPr txBox="1"/>
          <p:nvPr/>
        </p:nvSpPr>
        <p:spPr>
          <a:xfrm>
            <a:off x="6434176" y="148132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DASHBOARDS CREATED</a:t>
            </a:r>
            <a:endParaRPr lang="en-US" sz="1000" dirty="0"/>
          </a:p>
        </p:txBody>
      </p:sp>
      <p:sp>
        <p:nvSpPr>
          <p:cNvPr id="14" name="kpi-2-value"/>
          <p:cNvSpPr txBox="1"/>
          <p:nvPr/>
        </p:nvSpPr>
        <p:spPr>
          <a:xfrm>
            <a:off x="6434176" y="173736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1,600+</a:t>
            </a:r>
            <a:endParaRPr lang="en-US" sz="3400" dirty="0"/>
          </a:p>
        </p:txBody>
      </p:sp>
      <p:sp>
        <p:nvSpPr>
          <p:cNvPr id="15" name="kpi-2-desc"/>
          <p:cNvSpPr txBox="1"/>
          <p:nvPr/>
        </p:nvSpPr>
        <p:spPr>
          <a:xfrm>
            <a:off x="6434176" y="2331720"/>
            <a:ext cx="2165528" cy="365760"/>
          </a:xfrm>
          <a:prstGeom prst="rect">
            <a:avLst/>
          </a:prstGeom>
          <a:noFill/>
          <a:ln/>
        </p:spPr>
        <p:txBody>
          <a:bodyPr wrap="square" lIns="0" tIns="0" rIns="0" bIns="0" rtlCol="0" anchor="t"/>
          <a:lstStyle/>
          <a:p>
            <a:pPr indent="0" marL="0">
              <a:buNone/>
            </a:pPr>
            <a:r>
              <a:rPr lang="en-US" sz="1200" dirty="0">
                <a:solidFill>
                  <a:schemeClr val="tx2"/>
                </a:solidFill>
              </a:rPr>
              <a:t>Custom dashboards created to date</a:t>
            </a:r>
            <a:endParaRPr lang="en-US" sz="1200" dirty="0"/>
          </a:p>
        </p:txBody>
      </p:sp>
      <p:sp>
        <p:nvSpPr>
          <p:cNvPr id="16" name="kpi-3-card"/>
          <p:cNvSpPr/>
          <p:nvPr/>
        </p:nvSpPr>
        <p:spPr>
          <a:xfrm>
            <a:off x="9075191" y="1371600"/>
            <a:ext cx="2567864" cy="1417320"/>
          </a:xfrm>
          <a:prstGeom prst="roundRect">
            <a:avLst>
              <a:gd name="adj" fmla="val 7742"/>
            </a:avLst>
          </a:prstGeom>
          <a:solidFill>
            <a:schemeClr val="bg1"/>
          </a:solidFill>
          <a:ln/>
        </p:spPr>
      </p:sp>
      <p:sp>
        <p:nvSpPr>
          <p:cNvPr id="17" name="kpi-3-label"/>
          <p:cNvSpPr txBox="1"/>
          <p:nvPr/>
        </p:nvSpPr>
        <p:spPr>
          <a:xfrm>
            <a:off x="9276359" y="148132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UPDATED DAILY</a:t>
            </a:r>
            <a:endParaRPr lang="en-US" sz="1000" dirty="0"/>
          </a:p>
        </p:txBody>
      </p:sp>
      <p:sp>
        <p:nvSpPr>
          <p:cNvPr id="18" name="kpi-3-value"/>
          <p:cNvSpPr txBox="1"/>
          <p:nvPr/>
        </p:nvSpPr>
        <p:spPr>
          <a:xfrm>
            <a:off x="9276359" y="173736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10+</a:t>
            </a:r>
            <a:endParaRPr lang="en-US" sz="3400" dirty="0"/>
          </a:p>
        </p:txBody>
      </p:sp>
      <p:sp>
        <p:nvSpPr>
          <p:cNvPr id="19" name="kpi-3-desc"/>
          <p:cNvSpPr txBox="1"/>
          <p:nvPr/>
        </p:nvSpPr>
        <p:spPr>
          <a:xfrm>
            <a:off x="9276359" y="2331720"/>
            <a:ext cx="2165528" cy="365760"/>
          </a:xfrm>
          <a:prstGeom prst="rect">
            <a:avLst/>
          </a:prstGeom>
          <a:noFill/>
          <a:ln/>
        </p:spPr>
        <p:txBody>
          <a:bodyPr wrap="square" lIns="0" tIns="0" rIns="0" bIns="0" rtlCol="0" anchor="t"/>
          <a:lstStyle/>
          <a:p>
            <a:pPr indent="0" marL="0">
              <a:buNone/>
            </a:pPr>
            <a:r>
              <a:rPr lang="en-US" sz="1200" dirty="0">
                <a:solidFill>
                  <a:schemeClr val="tx2"/>
                </a:solidFill>
              </a:rPr>
              <a:t>Maintained continuously by risk owners</a:t>
            </a:r>
            <a:endParaRPr lang="en-US" sz="1200" dirty="0"/>
          </a:p>
        </p:txBody>
      </p:sp>
      <p:sp>
        <p:nvSpPr>
          <p:cNvPr id="20" name="trend-card"/>
          <p:cNvSpPr/>
          <p:nvPr/>
        </p:nvSpPr>
        <p:spPr>
          <a:xfrm>
            <a:off x="548640" y="3017520"/>
            <a:ext cx="6583680" cy="3429000"/>
          </a:xfrm>
          <a:prstGeom prst="roundRect">
            <a:avLst>
              <a:gd name="adj" fmla="val 3200"/>
            </a:avLst>
          </a:prstGeom>
          <a:solidFill>
            <a:schemeClr val="bg1"/>
          </a:solidFill>
          <a:ln/>
        </p:spPr>
      </p:sp>
      <p:sp>
        <p:nvSpPr>
          <p:cNvPr id="21" name="trend-title"/>
          <p:cNvSpPr txBox="1"/>
          <p:nvPr/>
        </p:nvSpPr>
        <p:spPr>
          <a:xfrm>
            <a:off x="777240" y="3127248"/>
            <a:ext cx="6126480" cy="274320"/>
          </a:xfrm>
          <a:prstGeom prst="rect">
            <a:avLst/>
          </a:prstGeom>
          <a:noFill/>
          <a:ln/>
        </p:spPr>
        <p:txBody>
          <a:bodyPr wrap="square" lIns="0" tIns="0" rIns="0" bIns="0" rtlCol="0" anchor="t"/>
          <a:lstStyle/>
          <a:p>
            <a:pPr indent="0" marL="0">
              <a:buNone/>
            </a:pPr>
            <a:r>
              <a:rPr lang="en-US" sz="1100" b="1" spc="100" kern="0" dirty="0">
                <a:solidFill>
                  <a:schemeClr val="tx1"/>
                </a:solidFill>
              </a:rPr>
              <a:t>MONTHLY UNIQUE USERS TREND</a:t>
            </a:r>
            <a:endParaRPr lang="en-US" sz="1100" dirty="0"/>
          </a:p>
        </p:txBody>
      </p:sp>
      <p:graphicFrame>
        <p:nvGraphicFramePr>
          <p:cNvPr id="22" name="users-trend" descr=""/>
          <p:cNvGraphicFramePr/>
          <p:nvPr/>
        </p:nvGraphicFramePr>
        <p:xfrm>
          <a:off x="640080" y="3429000"/>
          <a:ext cx="6400800" cy="2743200"/>
        </p:xfrm>
        <a:graphic xmlns:a="http://schemas.openxmlformats.org/drawingml/2006/main">
          <a:graphicData uri="http://schemas.openxmlformats.org/drawingml/2006/chart">
            <c:chart xmlns:c="http://schemas.openxmlformats.org/drawingml/2006/chart" r:id="rId1"/>
          </a:graphicData>
        </a:graphic>
      </p:graphicFrame>
      <p:sp>
        <p:nvSpPr>
          <p:cNvPr id="23" name="trend-caption"/>
          <p:cNvSpPr txBox="1"/>
          <p:nvPr/>
        </p:nvSpPr>
        <p:spPr>
          <a:xfrm>
            <a:off x="777240" y="6190488"/>
            <a:ext cx="6126480" cy="228600"/>
          </a:xfrm>
          <a:prstGeom prst="rect">
            <a:avLst/>
          </a:prstGeom>
          <a:noFill/>
          <a:ln/>
        </p:spPr>
        <p:txBody>
          <a:bodyPr wrap="square" lIns="0" tIns="0" rIns="0" bIns="0" rtlCol="0" anchor="t"/>
          <a:lstStyle/>
          <a:p>
            <a:pPr indent="0" marL="0">
              <a:buNone/>
            </a:pPr>
            <a:r>
              <a:rPr lang="en-US" sz="1000" i="1" dirty="0">
                <a:solidFill>
                  <a:schemeClr val="tx2"/>
                </a:solidFill>
              </a:rPr>
              <a:t>Approximate monthly values, read from the ERM usage chart</a:t>
            </a:r>
            <a:endParaRPr lang="en-US" sz="1000" dirty="0"/>
          </a:p>
        </p:txBody>
      </p:sp>
      <p:sp>
        <p:nvSpPr>
          <p:cNvPr id="24" name="erm-card"/>
          <p:cNvSpPr/>
          <p:nvPr/>
        </p:nvSpPr>
        <p:spPr>
          <a:xfrm>
            <a:off x="7406640" y="3017520"/>
            <a:ext cx="4233672" cy="3429000"/>
          </a:xfrm>
          <a:prstGeom prst="roundRect">
            <a:avLst>
              <a:gd name="adj" fmla="val 3200"/>
            </a:avLst>
          </a:prstGeom>
          <a:solidFill>
            <a:schemeClr val="bg1"/>
          </a:solidFill>
          <a:ln/>
        </p:spPr>
      </p:sp>
      <p:sp>
        <p:nvSpPr>
          <p:cNvPr id="25" name="erm-text"/>
          <p:cNvSpPr txBox="1"/>
          <p:nvPr/>
        </p:nvSpPr>
        <p:spPr>
          <a:xfrm>
            <a:off x="7635240" y="3154680"/>
            <a:ext cx="3794760" cy="3154680"/>
          </a:xfrm>
          <a:prstGeom prst="rect">
            <a:avLst/>
          </a:prstGeom>
          <a:noFill/>
          <a:ln/>
        </p:spPr>
        <p:txBody>
          <a:bodyPr wrap="square" lIns="0" tIns="0" rIns="0" bIns="0" rtlCol="0" anchor="t"/>
          <a:lstStyle/>
          <a:p>
            <a:pPr indent="0" marL="0">
              <a:buNone/>
            </a:pPr>
            <a:r>
              <a:rPr lang="en-US" sz="1100" b="1" spc="100" kern="0" dirty="0">
                <a:solidFill>
                  <a:schemeClr val="tx1"/>
                </a:solidFill>
              </a:rPr>
              <a:t>WHAT ERM DOES</a:t>
            </a:r>
            <a:endParaRPr lang="en-US" sz="1100" dirty="0"/>
          </a:p>
          <a:p>
            <a:pPr indent="0" marL="0">
              <a:spcAft>
                <a:spcPts val="1000"/>
              </a:spcAft>
              <a:buNone/>
            </a:pPr>
            <a:r>
              <a:rPr lang="en-US" sz="1300" dirty="0">
                <a:solidFill>
                  <a:schemeClr val="tx2"/>
                </a:solidFill>
              </a:rPr>
              <a:t>One place to manage ARM risks and opportunities: custom dashboards, live editing, trend following, governed quarterly releases and cross-division sharing.</a:t>
            </a:r>
            <a:endParaRPr lang="en-US" sz="1100" dirty="0"/>
          </a:p>
          <a:p>
            <a:pPr indent="0" marL="0">
              <a:buNone/>
            </a:pPr>
            <a:r>
              <a:rPr lang="en-US" sz="1100" b="1" spc="100" kern="0" dirty="0">
                <a:solidFill>
                  <a:schemeClr val="tx1"/>
                </a:solidFill>
              </a:rPr>
              <a:t>WHERE IT IS USED</a:t>
            </a:r>
            <a:endParaRPr lang="en-US" sz="1100" dirty="0"/>
          </a:p>
          <a:p>
            <a:pPr indent="0" marL="0">
              <a:buNone/>
            </a:pPr>
            <a:r>
              <a:rPr lang="en-US" sz="1300" dirty="0">
                <a:solidFill>
                  <a:schemeClr val="tx2"/>
                </a:solidFill>
              </a:rPr>
              <a:t>France: Blagnac 271, Saint-Martin 43</a:t>
            </a:r>
            <a:endParaRPr lang="en-US" sz="1100" dirty="0"/>
          </a:p>
          <a:p>
            <a:pPr indent="0" marL="0">
              <a:buNone/>
            </a:pPr>
            <a:r>
              <a:rPr lang="en-US" sz="1300" dirty="0">
                <a:solidFill>
                  <a:schemeClr val="tx2"/>
                </a:solidFill>
              </a:rPr>
              <a:t>Germany: Hamburg Finkenwerder 205</a:t>
            </a:r>
            <a:endParaRPr lang="en-US" sz="1100" dirty="0"/>
          </a:p>
          <a:p>
            <a:pPr indent="0" marL="0">
              <a:buNone/>
            </a:pPr>
            <a:r>
              <a:rPr lang="en-US" sz="1300" dirty="0">
                <a:solidFill>
                  <a:schemeClr val="tx2"/>
                </a:solidFill>
              </a:rPr>
              <a:t>UK: Broughton 32, Filton 26</a:t>
            </a:r>
            <a:endParaRPr lang="en-US" sz="1100" dirty="0"/>
          </a:p>
          <a:p>
            <a:pPr indent="0" marL="0">
              <a:buNone/>
            </a:pPr>
            <a:r>
              <a:rPr lang="en-US" sz="1300" dirty="0">
                <a:solidFill>
                  <a:schemeClr val="tx2"/>
                </a:solidFill>
              </a:rPr>
              <a:t>Spain: Getafe 25 · Canada: Mirabel 12 · India: Bangalore 7</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childTnLst>
                                </p:cTn>
                              </p:par>
                            </p:childTnLst>
                          </p:cTn>
                        </p:par>
                        <p:par>
                          <p:cTn id="28" fill="hold">
                            <p:stCondLst>
                              <p:cond delay="400"/>
                            </p:stCondLst>
                            <p:childTnLst>
                              <p:par>
                                <p:cTn id="16" presetID="10" presetClass="entr" presetSubtype="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childTnLst>
                          </p:cTn>
                        </p:par>
                        <p:par>
                          <p:cTn id="41" fill="hold">
                            <p:stCondLst>
                              <p:cond delay="800"/>
                            </p:stCondLst>
                            <p:childTnLst>
                              <p:par>
                                <p:cTn id="29" presetID="10" presetClass="entr" presetSubtype="0" fill="hold" grpId="0" nodeType="after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5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45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childTnLst>
                          </p:cTn>
                        </p:par>
                        <p:par>
                          <p:cTn id="54" fill="hold">
                            <p:stCondLst>
                              <p:cond delay="1200"/>
                            </p:stCondLst>
                            <p:childTnLst>
                              <p:par>
                                <p:cTn id="42" presetID="10" presetClass="entr" presetSubtype="0" fill="hold" grpId="0" nodeType="after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5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5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childTnLst>
                          </p:cTn>
                        </p:par>
                        <p:par>
                          <p:cTn id="67" fill="hold">
                            <p:stCondLst>
                              <p:cond delay="1600"/>
                            </p:stCondLst>
                            <p:childTnLst>
                              <p:par>
                                <p:cTn id="55" presetID="10" presetClass="entr" presetSubtype="0" fill="hold" grpId="0" nodeType="after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45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45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450"/>
                                        <p:tgtEl>
                                          <p:spTgt spid="23"/>
                                        </p:tgtEl>
                                      </p:cBhvr>
                                    </p:animEffect>
                                  </p:childTnLst>
                                </p:cTn>
                              </p:par>
                              <p:par>
                                <p:cTn id="64" presetID="22" presetClass="entr" presetSubtype="8" fill="hold" grpId="0" nodeType="withEffect">
                                  <p:stCondLst>
                                    <p:cond delay="200"/>
                                  </p:stCondLst>
                                  <p:childTnLst>
                                    <p:set>
                                      <p:cBhvr>
                                        <p:cTn id="65" dur="1" fill="hold">
                                          <p:stCondLst>
                                            <p:cond delay="0"/>
                                          </p:stCondLst>
                                        </p:cTn>
                                        <p:tgtEl>
                                          <p:spTgt spid="22"/>
                                        </p:tgtEl>
                                        <p:attrNameLst>
                                          <p:attrName>style.visibility</p:attrName>
                                        </p:attrNameLst>
                                      </p:cBhvr>
                                      <p:to>
                                        <p:strVal val="visible"/>
                                      </p:to>
                                    </p:set>
                                    <p:animEffect transition="in" filter="wipe(left)">
                                      <p:cBhvr>
                                        <p:cTn id="66" dur="450"/>
                                        <p:tgtEl>
                                          <p:spTgt spid="22"/>
                                        </p:tgtEl>
                                      </p:cBhvr>
                                    </p:animEffect>
                                  </p:childTnLst>
                                </p:cTn>
                              </p:par>
                            </p:childTnLst>
                          </p:cTn>
                        </p:par>
                        <p:par>
                          <p:cTn id="74" fill="hold">
                            <p:stCondLst>
                              <p:cond delay="2000"/>
                            </p:stCondLst>
                            <p:childTnLst>
                              <p:par>
                                <p:cTn id="68" presetID="10" presetClass="entr" presetSubtype="0" fill="hold" grpId="0" nodeType="after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50"/>
                                        <p:tgtEl>
                                          <p:spTgt spid="24"/>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45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P spid="24" grpId="0" animBg="1"/>
      <p:bldP spid="2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COMPLICATION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But Slate had become the bottleneck</a:t>
            </a:r>
            <a:endParaRPr lang="en-US" sz="3600" dirty="0"/>
          </a:p>
        </p:txBody>
      </p:sp>
      <p:sp>
        <p:nvSpPr>
          <p:cNvPr id="4" name="prob-0-card"/>
          <p:cNvSpPr/>
          <p:nvPr/>
        </p:nvSpPr>
        <p:spPr>
          <a:xfrm>
            <a:off x="548640" y="1371600"/>
            <a:ext cx="5029200" cy="777240"/>
          </a:xfrm>
          <a:prstGeom prst="roundRect">
            <a:avLst>
              <a:gd name="adj" fmla="val 14118"/>
            </a:avLst>
          </a:prstGeom>
          <a:solidFill>
            <a:schemeClr val="bg2"/>
          </a:solidFill>
          <a:ln/>
        </p:spPr>
      </p:sp>
      <p:sp>
        <p:nvSpPr>
          <p:cNvPr id="5" name="prob-0-text"/>
          <p:cNvSpPr txBox="1"/>
          <p:nvPr/>
        </p:nvSpPr>
        <p:spPr>
          <a:xfrm>
            <a:off x="777240" y="1444752"/>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Tangled dependencies</a:t>
            </a:r>
            <a:endParaRPr lang="en-US" sz="1500" dirty="0"/>
          </a:p>
          <a:p>
            <a:pPr indent="0" marL="0">
              <a:buNone/>
            </a:pPr>
            <a:r>
              <a:rPr lang="en-US" sz="1300" dirty="0">
                <a:solidFill>
                  <a:schemeClr val="tx2"/>
                </a:solidFill>
              </a:rPr>
              <a:t>One user action cascades through widgets, events, actions and variables</a:t>
            </a:r>
            <a:endParaRPr lang="en-US" sz="1500" dirty="0"/>
          </a:p>
        </p:txBody>
      </p:sp>
      <p:sp>
        <p:nvSpPr>
          <p:cNvPr id="6" name="prob-1-card"/>
          <p:cNvSpPr/>
          <p:nvPr/>
        </p:nvSpPr>
        <p:spPr>
          <a:xfrm>
            <a:off x="548640" y="2258568"/>
            <a:ext cx="5029200" cy="777240"/>
          </a:xfrm>
          <a:prstGeom prst="roundRect">
            <a:avLst>
              <a:gd name="adj" fmla="val 14118"/>
            </a:avLst>
          </a:prstGeom>
          <a:solidFill>
            <a:schemeClr val="bg2"/>
          </a:solidFill>
          <a:ln/>
        </p:spPr>
      </p:sp>
      <p:sp>
        <p:nvSpPr>
          <p:cNvPr id="7" name="prob-1-text"/>
          <p:cNvSpPr txBox="1"/>
          <p:nvPr/>
        </p:nvSpPr>
        <p:spPr>
          <a:xfrm>
            <a:off x="777240" y="2331720"/>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High regression risk</a:t>
            </a:r>
            <a:endParaRPr lang="en-US" sz="1500" dirty="0"/>
          </a:p>
          <a:p>
            <a:pPr indent="0" marL="0">
              <a:buNone/>
            </a:pPr>
            <a:r>
              <a:rPr lang="en-US" sz="1300" dirty="0">
                <a:solidFill>
                  <a:schemeClr val="tx2"/>
                </a:solidFill>
              </a:rPr>
              <a:t>Changing one feature can break unrelated dashboard behaviour</a:t>
            </a:r>
            <a:endParaRPr lang="en-US" sz="1500" dirty="0"/>
          </a:p>
        </p:txBody>
      </p:sp>
      <p:sp>
        <p:nvSpPr>
          <p:cNvPr id="8" name="prob-2-card"/>
          <p:cNvSpPr/>
          <p:nvPr/>
        </p:nvSpPr>
        <p:spPr>
          <a:xfrm>
            <a:off x="548640" y="3145536"/>
            <a:ext cx="5029200" cy="777240"/>
          </a:xfrm>
          <a:prstGeom prst="roundRect">
            <a:avLst>
              <a:gd name="adj" fmla="val 14118"/>
            </a:avLst>
          </a:prstGeom>
          <a:solidFill>
            <a:schemeClr val="bg2"/>
          </a:solidFill>
          <a:ln/>
        </p:spPr>
      </p:sp>
      <p:sp>
        <p:nvSpPr>
          <p:cNvPr id="9" name="prob-2-text"/>
          <p:cNvSpPr txBox="1"/>
          <p:nvPr/>
        </p:nvSpPr>
        <p:spPr>
          <a:xfrm>
            <a:off x="777240" y="3218688"/>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Slow navigation</a:t>
            </a:r>
            <a:endParaRPr lang="en-US" sz="1500" dirty="0"/>
          </a:p>
          <a:p>
            <a:pPr indent="0" marL="0">
              <a:buNone/>
            </a:pPr>
            <a:r>
              <a:rPr lang="en-US" sz="1300" dirty="0">
                <a:solidFill>
                  <a:schemeClr val="tx2"/>
                </a:solidFill>
              </a:rPr>
              <a:t>Variable trees are recalculated on every tab switch</a:t>
            </a:r>
            <a:endParaRPr lang="en-US" sz="1500" dirty="0"/>
          </a:p>
        </p:txBody>
      </p:sp>
      <p:sp>
        <p:nvSpPr>
          <p:cNvPr id="10" name="prob-3-card"/>
          <p:cNvSpPr/>
          <p:nvPr/>
        </p:nvSpPr>
        <p:spPr>
          <a:xfrm>
            <a:off x="548640" y="4032504"/>
            <a:ext cx="5029200" cy="777240"/>
          </a:xfrm>
          <a:prstGeom prst="roundRect">
            <a:avLst>
              <a:gd name="adj" fmla="val 14118"/>
            </a:avLst>
          </a:prstGeom>
          <a:solidFill>
            <a:schemeClr val="bg2"/>
          </a:solidFill>
          <a:ln/>
        </p:spPr>
      </p:sp>
      <p:sp>
        <p:nvSpPr>
          <p:cNvPr id="11" name="prob-3-text"/>
          <p:cNvSpPr txBox="1"/>
          <p:nvPr/>
        </p:nvSpPr>
        <p:spPr>
          <a:xfrm>
            <a:off x="777240" y="4105656"/>
            <a:ext cx="4572000" cy="630936"/>
          </a:xfrm>
          <a:prstGeom prst="rect">
            <a:avLst/>
          </a:prstGeom>
          <a:noFill/>
          <a:ln/>
        </p:spPr>
        <p:txBody>
          <a:bodyPr wrap="square" lIns="0" tIns="0" rIns="0" bIns="0" rtlCol="0" anchor="ctr"/>
          <a:lstStyle/>
          <a:p>
            <a:pPr indent="0" marL="0">
              <a:buNone/>
            </a:pPr>
            <a:r>
              <a:rPr lang="en-US" sz="1500" b="1" dirty="0">
                <a:solidFill>
                  <a:schemeClr val="accent3"/>
                </a:solidFill>
              </a:rPr>
              <a:t>No documentation</a:t>
            </a:r>
            <a:endParaRPr lang="en-US" sz="1500" dirty="0"/>
          </a:p>
          <a:p>
            <a:pPr indent="0" marL="0">
              <a:buNone/>
            </a:pPr>
            <a:r>
              <a:rPr lang="en-US" sz="1300" dirty="0">
                <a:solidFill>
                  <a:schemeClr val="tx2"/>
                </a:solidFill>
              </a:rPr>
              <a:t>8 Slate exports, about 25 MB of configuration, no specs</a:t>
            </a:r>
            <a:endParaRPr lang="en-US" sz="1500" dirty="0"/>
          </a:p>
        </p:txBody>
      </p:sp>
      <p:pic>
        <p:nvPicPr>
          <p:cNvPr id="12"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852160" y="1371600"/>
            <a:ext cx="5788152" cy="3474720"/>
          </a:xfrm>
          <a:prstGeom prst="rect">
            <a:avLst/>
          </a:prstGeom>
        </p:spPr>
      </p:pic>
      <p:sp>
        <p:nvSpPr>
          <p:cNvPr id="13" name="question-card"/>
          <p:cNvSpPr/>
          <p:nvPr/>
        </p:nvSpPr>
        <p:spPr>
          <a:xfrm>
            <a:off x="548640" y="5120640"/>
            <a:ext cx="11094415" cy="1234440"/>
          </a:xfrm>
          <a:prstGeom prst="roundRect">
            <a:avLst>
              <a:gd name="adj" fmla="val 8889"/>
            </a:avLst>
          </a:prstGeom>
          <a:solidFill>
            <a:schemeClr val="tx1"/>
          </a:solidFill>
          <a:ln/>
        </p:spPr>
      </p:sp>
      <p:sp>
        <p:nvSpPr>
          <p:cNvPr id="14" name="question-text"/>
          <p:cNvSpPr txBox="1"/>
          <p:nvPr/>
        </p:nvSpPr>
        <p:spPr>
          <a:xfrm>
            <a:off x="868680" y="5212080"/>
            <a:ext cx="10454335" cy="1051560"/>
          </a:xfrm>
          <a:prstGeom prst="rect">
            <a:avLst/>
          </a:prstGeom>
          <a:noFill/>
          <a:ln/>
        </p:spPr>
        <p:txBody>
          <a:bodyPr wrap="square" lIns="0" tIns="0" rIns="0" bIns="0" rtlCol="0" anchor="ctr"/>
          <a:lstStyle/>
          <a:p>
            <a:pPr indent="0" marL="0">
              <a:buNone/>
            </a:pPr>
            <a:r>
              <a:rPr lang="en-US" sz="1100" b="1" spc="200" kern="0" dirty="0">
                <a:solidFill>
                  <a:schemeClr val="accent5"/>
                </a:solidFill>
              </a:rPr>
              <a:t>THE QUESTION</a:t>
            </a:r>
            <a:endParaRPr lang="en-US" sz="1100" dirty="0"/>
          </a:p>
          <a:p>
            <a:pPr indent="0" marL="0">
              <a:buNone/>
            </a:pPr>
            <a:r>
              <a:rPr lang="en-US" sz="2200" b="1" dirty="0">
                <a:solidFill>
                  <a:schemeClr val="bg1"/>
                </a:solidFill>
              </a:rPr>
              <a:t>How do 2 developers move 105 hidden features in one PI, without breaking risk reporting?</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9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35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800"/>
                            </p:stCondLst>
                            <p:childTnLst>
                              <p:par>
                                <p:cTn id="31" presetID="22" presetClass="entr" presetSubtype="8" fill="hold" grpId="0" nodeType="afterEffect">
                                  <p:stCondLst>
                                    <p:cond delay="300"/>
                                  </p:stCondLst>
                                  <p:childTnLst>
                                    <p:set>
                                      <p:cBhvr>
                                        <p:cTn id="32" dur="1" fill="hold">
                                          <p:stCondLst>
                                            <p:cond delay="0"/>
                                          </p:stCondLst>
                                        </p:cTn>
                                        <p:tgtEl>
                                          <p:spTgt spid="13"/>
                                        </p:tgtEl>
                                        <p:attrNameLst>
                                          <p:attrName>style.visibility</p:attrName>
                                        </p:attrNameLst>
                                      </p:cBhvr>
                                      <p:to>
                                        <p:strVal val="visible"/>
                                      </p:to>
                                    </p:set>
                                    <p:animEffect transition="in" filter="wipe(left)">
                                      <p:cBhvr>
                                        <p:cTn id="33" dur="450"/>
                                        <p:tgtEl>
                                          <p:spTgt spid="13"/>
                                        </p:tgtEl>
                                      </p:cBhvr>
                                    </p:animEffect>
                                  </p:childTnLst>
                                </p:cTn>
                              </p:par>
                              <p:par>
                                <p:cTn id="34" presetID="22" presetClass="entr" presetSubtype="8" fill="hold" grpId="0" nodeType="withEffect">
                                  <p:stCondLst>
                                    <p:cond delay="300"/>
                                  </p:stCondLst>
                                  <p:childTnLst>
                                    <p:set>
                                      <p:cBhvr>
                                        <p:cTn id="35" dur="1" fill="hold">
                                          <p:stCondLst>
                                            <p:cond delay="0"/>
                                          </p:stCondLst>
                                        </p:cTn>
                                        <p:tgtEl>
                                          <p:spTgt spid="14"/>
                                        </p:tgtEl>
                                        <p:attrNameLst>
                                          <p:attrName>style.visibility</p:attrName>
                                        </p:attrNameLst>
                                      </p:cBhvr>
                                      <p:to>
                                        <p:strVal val="visible"/>
                                      </p:to>
                                    </p:set>
                                    <p:animEffect transition="in" filter="wipe(left)">
                                      <p:cBhvr>
                                        <p:cTn id="36"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3" grpId="0" animBg="1"/>
      <p:bldP spid="1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INSIGHT · INNOVATION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answer: AI reverse-engineers, people verify</a:t>
            </a:r>
            <a:endParaRPr lang="en-US" sz="3600" dirty="0"/>
          </a:p>
        </p:txBody>
      </p:sp>
      <p:pic>
        <p:nvPicPr>
          <p:cNvPr id="4"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371600"/>
            <a:ext cx="5486400" cy="3291840"/>
          </a:xfrm>
          <a:prstGeom prst="rect">
            <a:avLst/>
          </a:prstGeom>
        </p:spPr>
      </p:pic>
      <p:sp>
        <p:nvSpPr>
          <p:cNvPr id="5" name="pack-card"/>
          <p:cNvSpPr/>
          <p:nvPr/>
        </p:nvSpPr>
        <p:spPr>
          <a:xfrm>
            <a:off x="548640" y="4846320"/>
            <a:ext cx="5486400" cy="1508760"/>
          </a:xfrm>
          <a:prstGeom prst="roundRect">
            <a:avLst>
              <a:gd name="adj" fmla="val 7273"/>
            </a:avLst>
          </a:prstGeom>
          <a:solidFill>
            <a:schemeClr val="tx1"/>
          </a:solidFill>
          <a:ln/>
        </p:spPr>
      </p:sp>
      <p:sp>
        <p:nvSpPr>
          <p:cNvPr id="6" name="pack-text"/>
          <p:cNvSpPr txBox="1"/>
          <p:nvPr/>
        </p:nvSpPr>
        <p:spPr>
          <a:xfrm>
            <a:off x="822960" y="4956048"/>
            <a:ext cx="4937760" cy="1289304"/>
          </a:xfrm>
          <a:prstGeom prst="rect">
            <a:avLst/>
          </a:prstGeom>
          <a:noFill/>
          <a:ln/>
        </p:spPr>
        <p:txBody>
          <a:bodyPr wrap="square" lIns="0" tIns="0" rIns="0" bIns="0" rtlCol="0" anchor="ctr"/>
          <a:lstStyle/>
          <a:p>
            <a:pPr indent="0" marL="0">
              <a:buNone/>
            </a:pPr>
            <a:r>
              <a:rPr lang="en-US" sz="1800" b="1" dirty="0">
                <a:solidFill>
                  <a:schemeClr val="bg1"/>
                </a:solidFill>
              </a:rPr>
              <a:t>pack-project.ts</a:t>
            </a:r>
            <a:endParaRPr lang="en-US" sz="1800" dirty="0"/>
          </a:p>
          <a:p>
            <a:pPr indent="0" marL="0">
              <a:buNone/>
            </a:pPr>
            <a:r>
              <a:rPr lang="en-US" sz="1300" dirty="0">
                <a:solidFill>
                  <a:schemeClr val="accent5"/>
                </a:solidFill>
              </a:rPr>
              <a:t>Our script packs the whole React app, 75 files, into one dated context the AI reads in one go. The 8 Slate exports complete the picture.</a:t>
            </a:r>
            <a:endParaRPr lang="en-US" sz="1800" dirty="0"/>
          </a:p>
        </p:txBody>
      </p:sp>
      <p:sp>
        <p:nvSpPr>
          <p:cNvPr id="7" name="cmp-head-old"/>
          <p:cNvSpPr txBox="1"/>
          <p:nvPr/>
        </p:nvSpPr>
        <p:spPr>
          <a:xfrm>
            <a:off x="6309360" y="1371600"/>
            <a:ext cx="2596896" cy="274320"/>
          </a:xfrm>
          <a:prstGeom prst="rect">
            <a:avLst/>
          </a:prstGeom>
          <a:noFill/>
          <a:ln/>
        </p:spPr>
        <p:txBody>
          <a:bodyPr wrap="square" lIns="0" tIns="0" rIns="0" bIns="0" rtlCol="0" anchor="t"/>
          <a:lstStyle/>
          <a:p>
            <a:pPr indent="0" marL="0">
              <a:buNone/>
            </a:pPr>
            <a:r>
              <a:rPr lang="en-US" sz="1100" b="1" spc="100" kern="0" dirty="0">
                <a:solidFill>
                  <a:schemeClr val="tx2"/>
                </a:solidFill>
              </a:rPr>
              <a:t>USUAL MIGRATION</a:t>
            </a:r>
            <a:endParaRPr lang="en-US" sz="1100" dirty="0"/>
          </a:p>
        </p:txBody>
      </p:sp>
      <p:sp>
        <p:nvSpPr>
          <p:cNvPr id="8" name="cmp-head-new"/>
          <p:cNvSpPr txBox="1"/>
          <p:nvPr/>
        </p:nvSpPr>
        <p:spPr>
          <a:xfrm>
            <a:off x="9043416" y="1371600"/>
            <a:ext cx="2596896"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OUR METHOD</a:t>
            </a:r>
            <a:endParaRPr lang="en-US" sz="1100" dirty="0"/>
          </a:p>
        </p:txBody>
      </p:sp>
      <p:sp>
        <p:nvSpPr>
          <p:cNvPr id="9" name="cmp-0-old"/>
          <p:cNvSpPr/>
          <p:nvPr/>
        </p:nvSpPr>
        <p:spPr>
          <a:xfrm>
            <a:off x="6309360" y="1719072"/>
            <a:ext cx="2596896" cy="1042416"/>
          </a:xfrm>
          <a:prstGeom prst="roundRect">
            <a:avLst>
              <a:gd name="adj" fmla="val 10526"/>
            </a:avLst>
          </a:prstGeom>
          <a:solidFill>
            <a:schemeClr val="bg1"/>
          </a:solidFill>
          <a:ln/>
        </p:spPr>
      </p:sp>
      <p:sp>
        <p:nvSpPr>
          <p:cNvPr id="10" name="cmp-0-oldtext"/>
          <p:cNvSpPr txBox="1"/>
          <p:nvPr/>
        </p:nvSpPr>
        <p:spPr>
          <a:xfrm>
            <a:off x="6473952" y="1810512"/>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Discovery</a:t>
            </a:r>
            <a:endParaRPr lang="en-US" sz="1300" dirty="0"/>
          </a:p>
          <a:p>
            <a:pPr indent="0" marL="0">
              <a:buNone/>
            </a:pPr>
            <a:r>
              <a:rPr lang="en-US" sz="1300" dirty="0">
                <a:solidFill>
                  <a:schemeClr val="tx2"/>
                </a:solidFill>
              </a:rPr>
              <a:t>Interviews and clicking through screens</a:t>
            </a:r>
            <a:endParaRPr lang="en-US" sz="1300" dirty="0"/>
          </a:p>
        </p:txBody>
      </p:sp>
      <p:sp>
        <p:nvSpPr>
          <p:cNvPr id="11" name="cmp-0-new"/>
          <p:cNvSpPr/>
          <p:nvPr/>
        </p:nvSpPr>
        <p:spPr>
          <a:xfrm>
            <a:off x="9043416" y="1719072"/>
            <a:ext cx="2596896" cy="1042416"/>
          </a:xfrm>
          <a:prstGeom prst="roundRect">
            <a:avLst>
              <a:gd name="adj" fmla="val 10526"/>
            </a:avLst>
          </a:prstGeom>
          <a:solidFill>
            <a:schemeClr val="tx1"/>
          </a:solidFill>
          <a:ln/>
        </p:spPr>
      </p:sp>
      <p:sp>
        <p:nvSpPr>
          <p:cNvPr id="12" name="cmp-0-newtext"/>
          <p:cNvSpPr txBox="1"/>
          <p:nvPr/>
        </p:nvSpPr>
        <p:spPr>
          <a:xfrm>
            <a:off x="9208008" y="1810512"/>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Discovery</a:t>
            </a:r>
            <a:endParaRPr lang="en-US" sz="1300" dirty="0"/>
          </a:p>
          <a:p>
            <a:pPr indent="0" marL="0">
              <a:buNone/>
            </a:pPr>
            <a:r>
              <a:rPr lang="en-US" sz="1300" dirty="0">
                <a:solidFill>
                  <a:schemeClr val="accent5"/>
                </a:solidFill>
              </a:rPr>
              <a:t>AI reads all 8 Slate exports: 105 features catalogued</a:t>
            </a:r>
            <a:endParaRPr lang="en-US" sz="1300" dirty="0"/>
          </a:p>
        </p:txBody>
      </p:sp>
      <p:sp>
        <p:nvSpPr>
          <p:cNvPr id="13" name="cmp-1-old"/>
          <p:cNvSpPr/>
          <p:nvPr/>
        </p:nvSpPr>
        <p:spPr>
          <a:xfrm>
            <a:off x="6309360" y="2889504"/>
            <a:ext cx="2596896" cy="1042416"/>
          </a:xfrm>
          <a:prstGeom prst="roundRect">
            <a:avLst>
              <a:gd name="adj" fmla="val 10526"/>
            </a:avLst>
          </a:prstGeom>
          <a:solidFill>
            <a:schemeClr val="bg1"/>
          </a:solidFill>
          <a:ln/>
        </p:spPr>
      </p:sp>
      <p:sp>
        <p:nvSpPr>
          <p:cNvPr id="14" name="cmp-1-oldtext"/>
          <p:cNvSpPr txBox="1"/>
          <p:nvPr/>
        </p:nvSpPr>
        <p:spPr>
          <a:xfrm>
            <a:off x="6473952" y="2980944"/>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Context</a:t>
            </a:r>
            <a:endParaRPr lang="en-US" sz="1300" dirty="0"/>
          </a:p>
          <a:p>
            <a:pPr indent="0" marL="0">
              <a:buNone/>
            </a:pPr>
            <a:r>
              <a:rPr lang="en-US" sz="1300" dirty="0">
                <a:solidFill>
                  <a:schemeClr val="tx2"/>
                </a:solidFill>
              </a:rPr>
              <a:t>Code read in fragments</a:t>
            </a:r>
            <a:endParaRPr lang="en-US" sz="1300" dirty="0"/>
          </a:p>
        </p:txBody>
      </p:sp>
      <p:sp>
        <p:nvSpPr>
          <p:cNvPr id="15" name="cmp-1-new"/>
          <p:cNvSpPr/>
          <p:nvPr/>
        </p:nvSpPr>
        <p:spPr>
          <a:xfrm>
            <a:off x="9043416" y="2889504"/>
            <a:ext cx="2596896" cy="1042416"/>
          </a:xfrm>
          <a:prstGeom prst="roundRect">
            <a:avLst>
              <a:gd name="adj" fmla="val 10526"/>
            </a:avLst>
          </a:prstGeom>
          <a:solidFill>
            <a:schemeClr val="tx1"/>
          </a:solidFill>
          <a:ln/>
        </p:spPr>
      </p:sp>
      <p:sp>
        <p:nvSpPr>
          <p:cNvPr id="16" name="cmp-1-newtext"/>
          <p:cNvSpPr txBox="1"/>
          <p:nvPr/>
        </p:nvSpPr>
        <p:spPr>
          <a:xfrm>
            <a:off x="9208008" y="2980944"/>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Context</a:t>
            </a:r>
            <a:endParaRPr lang="en-US" sz="1300" dirty="0"/>
          </a:p>
          <a:p>
            <a:pPr indent="0" marL="0">
              <a:buNone/>
            </a:pPr>
            <a:r>
              <a:rPr lang="en-US" sz="1300" dirty="0">
                <a:solidFill>
                  <a:schemeClr val="accent5"/>
                </a:solidFill>
              </a:rPr>
              <a:t>pack-project.ts gives the AI the whole app at once</a:t>
            </a:r>
            <a:endParaRPr lang="en-US" sz="1300" dirty="0"/>
          </a:p>
        </p:txBody>
      </p:sp>
      <p:sp>
        <p:nvSpPr>
          <p:cNvPr id="17" name="cmp-2-old"/>
          <p:cNvSpPr/>
          <p:nvPr/>
        </p:nvSpPr>
        <p:spPr>
          <a:xfrm>
            <a:off x="6309360" y="4059936"/>
            <a:ext cx="2596896" cy="1042416"/>
          </a:xfrm>
          <a:prstGeom prst="roundRect">
            <a:avLst>
              <a:gd name="adj" fmla="val 10526"/>
            </a:avLst>
          </a:prstGeom>
          <a:solidFill>
            <a:schemeClr val="bg1"/>
          </a:solidFill>
          <a:ln/>
        </p:spPr>
      </p:sp>
      <p:sp>
        <p:nvSpPr>
          <p:cNvPr id="18" name="cmp-2-oldtext"/>
          <p:cNvSpPr txBox="1"/>
          <p:nvPr/>
        </p:nvSpPr>
        <p:spPr>
          <a:xfrm>
            <a:off x="6473952" y="4151376"/>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Parity check</a:t>
            </a:r>
            <a:endParaRPr lang="en-US" sz="1300" dirty="0"/>
          </a:p>
          <a:p>
            <a:pPr indent="0" marL="0">
              <a:buNone/>
            </a:pPr>
            <a:r>
              <a:rPr lang="en-US" sz="1300" dirty="0">
                <a:solidFill>
                  <a:schemeClr val="tx2"/>
                </a:solidFill>
              </a:rPr>
              <a:t>Manual testing, gaps found late</a:t>
            </a:r>
            <a:endParaRPr lang="en-US" sz="1300" dirty="0"/>
          </a:p>
        </p:txBody>
      </p:sp>
      <p:sp>
        <p:nvSpPr>
          <p:cNvPr id="19" name="cmp-2-new"/>
          <p:cNvSpPr/>
          <p:nvPr/>
        </p:nvSpPr>
        <p:spPr>
          <a:xfrm>
            <a:off x="9043416" y="4059936"/>
            <a:ext cx="2596896" cy="1042416"/>
          </a:xfrm>
          <a:prstGeom prst="roundRect">
            <a:avLst>
              <a:gd name="adj" fmla="val 10526"/>
            </a:avLst>
          </a:prstGeom>
          <a:solidFill>
            <a:schemeClr val="tx1"/>
          </a:solidFill>
          <a:ln/>
        </p:spPr>
      </p:sp>
      <p:sp>
        <p:nvSpPr>
          <p:cNvPr id="20" name="cmp-2-newtext"/>
          <p:cNvSpPr txBox="1"/>
          <p:nvPr/>
        </p:nvSpPr>
        <p:spPr>
          <a:xfrm>
            <a:off x="9208008" y="4151376"/>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Parity check</a:t>
            </a:r>
            <a:endParaRPr lang="en-US" sz="1300" dirty="0"/>
          </a:p>
          <a:p>
            <a:pPr indent="0" marL="0">
              <a:buNone/>
            </a:pPr>
            <a:r>
              <a:rPr lang="en-US" sz="1300" dirty="0">
                <a:solidFill>
                  <a:schemeClr val="accent5"/>
                </a:solidFill>
              </a:rPr>
              <a:t>Every feature checked against the code: 31 gaps found</a:t>
            </a:r>
            <a:endParaRPr lang="en-US" sz="1300" dirty="0"/>
          </a:p>
        </p:txBody>
      </p:sp>
      <p:sp>
        <p:nvSpPr>
          <p:cNvPr id="21" name="cmp-3-old"/>
          <p:cNvSpPr/>
          <p:nvPr/>
        </p:nvSpPr>
        <p:spPr>
          <a:xfrm>
            <a:off x="6309360" y="5230368"/>
            <a:ext cx="2596896" cy="1042416"/>
          </a:xfrm>
          <a:prstGeom prst="roundRect">
            <a:avLst>
              <a:gd name="adj" fmla="val 10526"/>
            </a:avLst>
          </a:prstGeom>
          <a:solidFill>
            <a:schemeClr val="bg1"/>
          </a:solidFill>
          <a:ln/>
        </p:spPr>
      </p:sp>
      <p:sp>
        <p:nvSpPr>
          <p:cNvPr id="22" name="cmp-3-oldtext"/>
          <p:cNvSpPr txBox="1"/>
          <p:nvPr/>
        </p:nvSpPr>
        <p:spPr>
          <a:xfrm>
            <a:off x="6473952" y="5321808"/>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Documentation</a:t>
            </a:r>
            <a:endParaRPr lang="en-US" sz="1300" dirty="0"/>
          </a:p>
          <a:p>
            <a:pPr indent="0" marL="0">
              <a:buNone/>
            </a:pPr>
            <a:r>
              <a:rPr lang="en-US" sz="1300" dirty="0">
                <a:solidFill>
                  <a:schemeClr val="tx2"/>
                </a:solidFill>
              </a:rPr>
              <a:t>Written afterwards, if at all</a:t>
            </a:r>
            <a:endParaRPr lang="en-US" sz="1300" dirty="0"/>
          </a:p>
        </p:txBody>
      </p:sp>
      <p:sp>
        <p:nvSpPr>
          <p:cNvPr id="23" name="cmp-3-new"/>
          <p:cNvSpPr/>
          <p:nvPr/>
        </p:nvSpPr>
        <p:spPr>
          <a:xfrm>
            <a:off x="9043416" y="5230368"/>
            <a:ext cx="2596896" cy="1042416"/>
          </a:xfrm>
          <a:prstGeom prst="roundRect">
            <a:avLst>
              <a:gd name="adj" fmla="val 10526"/>
            </a:avLst>
          </a:prstGeom>
          <a:solidFill>
            <a:schemeClr val="tx1"/>
          </a:solidFill>
          <a:ln/>
        </p:spPr>
      </p:sp>
      <p:sp>
        <p:nvSpPr>
          <p:cNvPr id="24" name="cmp-3-newtext"/>
          <p:cNvSpPr txBox="1"/>
          <p:nvPr/>
        </p:nvSpPr>
        <p:spPr>
          <a:xfrm>
            <a:off x="9208008" y="5321808"/>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Documentation</a:t>
            </a:r>
            <a:endParaRPr lang="en-US" sz="1300" dirty="0"/>
          </a:p>
          <a:p>
            <a:pPr indent="0" marL="0">
              <a:buNone/>
            </a:pPr>
            <a:r>
              <a:rPr lang="en-US" sz="1300" dirty="0">
                <a:solidFill>
                  <a:schemeClr val="accent5"/>
                </a:solidFill>
              </a:rPr>
              <a:t>8 architecture and lifecycle diagrams made alongside</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2" fill="hold">
                            <p:stCondLst>
                              <p:cond delay="600"/>
                            </p:stCondLst>
                            <p:childTnLst>
                              <p:par>
                                <p:cTn id="10" presetID="10" presetClass="entr" presetSubtype="0"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22" presetClass="entr" presetSubtype="8" fill="hold" grpId="0" nodeType="withEffect">
                                  <p:stCondLst>
                                    <p:cond delay="300"/>
                                  </p:stCondLst>
                                  <p:childTnLst>
                                    <p:set>
                                      <p:cBhvr>
                                        <p:cTn id="17" dur="1" fill="hold">
                                          <p:stCondLst>
                                            <p:cond delay="0"/>
                                          </p:stCondLst>
                                        </p:cTn>
                                        <p:tgtEl>
                                          <p:spTgt spid="11"/>
                                        </p:tgtEl>
                                        <p:attrNameLst>
                                          <p:attrName>style.visibility</p:attrName>
                                        </p:attrNameLst>
                                      </p:cBhvr>
                                      <p:to>
                                        <p:strVal val="visible"/>
                                      </p:to>
                                    </p:set>
                                    <p:animEffect transition="in" filter="wipe(left)">
                                      <p:cBhvr>
                                        <p:cTn id="18" dur="450"/>
                                        <p:tgtEl>
                                          <p:spTgt spid="11"/>
                                        </p:tgtEl>
                                      </p:cBhvr>
                                    </p:animEffect>
                                  </p:childTnLst>
                                </p:cTn>
                              </p:par>
                              <p:par>
                                <p:cTn id="19" presetID="22" presetClass="entr" presetSubtype="8" fill="hold" grpId="0" nodeType="withEffect">
                                  <p:stCondLst>
                                    <p:cond delay="30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childTnLst>
                          </p:cTn>
                        </p:par>
                        <p:par>
                          <p:cTn id="35" fill="hold">
                            <p:stCondLst>
                              <p:cond delay="1200"/>
                            </p:stCondLst>
                            <p:childTnLst>
                              <p:par>
                                <p:cTn id="23" presetID="10" presetClass="entr" presetSubtype="0" fill="hold" grpId="0" nodeType="after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5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50"/>
                                        <p:tgtEl>
                                          <p:spTgt spid="14"/>
                                        </p:tgtEl>
                                      </p:cBhvr>
                                    </p:animEffect>
                                  </p:childTnLst>
                                </p:cTn>
                              </p:par>
                              <p:par>
                                <p:cTn id="29" presetID="22" presetClass="entr" presetSubtype="8" fill="hold" grpId="0" nodeType="withEffect">
                                  <p:stCondLst>
                                    <p:cond delay="30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22" presetClass="entr" presetSubtype="8" fill="hold" grpId="0" nodeType="withEffect">
                                  <p:stCondLst>
                                    <p:cond delay="30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450"/>
                                        <p:tgtEl>
                                          <p:spTgt spid="16"/>
                                        </p:tgtEl>
                                      </p:cBhvr>
                                    </p:animEffect>
                                  </p:childTnLst>
                                </p:cTn>
                              </p:par>
                            </p:childTnLst>
                          </p:cTn>
                        </p:par>
                        <p:par>
                          <p:cTn id="48" fill="hold">
                            <p:stCondLst>
                              <p:cond delay="1800"/>
                            </p:stCondLst>
                            <p:childTnLst>
                              <p:par>
                                <p:cTn id="36" presetID="10" presetClass="entr" presetSubtype="0" fill="hold" grpId="0" nodeType="after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5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50"/>
                                        <p:tgtEl>
                                          <p:spTgt spid="18"/>
                                        </p:tgtEl>
                                      </p:cBhvr>
                                    </p:animEffect>
                                  </p:childTnLst>
                                </p:cTn>
                              </p:par>
                              <p:par>
                                <p:cTn id="42" presetID="22" presetClass="entr" presetSubtype="8" fill="hold" grpId="0" nodeType="withEffect">
                                  <p:stCondLst>
                                    <p:cond delay="300"/>
                                  </p:stCondLst>
                                  <p:childTnLst>
                                    <p:set>
                                      <p:cBhvr>
                                        <p:cTn id="43" dur="1" fill="hold">
                                          <p:stCondLst>
                                            <p:cond delay="0"/>
                                          </p:stCondLst>
                                        </p:cTn>
                                        <p:tgtEl>
                                          <p:spTgt spid="19"/>
                                        </p:tgtEl>
                                        <p:attrNameLst>
                                          <p:attrName>style.visibility</p:attrName>
                                        </p:attrNameLst>
                                      </p:cBhvr>
                                      <p:to>
                                        <p:strVal val="visible"/>
                                      </p:to>
                                    </p:set>
                                    <p:animEffect transition="in" filter="wipe(left)">
                                      <p:cBhvr>
                                        <p:cTn id="44" dur="450"/>
                                        <p:tgtEl>
                                          <p:spTgt spid="19"/>
                                        </p:tgtEl>
                                      </p:cBhvr>
                                    </p:animEffect>
                                  </p:childTnLst>
                                </p:cTn>
                              </p:par>
                              <p:par>
                                <p:cTn id="45" presetID="22" presetClass="entr" presetSubtype="8" fill="hold" grpId="0" nodeType="withEffect">
                                  <p:stCondLst>
                                    <p:cond delay="300"/>
                                  </p:stCondLst>
                                  <p:childTnLst>
                                    <p:set>
                                      <p:cBhvr>
                                        <p:cTn id="46" dur="1" fill="hold">
                                          <p:stCondLst>
                                            <p:cond delay="0"/>
                                          </p:stCondLst>
                                        </p:cTn>
                                        <p:tgtEl>
                                          <p:spTgt spid="20"/>
                                        </p:tgtEl>
                                        <p:attrNameLst>
                                          <p:attrName>style.visibility</p:attrName>
                                        </p:attrNameLst>
                                      </p:cBhvr>
                                      <p:to>
                                        <p:strVal val="visible"/>
                                      </p:to>
                                    </p:set>
                                    <p:animEffect transition="in" filter="wipe(left)">
                                      <p:cBhvr>
                                        <p:cTn id="47" dur="450"/>
                                        <p:tgtEl>
                                          <p:spTgt spid="20"/>
                                        </p:tgtEl>
                                      </p:cBhvr>
                                    </p:animEffect>
                                  </p:childTnLst>
                                </p:cTn>
                              </p:par>
                            </p:childTnLst>
                          </p:cTn>
                        </p:par>
                        <p:par>
                          <p:cTn id="61" fill="hold">
                            <p:stCondLst>
                              <p:cond delay="2400"/>
                            </p:stCondLst>
                            <p:childTnLst>
                              <p:par>
                                <p:cTn id="49" presetID="10" presetClass="entr" presetSubtype="0" fill="hold" grpId="0" nodeType="after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50"/>
                                        <p:tgtEl>
                                          <p:spTgt spid="2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450"/>
                                        <p:tgtEl>
                                          <p:spTgt spid="22"/>
                                        </p:tgtEl>
                                      </p:cBhvr>
                                    </p:animEffect>
                                  </p:childTnLst>
                                </p:cTn>
                              </p:par>
                              <p:par>
                                <p:cTn id="55" presetID="22" presetClass="entr" presetSubtype="8" fill="hold" grpId="0" nodeType="withEffect">
                                  <p:stCondLst>
                                    <p:cond delay="30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450"/>
                                        <p:tgtEl>
                                          <p:spTgt spid="23"/>
                                        </p:tgtEl>
                                      </p:cBhvr>
                                    </p:animEffect>
                                  </p:childTnLst>
                                </p:cTn>
                              </p:par>
                              <p:par>
                                <p:cTn id="58" presetID="22" presetClass="entr" presetSubtype="8" fill="hold" grpId="0" nodeType="withEffect">
                                  <p:stCondLst>
                                    <p:cond delay="300"/>
                                  </p:stCondLst>
                                  <p:childTnLst>
                                    <p:set>
                                      <p:cBhvr>
                                        <p:cTn id="59" dur="1" fill="hold">
                                          <p:stCondLst>
                                            <p:cond delay="0"/>
                                          </p:stCondLst>
                                        </p:cTn>
                                        <p:tgtEl>
                                          <p:spTgt spid="24"/>
                                        </p:tgtEl>
                                        <p:attrNameLst>
                                          <p:attrName>style.visibility</p:attrName>
                                        </p:attrNameLst>
                                      </p:cBhvr>
                                      <p:to>
                                        <p:strVal val="visible"/>
                                      </p:to>
                                    </p:set>
                                    <p:animEffect transition="in" filter="wipe(left)">
                                      <p:cBhvr>
                                        <p:cTn id="60" dur="450"/>
                                        <p:tgtEl>
                                          <p:spTgt spid="24"/>
                                        </p:tgtEl>
                                      </p:cBhvr>
                                    </p:animEffect>
                                  </p:childTnLst>
                                </p:cTn>
                              </p:par>
                            </p:childTnLst>
                          </p:cTn>
                        </p:par>
                        <p:par>
                          <p:cTn id="68" fill="hold">
                            <p:stCondLst>
                              <p:cond delay="3000"/>
                            </p:stCondLst>
                            <p:childTnLst>
                              <p:par>
                                <p:cTn id="62" presetID="10" presetClass="entr" presetSubtype="0" fill="hold" grpId="0" nodeType="afterEffect">
                                  <p:stCondLst>
                                    <p:cond delay="0"/>
                                  </p:stCondLst>
                                  <p:childTnLst>
                                    <p:set>
                                      <p:cBhvr>
                                        <p:cTn id="63" dur="1" fill="hold">
                                          <p:stCondLst>
                                            <p:cond delay="0"/>
                                          </p:stCondLst>
                                        </p:cTn>
                                        <p:tgtEl>
                                          <p:spTgt spid="5"/>
                                        </p:tgtEl>
                                        <p:attrNameLst>
                                          <p:attrName>style.visibility</p:attrName>
                                        </p:attrNameLst>
                                      </p:cBhvr>
                                      <p:to>
                                        <p:strVal val="visible"/>
                                      </p:to>
                                    </p:set>
                                    <p:animEffect transition="in" filter="fade">
                                      <p:cBhvr>
                                        <p:cTn id="64" dur="450"/>
                                        <p:tgtEl>
                                          <p:spTgt spid="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6"/>
                                        </p:tgtEl>
                                        <p:attrNameLst>
                                          <p:attrName>style.visibility</p:attrName>
                                        </p:attrNameLst>
                                      </p:cBhvr>
                                      <p:to>
                                        <p:strVal val="visible"/>
                                      </p:to>
                                    </p:set>
                                    <p:animEffect transition="in" filter="fade">
                                      <p:cBhvr>
                                        <p:cTn id="67" dur="4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5" grpId="0" animBg="1"/>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PROOF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Same features, one PI, two developers</a:t>
            </a:r>
            <a:endParaRPr lang="en-US" sz="3600" dirty="0"/>
          </a:p>
        </p:txBody>
      </p:sp>
      <p:sp>
        <p:nvSpPr>
          <p:cNvPr id="4" name="fact-0-card"/>
          <p:cNvSpPr/>
          <p:nvPr/>
        </p:nvSpPr>
        <p:spPr>
          <a:xfrm>
            <a:off x="548640" y="1371600"/>
            <a:ext cx="2225040" cy="1481328"/>
          </a:xfrm>
          <a:prstGeom prst="roundRect">
            <a:avLst>
              <a:gd name="adj" fmla="val 7407"/>
            </a:avLst>
          </a:prstGeom>
          <a:solidFill>
            <a:schemeClr val="bg2"/>
          </a:solidFill>
          <a:ln/>
        </p:spPr>
      </p:sp>
      <p:sp>
        <p:nvSpPr>
          <p:cNvPr id="5" name="fact-0-value"/>
          <p:cNvSpPr txBox="1"/>
          <p:nvPr/>
        </p:nvSpPr>
        <p:spPr>
          <a:xfrm>
            <a:off x="749808" y="1508760"/>
            <a:ext cx="1822704" cy="640080"/>
          </a:xfrm>
          <a:prstGeom prst="rect">
            <a:avLst/>
          </a:prstGeom>
          <a:noFill/>
          <a:ln/>
        </p:spPr>
        <p:txBody>
          <a:bodyPr wrap="square" lIns="0" tIns="0" rIns="0" bIns="0" rtlCol="0" anchor="t"/>
          <a:lstStyle/>
          <a:p>
            <a:pPr indent="0" marL="0">
              <a:buNone/>
            </a:pPr>
            <a:r>
              <a:rPr lang="en-US" sz="3600" b="1" dirty="0">
                <a:solidFill>
                  <a:schemeClr val="tx1"/>
                </a:solidFill>
              </a:rPr>
              <a:t>1 PI</a:t>
            </a:r>
            <a:endParaRPr lang="en-US" sz="3600" dirty="0"/>
          </a:p>
        </p:txBody>
      </p:sp>
      <p:sp>
        <p:nvSpPr>
          <p:cNvPr id="6" name="fact-0-label"/>
          <p:cNvSpPr txBox="1"/>
          <p:nvPr/>
        </p:nvSpPr>
        <p:spPr>
          <a:xfrm>
            <a:off x="749808" y="2176272"/>
            <a:ext cx="1822704" cy="594360"/>
          </a:xfrm>
          <a:prstGeom prst="rect">
            <a:avLst/>
          </a:prstGeom>
          <a:noFill/>
          <a:ln/>
        </p:spPr>
        <p:txBody>
          <a:bodyPr wrap="square" lIns="0" tIns="0" rIns="0" bIns="0" rtlCol="0" anchor="t"/>
          <a:lstStyle/>
          <a:p>
            <a:pPr indent="0" marL="0">
              <a:buNone/>
            </a:pPr>
            <a:r>
              <a:rPr lang="en-US" sz="1300" dirty="0">
                <a:solidFill>
                  <a:schemeClr val="tx2"/>
                </a:solidFill>
              </a:rPr>
              <a:t>for the whole migration</a:t>
            </a:r>
            <a:endParaRPr lang="en-US" sz="1300" dirty="0"/>
          </a:p>
        </p:txBody>
      </p:sp>
      <p:sp>
        <p:nvSpPr>
          <p:cNvPr id="7" name="fact-1-card"/>
          <p:cNvSpPr/>
          <p:nvPr/>
        </p:nvSpPr>
        <p:spPr>
          <a:xfrm>
            <a:off x="3048000" y="1371600"/>
            <a:ext cx="2225040" cy="1481328"/>
          </a:xfrm>
          <a:prstGeom prst="roundRect">
            <a:avLst>
              <a:gd name="adj" fmla="val 7407"/>
            </a:avLst>
          </a:prstGeom>
          <a:solidFill>
            <a:schemeClr val="bg2"/>
          </a:solidFill>
          <a:ln/>
        </p:spPr>
      </p:sp>
      <p:sp>
        <p:nvSpPr>
          <p:cNvPr id="8" name="fact-1-value"/>
          <p:cNvSpPr txBox="1"/>
          <p:nvPr/>
        </p:nvSpPr>
        <p:spPr>
          <a:xfrm>
            <a:off x="3249168" y="1508760"/>
            <a:ext cx="1822704" cy="640080"/>
          </a:xfrm>
          <a:prstGeom prst="rect">
            <a:avLst/>
          </a:prstGeom>
          <a:noFill/>
          <a:ln/>
        </p:spPr>
        <p:txBody>
          <a:bodyPr wrap="square" lIns="0" tIns="0" rIns="0" bIns="0" rtlCol="0" anchor="t"/>
          <a:lstStyle/>
          <a:p>
            <a:pPr indent="0" marL="0">
              <a:buNone/>
            </a:pPr>
            <a:r>
              <a:rPr lang="en-US" sz="3600" b="1" dirty="0">
                <a:solidFill>
                  <a:schemeClr val="tx1"/>
                </a:solidFill>
              </a:rPr>
              <a:t>2</a:t>
            </a:r>
            <a:endParaRPr lang="en-US" sz="3600" dirty="0"/>
          </a:p>
        </p:txBody>
      </p:sp>
      <p:sp>
        <p:nvSpPr>
          <p:cNvPr id="9" name="fact-1-label"/>
          <p:cNvSpPr txBox="1"/>
          <p:nvPr/>
        </p:nvSpPr>
        <p:spPr>
          <a:xfrm>
            <a:off x="3249168" y="2176272"/>
            <a:ext cx="1822704" cy="594360"/>
          </a:xfrm>
          <a:prstGeom prst="rect">
            <a:avLst/>
          </a:prstGeom>
          <a:noFill/>
          <a:ln/>
        </p:spPr>
        <p:txBody>
          <a:bodyPr wrap="square" lIns="0" tIns="0" rIns="0" bIns="0" rtlCol="0" anchor="t"/>
          <a:lstStyle/>
          <a:p>
            <a:pPr indent="0" marL="0">
              <a:buNone/>
            </a:pPr>
            <a:r>
              <a:rPr lang="en-US" sz="1300" dirty="0">
                <a:solidFill>
                  <a:schemeClr val="tx2"/>
                </a:solidFill>
              </a:rPr>
              <a:t>developers</a:t>
            </a:r>
            <a:endParaRPr lang="en-US" sz="1300" dirty="0"/>
          </a:p>
        </p:txBody>
      </p:sp>
      <p:sp>
        <p:nvSpPr>
          <p:cNvPr id="10" name="fact-2-card"/>
          <p:cNvSpPr/>
          <p:nvPr/>
        </p:nvSpPr>
        <p:spPr>
          <a:xfrm>
            <a:off x="5547360" y="1371600"/>
            <a:ext cx="2225040" cy="1481328"/>
          </a:xfrm>
          <a:prstGeom prst="roundRect">
            <a:avLst>
              <a:gd name="adj" fmla="val 7407"/>
            </a:avLst>
          </a:prstGeom>
          <a:solidFill>
            <a:schemeClr val="bg2"/>
          </a:solidFill>
          <a:ln/>
        </p:spPr>
      </p:sp>
      <p:sp>
        <p:nvSpPr>
          <p:cNvPr id="11" name="fact-2-value"/>
          <p:cNvSpPr txBox="1"/>
          <p:nvPr/>
        </p:nvSpPr>
        <p:spPr>
          <a:xfrm>
            <a:off x="5748528" y="1508760"/>
            <a:ext cx="1822704" cy="640080"/>
          </a:xfrm>
          <a:prstGeom prst="rect">
            <a:avLst/>
          </a:prstGeom>
          <a:noFill/>
          <a:ln/>
        </p:spPr>
        <p:txBody>
          <a:bodyPr wrap="square" lIns="0" tIns="0" rIns="0" bIns="0" rtlCol="0" anchor="t"/>
          <a:lstStyle/>
          <a:p>
            <a:pPr indent="0" marL="0">
              <a:buNone/>
            </a:pPr>
            <a:r>
              <a:rPr lang="en-US" sz="3600" b="1" dirty="0">
                <a:solidFill>
                  <a:schemeClr val="tx1"/>
                </a:solidFill>
              </a:rPr>
              <a:t>105</a:t>
            </a:r>
            <a:endParaRPr lang="en-US" sz="3600" dirty="0"/>
          </a:p>
        </p:txBody>
      </p:sp>
      <p:sp>
        <p:nvSpPr>
          <p:cNvPr id="12" name="fact-2-label"/>
          <p:cNvSpPr txBox="1"/>
          <p:nvPr/>
        </p:nvSpPr>
        <p:spPr>
          <a:xfrm>
            <a:off x="5748528" y="2176272"/>
            <a:ext cx="1822704" cy="594360"/>
          </a:xfrm>
          <a:prstGeom prst="rect">
            <a:avLst/>
          </a:prstGeom>
          <a:noFill/>
          <a:ln/>
        </p:spPr>
        <p:txBody>
          <a:bodyPr wrap="square" lIns="0" tIns="0" rIns="0" bIns="0" rtlCol="0" anchor="t"/>
          <a:lstStyle/>
          <a:p>
            <a:pPr indent="0" marL="0">
              <a:buNone/>
            </a:pPr>
            <a:r>
              <a:rPr lang="en-US" sz="1300" dirty="0">
                <a:solidFill>
                  <a:schemeClr val="tx2"/>
                </a:solidFill>
              </a:rPr>
              <a:t>features carried over and checked</a:t>
            </a:r>
            <a:endParaRPr lang="en-US" sz="1300" dirty="0"/>
          </a:p>
        </p:txBody>
      </p:sp>
      <p:sp>
        <p:nvSpPr>
          <p:cNvPr id="13" name="fact-3-card"/>
          <p:cNvSpPr/>
          <p:nvPr/>
        </p:nvSpPr>
        <p:spPr>
          <a:xfrm>
            <a:off x="548640" y="3081528"/>
            <a:ext cx="2225040" cy="1481328"/>
          </a:xfrm>
          <a:prstGeom prst="roundRect">
            <a:avLst>
              <a:gd name="adj" fmla="val 7407"/>
            </a:avLst>
          </a:prstGeom>
          <a:solidFill>
            <a:schemeClr val="bg2"/>
          </a:solidFill>
          <a:ln/>
        </p:spPr>
      </p:sp>
      <p:sp>
        <p:nvSpPr>
          <p:cNvPr id="14" name="fact-3-value"/>
          <p:cNvSpPr txBox="1"/>
          <p:nvPr/>
        </p:nvSpPr>
        <p:spPr>
          <a:xfrm>
            <a:off x="749808" y="3218688"/>
            <a:ext cx="1822704" cy="640080"/>
          </a:xfrm>
          <a:prstGeom prst="rect">
            <a:avLst/>
          </a:prstGeom>
          <a:noFill/>
          <a:ln/>
        </p:spPr>
        <p:txBody>
          <a:bodyPr wrap="square" lIns="0" tIns="0" rIns="0" bIns="0" rtlCol="0" anchor="t"/>
          <a:lstStyle/>
          <a:p>
            <a:pPr indent="0" marL="0">
              <a:buNone/>
            </a:pPr>
            <a:r>
              <a:rPr lang="en-US" sz="3600" b="1" dirty="0">
                <a:solidFill>
                  <a:schemeClr val="tx1"/>
                </a:solidFill>
              </a:rPr>
              <a:t>31</a:t>
            </a:r>
            <a:endParaRPr lang="en-US" sz="3600" dirty="0"/>
          </a:p>
        </p:txBody>
      </p:sp>
      <p:sp>
        <p:nvSpPr>
          <p:cNvPr id="15" name="fact-3-label"/>
          <p:cNvSpPr txBox="1"/>
          <p:nvPr/>
        </p:nvSpPr>
        <p:spPr>
          <a:xfrm>
            <a:off x="749808" y="3886200"/>
            <a:ext cx="1822704" cy="594360"/>
          </a:xfrm>
          <a:prstGeom prst="rect">
            <a:avLst/>
          </a:prstGeom>
          <a:noFill/>
          <a:ln/>
        </p:spPr>
        <p:txBody>
          <a:bodyPr wrap="square" lIns="0" tIns="0" rIns="0" bIns="0" rtlCol="0" anchor="t"/>
          <a:lstStyle/>
          <a:p>
            <a:pPr indent="0" marL="0">
              <a:buNone/>
            </a:pPr>
            <a:r>
              <a:rPr lang="en-US" sz="1300" dirty="0">
                <a:solidFill>
                  <a:schemeClr val="tx2"/>
                </a:solidFill>
              </a:rPr>
              <a:t>gaps found and prioritised by AI review</a:t>
            </a:r>
            <a:endParaRPr lang="en-US" sz="1300" dirty="0"/>
          </a:p>
        </p:txBody>
      </p:sp>
      <p:sp>
        <p:nvSpPr>
          <p:cNvPr id="16" name="fact-4-card"/>
          <p:cNvSpPr/>
          <p:nvPr/>
        </p:nvSpPr>
        <p:spPr>
          <a:xfrm>
            <a:off x="3048000" y="3081528"/>
            <a:ext cx="2225040" cy="1481328"/>
          </a:xfrm>
          <a:prstGeom prst="roundRect">
            <a:avLst>
              <a:gd name="adj" fmla="val 7407"/>
            </a:avLst>
          </a:prstGeom>
          <a:solidFill>
            <a:schemeClr val="bg2"/>
          </a:solidFill>
          <a:ln/>
        </p:spPr>
      </p:sp>
      <p:sp>
        <p:nvSpPr>
          <p:cNvPr id="17" name="fact-4-value"/>
          <p:cNvSpPr txBox="1"/>
          <p:nvPr/>
        </p:nvSpPr>
        <p:spPr>
          <a:xfrm>
            <a:off x="3249168" y="3218688"/>
            <a:ext cx="1822704" cy="640080"/>
          </a:xfrm>
          <a:prstGeom prst="rect">
            <a:avLst/>
          </a:prstGeom>
          <a:noFill/>
          <a:ln/>
        </p:spPr>
        <p:txBody>
          <a:bodyPr wrap="square" lIns="0" tIns="0" rIns="0" bIns="0" rtlCol="0" anchor="t"/>
          <a:lstStyle/>
          <a:p>
            <a:pPr indent="0" marL="0">
              <a:buNone/>
            </a:pPr>
            <a:r>
              <a:rPr lang="en-US" sz="3600" b="1" dirty="0">
                <a:solidFill>
                  <a:schemeClr val="accent3"/>
                </a:solidFill>
              </a:rPr>
              <a:t>7</a:t>
            </a:r>
            <a:endParaRPr lang="en-US" sz="3600" dirty="0"/>
          </a:p>
        </p:txBody>
      </p:sp>
      <p:sp>
        <p:nvSpPr>
          <p:cNvPr id="18" name="fact-4-label"/>
          <p:cNvSpPr txBox="1"/>
          <p:nvPr/>
        </p:nvSpPr>
        <p:spPr>
          <a:xfrm>
            <a:off x="3249168" y="3886200"/>
            <a:ext cx="1822704" cy="594360"/>
          </a:xfrm>
          <a:prstGeom prst="rect">
            <a:avLst/>
          </a:prstGeom>
          <a:noFill/>
          <a:ln/>
        </p:spPr>
        <p:txBody>
          <a:bodyPr wrap="square" lIns="0" tIns="0" rIns="0" bIns="0" rtlCol="0" anchor="t"/>
          <a:lstStyle/>
          <a:p>
            <a:pPr indent="0" marL="0">
              <a:buNone/>
            </a:pPr>
            <a:r>
              <a:rPr lang="en-US" sz="1300" dirty="0">
                <a:solidFill>
                  <a:schemeClr val="tx2"/>
                </a:solidFill>
              </a:rPr>
              <a:t>security and data-integrity issues caught in review</a:t>
            </a:r>
            <a:endParaRPr lang="en-US" sz="1300" dirty="0"/>
          </a:p>
        </p:txBody>
      </p:sp>
      <p:sp>
        <p:nvSpPr>
          <p:cNvPr id="19" name="fact-5-card"/>
          <p:cNvSpPr/>
          <p:nvPr/>
        </p:nvSpPr>
        <p:spPr>
          <a:xfrm>
            <a:off x="5547360" y="3081528"/>
            <a:ext cx="2225040" cy="1481328"/>
          </a:xfrm>
          <a:prstGeom prst="roundRect">
            <a:avLst>
              <a:gd name="adj" fmla="val 7407"/>
            </a:avLst>
          </a:prstGeom>
          <a:solidFill>
            <a:schemeClr val="bg2"/>
          </a:solidFill>
          <a:ln/>
        </p:spPr>
      </p:sp>
      <p:sp>
        <p:nvSpPr>
          <p:cNvPr id="20" name="fact-5-value"/>
          <p:cNvSpPr txBox="1"/>
          <p:nvPr/>
        </p:nvSpPr>
        <p:spPr>
          <a:xfrm>
            <a:off x="5748528" y="3218688"/>
            <a:ext cx="1822704" cy="640080"/>
          </a:xfrm>
          <a:prstGeom prst="rect">
            <a:avLst/>
          </a:prstGeom>
          <a:noFill/>
          <a:ln/>
        </p:spPr>
        <p:txBody>
          <a:bodyPr wrap="square" lIns="0" tIns="0" rIns="0" bIns="0" rtlCol="0" anchor="t"/>
          <a:lstStyle/>
          <a:p>
            <a:pPr indent="0" marL="0">
              <a:buNone/>
            </a:pPr>
            <a:r>
              <a:rPr lang="en-US" sz="3600" b="1" dirty="0">
                <a:solidFill>
                  <a:schemeClr val="tx1"/>
                </a:solidFill>
              </a:rPr>
              <a:t>0 → 10</a:t>
            </a:r>
            <a:endParaRPr lang="en-US" sz="3600" dirty="0"/>
          </a:p>
        </p:txBody>
      </p:sp>
      <p:sp>
        <p:nvSpPr>
          <p:cNvPr id="21" name="fact-5-label"/>
          <p:cNvSpPr txBox="1"/>
          <p:nvPr/>
        </p:nvSpPr>
        <p:spPr>
          <a:xfrm>
            <a:off x="5748528" y="3886200"/>
            <a:ext cx="1822704" cy="594360"/>
          </a:xfrm>
          <a:prstGeom prst="rect">
            <a:avLst/>
          </a:prstGeom>
          <a:noFill/>
          <a:ln/>
        </p:spPr>
        <p:txBody>
          <a:bodyPr wrap="square" lIns="0" tIns="0" rIns="0" bIns="0" rtlCol="0" anchor="t"/>
          <a:lstStyle/>
          <a:p>
            <a:pPr indent="0" marL="0">
              <a:buNone/>
            </a:pPr>
            <a:r>
              <a:rPr lang="en-US" sz="1300" dirty="0">
                <a:solidFill>
                  <a:schemeClr val="tx2"/>
                </a:solidFill>
              </a:rPr>
              <a:t>documents: 8 diagrams and 2 guides</a:t>
            </a:r>
            <a:endParaRPr lang="en-US" sz="1300" dirty="0"/>
          </a:p>
        </p:txBody>
      </p:sp>
      <p:sp>
        <p:nvSpPr>
          <p:cNvPr id="22" name="effort-card"/>
          <p:cNvSpPr/>
          <p:nvPr/>
        </p:nvSpPr>
        <p:spPr>
          <a:xfrm>
            <a:off x="8046720" y="1371600"/>
            <a:ext cx="3593592" cy="3191256"/>
          </a:xfrm>
          <a:prstGeom prst="roundRect">
            <a:avLst>
              <a:gd name="adj" fmla="val 3438"/>
            </a:avLst>
          </a:prstGeom>
          <a:solidFill>
            <a:schemeClr val="tx1"/>
          </a:solidFill>
          <a:ln/>
        </p:spPr>
      </p:sp>
      <p:sp>
        <p:nvSpPr>
          <p:cNvPr id="23" name="effort-text"/>
          <p:cNvSpPr txBox="1"/>
          <p:nvPr/>
        </p:nvSpPr>
        <p:spPr>
          <a:xfrm>
            <a:off x="8275320" y="1554480"/>
            <a:ext cx="3136392" cy="2834640"/>
          </a:xfrm>
          <a:prstGeom prst="rect">
            <a:avLst/>
          </a:prstGeom>
          <a:noFill/>
          <a:ln/>
        </p:spPr>
        <p:txBody>
          <a:bodyPr wrap="square" lIns="0" tIns="0" rIns="0" bIns="0" rtlCol="0" anchor="t"/>
          <a:lstStyle/>
          <a:p>
            <a:pPr indent="0" marL="0">
              <a:buNone/>
            </a:pPr>
            <a:r>
              <a:rPr lang="en-US" sz="4800" b="1" dirty="0">
                <a:solidFill>
                  <a:schemeClr val="accent5"/>
                </a:solidFill>
              </a:rPr>
              <a:t>~76%</a:t>
            </a:r>
            <a:endParaRPr lang="en-US" sz="4800" dirty="0"/>
          </a:p>
          <a:p>
            <a:pPr indent="0" marL="0">
              <a:buNone/>
            </a:pPr>
            <a:r>
              <a:rPr lang="en-US" sz="1600" b="1" dirty="0">
                <a:solidFill>
                  <a:schemeClr val="bg1"/>
                </a:solidFill>
              </a:rPr>
              <a:t>less effort than a manual migration</a:t>
            </a:r>
            <a:endParaRPr lang="en-US" sz="4800" dirty="0"/>
          </a:p>
          <a:p>
            <a:pPr indent="0" marL="0">
              <a:buNone/>
            </a:pPr>
            <a:r>
              <a:rPr lang="en-US" sz="800" dirty="0">
                <a:solidFill>
                  <a:srgbClr val="000000"/>
                </a:solidFill>
              </a:rPr>
              <a:t> </a:t>
            </a:r>
            <a:endParaRPr lang="en-US" sz="4800" dirty="0"/>
          </a:p>
          <a:p>
            <a:pPr indent="0" marL="0">
              <a:buNone/>
            </a:pPr>
            <a:r>
              <a:rPr lang="en-US" sz="1300" dirty="0">
                <a:solidFill>
                  <a:schemeClr val="accent5"/>
                </a:solidFill>
              </a:rPr>
              <a:t>4 sprints actual vs ~17 sprints estimated for 2 developers</a:t>
            </a:r>
            <a:endParaRPr lang="en-US" sz="4800" dirty="0"/>
          </a:p>
          <a:p>
            <a:pPr indent="0" marL="0">
              <a:buNone/>
            </a:pPr>
            <a:r>
              <a:rPr lang="en-US" sz="1100" i="1" dirty="0">
                <a:solidFill>
                  <a:schemeClr val="accent5"/>
                </a:solidFill>
              </a:rPr>
              <a:t>Generic estimate: 105 features × 3 days + 25 days docs ≈ 340 person-days</a:t>
            </a:r>
            <a:endParaRPr lang="en-US" sz="4800" dirty="0"/>
          </a:p>
        </p:txBody>
      </p:sp>
      <p:sp>
        <p:nvSpPr>
          <p:cNvPr id="24" name="golive-card"/>
          <p:cNvSpPr/>
          <p:nvPr/>
        </p:nvSpPr>
        <p:spPr>
          <a:xfrm>
            <a:off x="548640" y="4800600"/>
            <a:ext cx="11094415" cy="1554480"/>
          </a:xfrm>
          <a:prstGeom prst="roundRect">
            <a:avLst>
              <a:gd name="adj" fmla="val 7059"/>
            </a:avLst>
          </a:prstGeom>
          <a:solidFill>
            <a:schemeClr val="bg1"/>
          </a:solidFill>
          <a:ln w="12700">
            <a:solidFill>
              <a:srgbClr val="DCE3EE"/>
            </a:solidFill>
            <a:prstDash val="solid"/>
          </a:ln>
        </p:spPr>
      </p:sp>
      <p:sp>
        <p:nvSpPr>
          <p:cNvPr id="25" name="golive-title"/>
          <p:cNvSpPr txBox="1"/>
          <p:nvPr/>
        </p:nvSpPr>
        <p:spPr>
          <a:xfrm>
            <a:off x="822960" y="4937760"/>
            <a:ext cx="3657600" cy="274320"/>
          </a:xfrm>
          <a:prstGeom prst="rect">
            <a:avLst/>
          </a:prstGeom>
          <a:noFill/>
          <a:ln/>
        </p:spPr>
        <p:txBody>
          <a:bodyPr wrap="square" lIns="0" tIns="0" rIns="0" bIns="0" rtlCol="0" anchor="t"/>
          <a:lstStyle/>
          <a:p>
            <a:pPr indent="0" marL="0">
              <a:buNone/>
            </a:pPr>
            <a:r>
              <a:rPr lang="en-US" sz="1100" b="1" spc="200" kern="0" dirty="0">
                <a:solidFill>
                  <a:schemeClr val="accent3"/>
                </a:solidFill>
              </a:rPr>
              <a:t>AFTER GO-LIVE</a:t>
            </a:r>
            <a:endParaRPr lang="en-US" sz="1100" dirty="0"/>
          </a:p>
        </p:txBody>
      </p:sp>
      <p:sp>
        <p:nvSpPr>
          <p:cNvPr id="26" name="golive-0"/>
          <p:cNvSpPr txBox="1"/>
          <p:nvPr/>
        </p:nvSpPr>
        <p:spPr>
          <a:xfrm>
            <a:off x="822960" y="5257800"/>
            <a:ext cx="3383280" cy="960120"/>
          </a:xfrm>
          <a:prstGeom prst="rect">
            <a:avLst/>
          </a:prstGeom>
          <a:noFill/>
          <a:ln/>
        </p:spPr>
        <p:txBody>
          <a:bodyPr wrap="square" lIns="0" tIns="0" rIns="0" bIns="0" rtlCol="0" anchor="t"/>
          <a:lstStyle/>
          <a:p>
            <a:pPr indent="0" marL="0">
              <a:buNone/>
            </a:pPr>
            <a:r>
              <a:rPr lang="en-US" sz="2400" b="1" dirty="0">
                <a:solidFill>
                  <a:schemeClr val="tx1"/>
                </a:solidFill>
              </a:rPr>
              <a:t>[__] users</a:t>
            </a:r>
            <a:endParaRPr lang="en-US" sz="2400" dirty="0"/>
          </a:p>
          <a:p>
            <a:pPr indent="0" marL="0">
              <a:buNone/>
            </a:pPr>
            <a:r>
              <a:rPr lang="en-US" sz="1300" dirty="0">
                <a:solidFill>
                  <a:schemeClr val="tx2"/>
                </a:solidFill>
              </a:rPr>
              <a:t>kept using ERM after the switch</a:t>
            </a:r>
            <a:endParaRPr lang="en-US" sz="2400" dirty="0"/>
          </a:p>
        </p:txBody>
      </p:sp>
      <p:sp>
        <p:nvSpPr>
          <p:cNvPr id="27" name="golive-1"/>
          <p:cNvSpPr txBox="1"/>
          <p:nvPr/>
        </p:nvSpPr>
        <p:spPr>
          <a:xfrm>
            <a:off x="4480560" y="5257800"/>
            <a:ext cx="3383280" cy="960120"/>
          </a:xfrm>
          <a:prstGeom prst="rect">
            <a:avLst/>
          </a:prstGeom>
          <a:noFill/>
          <a:ln/>
        </p:spPr>
        <p:txBody>
          <a:bodyPr wrap="square" lIns="0" tIns="0" rIns="0" bIns="0" rtlCol="0" anchor="t"/>
          <a:lstStyle/>
          <a:p>
            <a:pPr indent="0" marL="0">
              <a:buNone/>
            </a:pPr>
            <a:r>
              <a:rPr lang="en-US" sz="2400" b="1" dirty="0">
                <a:solidFill>
                  <a:schemeClr val="tx1"/>
                </a:solidFill>
              </a:rPr>
              <a:t>[__] s</a:t>
            </a:r>
            <a:endParaRPr lang="en-US" sz="2400" dirty="0"/>
          </a:p>
          <a:p>
            <a:pPr indent="0" marL="0">
              <a:buNone/>
            </a:pPr>
            <a:r>
              <a:rPr lang="en-US" sz="1300" dirty="0">
                <a:solidFill>
                  <a:schemeClr val="tx2"/>
                </a:solidFill>
              </a:rPr>
              <a:t>page switch, down from [__] s in Slate</a:t>
            </a:r>
            <a:endParaRPr lang="en-US" sz="2400" dirty="0"/>
          </a:p>
        </p:txBody>
      </p:sp>
      <p:sp>
        <p:nvSpPr>
          <p:cNvPr id="28" name="golive-2"/>
          <p:cNvSpPr txBox="1"/>
          <p:nvPr/>
        </p:nvSpPr>
        <p:spPr>
          <a:xfrm>
            <a:off x="8138160" y="5257800"/>
            <a:ext cx="3383280" cy="960120"/>
          </a:xfrm>
          <a:prstGeom prst="rect">
            <a:avLst/>
          </a:prstGeom>
          <a:noFill/>
          <a:ln/>
        </p:spPr>
        <p:txBody>
          <a:bodyPr wrap="square" lIns="0" tIns="0" rIns="0" bIns="0" rtlCol="0" anchor="t"/>
          <a:lstStyle/>
          <a:p>
            <a:pPr indent="0" marL="0">
              <a:buNone/>
            </a:pPr>
            <a:r>
              <a:rPr lang="en-US" sz="2400" b="1" dirty="0">
                <a:solidFill>
                  <a:schemeClr val="tx1"/>
                </a:solidFill>
              </a:rPr>
              <a:t>[__]</a:t>
            </a:r>
            <a:endParaRPr lang="en-US" sz="2400" dirty="0"/>
          </a:p>
          <a:p>
            <a:pPr indent="0" marL="0">
              <a:buNone/>
            </a:pPr>
            <a:r>
              <a:rPr lang="en-US" sz="1300" dirty="0">
                <a:solidFill>
                  <a:schemeClr val="tx2"/>
                </a:solidFill>
              </a:rPr>
              <a:t>incidents after release</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6"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childTnLst>
                          </p:cTn>
                        </p:par>
                        <p:par>
                          <p:cTn id="22" fill="hold">
                            <p:stCondLst>
                              <p:cond delay="350"/>
                            </p:stCondLst>
                            <p:childTnLst>
                              <p:par>
                                <p:cTn id="13" presetID="10" presetClass="entr" presetSubtype="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childTnLst>
                          </p:cTn>
                        </p:par>
                        <p:par>
                          <p:cTn id="32" fill="hold">
                            <p:stCondLst>
                              <p:cond delay="700"/>
                            </p:stCondLst>
                            <p:childTnLst>
                              <p:par>
                                <p:cTn id="23" presetID="10" presetClass="entr" presetSubtype="0" fill="hold" grpId="0"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2" fill="hold">
                            <p:stCondLst>
                              <p:cond delay="105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childTnLst>
                          </p:cTn>
                        </p:par>
                        <p:par>
                          <p:cTn id="52" fill="hold">
                            <p:stCondLst>
                              <p:cond delay="1400"/>
                            </p:stCondLst>
                            <p:childTnLst>
                              <p:par>
                                <p:cTn id="43" presetID="10" presetClass="entr" presetSubtype="0" fill="hold" grpId="0" nodeType="after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childTnLst>
                          </p:cTn>
                        </p:par>
                        <p:par>
                          <p:cTn id="62" fill="hold">
                            <p:stCondLst>
                              <p:cond delay="175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5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5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50"/>
                                        <p:tgtEl>
                                          <p:spTgt spid="21"/>
                                        </p:tgtEl>
                                      </p:cBhvr>
                                    </p:animEffect>
                                  </p:childTnLst>
                                </p:cTn>
                              </p:par>
                            </p:childTnLst>
                          </p:cTn>
                        </p:par>
                        <p:par>
                          <p:cTn id="69" fill="hold">
                            <p:stCondLst>
                              <p:cond delay="2100"/>
                            </p:stCondLst>
                            <p:childTnLst>
                              <p:par>
                                <p:cTn id="63" presetID="22" presetClass="entr" presetSubtype="8" fill="hold" grpId="0" nodeType="after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wipe(left)">
                                      <p:cBhvr>
                                        <p:cTn id="65" dur="450"/>
                                        <p:tgtEl>
                                          <p:spTgt spid="22"/>
                                        </p:tgtEl>
                                      </p:cBhvr>
                                    </p:animEffect>
                                  </p:childTnLst>
                                </p:cTn>
                              </p:par>
                              <p:par>
                                <p:cTn id="66" presetID="22" presetClass="entr" presetSubtype="8"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wipe(left)">
                                      <p:cBhvr>
                                        <p:cTn id="68" dur="450"/>
                                        <p:tgtEl>
                                          <p:spTgt spid="23"/>
                                        </p:tgtEl>
                                      </p:cBhvr>
                                    </p:animEffect>
                                  </p:childTnLst>
                                </p:cTn>
                              </p:par>
                            </p:childTnLst>
                          </p:cTn>
                        </p:par>
                        <p:par>
                          <p:cTn id="85" fill="hold">
                            <p:stCondLst>
                              <p:cond delay="2450"/>
                            </p:stCondLst>
                            <p:childTnLst>
                              <p:par>
                                <p:cTn id="70" presetID="10" presetClass="entr" presetSubtype="0" fill="hold" grpId="0" nodeType="after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50"/>
                                        <p:tgtEl>
                                          <p:spTgt spid="2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5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5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5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STRATEGIC FIT · TEAMWORK</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Four 2026 objectives, one team effort</a:t>
            </a:r>
            <a:endParaRPr lang="en-US" sz="3600" dirty="0"/>
          </a:p>
        </p:txBody>
      </p:sp>
      <p:sp>
        <p:nvSpPr>
          <p:cNvPr id="4" name="flowhead-src"/>
          <p:cNvSpPr txBox="1"/>
          <p:nvPr/>
        </p:nvSpPr>
        <p:spPr>
          <a:xfrm>
            <a:off x="548640" y="132588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5" name="flowhead-ev"/>
          <p:cNvSpPr txBox="1"/>
          <p:nvPr/>
        </p:nvSpPr>
        <p:spPr>
          <a:xfrm>
            <a:off x="3429000" y="132588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6" name="flowhead-obj"/>
          <p:cNvSpPr txBox="1"/>
          <p:nvPr/>
        </p:nvSpPr>
        <p:spPr>
          <a:xfrm>
            <a:off x="8001000" y="132588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7" name="flow-src-box"/>
          <p:cNvSpPr/>
          <p:nvPr/>
        </p:nvSpPr>
        <p:spPr>
          <a:xfrm>
            <a:off x="548640" y="1691640"/>
            <a:ext cx="2377440" cy="3602736"/>
          </a:xfrm>
          <a:prstGeom prst="roundRect">
            <a:avLst>
              <a:gd name="adj" fmla="val 4615"/>
            </a:avLst>
          </a:prstGeom>
          <a:solidFill>
            <a:schemeClr val="accent4"/>
          </a:solidFill>
          <a:ln/>
        </p:spPr>
      </p:sp>
      <p:sp>
        <p:nvSpPr>
          <p:cNvPr id="8" name="flow-src-text"/>
          <p:cNvSpPr txBox="1"/>
          <p:nvPr/>
        </p:nvSpPr>
        <p:spPr>
          <a:xfrm>
            <a:off x="777240" y="1965960"/>
            <a:ext cx="1920240" cy="3054096"/>
          </a:xfrm>
          <a:prstGeom prst="rect">
            <a:avLst/>
          </a:prstGeom>
          <a:noFill/>
          <a:ln/>
        </p:spPr>
        <p:txBody>
          <a:bodyPr wrap="square" lIns="0" tIns="0" rIns="0" bIns="0" rtlCol="0" anchor="ctr"/>
          <a:lstStyle/>
          <a:p>
            <a:pPr indent="0" marL="0">
              <a:buNone/>
            </a:pPr>
            <a:r>
              <a:rPr lang="en-US" sz="2000" b="1" dirty="0">
                <a:solidFill>
                  <a:schemeClr val="bg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bg1"/>
                </a:solidFill>
              </a:rPr>
              <a:t>Slate to React + OSDK</a:t>
            </a:r>
            <a:endParaRPr lang="en-US" sz="2000" dirty="0"/>
          </a:p>
          <a:p>
            <a:pPr indent="0" marL="0">
              <a:buNone/>
            </a:pPr>
            <a:r>
              <a:rPr lang="en-US" sz="1400" dirty="0">
                <a:solidFill>
                  <a:schemeClr val="bg1"/>
                </a:solidFill>
              </a:rPr>
              <a:t>2 developers · 1 PI</a:t>
            </a:r>
            <a:endParaRPr lang="en-US" sz="2000" dirty="0"/>
          </a:p>
          <a:p>
            <a:pPr indent="0" marL="0">
              <a:buNone/>
            </a:pPr>
            <a:r>
              <a:rPr lang="en-US" sz="1400" dirty="0">
                <a:solidFill>
                  <a:schemeClr val="bg1"/>
                </a:solidFill>
              </a:rPr>
              <a:t>pack-project.ts</a:t>
            </a:r>
            <a:endParaRPr lang="en-US" sz="2000" dirty="0"/>
          </a:p>
        </p:txBody>
      </p:sp>
      <p:sp>
        <p:nvSpPr>
          <p:cNvPr id="9" name="flow-0-arrow1"/>
          <p:cNvSpPr/>
          <p:nvPr/>
        </p:nvSpPr>
        <p:spPr>
          <a:xfrm>
            <a:off x="2971800" y="2093976"/>
            <a:ext cx="411480" cy="0"/>
          </a:xfrm>
          <a:prstGeom prst="line">
            <a:avLst/>
          </a:prstGeom>
          <a:noFill/>
          <a:ln w="22225">
            <a:solidFill>
              <a:schemeClr val="tx2"/>
            </a:solidFill>
            <a:prstDash val="solid"/>
            <a:tailEnd type="triangle"/>
          </a:ln>
        </p:spPr>
      </p:sp>
      <p:sp>
        <p:nvSpPr>
          <p:cNvPr id="10" name="flow-0-evbox"/>
          <p:cNvSpPr/>
          <p:nvPr/>
        </p:nvSpPr>
        <p:spPr>
          <a:xfrm>
            <a:off x="3429000" y="1691640"/>
            <a:ext cx="4069080" cy="804672"/>
          </a:xfrm>
          <a:prstGeom prst="roundRect">
            <a:avLst>
              <a:gd name="adj" fmla="val 13636"/>
            </a:avLst>
          </a:prstGeom>
          <a:solidFill>
            <a:schemeClr val="bg2"/>
          </a:solidFill>
          <a:ln/>
        </p:spPr>
      </p:sp>
      <p:sp>
        <p:nvSpPr>
          <p:cNvPr id="11" name="flow-0-evtext"/>
          <p:cNvSpPr txBox="1"/>
          <p:nvPr/>
        </p:nvSpPr>
        <p:spPr>
          <a:xfrm>
            <a:off x="3611880" y="1783080"/>
            <a:ext cx="3703320" cy="621792"/>
          </a:xfrm>
          <a:prstGeom prst="rect">
            <a:avLst/>
          </a:prstGeom>
          <a:noFill/>
          <a:ln/>
        </p:spPr>
        <p:txBody>
          <a:bodyPr wrap="square" lIns="0" tIns="0" rIns="0" bIns="0" rtlCol="0" anchor="ctr"/>
          <a:lstStyle/>
          <a:p>
            <a:pPr indent="0" marL="0">
              <a:buNone/>
            </a:pPr>
            <a:r>
              <a:rPr lang="en-US" sz="1300" dirty="0">
                <a:solidFill>
                  <a:schemeClr val="tx1"/>
                </a:solidFill>
              </a:rPr>
              <a:t>AI read 8 Slate exports and the packed React code: 105 features recovered, 31 gaps found</a:t>
            </a:r>
            <a:endParaRPr lang="en-US" sz="1300" dirty="0"/>
          </a:p>
        </p:txBody>
      </p:sp>
      <p:sp>
        <p:nvSpPr>
          <p:cNvPr id="12" name="flow-0-arrow2"/>
          <p:cNvSpPr/>
          <p:nvPr/>
        </p:nvSpPr>
        <p:spPr>
          <a:xfrm>
            <a:off x="7543800" y="2093976"/>
            <a:ext cx="411480" cy="0"/>
          </a:xfrm>
          <a:prstGeom prst="line">
            <a:avLst/>
          </a:prstGeom>
          <a:noFill/>
          <a:ln w="22225">
            <a:solidFill>
              <a:schemeClr val="tx2"/>
            </a:solidFill>
            <a:prstDash val="solid"/>
            <a:tailEnd type="triangle"/>
          </a:ln>
        </p:spPr>
      </p:sp>
      <p:sp>
        <p:nvSpPr>
          <p:cNvPr id="13" name="flow-0-objbox"/>
          <p:cNvSpPr/>
          <p:nvPr/>
        </p:nvSpPr>
        <p:spPr>
          <a:xfrm>
            <a:off x="8001000" y="1691640"/>
            <a:ext cx="3639312" cy="804672"/>
          </a:xfrm>
          <a:prstGeom prst="roundRect">
            <a:avLst>
              <a:gd name="adj" fmla="val 13636"/>
            </a:avLst>
          </a:prstGeom>
          <a:solidFill>
            <a:schemeClr val="tx1"/>
          </a:solidFill>
          <a:ln/>
        </p:spPr>
      </p:sp>
      <p:sp>
        <p:nvSpPr>
          <p:cNvPr id="14" name="flow-0-objtext"/>
          <p:cNvSpPr txBox="1"/>
          <p:nvPr/>
        </p:nvSpPr>
        <p:spPr>
          <a:xfrm>
            <a:off x="8183880" y="1783080"/>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Leverage AI to solve business problems</a:t>
            </a:r>
            <a:endParaRPr lang="en-US" sz="1400" dirty="0"/>
          </a:p>
          <a:p>
            <a:pPr indent="0" marL="0">
              <a:buNone/>
            </a:pPr>
            <a:r>
              <a:rPr lang="en-US" sz="1100" dirty="0">
                <a:solidFill>
                  <a:schemeClr val="accent5"/>
                </a:solidFill>
              </a:rPr>
              <a:t>India TFO · Digital: democratise AI</a:t>
            </a:r>
            <a:endParaRPr lang="en-US" sz="1400" dirty="0"/>
          </a:p>
        </p:txBody>
      </p:sp>
      <p:sp>
        <p:nvSpPr>
          <p:cNvPr id="15" name="flow-1-arrow1"/>
          <p:cNvSpPr/>
          <p:nvPr/>
        </p:nvSpPr>
        <p:spPr>
          <a:xfrm>
            <a:off x="2971800" y="3026664"/>
            <a:ext cx="411480" cy="0"/>
          </a:xfrm>
          <a:prstGeom prst="line">
            <a:avLst/>
          </a:prstGeom>
          <a:noFill/>
          <a:ln w="22225">
            <a:solidFill>
              <a:schemeClr val="tx2"/>
            </a:solidFill>
            <a:prstDash val="solid"/>
            <a:tailEnd type="triangle"/>
          </a:ln>
        </p:spPr>
      </p:sp>
      <p:sp>
        <p:nvSpPr>
          <p:cNvPr id="16" name="flow-1-evbox"/>
          <p:cNvSpPr/>
          <p:nvPr/>
        </p:nvSpPr>
        <p:spPr>
          <a:xfrm>
            <a:off x="3429000" y="2624328"/>
            <a:ext cx="4069080" cy="804672"/>
          </a:xfrm>
          <a:prstGeom prst="roundRect">
            <a:avLst>
              <a:gd name="adj" fmla="val 13636"/>
            </a:avLst>
          </a:prstGeom>
          <a:solidFill>
            <a:schemeClr val="bg2"/>
          </a:solidFill>
          <a:ln/>
        </p:spPr>
      </p:sp>
      <p:sp>
        <p:nvSpPr>
          <p:cNvPr id="17" name="flow-1-evtext"/>
          <p:cNvSpPr txBox="1"/>
          <p:nvPr/>
        </p:nvSpPr>
        <p:spPr>
          <a:xfrm>
            <a:off x="3611880" y="2715768"/>
            <a:ext cx="3703320" cy="621792"/>
          </a:xfrm>
          <a:prstGeom prst="rect">
            <a:avLst/>
          </a:prstGeom>
          <a:noFill/>
          <a:ln/>
        </p:spPr>
        <p:txBody>
          <a:bodyPr wrap="square" lIns="0" tIns="0" rIns="0" bIns="0" rtlCol="0" anchor="ctr"/>
          <a:lstStyle/>
          <a:p>
            <a:pPr indent="0" marL="0">
              <a:buNone/>
            </a:pPr>
            <a:r>
              <a:rPr lang="en-US" sz="1300" dirty="0">
                <a:solidFill>
                  <a:schemeClr val="tx1"/>
                </a:solidFill>
              </a:rPr>
              <a:t>Delivered in 1 PI by 2 developers, about 76% less effort than a manual estimate</a:t>
            </a:r>
            <a:endParaRPr lang="en-US" sz="1300" dirty="0"/>
          </a:p>
        </p:txBody>
      </p:sp>
      <p:sp>
        <p:nvSpPr>
          <p:cNvPr id="18" name="flow-1-arrow2"/>
          <p:cNvSpPr/>
          <p:nvPr/>
        </p:nvSpPr>
        <p:spPr>
          <a:xfrm>
            <a:off x="7543800" y="3026664"/>
            <a:ext cx="411480" cy="0"/>
          </a:xfrm>
          <a:prstGeom prst="line">
            <a:avLst/>
          </a:prstGeom>
          <a:noFill/>
          <a:ln w="22225">
            <a:solidFill>
              <a:schemeClr val="tx2"/>
            </a:solidFill>
            <a:prstDash val="solid"/>
            <a:tailEnd type="triangle"/>
          </a:ln>
        </p:spPr>
      </p:sp>
      <p:sp>
        <p:nvSpPr>
          <p:cNvPr id="19" name="flow-1-objbox"/>
          <p:cNvSpPr/>
          <p:nvPr/>
        </p:nvSpPr>
        <p:spPr>
          <a:xfrm>
            <a:off x="8001000" y="2624328"/>
            <a:ext cx="3639312" cy="804672"/>
          </a:xfrm>
          <a:prstGeom prst="roundRect">
            <a:avLst>
              <a:gd name="adj" fmla="val 13636"/>
            </a:avLst>
          </a:prstGeom>
          <a:solidFill>
            <a:schemeClr val="tx1"/>
          </a:solidFill>
          <a:ln/>
        </p:spPr>
      </p:sp>
      <p:sp>
        <p:nvSpPr>
          <p:cNvPr id="20" name="flow-1-objtext"/>
          <p:cNvSpPr txBox="1"/>
          <p:nvPr/>
        </p:nvSpPr>
        <p:spPr>
          <a:xfrm>
            <a:off x="8183880" y="2715768"/>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Deliver on time, on cost, on quality</a:t>
            </a:r>
            <a:endParaRPr lang="en-US" sz="1400" dirty="0"/>
          </a:p>
          <a:p>
            <a:pPr indent="0" marL="0">
              <a:buNone/>
            </a:pPr>
            <a:r>
              <a:rPr lang="en-US" sz="1100" dirty="0">
                <a:solidFill>
                  <a:schemeClr val="accent5"/>
                </a:solidFill>
              </a:rPr>
              <a:t>Digital: optimise our digital resources</a:t>
            </a:r>
            <a:endParaRPr lang="en-US" sz="1400" dirty="0"/>
          </a:p>
        </p:txBody>
      </p:sp>
      <p:sp>
        <p:nvSpPr>
          <p:cNvPr id="21" name="flow-2-arrow1"/>
          <p:cNvSpPr/>
          <p:nvPr/>
        </p:nvSpPr>
        <p:spPr>
          <a:xfrm>
            <a:off x="2971800" y="3959352"/>
            <a:ext cx="411480" cy="0"/>
          </a:xfrm>
          <a:prstGeom prst="line">
            <a:avLst/>
          </a:prstGeom>
          <a:noFill/>
          <a:ln w="22225">
            <a:solidFill>
              <a:schemeClr val="tx2"/>
            </a:solidFill>
            <a:prstDash val="solid"/>
            <a:tailEnd type="triangle"/>
          </a:ln>
        </p:spPr>
      </p:sp>
      <p:sp>
        <p:nvSpPr>
          <p:cNvPr id="22" name="flow-2-evbox"/>
          <p:cNvSpPr/>
          <p:nvPr/>
        </p:nvSpPr>
        <p:spPr>
          <a:xfrm>
            <a:off x="3429000" y="3557016"/>
            <a:ext cx="4069080" cy="804672"/>
          </a:xfrm>
          <a:prstGeom prst="roundRect">
            <a:avLst>
              <a:gd name="adj" fmla="val 13636"/>
            </a:avLst>
          </a:prstGeom>
          <a:solidFill>
            <a:schemeClr val="bg2"/>
          </a:solidFill>
          <a:ln/>
        </p:spPr>
      </p:sp>
      <p:sp>
        <p:nvSpPr>
          <p:cNvPr id="23" name="flow-2-evtext"/>
          <p:cNvSpPr txBox="1"/>
          <p:nvPr/>
        </p:nvSpPr>
        <p:spPr>
          <a:xfrm>
            <a:off x="3611880" y="3648456"/>
            <a:ext cx="3703320" cy="621792"/>
          </a:xfrm>
          <a:prstGeom prst="rect">
            <a:avLst/>
          </a:prstGeom>
          <a:noFill/>
          <a:ln/>
        </p:spPr>
        <p:txBody>
          <a:bodyPr wrap="square" lIns="0" tIns="0" rIns="0" bIns="0" rtlCol="0" anchor="ctr"/>
          <a:lstStyle/>
          <a:p>
            <a:pPr indent="0" marL="0">
              <a:buNone/>
            </a:pPr>
            <a:r>
              <a:rPr lang="en-US" sz="1300" dirty="0">
                <a:solidFill>
                  <a:schemeClr val="tx1"/>
                </a:solidFill>
              </a:rPr>
              <a:t>All 105 features tracked for parity; ERM moved off legacy Slate onto a standard, maintainable stack</a:t>
            </a:r>
            <a:endParaRPr lang="en-US" sz="1300" dirty="0"/>
          </a:p>
        </p:txBody>
      </p:sp>
      <p:sp>
        <p:nvSpPr>
          <p:cNvPr id="24" name="flow-2-arrow2"/>
          <p:cNvSpPr/>
          <p:nvPr/>
        </p:nvSpPr>
        <p:spPr>
          <a:xfrm>
            <a:off x="7543800" y="3959352"/>
            <a:ext cx="411480" cy="0"/>
          </a:xfrm>
          <a:prstGeom prst="line">
            <a:avLst/>
          </a:prstGeom>
          <a:noFill/>
          <a:ln w="22225">
            <a:solidFill>
              <a:schemeClr val="tx2"/>
            </a:solidFill>
            <a:prstDash val="solid"/>
            <a:tailEnd type="triangle"/>
          </a:ln>
        </p:spPr>
      </p:sp>
      <p:sp>
        <p:nvSpPr>
          <p:cNvPr id="25" name="flow-2-objbox"/>
          <p:cNvSpPr/>
          <p:nvPr/>
        </p:nvSpPr>
        <p:spPr>
          <a:xfrm>
            <a:off x="8001000" y="3557016"/>
            <a:ext cx="3639312" cy="804672"/>
          </a:xfrm>
          <a:prstGeom prst="roundRect">
            <a:avLst>
              <a:gd name="adj" fmla="val 13636"/>
            </a:avLst>
          </a:prstGeom>
          <a:solidFill>
            <a:schemeClr val="tx1"/>
          </a:solidFill>
          <a:ln/>
        </p:spPr>
      </p:sp>
      <p:sp>
        <p:nvSpPr>
          <p:cNvPr id="26" name="flow-2-objtext"/>
          <p:cNvSpPr txBox="1"/>
          <p:nvPr/>
        </p:nvSpPr>
        <p:spPr>
          <a:xfrm>
            <a:off x="8183880" y="3648456"/>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Ensure our operational performance</a:t>
            </a:r>
            <a:endParaRPr lang="en-US" sz="1400" dirty="0"/>
          </a:p>
          <a:p>
            <a:pPr indent="0" marL="0">
              <a:buNone/>
            </a:pPr>
            <a:r>
              <a:rPr lang="en-US" sz="1100" dirty="0">
                <a:solidFill>
                  <a:schemeClr val="accent5"/>
                </a:solidFill>
              </a:rPr>
              <a:t>Digital: availability of systems for operations</a:t>
            </a:r>
            <a:endParaRPr lang="en-US" sz="1400" dirty="0"/>
          </a:p>
        </p:txBody>
      </p:sp>
      <p:sp>
        <p:nvSpPr>
          <p:cNvPr id="27" name="flow-3-arrow1"/>
          <p:cNvSpPr/>
          <p:nvPr/>
        </p:nvSpPr>
        <p:spPr>
          <a:xfrm>
            <a:off x="2971800" y="4892040"/>
            <a:ext cx="411480" cy="0"/>
          </a:xfrm>
          <a:prstGeom prst="line">
            <a:avLst/>
          </a:prstGeom>
          <a:noFill/>
          <a:ln w="22225">
            <a:solidFill>
              <a:schemeClr val="tx2"/>
            </a:solidFill>
            <a:prstDash val="solid"/>
            <a:tailEnd type="triangle"/>
          </a:ln>
        </p:spPr>
      </p:sp>
      <p:sp>
        <p:nvSpPr>
          <p:cNvPr id="28" name="flow-3-evbox"/>
          <p:cNvSpPr/>
          <p:nvPr/>
        </p:nvSpPr>
        <p:spPr>
          <a:xfrm>
            <a:off x="3429000" y="4489704"/>
            <a:ext cx="4069080" cy="804672"/>
          </a:xfrm>
          <a:prstGeom prst="roundRect">
            <a:avLst>
              <a:gd name="adj" fmla="val 13636"/>
            </a:avLst>
          </a:prstGeom>
          <a:solidFill>
            <a:schemeClr val="bg2"/>
          </a:solidFill>
          <a:ln/>
        </p:spPr>
      </p:sp>
      <p:sp>
        <p:nvSpPr>
          <p:cNvPr id="29" name="flow-3-evtext"/>
          <p:cNvSpPr txBox="1"/>
          <p:nvPr/>
        </p:nvSpPr>
        <p:spPr>
          <a:xfrm>
            <a:off x="3611880" y="4581144"/>
            <a:ext cx="3703320" cy="621792"/>
          </a:xfrm>
          <a:prstGeom prst="rect">
            <a:avLst/>
          </a:prstGeom>
          <a:noFill/>
          <a:ln/>
        </p:spPr>
        <p:txBody>
          <a:bodyPr wrap="square" lIns="0" tIns="0" rIns="0" bIns="0" rtlCol="0" anchor="ctr"/>
          <a:lstStyle/>
          <a:p>
            <a:pPr indent="0" marL="0">
              <a:buNone/>
            </a:pPr>
            <a:r>
              <a:rPr lang="en-US" sz="1300" dirty="0">
                <a:solidFill>
                  <a:schemeClr val="tx1"/>
                </a:solidFill>
              </a:rPr>
              <a:t>pack-project.ts and the playbook let any team repeat the method</a:t>
            </a:r>
            <a:endParaRPr lang="en-US" sz="1300" dirty="0"/>
          </a:p>
        </p:txBody>
      </p:sp>
      <p:sp>
        <p:nvSpPr>
          <p:cNvPr id="30" name="flow-3-arrow2"/>
          <p:cNvSpPr/>
          <p:nvPr/>
        </p:nvSpPr>
        <p:spPr>
          <a:xfrm>
            <a:off x="7543800" y="4892040"/>
            <a:ext cx="411480" cy="0"/>
          </a:xfrm>
          <a:prstGeom prst="line">
            <a:avLst/>
          </a:prstGeom>
          <a:noFill/>
          <a:ln w="22225">
            <a:solidFill>
              <a:schemeClr val="tx2"/>
            </a:solidFill>
            <a:prstDash val="solid"/>
            <a:tailEnd type="triangle"/>
          </a:ln>
        </p:spPr>
      </p:sp>
      <p:sp>
        <p:nvSpPr>
          <p:cNvPr id="31" name="flow-3-objbox"/>
          <p:cNvSpPr/>
          <p:nvPr/>
        </p:nvSpPr>
        <p:spPr>
          <a:xfrm>
            <a:off x="8001000" y="4489704"/>
            <a:ext cx="3639312" cy="804672"/>
          </a:xfrm>
          <a:prstGeom prst="roundRect">
            <a:avLst>
              <a:gd name="adj" fmla="val 13636"/>
            </a:avLst>
          </a:prstGeom>
          <a:solidFill>
            <a:schemeClr val="tx1"/>
          </a:solidFill>
          <a:ln/>
        </p:spPr>
      </p:sp>
      <p:sp>
        <p:nvSpPr>
          <p:cNvPr id="32" name="flow-3-objtext"/>
          <p:cNvSpPr txBox="1"/>
          <p:nvPr/>
        </p:nvSpPr>
        <p:spPr>
          <a:xfrm>
            <a:off x="8183880" y="4581144"/>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Grow digital acumen and competencies</a:t>
            </a:r>
            <a:endParaRPr lang="en-US" sz="1400" dirty="0"/>
          </a:p>
          <a:p>
            <a:pPr indent="0" marL="0">
              <a:buNone/>
            </a:pPr>
            <a:r>
              <a:rPr lang="en-US" sz="1100" dirty="0">
                <a:solidFill>
                  <a:schemeClr val="accent5"/>
                </a:solidFill>
              </a:rPr>
              <a:t>Digital: develop our people · India TFO</a:t>
            </a:r>
            <a:endParaRPr lang="en-US" sz="1400" dirty="0"/>
          </a:p>
        </p:txBody>
      </p:sp>
      <p:sp>
        <p:nvSpPr>
          <p:cNvPr id="33" name="team-card"/>
          <p:cNvSpPr/>
          <p:nvPr/>
        </p:nvSpPr>
        <p:spPr>
          <a:xfrm>
            <a:off x="548640" y="5477256"/>
            <a:ext cx="11094415" cy="969264"/>
          </a:xfrm>
          <a:prstGeom prst="roundRect">
            <a:avLst>
              <a:gd name="adj" fmla="val 11321"/>
            </a:avLst>
          </a:prstGeom>
          <a:solidFill>
            <a:schemeClr val="bg1"/>
          </a:solidFill>
          <a:ln/>
        </p:spPr>
      </p:sp>
      <p:sp>
        <p:nvSpPr>
          <p:cNvPr id="34" name="team-text"/>
          <p:cNvSpPr txBox="1"/>
          <p:nvPr/>
        </p:nvSpPr>
        <p:spPr>
          <a:xfrm>
            <a:off x="822960" y="5477256"/>
            <a:ext cx="10545775" cy="969264"/>
          </a:xfrm>
          <a:prstGeom prst="rect">
            <a:avLst/>
          </a:prstGeom>
          <a:noFill/>
          <a:ln/>
        </p:spPr>
        <p:txBody>
          <a:bodyPr wrap="square" lIns="0" tIns="0" rIns="0" bIns="0" rtlCol="0" anchor="ctr"/>
          <a:lstStyle/>
          <a:p>
            <a:pPr indent="0" marL="0">
              <a:buNone/>
            </a:pPr>
            <a:r>
              <a:rPr lang="en-US" sz="1100" b="1" spc="200" kern="0" dirty="0">
                <a:solidFill>
                  <a:schemeClr val="accent3"/>
                </a:solidFill>
              </a:rPr>
              <a:t>BUILT TOGETHER  </a:t>
            </a:r>
            <a:pPr indent="0" marL="0">
              <a:buNone/>
            </a:pPr>
            <a:r>
              <a:rPr lang="en-US" sz="1300" dirty="0">
                <a:solidFill>
                  <a:schemeClr val="tx1"/>
                </a:solidFill>
              </a:rPr>
              <a:t>Business users confirmed the feature catalogue · Data and security owners kept restricted views intact · Backend and frontend fixes shipped together</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450"/>
                                        <p:tgtEl>
                                          <p:spTgt spid="9"/>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50"/>
                                        <p:tgtEl>
                                          <p:spTgt spid="11"/>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50"/>
                                        <p:tgtEl>
                                          <p:spTgt spid="13"/>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450"/>
                                        <p:tgtEl>
                                          <p:spTgt spid="14"/>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50"/>
                                        <p:tgtEl>
                                          <p:spTgt spid="16"/>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50"/>
                                        <p:tgtEl>
                                          <p:spTgt spid="17"/>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8"/>
                                        </p:tgtEl>
                                        <p:attrNameLst>
                                          <p:attrName>style.visibility</p:attrName>
                                        </p:attrNameLst>
                                      </p:cBhvr>
                                      <p:to>
                                        <p:strVal val="visible"/>
                                      </p:to>
                                    </p:set>
                                    <p:animEffect transition="in" filter="wipe(left)">
                                      <p:cBhvr>
                                        <p:cTn id="40" dur="450"/>
                                        <p:tgtEl>
                                          <p:spTgt spid="18"/>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50"/>
                                        <p:tgtEl>
                                          <p:spTgt spid="19"/>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450"/>
                                        <p:tgtEl>
                                          <p:spTgt spid="20"/>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wipe(left)">
                                      <p:cBhvr>
                                        <p:cTn id="50" dur="450"/>
                                        <p:tgtEl>
                                          <p:spTgt spid="21"/>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450"/>
                                        <p:tgtEl>
                                          <p:spTgt spid="22"/>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450"/>
                                        <p:tgtEl>
                                          <p:spTgt spid="23"/>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4"/>
                                        </p:tgtEl>
                                        <p:attrNameLst>
                                          <p:attrName>style.visibility</p:attrName>
                                        </p:attrNameLst>
                                      </p:cBhvr>
                                      <p:to>
                                        <p:strVal val="visible"/>
                                      </p:to>
                                    </p:set>
                                    <p:animEffect transition="in" filter="wipe(left)">
                                      <p:cBhvr>
                                        <p:cTn id="59" dur="450"/>
                                        <p:tgtEl>
                                          <p:spTgt spid="24"/>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50"/>
                                        <p:tgtEl>
                                          <p:spTgt spid="25"/>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50"/>
                                        <p:tgtEl>
                                          <p:spTgt spid="26"/>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wipe(left)">
                                      <p:cBhvr>
                                        <p:cTn id="69" dur="450"/>
                                        <p:tgtEl>
                                          <p:spTgt spid="27"/>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50"/>
                                        <p:tgtEl>
                                          <p:spTgt spid="28"/>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450"/>
                                        <p:tgtEl>
                                          <p:spTgt spid="29"/>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30"/>
                                        </p:tgtEl>
                                        <p:attrNameLst>
                                          <p:attrName>style.visibility</p:attrName>
                                        </p:attrNameLst>
                                      </p:cBhvr>
                                      <p:to>
                                        <p:strVal val="visible"/>
                                      </p:to>
                                    </p:set>
                                    <p:animEffect transition="in" filter="wipe(left)">
                                      <p:cBhvr>
                                        <p:cTn id="78" dur="450"/>
                                        <p:tgtEl>
                                          <p:spTgt spid="30"/>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450"/>
                                        <p:tgtEl>
                                          <p:spTgt spid="31"/>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450"/>
                                        <p:tgtEl>
                                          <p:spTgt spid="32"/>
                                        </p:tgtEl>
                                      </p:cBhvr>
                                    </p:animEffect>
                                  </p:childTnLst>
                                </p:cTn>
                              </p:par>
                            </p:childTnLst>
                          </p:cTn>
                        </p:par>
                        <p:par>
                          <p:cTn id="92" fill="hold">
                            <p:stCondLst>
                              <p:cond delay="5500"/>
                            </p:stCondLst>
                            <p:childTnLst>
                              <p:par>
                                <p:cTn id="86" presetID="22" presetClass="entr" presetSubtype="8" fill="hold" grpId="0" nodeType="after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wipe(left)">
                                      <p:cBhvr>
                                        <p:cTn id="88" dur="450"/>
                                        <p:tgtEl>
                                          <p:spTgt spid="33"/>
                                        </p:tgtEl>
                                      </p:cBhvr>
                                    </p:animEffect>
                                  </p:childTnLst>
                                </p:cTn>
                              </p:par>
                              <p:par>
                                <p:cTn id="89" presetID="22" presetClass="entr" presetSubtype="8"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wipe(left)">
                                      <p:cBhvr>
                                        <p:cTn id="91"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SCALE · TRANSFERABILITY</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run next</a:t>
            </a:r>
            <a:endParaRPr lang="en-US" sz="3600" dirty="0"/>
          </a:p>
        </p:txBody>
      </p:sp>
      <p:sp>
        <p:nvSpPr>
          <p:cNvPr id="4" name="step-0"/>
          <p:cNvSpPr/>
          <p:nvPr/>
        </p:nvSpPr>
        <p:spPr>
          <a:xfrm>
            <a:off x="548640" y="1463040"/>
            <a:ext cx="2131101" cy="777240"/>
          </a:xfrm>
          <a:prstGeom prst="chevron">
            <a:avLst/>
          </a:prstGeom>
          <a:solidFill>
            <a:schemeClr val="accent2"/>
          </a:solidFill>
          <a:ln/>
        </p:spPr>
      </p:sp>
      <p:sp>
        <p:nvSpPr>
          <p:cNvPr id="5" name="step-0-text"/>
          <p:cNvSpPr txBox="1"/>
          <p:nvPr/>
        </p:nvSpPr>
        <p:spPr>
          <a:xfrm>
            <a:off x="822960"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Pack</a:t>
            </a:r>
            <a:endParaRPr lang="en-US" sz="1800" dirty="0"/>
          </a:p>
        </p:txBody>
      </p:sp>
      <p:sp>
        <p:nvSpPr>
          <p:cNvPr id="6" name="step-1"/>
          <p:cNvSpPr/>
          <p:nvPr/>
        </p:nvSpPr>
        <p:spPr>
          <a:xfrm>
            <a:off x="2789469" y="1463040"/>
            <a:ext cx="2131101" cy="777240"/>
          </a:xfrm>
          <a:prstGeom prst="chevron">
            <a:avLst/>
          </a:prstGeom>
          <a:solidFill>
            <a:schemeClr val="accent4"/>
          </a:solidFill>
          <a:ln/>
        </p:spPr>
      </p:sp>
      <p:sp>
        <p:nvSpPr>
          <p:cNvPr id="7" name="step-1-text"/>
          <p:cNvSpPr txBox="1"/>
          <p:nvPr/>
        </p:nvSpPr>
        <p:spPr>
          <a:xfrm>
            <a:off x="3063789"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Extract</a:t>
            </a:r>
            <a:endParaRPr lang="en-US" sz="1800" dirty="0"/>
          </a:p>
        </p:txBody>
      </p:sp>
      <p:sp>
        <p:nvSpPr>
          <p:cNvPr id="8" name="step-2"/>
          <p:cNvSpPr/>
          <p:nvPr/>
        </p:nvSpPr>
        <p:spPr>
          <a:xfrm>
            <a:off x="5030297" y="1463040"/>
            <a:ext cx="2131101" cy="777240"/>
          </a:xfrm>
          <a:prstGeom prst="chevron">
            <a:avLst/>
          </a:prstGeom>
          <a:solidFill>
            <a:schemeClr val="accent4"/>
          </a:solidFill>
          <a:ln/>
        </p:spPr>
      </p:sp>
      <p:sp>
        <p:nvSpPr>
          <p:cNvPr id="9" name="step-2-text"/>
          <p:cNvSpPr txBox="1"/>
          <p:nvPr/>
        </p:nvSpPr>
        <p:spPr>
          <a:xfrm>
            <a:off x="5304617"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Compare</a:t>
            </a:r>
            <a:endParaRPr lang="en-US" sz="1800" dirty="0"/>
          </a:p>
        </p:txBody>
      </p:sp>
      <p:sp>
        <p:nvSpPr>
          <p:cNvPr id="10" name="step-3"/>
          <p:cNvSpPr/>
          <p:nvPr/>
        </p:nvSpPr>
        <p:spPr>
          <a:xfrm>
            <a:off x="7271126" y="1463040"/>
            <a:ext cx="2131101" cy="777240"/>
          </a:xfrm>
          <a:prstGeom prst="chevron">
            <a:avLst/>
          </a:prstGeom>
          <a:solidFill>
            <a:schemeClr val="accent4"/>
          </a:solidFill>
          <a:ln/>
        </p:spPr>
      </p:sp>
      <p:sp>
        <p:nvSpPr>
          <p:cNvPr id="11" name="step-3-text"/>
          <p:cNvSpPr txBox="1"/>
          <p:nvPr/>
        </p:nvSpPr>
        <p:spPr>
          <a:xfrm>
            <a:off x="7545446"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Fix</a:t>
            </a:r>
            <a:endParaRPr lang="en-US" sz="1800" dirty="0"/>
          </a:p>
        </p:txBody>
      </p:sp>
      <p:sp>
        <p:nvSpPr>
          <p:cNvPr id="12" name="step-4"/>
          <p:cNvSpPr/>
          <p:nvPr/>
        </p:nvSpPr>
        <p:spPr>
          <a:xfrm>
            <a:off x="9511955" y="1463040"/>
            <a:ext cx="2131101" cy="777240"/>
          </a:xfrm>
          <a:prstGeom prst="chevron">
            <a:avLst/>
          </a:prstGeom>
          <a:solidFill>
            <a:schemeClr val="accent4"/>
          </a:solidFill>
          <a:ln/>
        </p:spPr>
      </p:sp>
      <p:sp>
        <p:nvSpPr>
          <p:cNvPr id="13" name="step-4-text"/>
          <p:cNvSpPr txBox="1"/>
          <p:nvPr/>
        </p:nvSpPr>
        <p:spPr>
          <a:xfrm>
            <a:off x="9786275"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Document</a:t>
            </a:r>
            <a:endParaRPr lang="en-US" sz="1800" dirty="0"/>
          </a:p>
        </p:txBody>
      </p:sp>
      <p:sp>
        <p:nvSpPr>
          <p:cNvPr id="14" name="reuse-0-card"/>
          <p:cNvSpPr/>
          <p:nvPr/>
        </p:nvSpPr>
        <p:spPr>
          <a:xfrm>
            <a:off x="548640" y="2560320"/>
            <a:ext cx="3515258" cy="2743200"/>
          </a:xfrm>
          <a:prstGeom prst="roundRect">
            <a:avLst>
              <a:gd name="adj" fmla="val 4000"/>
            </a:avLst>
          </a:prstGeom>
          <a:solidFill>
            <a:schemeClr val="accent4"/>
          </a:solidFill>
          <a:ln/>
        </p:spPr>
      </p:sp>
      <p:sp>
        <p:nvSpPr>
          <p:cNvPr id="15" name="reuse-0-title"/>
          <p:cNvSpPr txBox="1"/>
          <p:nvPr/>
        </p:nvSpPr>
        <p:spPr>
          <a:xfrm>
            <a:off x="822960"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Ready to reuse</a:t>
            </a:r>
            <a:endParaRPr lang="en-US" sz="2000" dirty="0"/>
          </a:p>
        </p:txBody>
      </p:sp>
      <p:sp>
        <p:nvSpPr>
          <p:cNvPr id="16" name="reuse-0-list"/>
          <p:cNvSpPr txBox="1"/>
          <p:nvPr/>
        </p:nvSpPr>
        <p:spPr>
          <a:xfrm>
            <a:off x="822960"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pack-project.ts: whole-app context in one command</a:t>
            </a:r>
            <a:endParaRPr lang="en-US" sz="1400" dirty="0"/>
          </a:p>
          <a:p>
            <a:pPr marL="342900" indent="-342900">
              <a:spcAft>
                <a:spcPts val="800"/>
              </a:spcAft>
              <a:buSzPct val="100000"/>
              <a:buChar char="•"/>
            </a:pPr>
            <a:r>
              <a:rPr lang="en-US" sz="1400" dirty="0">
                <a:solidFill>
                  <a:schemeClr val="accent6"/>
                </a:solidFill>
              </a:rPr>
              <a:t>Feature comparison template</a:t>
            </a:r>
            <a:endParaRPr lang="en-US" sz="1400" dirty="0"/>
          </a:p>
          <a:p>
            <a:pPr marL="342900" indent="-342900">
              <a:spcAft>
                <a:spcPts val="800"/>
              </a:spcAft>
              <a:buSzPct val="100000"/>
              <a:buChar char="•"/>
            </a:pPr>
            <a:r>
              <a:rPr lang="en-US" sz="1400" dirty="0">
                <a:solidFill>
                  <a:schemeClr val="accent6"/>
                </a:solidFill>
              </a:rPr>
              <a:t>Architecture and lifecycle diagram formats</a:t>
            </a:r>
            <a:endParaRPr lang="en-US" sz="1400" dirty="0"/>
          </a:p>
        </p:txBody>
      </p:sp>
      <p:sp>
        <p:nvSpPr>
          <p:cNvPr id="17" name="reuse-1-card"/>
          <p:cNvSpPr/>
          <p:nvPr/>
        </p:nvSpPr>
        <p:spPr>
          <a:xfrm>
            <a:off x="4338218" y="2560320"/>
            <a:ext cx="3515258" cy="2743200"/>
          </a:xfrm>
          <a:prstGeom prst="roundRect">
            <a:avLst>
              <a:gd name="adj" fmla="val 4000"/>
            </a:avLst>
          </a:prstGeom>
          <a:solidFill>
            <a:schemeClr val="accent4"/>
          </a:solidFill>
          <a:ln/>
        </p:spPr>
      </p:sp>
      <p:sp>
        <p:nvSpPr>
          <p:cNvPr id="18" name="reuse-1-title"/>
          <p:cNvSpPr txBox="1"/>
          <p:nvPr/>
        </p:nvSpPr>
        <p:spPr>
          <a:xfrm>
            <a:off x="4612538"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Where next</a:t>
            </a:r>
            <a:endParaRPr lang="en-US" sz="2000" dirty="0"/>
          </a:p>
        </p:txBody>
      </p:sp>
      <p:sp>
        <p:nvSpPr>
          <p:cNvPr id="19" name="reuse-1-list"/>
          <p:cNvSpPr txBox="1"/>
          <p:nvPr/>
        </p:nvSpPr>
        <p:spPr>
          <a:xfrm>
            <a:off x="4612538"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Other Slate apps in [business areas]</a:t>
            </a:r>
            <a:endParaRPr lang="en-US" sz="1400" dirty="0"/>
          </a:p>
          <a:p>
            <a:pPr marL="342900" indent="-342900">
              <a:spcAft>
                <a:spcPts val="800"/>
              </a:spcAft>
              <a:buSzPct val="100000"/>
              <a:buChar char="•"/>
            </a:pPr>
            <a:r>
              <a:rPr lang="en-US" sz="1400" dirty="0">
                <a:solidFill>
                  <a:schemeClr val="accent6"/>
                </a:solidFill>
              </a:rPr>
              <a:t>Any low-code tool with little documentation</a:t>
            </a:r>
            <a:endParaRPr lang="en-US" sz="1400" dirty="0"/>
          </a:p>
          <a:p>
            <a:pPr marL="342900" indent="-342900">
              <a:spcAft>
                <a:spcPts val="800"/>
              </a:spcAft>
              <a:buSzPct val="100000"/>
              <a:buChar char="•"/>
            </a:pPr>
            <a:r>
              <a:rPr lang="en-US" sz="1400" dirty="0">
                <a:solidFill>
                  <a:schemeClr val="accent6"/>
                </a:solidFill>
              </a:rPr>
              <a:t>Teams starting their first AI-assisted migration</a:t>
            </a:r>
            <a:endParaRPr lang="en-US" sz="1400" dirty="0"/>
          </a:p>
        </p:txBody>
      </p:sp>
      <p:sp>
        <p:nvSpPr>
          <p:cNvPr id="20" name="ask-card"/>
          <p:cNvSpPr/>
          <p:nvPr/>
        </p:nvSpPr>
        <p:spPr>
          <a:xfrm>
            <a:off x="8127797" y="2560320"/>
            <a:ext cx="3515258" cy="2743200"/>
          </a:xfrm>
          <a:prstGeom prst="roundRect">
            <a:avLst>
              <a:gd name="adj" fmla="val 4000"/>
            </a:avLst>
          </a:prstGeom>
          <a:solidFill>
            <a:schemeClr val="bg1"/>
          </a:solidFill>
          <a:ln/>
        </p:spPr>
      </p:sp>
      <p:sp>
        <p:nvSpPr>
          <p:cNvPr id="21" name="ask-text"/>
          <p:cNvSpPr txBox="1"/>
          <p:nvPr/>
        </p:nvSpPr>
        <p:spPr>
          <a:xfrm>
            <a:off x="8402117" y="2743200"/>
            <a:ext cx="2966618" cy="2377440"/>
          </a:xfrm>
          <a:prstGeom prst="rect">
            <a:avLst/>
          </a:prstGeom>
          <a:noFill/>
          <a:ln/>
        </p:spPr>
        <p:txBody>
          <a:bodyPr wrap="square" lIns="0" tIns="0" rIns="0" bIns="0" rtlCol="0" anchor="t"/>
          <a:lstStyle/>
          <a:p>
            <a:pPr indent="0" marL="0">
              <a:buNone/>
            </a:pPr>
            <a:r>
              <a:rPr lang="en-US" sz="2000" b="1" dirty="0">
                <a:solidFill>
                  <a:schemeClr val="accent3"/>
                </a:solidFill>
              </a:rPr>
              <a:t>Our ask</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tx1"/>
                </a:solidFill>
              </a:rPr>
              <a:t>[Sponsor a pilot: run the playbook on [N] more Slate apps in [PI]]</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tx1"/>
                </a:solidFill>
              </a:rPr>
              <a:t>[Name a contact team to adopt it]</a:t>
            </a:r>
            <a:endParaRPr lang="en-US" sz="2000" dirty="0"/>
          </a:p>
        </p:txBody>
      </p:sp>
      <p:sp>
        <p:nvSpPr>
          <p:cNvPr id="22" name="closing"/>
          <p:cNvSpPr txBox="1"/>
          <p:nvPr/>
        </p:nvSpPr>
        <p:spPr>
          <a:xfrm>
            <a:off x="548640" y="5623560"/>
            <a:ext cx="11094415" cy="502920"/>
          </a:xfrm>
          <a:prstGeom prst="rect">
            <a:avLst/>
          </a:prstGeom>
          <a:noFill/>
          <a:ln/>
        </p:spPr>
        <p:txBody>
          <a:bodyPr wrap="square" lIns="0" tIns="0" rIns="0" bIns="0" rtlCol="0" anchor="t"/>
          <a:lstStyle/>
          <a:p>
            <a:pPr indent="0" marL="0">
              <a:buNone/>
            </a:pPr>
            <a:r>
              <a:rPr lang="en-US" sz="2200" b="1" dirty="0">
                <a:solidFill>
                  <a:schemeClr val="bg1"/>
                </a:solidFill>
              </a:rPr>
              <a:t>Same users, same features, one PI, two developers. Ready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22" presetClass="entr" presetSubtype="8"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wipe(left)">
                                      <p:cBhvr>
                                        <p:cTn id="5" dur="450"/>
                                        <p:tgtEl>
                                          <p:spTgt spid="4"/>
                                        </p:tgtEl>
                                      </p:cBhvr>
                                    </p:animEffect>
                                  </p:childTnLst>
                                </p:cTn>
                              </p:par>
                              <p:par>
                                <p:cTn id="6" presetID="22" presetClass="entr" presetSubtype="8"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wipe(left)">
                                      <p:cBhvr>
                                        <p:cTn id="8" dur="450"/>
                                        <p:tgtEl>
                                          <p:spTgt spid="5"/>
                                        </p:tgtEl>
                                      </p:cBhvr>
                                    </p:animEffect>
                                  </p:childTnLst>
                                </p:cTn>
                              </p:par>
                            </p:childTnLst>
                          </p:cTn>
                        </p:par>
                        <p:par>
                          <p:cTn id="16" fill="hold">
                            <p:stCondLst>
                              <p:cond delay="350"/>
                            </p:stCondLst>
                            <p:childTnLst>
                              <p:par>
                                <p:cTn id="10" presetID="22" presetClass="entr" presetSubtype="8"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450"/>
                                        <p:tgtEl>
                                          <p:spTgt spid="6"/>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450"/>
                                        <p:tgtEl>
                                          <p:spTgt spid="7"/>
                                        </p:tgtEl>
                                      </p:cBhvr>
                                    </p:animEffect>
                                  </p:childTnLst>
                                </p:cTn>
                              </p:par>
                            </p:childTnLst>
                          </p:cTn>
                        </p:par>
                        <p:par>
                          <p:cTn id="23" fill="hold">
                            <p:stCondLst>
                              <p:cond delay="700"/>
                            </p:stCondLst>
                            <p:childTnLst>
                              <p:par>
                                <p:cTn id="17" presetID="22" presetClass="entr" presetSubtype="8"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45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450"/>
                                        <p:tgtEl>
                                          <p:spTgt spid="9"/>
                                        </p:tgtEl>
                                      </p:cBhvr>
                                    </p:animEffect>
                                  </p:childTnLst>
                                </p:cTn>
                              </p:par>
                            </p:childTnLst>
                          </p:cTn>
                        </p:par>
                        <p:par>
                          <p:cTn id="30" fill="hold">
                            <p:stCondLst>
                              <p:cond delay="1050"/>
                            </p:stCondLst>
                            <p:childTnLst>
                              <p:par>
                                <p:cTn id="24" presetID="22" presetClass="entr" presetSubtype="8"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wipe(left)">
                                      <p:cBhvr>
                                        <p:cTn id="26" dur="450"/>
                                        <p:tgtEl>
                                          <p:spTgt spid="10"/>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450"/>
                                        <p:tgtEl>
                                          <p:spTgt spid="11"/>
                                        </p:tgtEl>
                                      </p:cBhvr>
                                    </p:animEffect>
                                  </p:childTnLst>
                                </p:cTn>
                              </p:par>
                            </p:childTnLst>
                          </p:cTn>
                        </p:par>
                        <p:par>
                          <p:cTn id="37" fill="hold">
                            <p:stCondLst>
                              <p:cond delay="14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par>
                          <p:cTn id="47" fill="hold">
                            <p:stCondLst>
                              <p:cond delay="1750"/>
                            </p:stCondLst>
                            <p:childTnLst>
                              <p:par>
                                <p:cTn id="38" presetID="10"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5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50"/>
                                        <p:tgtEl>
                                          <p:spTgt spid="16"/>
                                        </p:tgtEl>
                                      </p:cBhvr>
                                    </p:animEffect>
                                  </p:childTnLst>
                                </p:cTn>
                              </p:par>
                            </p:childTnLst>
                          </p:cTn>
                        </p:par>
                        <p:par>
                          <p:cTn id="57" fill="hold">
                            <p:stCondLst>
                              <p:cond delay="2100"/>
                            </p:stCondLst>
                            <p:childTnLst>
                              <p:par>
                                <p:cTn id="48" presetID="10" presetClass="entr" presetSubtype="0" fill="hold" grpId="0"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childTnLst>
                          </p:cTn>
                        </p:par>
                        <p:par>
                          <p:cTn id="64" fill="hold">
                            <p:stCondLst>
                              <p:cond delay="2450"/>
                            </p:stCondLst>
                            <p:childTnLst>
                              <p:par>
                                <p:cTn id="58" presetID="10" presetClass="entr" presetSubtype="0" fill="hold" grpId="0" nodeType="after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5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50"/>
                                        <p:tgtEl>
                                          <p:spTgt spid="21"/>
                                        </p:tgtEl>
                                      </p:cBhvr>
                                    </p:animEffect>
                                  </p:childTnLst>
                                </p:cTn>
                              </p:par>
                            </p:childTnLst>
                          </p:cTn>
                        </p:par>
                        <p:par>
                          <p:cTn id="68" fill="hold">
                            <p:stCondLst>
                              <p:cond delay="2800"/>
                            </p:stCondLst>
                            <p:childTnLst>
                              <p:par>
                                <p:cTn id="65" presetID="22" presetClass="entr" presetSubtype="8" fill="hold" grpId="0" nodeType="after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wipe(left)">
                                      <p:cBhvr>
                                        <p:cTn id="67"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2026-10-03T15:39:00Z</dcterms:created>
  <dcterms:modified xsi:type="dcterms:W3CDTF">2026-10-03T15:39:00Z</dcterms:modified>
</cp:coreProperties>
</file>