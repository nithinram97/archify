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id="{fda03e4a-3f96-8360-bd6f-f92ba84f0605}">
          <p14:sldIdLst>
            <p14:sldId id="256"/>
          </p14:sldIdLst>
        </p14:section>
        <p14:section name="Situation" id="{f52de3ac-c474-4628-57a5-51383a92ad35}">
          <p14:sldIdLst>
            <p14:sldId id="257"/>
            <p14:sldId id="258"/>
          </p14:sldIdLst>
        </p14:section>
        <p14:section name="Complication" id="{b16f54f8-ce23-098b-13d7-4a10786f83b2}">
          <p14:sldIdLst>
            <p14:sldId id="259"/>
          </p14:sldIdLst>
        </p14:section>
        <p14:section name="Answer and proof" id="{1d9add3e-d333-dacf-12f0-602acda0b6b0}">
          <p14:sldIdLst>
            <p14:sldId id="260"/>
            <p14:sldId id="261"/>
            <p14:sldId id="262"/>
            <p14:sldId id="263"/>
          </p14:sldIdLst>
        </p14:section>
        <p14:section name="Fit and scale" id="{91e6f10a-2647-2004-55d4-3f1ebe629cc1}">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Unique users</c:v>
                </c:pt>
              </c:strCache>
            </c:strRef>
          </c:tx>
          <c:spPr>
            <a:solidFill>
              <a:srgbClr val="0085CA"/>
            </a:solidFill>
            <a:ln w="25400" cap="flat">
              <a:solidFill>
                <a:srgbClr val="0085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85CA"/>
              </a:solidFill>
              <a:ln w="9525" cap="flat">
                <a:solidFill>
                  <a:srgbClr val="0085CA"/>
                </a:solidFill>
                <a:prstDash val="solid"/>
                <a:round/>
              </a:ln>
              <a:effectLst/>
            </c:spPr>
          </c:marker>
          <c:cat>
            <c:strRef>
              <c:f>Sheet1!$A$2:$A$24</c:f>
              <c:strCache>
                <c:ptCount val="23"/>
                <c:pt idx="0">
                  <c:v>Aug 2024</c:v>
                </c:pt>
                <c:pt idx="1">
                  <c:v>Sep 2024</c:v>
                </c:pt>
                <c:pt idx="2">
                  <c:v>Oct 2024</c:v>
                </c:pt>
                <c:pt idx="3">
                  <c:v>Nov 2024</c:v>
                </c:pt>
                <c:pt idx="4">
                  <c:v>Dec 2024</c:v>
                </c:pt>
                <c:pt idx="5">
                  <c:v>Jan 2025</c:v>
                </c:pt>
                <c:pt idx="6">
                  <c:v>Feb 2025</c:v>
                </c:pt>
                <c:pt idx="7">
                  <c:v>Mar 2025</c:v>
                </c:pt>
                <c:pt idx="8">
                  <c:v>Apr 2025</c:v>
                </c:pt>
                <c:pt idx="9">
                  <c:v>May 2025</c:v>
                </c:pt>
                <c:pt idx="10">
                  <c:v>Jun 2025</c:v>
                </c:pt>
                <c:pt idx="11">
                  <c:v>Jul 2025</c:v>
                </c:pt>
                <c:pt idx="12">
                  <c:v>Aug 2025</c:v>
                </c:pt>
                <c:pt idx="13">
                  <c:v>Sep 2025</c:v>
                </c:pt>
                <c:pt idx="14">
                  <c:v>Oct 2025</c:v>
                </c:pt>
                <c:pt idx="15">
                  <c:v>Nov 2025</c:v>
                </c:pt>
                <c:pt idx="16">
                  <c:v>Dec 2025</c:v>
                </c:pt>
                <c:pt idx="17">
                  <c:v>Jan 2026</c:v>
                </c:pt>
                <c:pt idx="18">
                  <c:v>Feb 2026</c:v>
                </c:pt>
                <c:pt idx="19">
                  <c:v>Mar 2026</c:v>
                </c:pt>
                <c:pt idx="20">
                  <c:v>Apr 2026</c:v>
                </c:pt>
                <c:pt idx="21">
                  <c:v>May 2026</c:v>
                </c:pt>
                <c:pt idx="22">
                  <c:v>Jun 2026</c:v>
                </c:pt>
              </c:strCache>
            </c:strRef>
          </c:cat>
          <c:val>
            <c:numRef>
              <c:f>Sheet1!$B$2:$B$24</c:f>
              <c:numCache>
                <c:formatCode>General</c:formatCode>
                <c:ptCount val="23"/>
                <c:pt idx="0">
                  <c:v>0</c:v>
                </c:pt>
                <c:pt idx="1">
                  <c:v>50</c:v>
                </c:pt>
                <c:pt idx="2">
                  <c:v>95</c:v>
                </c:pt>
                <c:pt idx="3">
                  <c:v>105</c:v>
                </c:pt>
                <c:pt idx="4">
                  <c:v>65</c:v>
                </c:pt>
                <c:pt idx="5">
                  <c:v>110</c:v>
                </c:pt>
                <c:pt idx="6">
                  <c:v>135</c:v>
                </c:pt>
                <c:pt idx="7">
                  <c:v>125</c:v>
                </c:pt>
                <c:pt idx="8">
                  <c:v>150</c:v>
                </c:pt>
                <c:pt idx="9">
                  <c:v>245</c:v>
                </c:pt>
                <c:pt idx="10">
                  <c:v>220</c:v>
                </c:pt>
                <c:pt idx="11">
                  <c:v>230</c:v>
                </c:pt>
                <c:pt idx="12">
                  <c:v>240</c:v>
                </c:pt>
                <c:pt idx="13">
                  <c:v>265</c:v>
                </c:pt>
                <c:pt idx="14">
                  <c:v>230</c:v>
                </c:pt>
                <c:pt idx="15">
                  <c:v>300</c:v>
                </c:pt>
                <c:pt idx="16">
                  <c:v>190</c:v>
                </c:pt>
                <c:pt idx="17">
                  <c:v>210</c:v>
                </c:pt>
                <c:pt idx="18">
                  <c:v>340</c:v>
                </c:pt>
                <c:pt idx="19">
                  <c:v>280</c:v>
                </c:pt>
                <c:pt idx="20">
                  <c:v>220</c:v>
                </c:pt>
                <c:pt idx="21">
                  <c:v>305</c:v>
                </c:pt>
                <c:pt idx="22">
                  <c:v>310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0"/>
        <c:tickLblSkip val="2"/>
      </c:catAx>
      <c:valAx>
        <c:axId val="2094734552"/>
        <c:scaling>
          <c:orientation val="minMax"/>
          <c:max val="350"/>
          <c:min val="0"/>
        </c:scaling>
        <c:delete val="0"/>
        <c:axPos val="l"/>
        <c:majorGridlines>
          <c:spPr>
            <a:ln w="9525" cap="flat">
              <a:solidFill>
                <a:srgbClr val="DCE3EE"/>
              </a:solidFill>
              <a:prstDash val="solid"/>
              <a:round/>
            </a:ln>
          </c:spPr>
        </c:majorGridlines>
        <c:title>
          <c:tx>
            <c:rich>
              <a:bodyPr/>
              <a:lstStyle/>
              <a:p>
                <a:pPr>
                  <a:defRPr sz="1000" b="0" i="0" u="none" strike="noStrike">
                    <a:solidFill>
                      <a:srgbClr val="4A5568"/>
                    </a:solidFill>
                    <a:latin typeface="Arial"/>
                  </a:defRPr>
                </a:pPr>
                <a:r>
                  <a:rPr sz="1000" b="0" i="0" u="none" strike="noStrike">
                    <a:solidFill>
                      <a:srgbClr val="4A5568"/>
                    </a:solidFill>
                    <a:latin typeface="Arial"/>
                  </a:rPr>
                  <a:t>Unique users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Unique users</c:v>
                </c:pt>
              </c:strCache>
            </c:strRef>
          </c:tx>
          <c:spPr>
            <a:solidFill>
              <a:srgbClr val="0085CA"/>
            </a:solidFill>
            <a:effectLst/>
          </c:spPr>
          <c:invertIfNegative val="0"/>
          <c:dLbls>
            <c:numFmt formatCode="#,##0" sourceLinked="0"/>
            <c:txPr>
              <a:bodyPr/>
              <a:lstStyle/>
              <a:p>
                <a:pPr>
                  <a:defRPr b="0" i="0" strike="noStrike" sz="1100" u="none">
                    <a:solidFill>
                      <a:srgbClr val="00205B"/>
                    </a:solidFill>
                    <a:latin typeface="+mn-lt"/>
                  </a:defRPr>
                </a:pPr>
              </a:p>
            </c:txPr>
            <c:showLegendKey val="0"/>
            <c:showVal val="1"/>
            <c:showCatName val="0"/>
            <c:showSerName val="0"/>
            <c:showPercent val="0"/>
            <c:showBubbleSize val="0"/>
            <c:showLeaderLines val="0"/>
          </c:dLbls>
          <c:cat>
            <c:strRef>
              <c:f>Sheet1!$A$2:$A$8</c:f>
              <c:strCache>
                <c:ptCount val="7"/>
                <c:pt idx="0">
                  <c:v>B</c:v>
                </c:pt>
                <c:pt idx="1">
                  <c:v>O</c:v>
                </c:pt>
                <c:pt idx="2">
                  <c:v>P</c:v>
                </c:pt>
                <c:pt idx="3">
                  <c:v>A</c:v>
                </c:pt>
                <c:pt idx="4">
                  <c:v>L</c:v>
                </c:pt>
                <c:pt idx="5">
                  <c:v>S</c:v>
                </c:pt>
                <c:pt idx="6">
                  <c:v>K</c:v>
                </c:pt>
              </c:strCache>
            </c:strRef>
          </c:cat>
          <c:val>
            <c:numRef>
              <c:f>Sheet1!$B$2:$B$8</c:f>
              <c:numCache>
                <c:formatCode>General</c:formatCode>
                <c:ptCount val="7"/>
                <c:pt idx="0">
                  <c:v>345</c:v>
                </c:pt>
                <c:pt idx="1">
                  <c:v>120</c:v>
                </c:pt>
                <c:pt idx="2">
                  <c:v>95</c:v>
                </c:pt>
                <c:pt idx="3">
                  <c:v>60</c:v>
                </c:pt>
                <c:pt idx="4">
                  <c:v>55</c:v>
                </c:pt>
                <c:pt idx="5">
                  <c:v>55</c:v>
                </c:pt>
                <c:pt idx="6">
                  <c:v>50</c:v>
                </c:pt>
              </c:numCache>
            </c:numRef>
          </c:val>
        </c:ser>
        <c:dLbls>
          <c:numFmt formatCode="#,##0" sourceLinked="0"/>
          <c:txPr>
            <a:bodyPr/>
            <a:lstStyle/>
            <a:p>
              <a:pPr>
                <a:defRPr b="0" i="0" strike="noStrike" sz="1100" u="none">
                  <a:solidFill>
                    <a:srgbClr val="00205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0"/>
      </c:catAx>
      <c:valAx>
        <c:axId val="2094734552"/>
        <c:scaling>
          <c:orientation val="minMax"/>
          <c:max val="400"/>
          <c:min val="0"/>
        </c:scaling>
        <c:delete val="0"/>
        <c:axPos val="l"/>
        <c:majorGridlines>
          <c:spPr>
            <a:ln w="9525" cap="flat">
              <a:solidFill>
                <a:srgbClr val="DCE3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answer first, in one breath: two developers rebuilt ERM, a business-critical Slate application with no documentation, for Airbus DevX with React and OSDK in a single PI, ready for go-live, using an AI-assisted method we designed and that any team can reuse. Then: let me show you why that was hard, what we did differently, and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ERM is where Airbus risk managers manage ARM risks and opportunities: custom dashboards, live editing, trend following, governed quarterly releases and sharing across divisions. 892 people have used it; more than 320 are active in a peak month; more than 1,600 dashboards exist and more than 10 are updated every day. Usage has grown steadily since launch. So whatever we did, we could not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ERM is not one team's tool. By organisation, the largest group, siglum B, has around 345 users, followed by O, P, A, L, S and K, and about a dozen smaller organisations. By site, Blagnac and Hamburg lead, with users in the UK, Spain, Canada and India too. The values on the organisation chart are read from the usage dashboard, so treat them as approximate. A migration that broke ERM would hit risk reporting across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complication. In Slate, one simple action triggers a cascade of widgets, events, actions and variables, so any change risks breaking something unrelated, and every tab switch recalculates large variable trees. And nothing was documented: 8 exports, about 25 MB of configuration. Let the animation play: the app breaks into a shell and 7 modules, and 105 features come out of it. Then ask the question on screen: how do two developers move 105 hidden features in one PI without breaking risk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innovation. A usual migration starts with interviews and clicking through screens, reads code in fragments, finds gaps late in testing and documents afterwards, if at all. We flipped it. The AI read all 8 Slate exports and catalogued 105 features. Our script, pack-project.ts, packs the whole React app into one dated file, so the AI sees every component and OSDK call at once. The AI then checked every feature against the code and found 31 gaps; people reviewed, fixed and deployed. The diagrams were produced alongside the work. AI drafts, people verify. If time allows, show the live app here for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hard facts first. One PI. Two developers. All 105 features carried over and checked. The AI review found and prioritised 31 gaps, including 7 security and data-integrity issues such as unsanitised rich text and permission checks, all caught in review; the dashboard sharing-access fix is deployed. Documentation went from nothing to 10 documents. Against a generic estimate of about 340 person-days, roughly 17 sprints for two developers, we used 4 sprints: about 76% less effort. At $38.50 per developer hour that is roughly $105,000 against $25,000, around $80,000 saved. Say clearly that this is a generic estimate. Security and data-integrity findings caught in review: stored cross-site scripting from unsanitised rich HTML in 5 places; permission checks that matched e-mails by substring instead of exactly; sharing payload arrays misaligned with the wrong fields; settings JSON overwritten whole from a stale copy; reports printing shared risks the legacy app left out; no 100-risk print cap, a legacy cybersecurity limit; and children edits in the risk drawer silently discarded. Then the readiness row: be clear the app is not live yet. Everything is checked and the backend sharing fix is deployed; go-live is planned for [date], after which the Slate app is retired. Tell the jury what you will measure after go-live: users retained, page-switch time against Slate, and incidents after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new features is now easy, and that keeps paying back. During the same PI we shipped 11 features Slate never had: permissions-only edit for locked versions, a web address per tab, a searchable dashboard switcher, a criticality-differs filter, category and impact-category filters, a fourth one-pager layout with custom slots, resizable columns saved per board, report classification and cover toggle, slideshow mode, one-pager selection shortcuts, and showing risks by ID or title. One change added app-wide notifications and automatic list refresh across 11 files. 25 MB of Slate configuration became about 0.8 MB of typed source in 75 files. In Slate, a feature meant wiring widgets, events, variables and functions across 8 exports, with no documentation; in React it is one typed component and one OSDK call, and pack-project.ts gives AI the whole app as context. On recurring cost: using a common rule of thumb that maintenance costs about 20% of build effort a year, a Slate-equivalent app would need about 68 person-days a year, around $21,000 at $38.50 an hour. Assuming modular, typed, documented code halves that, we save around $10,000 a year. Say clearly these are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business speak. These are testimonials sent by ERM stakeholders in September 2026 about the team and the ERM tool. A member of the ERM centre of competence: teamwork with the business and strong IT skills turned an idea into a user-friendly industrial solution, ERM reports are now generated in a much more automated way, and the user interface and performance have significantly improved. An ERM stakeholder: the ERM dashboard is a tremendous addition to the ERM toolset, and more and more users prepare and run their risk and opportunity reviews with it. A Risk and Opportunity Manager in Hamburg: new features made navigation easier and gave a much clearer view of R&amp;O data, and issues were fixed quickly. Make clear these speak about the team and the tool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strategic fit and teamwork; the flow builds one branch at a time. One: Leverage AI to solve business problems. The AI read all 8 Slate exports and the packed React code, recovered 105 features from an undocumented app and found 31 gaps. Two: Deliver on time, on cost, on quality. Two developers delivered it in one PI, about 76% less effort than a generic manual estimate. Three: Ensure our operational performance. ERM is a business system; every one of its 105 features was tracked for parity, and it is rebuilt on standard, maintainable React and OSDK code, ready to replace the legacy Slate configuration. Four: Grow digital acumen and competencies. pack-project.ts and the playbook mean other teams can repeat this, which builds AI-assisted engineering skills across the organisation. Finally the team strip: business users confirmed the feature catalogue, data and security owners kept the restricted-view access model intact, and backend and frontend fixes shipped together. Name the people and teams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scale and make an ask. The method is five steps: pack, extract, compare, fix, document. The pieces are ready to reuse: pack-project.ts, the comparison template and the diagram formats. It fits other Slate apps and any low-code tool with little documentation. Then the ask: endorse the playbook as a DevX pattern. We have already aligned with [Architect] to propose it at the architecture sync, so functions beyond DMS can use it; name the first team outside DMS if you have one. End on the line on screen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AL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3383280" y="2514600"/>
            <a:ext cx="8229600" cy="320040"/>
          </a:xfrm>
          <a:prstGeom prst="rect">
            <a:avLst/>
          </a:prstGeom>
          <a:noFill/>
          <a:ln/>
        </p:spPr>
        <p:txBody>
          <a:bodyPr wrap="square" lIns="0" tIns="0" rIns="0" bIns="0" rtlCol="0" anchor="t"/>
          <a:lstStyle/>
          <a:p>
            <a:pPr indent="0" marL="0">
              <a:buNone/>
            </a:pPr>
            <a:r>
              <a:rPr lang="en-US" sz="1400" b="1" spc="200" kern="0" dirty="0">
                <a:solidFill>
                  <a:schemeClr val="bg1"/>
                </a:solidFill>
              </a:rPr>
              <a:t>QUARTERLY AWARDS · INNOVATION</a:t>
            </a:r>
            <a:endParaRPr lang="en-US" sz="1400" dirty="0"/>
          </a:p>
        </p:txBody>
      </p:sp>
      <p:sp>
        <p:nvSpPr>
          <p:cNvPr id="3" name="cover-title"/>
          <p:cNvSpPr txBox="1"/>
          <p:nvPr/>
        </p:nvSpPr>
        <p:spPr>
          <a:xfrm>
            <a:off x="3383280" y="2880360"/>
            <a:ext cx="8503920" cy="685800"/>
          </a:xfrm>
          <a:prstGeom prst="rect">
            <a:avLst/>
          </a:prstGeom>
          <a:noFill/>
          <a:ln/>
        </p:spPr>
        <p:txBody>
          <a:bodyPr wrap="square" lIns="0" tIns="0" rIns="0" bIns="0" rtlCol="0" anchor="t"/>
          <a:lstStyle/>
          <a:p>
            <a:pPr indent="0" marL="0">
              <a:buNone/>
            </a:pPr>
            <a:r>
              <a:rPr lang="en-US" sz="3600" b="1" dirty="0">
                <a:solidFill>
                  <a:schemeClr val="bg1"/>
                </a:solidFill>
              </a:rPr>
              <a:t>Enterprise Risk Management (ERM)</a:t>
            </a:r>
            <a:endParaRPr lang="en-US" sz="3600" dirty="0"/>
          </a:p>
        </p:txBody>
      </p:sp>
      <p:sp>
        <p:nvSpPr>
          <p:cNvPr id="4" name="cover-answer"/>
          <p:cNvSpPr txBox="1"/>
          <p:nvPr/>
        </p:nvSpPr>
        <p:spPr>
          <a:xfrm>
            <a:off x="3383280" y="3611880"/>
            <a:ext cx="8321040" cy="914400"/>
          </a:xfrm>
          <a:prstGeom prst="rect">
            <a:avLst/>
          </a:prstGeom>
          <a:noFill/>
          <a:ln/>
        </p:spPr>
        <p:txBody>
          <a:bodyPr wrap="square" lIns="0" tIns="0" rIns="0" bIns="0" rtlCol="0" anchor="t"/>
          <a:lstStyle/>
          <a:p>
            <a:pPr indent="0" marL="0">
              <a:buNone/>
            </a:pPr>
            <a:r>
              <a:rPr lang="en-US" sz="2000" dirty="0">
                <a:solidFill>
                  <a:schemeClr val="bg1"/>
                </a:solidFill>
              </a:rPr>
              <a:t>2 developers rebuilt a business-critical, undocumented app for Airbus DevX in one PI, with an AI method any team can reuse</a:t>
            </a:r>
            <a:endParaRPr lang="en-US" sz="2000" dirty="0"/>
          </a:p>
        </p:txBody>
      </p:sp>
      <p:sp>
        <p:nvSpPr>
          <p:cNvPr id="5" name="presenters"/>
          <p:cNvSpPr txBox="1"/>
          <p:nvPr/>
        </p:nvSpPr>
        <p:spPr>
          <a:xfrm>
            <a:off x="3383280" y="5806440"/>
            <a:ext cx="7315200" cy="365760"/>
          </a:xfrm>
          <a:prstGeom prst="rect">
            <a:avLst/>
          </a:prstGeom>
          <a:noFill/>
          <a:ln/>
        </p:spPr>
        <p:txBody>
          <a:bodyPr wrap="square" lIns="0" tIns="0" rIns="0" bIns="0" rtlCol="0" anchor="t"/>
          <a:lstStyle/>
          <a:p>
            <a:pPr indent="0" marL="0">
              <a:buNone/>
            </a:pPr>
            <a:r>
              <a:rPr lang="en-US" sz="1400" dirty="0">
                <a:solidFill>
                  <a:schemeClr val="bg1"/>
                </a:solidFill>
              </a:rPr>
              <a:t>[Team name] · [Presenter names] · [Date]</a:t>
            </a:r>
            <a:endParaRPr lang="en-US" sz="1400" dirty="0"/>
          </a:p>
        </p:txBody>
      </p:sp>
      <p:sp>
        <p:nvSpPr>
          <p:cNvPr id="7"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STAKES · IMPACT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ERM is business-critical for 892 risk managers</a:t>
            </a:r>
            <a:endParaRPr lang="en-US" sz="3600" dirty="0"/>
          </a:p>
        </p:txBody>
      </p:sp>
      <p:sp>
        <p:nvSpPr>
          <p:cNvPr id="4" name="kpi-0-card"/>
          <p:cNvSpPr/>
          <p:nvPr/>
        </p:nvSpPr>
        <p:spPr>
          <a:xfrm>
            <a:off x="548640" y="1371600"/>
            <a:ext cx="2567864" cy="1417320"/>
          </a:xfrm>
          <a:prstGeom prst="roundRect">
            <a:avLst>
              <a:gd name="adj" fmla="val 7742"/>
            </a:avLst>
          </a:prstGeom>
          <a:solidFill>
            <a:schemeClr val="tx1"/>
          </a:solidFill>
          <a:ln/>
        </p:spPr>
      </p:sp>
      <p:sp>
        <p:nvSpPr>
          <p:cNvPr id="5" name="kpi-0-label"/>
          <p:cNvSpPr txBox="1"/>
          <p:nvPr/>
        </p:nvSpPr>
        <p:spPr>
          <a:xfrm>
            <a:off x="749808" y="1481328"/>
            <a:ext cx="2165528" cy="256032"/>
          </a:xfrm>
          <a:prstGeom prst="rect">
            <a:avLst/>
          </a:prstGeom>
          <a:noFill/>
          <a:ln/>
        </p:spPr>
        <p:txBody>
          <a:bodyPr wrap="square" lIns="0" tIns="0" rIns="0" bIns="0" rtlCol="0" anchor="t"/>
          <a:lstStyle/>
          <a:p>
            <a:pPr indent="0" marL="0">
              <a:buNone/>
            </a:pPr>
            <a:r>
              <a:rPr lang="en-US" sz="1000" b="1" spc="100" kern="0" dirty="0">
                <a:solidFill>
                  <a:schemeClr val="accent5"/>
                </a:solidFill>
              </a:rPr>
              <a:t>LIFETIME UNIQUE USERS</a:t>
            </a:r>
            <a:endParaRPr lang="en-US" sz="1000" dirty="0"/>
          </a:p>
        </p:txBody>
      </p:sp>
      <p:sp>
        <p:nvSpPr>
          <p:cNvPr id="6" name="kpi-0-value"/>
          <p:cNvSpPr txBox="1"/>
          <p:nvPr/>
        </p:nvSpPr>
        <p:spPr>
          <a:xfrm>
            <a:off x="749808" y="1737360"/>
            <a:ext cx="2165528" cy="594360"/>
          </a:xfrm>
          <a:prstGeom prst="rect">
            <a:avLst/>
          </a:prstGeom>
          <a:noFill/>
          <a:ln/>
        </p:spPr>
        <p:txBody>
          <a:bodyPr wrap="square" lIns="0" tIns="0" rIns="0" bIns="0" rtlCol="0" anchor="t"/>
          <a:lstStyle/>
          <a:p>
            <a:pPr indent="0" marL="0">
              <a:buNone/>
            </a:pPr>
            <a:r>
              <a:rPr lang="en-US" sz="3400" b="1" dirty="0">
                <a:solidFill>
                  <a:schemeClr val="bg1"/>
                </a:solidFill>
              </a:rPr>
              <a:t>892</a:t>
            </a:r>
            <a:endParaRPr lang="en-US" sz="3400" dirty="0"/>
          </a:p>
        </p:txBody>
      </p:sp>
      <p:sp>
        <p:nvSpPr>
          <p:cNvPr id="7" name="kpi-0-desc"/>
          <p:cNvSpPr txBox="1"/>
          <p:nvPr/>
        </p:nvSpPr>
        <p:spPr>
          <a:xfrm>
            <a:off x="749808" y="2331720"/>
            <a:ext cx="2165528" cy="365760"/>
          </a:xfrm>
          <a:prstGeom prst="rect">
            <a:avLst/>
          </a:prstGeom>
          <a:noFill/>
          <a:ln/>
        </p:spPr>
        <p:txBody>
          <a:bodyPr wrap="square" lIns="0" tIns="0" rIns="0" bIns="0" rtlCol="0" anchor="t"/>
          <a:lstStyle/>
          <a:p>
            <a:pPr indent="0" marL="0">
              <a:buNone/>
            </a:pPr>
            <a:r>
              <a:rPr lang="en-US" sz="1200" dirty="0">
                <a:solidFill>
                  <a:schemeClr val="accent5"/>
                </a:solidFill>
              </a:rPr>
              <a:t>Across engineering, programmes and operations</a:t>
            </a:r>
            <a:endParaRPr lang="en-US" sz="1200" dirty="0"/>
          </a:p>
        </p:txBody>
      </p:sp>
      <p:sp>
        <p:nvSpPr>
          <p:cNvPr id="8" name="kpi-1-card"/>
          <p:cNvSpPr/>
          <p:nvPr/>
        </p:nvSpPr>
        <p:spPr>
          <a:xfrm>
            <a:off x="3390824" y="1371600"/>
            <a:ext cx="2567864" cy="1417320"/>
          </a:xfrm>
          <a:prstGeom prst="roundRect">
            <a:avLst>
              <a:gd name="adj" fmla="val 7742"/>
            </a:avLst>
          </a:prstGeom>
          <a:solidFill>
            <a:schemeClr val="bg1"/>
          </a:solidFill>
          <a:ln/>
        </p:spPr>
      </p:sp>
      <p:sp>
        <p:nvSpPr>
          <p:cNvPr id="9" name="kpi-1-label"/>
          <p:cNvSpPr txBox="1"/>
          <p:nvPr/>
        </p:nvSpPr>
        <p:spPr>
          <a:xfrm>
            <a:off x="3591992" y="1481328"/>
            <a:ext cx="2165528" cy="256032"/>
          </a:xfrm>
          <a:prstGeom prst="rect">
            <a:avLst/>
          </a:prstGeom>
          <a:noFill/>
          <a:ln/>
        </p:spPr>
        <p:txBody>
          <a:bodyPr wrap="square" lIns="0" tIns="0" rIns="0" bIns="0" rtlCol="0" anchor="t"/>
          <a:lstStyle/>
          <a:p>
            <a:pPr indent="0" marL="0">
              <a:buNone/>
            </a:pPr>
            <a:r>
              <a:rPr lang="en-US" sz="1000" b="1" spc="100" kern="0" dirty="0">
                <a:solidFill>
                  <a:schemeClr val="tx2"/>
                </a:solidFill>
              </a:rPr>
              <a:t>MONTHLY ACTIVE PEAK</a:t>
            </a:r>
            <a:endParaRPr lang="en-US" sz="1000" dirty="0"/>
          </a:p>
        </p:txBody>
      </p:sp>
      <p:sp>
        <p:nvSpPr>
          <p:cNvPr id="10" name="kpi-1-value"/>
          <p:cNvSpPr txBox="1"/>
          <p:nvPr/>
        </p:nvSpPr>
        <p:spPr>
          <a:xfrm>
            <a:off x="3591992" y="1737360"/>
            <a:ext cx="2165528" cy="594360"/>
          </a:xfrm>
          <a:prstGeom prst="rect">
            <a:avLst/>
          </a:prstGeom>
          <a:noFill/>
          <a:ln/>
        </p:spPr>
        <p:txBody>
          <a:bodyPr wrap="square" lIns="0" tIns="0" rIns="0" bIns="0" rtlCol="0" anchor="t"/>
          <a:lstStyle/>
          <a:p>
            <a:pPr indent="0" marL="0">
              <a:buNone/>
            </a:pPr>
            <a:r>
              <a:rPr lang="en-US" sz="3400" b="1" dirty="0">
                <a:solidFill>
                  <a:schemeClr val="tx1"/>
                </a:solidFill>
              </a:rPr>
              <a:t>320+</a:t>
            </a:r>
            <a:endParaRPr lang="en-US" sz="3400" dirty="0"/>
          </a:p>
        </p:txBody>
      </p:sp>
      <p:sp>
        <p:nvSpPr>
          <p:cNvPr id="11" name="kpi-1-desc"/>
          <p:cNvSpPr txBox="1"/>
          <p:nvPr/>
        </p:nvSpPr>
        <p:spPr>
          <a:xfrm>
            <a:off x="3591992" y="2331720"/>
            <a:ext cx="2165528" cy="365760"/>
          </a:xfrm>
          <a:prstGeom prst="rect">
            <a:avLst/>
          </a:prstGeom>
          <a:noFill/>
          <a:ln/>
        </p:spPr>
        <p:txBody>
          <a:bodyPr wrap="square" lIns="0" tIns="0" rIns="0" bIns="0" rtlCol="0" anchor="t"/>
          <a:lstStyle/>
          <a:p>
            <a:pPr indent="0" marL="0">
              <a:buNone/>
            </a:pPr>
            <a:r>
              <a:rPr lang="en-US" sz="1200" dirty="0">
                <a:solidFill>
                  <a:schemeClr val="tx2"/>
                </a:solidFill>
              </a:rPr>
              <a:t>Active risk managers per reporting month</a:t>
            </a:r>
            <a:endParaRPr lang="en-US" sz="1200" dirty="0"/>
          </a:p>
        </p:txBody>
      </p:sp>
      <p:sp>
        <p:nvSpPr>
          <p:cNvPr id="12" name="kpi-2-card"/>
          <p:cNvSpPr/>
          <p:nvPr/>
        </p:nvSpPr>
        <p:spPr>
          <a:xfrm>
            <a:off x="6233008" y="1371600"/>
            <a:ext cx="2567864" cy="1417320"/>
          </a:xfrm>
          <a:prstGeom prst="roundRect">
            <a:avLst>
              <a:gd name="adj" fmla="val 7742"/>
            </a:avLst>
          </a:prstGeom>
          <a:solidFill>
            <a:schemeClr val="bg1"/>
          </a:solidFill>
          <a:ln/>
        </p:spPr>
      </p:sp>
      <p:sp>
        <p:nvSpPr>
          <p:cNvPr id="13" name="kpi-2-label"/>
          <p:cNvSpPr txBox="1"/>
          <p:nvPr/>
        </p:nvSpPr>
        <p:spPr>
          <a:xfrm>
            <a:off x="6434176" y="1481328"/>
            <a:ext cx="2165528" cy="256032"/>
          </a:xfrm>
          <a:prstGeom prst="rect">
            <a:avLst/>
          </a:prstGeom>
          <a:noFill/>
          <a:ln/>
        </p:spPr>
        <p:txBody>
          <a:bodyPr wrap="square" lIns="0" tIns="0" rIns="0" bIns="0" rtlCol="0" anchor="t"/>
          <a:lstStyle/>
          <a:p>
            <a:pPr indent="0" marL="0">
              <a:buNone/>
            </a:pPr>
            <a:r>
              <a:rPr lang="en-US" sz="1000" b="1" spc="100" kern="0" dirty="0">
                <a:solidFill>
                  <a:schemeClr val="tx2"/>
                </a:solidFill>
              </a:rPr>
              <a:t>DASHBOARDS CREATED</a:t>
            </a:r>
            <a:endParaRPr lang="en-US" sz="1000" dirty="0"/>
          </a:p>
        </p:txBody>
      </p:sp>
      <p:sp>
        <p:nvSpPr>
          <p:cNvPr id="14" name="kpi-2-value"/>
          <p:cNvSpPr txBox="1"/>
          <p:nvPr/>
        </p:nvSpPr>
        <p:spPr>
          <a:xfrm>
            <a:off x="6434176" y="1737360"/>
            <a:ext cx="2165528" cy="594360"/>
          </a:xfrm>
          <a:prstGeom prst="rect">
            <a:avLst/>
          </a:prstGeom>
          <a:noFill/>
          <a:ln/>
        </p:spPr>
        <p:txBody>
          <a:bodyPr wrap="square" lIns="0" tIns="0" rIns="0" bIns="0" rtlCol="0" anchor="t"/>
          <a:lstStyle/>
          <a:p>
            <a:pPr indent="0" marL="0">
              <a:buNone/>
            </a:pPr>
            <a:r>
              <a:rPr lang="en-US" sz="3400" b="1" dirty="0">
                <a:solidFill>
                  <a:schemeClr val="tx1"/>
                </a:solidFill>
              </a:rPr>
              <a:t>1,600+</a:t>
            </a:r>
            <a:endParaRPr lang="en-US" sz="3400" dirty="0"/>
          </a:p>
        </p:txBody>
      </p:sp>
      <p:sp>
        <p:nvSpPr>
          <p:cNvPr id="15" name="kpi-2-desc"/>
          <p:cNvSpPr txBox="1"/>
          <p:nvPr/>
        </p:nvSpPr>
        <p:spPr>
          <a:xfrm>
            <a:off x="6434176" y="2331720"/>
            <a:ext cx="2165528" cy="365760"/>
          </a:xfrm>
          <a:prstGeom prst="rect">
            <a:avLst/>
          </a:prstGeom>
          <a:noFill/>
          <a:ln/>
        </p:spPr>
        <p:txBody>
          <a:bodyPr wrap="square" lIns="0" tIns="0" rIns="0" bIns="0" rtlCol="0" anchor="t"/>
          <a:lstStyle/>
          <a:p>
            <a:pPr indent="0" marL="0">
              <a:buNone/>
            </a:pPr>
            <a:r>
              <a:rPr lang="en-US" sz="1200" dirty="0">
                <a:solidFill>
                  <a:schemeClr val="tx2"/>
                </a:solidFill>
              </a:rPr>
              <a:t>Custom dashboards created to date</a:t>
            </a:r>
            <a:endParaRPr lang="en-US" sz="1200" dirty="0"/>
          </a:p>
        </p:txBody>
      </p:sp>
      <p:sp>
        <p:nvSpPr>
          <p:cNvPr id="16" name="kpi-3-card"/>
          <p:cNvSpPr/>
          <p:nvPr/>
        </p:nvSpPr>
        <p:spPr>
          <a:xfrm>
            <a:off x="9075191" y="1371600"/>
            <a:ext cx="2567864" cy="1417320"/>
          </a:xfrm>
          <a:prstGeom prst="roundRect">
            <a:avLst>
              <a:gd name="adj" fmla="val 7742"/>
            </a:avLst>
          </a:prstGeom>
          <a:solidFill>
            <a:schemeClr val="bg1"/>
          </a:solidFill>
          <a:ln/>
        </p:spPr>
      </p:sp>
      <p:sp>
        <p:nvSpPr>
          <p:cNvPr id="17" name="kpi-3-label"/>
          <p:cNvSpPr txBox="1"/>
          <p:nvPr/>
        </p:nvSpPr>
        <p:spPr>
          <a:xfrm>
            <a:off x="9276359" y="1481328"/>
            <a:ext cx="2165528" cy="256032"/>
          </a:xfrm>
          <a:prstGeom prst="rect">
            <a:avLst/>
          </a:prstGeom>
          <a:noFill/>
          <a:ln/>
        </p:spPr>
        <p:txBody>
          <a:bodyPr wrap="square" lIns="0" tIns="0" rIns="0" bIns="0" rtlCol="0" anchor="t"/>
          <a:lstStyle/>
          <a:p>
            <a:pPr indent="0" marL="0">
              <a:buNone/>
            </a:pPr>
            <a:r>
              <a:rPr lang="en-US" sz="1000" b="1" spc="100" kern="0" dirty="0">
                <a:solidFill>
                  <a:schemeClr val="tx2"/>
                </a:solidFill>
              </a:rPr>
              <a:t>UPDATED DAILY</a:t>
            </a:r>
            <a:endParaRPr lang="en-US" sz="1000" dirty="0"/>
          </a:p>
        </p:txBody>
      </p:sp>
      <p:sp>
        <p:nvSpPr>
          <p:cNvPr id="18" name="kpi-3-value"/>
          <p:cNvSpPr txBox="1"/>
          <p:nvPr/>
        </p:nvSpPr>
        <p:spPr>
          <a:xfrm>
            <a:off x="9276359" y="1737360"/>
            <a:ext cx="2165528" cy="594360"/>
          </a:xfrm>
          <a:prstGeom prst="rect">
            <a:avLst/>
          </a:prstGeom>
          <a:noFill/>
          <a:ln/>
        </p:spPr>
        <p:txBody>
          <a:bodyPr wrap="square" lIns="0" tIns="0" rIns="0" bIns="0" rtlCol="0" anchor="t"/>
          <a:lstStyle/>
          <a:p>
            <a:pPr indent="0" marL="0">
              <a:buNone/>
            </a:pPr>
            <a:r>
              <a:rPr lang="en-US" sz="3400" b="1" dirty="0">
                <a:solidFill>
                  <a:schemeClr val="tx1"/>
                </a:solidFill>
              </a:rPr>
              <a:t>10+</a:t>
            </a:r>
            <a:endParaRPr lang="en-US" sz="3400" dirty="0"/>
          </a:p>
        </p:txBody>
      </p:sp>
      <p:sp>
        <p:nvSpPr>
          <p:cNvPr id="19" name="kpi-3-desc"/>
          <p:cNvSpPr txBox="1"/>
          <p:nvPr/>
        </p:nvSpPr>
        <p:spPr>
          <a:xfrm>
            <a:off x="9276359" y="2331720"/>
            <a:ext cx="2165528" cy="365760"/>
          </a:xfrm>
          <a:prstGeom prst="rect">
            <a:avLst/>
          </a:prstGeom>
          <a:noFill/>
          <a:ln/>
        </p:spPr>
        <p:txBody>
          <a:bodyPr wrap="square" lIns="0" tIns="0" rIns="0" bIns="0" rtlCol="0" anchor="t"/>
          <a:lstStyle/>
          <a:p>
            <a:pPr indent="0" marL="0">
              <a:buNone/>
            </a:pPr>
            <a:r>
              <a:rPr lang="en-US" sz="1200" dirty="0">
                <a:solidFill>
                  <a:schemeClr val="tx2"/>
                </a:solidFill>
              </a:rPr>
              <a:t>Maintained continuously by risk owners</a:t>
            </a:r>
            <a:endParaRPr lang="en-US" sz="1200" dirty="0"/>
          </a:p>
        </p:txBody>
      </p:sp>
      <p:sp>
        <p:nvSpPr>
          <p:cNvPr id="20" name="trend-card"/>
          <p:cNvSpPr/>
          <p:nvPr/>
        </p:nvSpPr>
        <p:spPr>
          <a:xfrm>
            <a:off x="548640" y="3017520"/>
            <a:ext cx="6583680" cy="3429000"/>
          </a:xfrm>
          <a:prstGeom prst="roundRect">
            <a:avLst>
              <a:gd name="adj" fmla="val 3200"/>
            </a:avLst>
          </a:prstGeom>
          <a:solidFill>
            <a:schemeClr val="bg1"/>
          </a:solidFill>
          <a:ln/>
        </p:spPr>
      </p:sp>
      <p:sp>
        <p:nvSpPr>
          <p:cNvPr id="21" name="trend-title"/>
          <p:cNvSpPr txBox="1"/>
          <p:nvPr/>
        </p:nvSpPr>
        <p:spPr>
          <a:xfrm>
            <a:off x="777240" y="3127248"/>
            <a:ext cx="6126480" cy="274320"/>
          </a:xfrm>
          <a:prstGeom prst="rect">
            <a:avLst/>
          </a:prstGeom>
          <a:noFill/>
          <a:ln/>
        </p:spPr>
        <p:txBody>
          <a:bodyPr wrap="square" lIns="0" tIns="0" rIns="0" bIns="0" rtlCol="0" anchor="t"/>
          <a:lstStyle/>
          <a:p>
            <a:pPr indent="0" marL="0">
              <a:buNone/>
            </a:pPr>
            <a:r>
              <a:rPr lang="en-US" sz="1100" b="1" spc="100" kern="0" dirty="0">
                <a:solidFill>
                  <a:schemeClr val="tx1"/>
                </a:solidFill>
              </a:rPr>
              <a:t>MONTHLY UNIQUE USERS TREND</a:t>
            </a:r>
            <a:endParaRPr lang="en-US" sz="1100" dirty="0"/>
          </a:p>
        </p:txBody>
      </p:sp>
      <p:graphicFrame>
        <p:nvGraphicFramePr>
          <p:cNvPr id="22" name="users-trend" descr=""/>
          <p:cNvGraphicFramePr/>
          <p:nvPr/>
        </p:nvGraphicFramePr>
        <p:xfrm>
          <a:off x="640080" y="3429000"/>
          <a:ext cx="6400800" cy="2743200"/>
        </p:xfrm>
        <a:graphic xmlns:a="http://schemas.openxmlformats.org/drawingml/2006/main">
          <a:graphicData uri="http://schemas.openxmlformats.org/drawingml/2006/chart">
            <c:chart xmlns:c="http://schemas.openxmlformats.org/drawingml/2006/chart" r:id="rId1"/>
          </a:graphicData>
        </a:graphic>
      </p:graphicFrame>
      <p:sp>
        <p:nvSpPr>
          <p:cNvPr id="23" name="trend-caption"/>
          <p:cNvSpPr txBox="1"/>
          <p:nvPr/>
        </p:nvSpPr>
        <p:spPr>
          <a:xfrm>
            <a:off x="777240" y="6190488"/>
            <a:ext cx="6126480" cy="228600"/>
          </a:xfrm>
          <a:prstGeom prst="rect">
            <a:avLst/>
          </a:prstGeom>
          <a:noFill/>
          <a:ln/>
        </p:spPr>
        <p:txBody>
          <a:bodyPr wrap="square" lIns="0" tIns="0" rIns="0" bIns="0" rtlCol="0" anchor="t"/>
          <a:lstStyle/>
          <a:p>
            <a:pPr indent="0" marL="0">
              <a:buNone/>
            </a:pPr>
            <a:r>
              <a:rPr lang="en-US" sz="1000" i="1" dirty="0">
                <a:solidFill>
                  <a:schemeClr val="tx2"/>
                </a:solidFill>
              </a:rPr>
              <a:t>Approximate monthly values, read from the ERM usage chart</a:t>
            </a:r>
            <a:endParaRPr lang="en-US" sz="1000" dirty="0"/>
          </a:p>
        </p:txBody>
      </p:sp>
      <p:sp>
        <p:nvSpPr>
          <p:cNvPr id="24" name="erm-card"/>
          <p:cNvSpPr/>
          <p:nvPr/>
        </p:nvSpPr>
        <p:spPr>
          <a:xfrm>
            <a:off x="7406640" y="3017520"/>
            <a:ext cx="4233672" cy="3429000"/>
          </a:xfrm>
          <a:prstGeom prst="roundRect">
            <a:avLst>
              <a:gd name="adj" fmla="val 3200"/>
            </a:avLst>
          </a:prstGeom>
          <a:solidFill>
            <a:schemeClr val="bg1"/>
          </a:solidFill>
          <a:ln/>
        </p:spPr>
      </p:sp>
      <p:sp>
        <p:nvSpPr>
          <p:cNvPr id="25" name="erm-text"/>
          <p:cNvSpPr txBox="1"/>
          <p:nvPr/>
        </p:nvSpPr>
        <p:spPr>
          <a:xfrm>
            <a:off x="7635240" y="3154680"/>
            <a:ext cx="3794760" cy="3154680"/>
          </a:xfrm>
          <a:prstGeom prst="rect">
            <a:avLst/>
          </a:prstGeom>
          <a:noFill/>
          <a:ln/>
        </p:spPr>
        <p:txBody>
          <a:bodyPr wrap="square" lIns="0" tIns="0" rIns="0" bIns="0" rtlCol="0" anchor="t"/>
          <a:lstStyle/>
          <a:p>
            <a:pPr indent="0" marL="0">
              <a:buNone/>
            </a:pPr>
            <a:r>
              <a:rPr lang="en-US" sz="1100" b="1" spc="100" kern="0" dirty="0">
                <a:solidFill>
                  <a:schemeClr val="tx1"/>
                </a:solidFill>
              </a:rPr>
              <a:t>WHAT ERM DOES</a:t>
            </a:r>
            <a:endParaRPr lang="en-US" sz="1100" dirty="0"/>
          </a:p>
          <a:p>
            <a:pPr indent="0" marL="0">
              <a:spcAft>
                <a:spcPts val="1000"/>
              </a:spcAft>
              <a:buNone/>
            </a:pPr>
            <a:r>
              <a:rPr lang="en-US" sz="1500" dirty="0">
                <a:solidFill>
                  <a:schemeClr val="tx2"/>
                </a:solidFill>
              </a:rPr>
              <a:t>One place to manage ARM risks and opportunities: custom dashboards, live editing, trend following, governed quarterly releases and cross-division sharing.</a:t>
            </a:r>
            <a:endParaRPr lang="en-US" sz="1100" dirty="0"/>
          </a:p>
          <a:p>
            <a:pPr indent="0" marL="0">
              <a:buNone/>
            </a:pPr>
            <a:r>
              <a:rPr lang="en-US" sz="1500" b="1" dirty="0">
                <a:solidFill>
                  <a:schemeClr val="tx1"/>
                </a:solidFill>
              </a:rPr>
              <a:t>Every risk and opportunity review in ERM depends on it working.</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5"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childTnLst>
                          </p:cTn>
                        </p:par>
                        <p:par>
                          <p:cTn id="28" fill="hold">
                            <p:stCondLst>
                              <p:cond delay="4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par>
                          <p:cTn id="41" fill="hold">
                            <p:stCondLst>
                              <p:cond delay="80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childTnLst>
                          </p:cTn>
                        </p:par>
                        <p:par>
                          <p:cTn id="54" fill="hold">
                            <p:stCondLst>
                              <p:cond delay="1200"/>
                            </p:stCondLst>
                            <p:childTnLst>
                              <p:par>
                                <p:cTn id="42" presetID="10" presetClass="entr" presetSubtype="0"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childTnLst>
                          </p:cTn>
                        </p:par>
                        <p:par>
                          <p:cTn id="67" fill="hold">
                            <p:stCondLst>
                              <p:cond delay="1600"/>
                            </p:stCondLst>
                            <p:childTnLst>
                              <p:par>
                                <p:cTn id="55" presetID="10" presetClass="entr" presetSubtype="0" fill="hold" grpId="0"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22" presetClass="entr" presetSubtype="8" fill="hold" grpId="0" nodeType="withEffect">
                                  <p:stCondLst>
                                    <p:cond delay="20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450"/>
                                        <p:tgtEl>
                                          <p:spTgt spid="22"/>
                                        </p:tgtEl>
                                      </p:cBhvr>
                                    </p:animEffect>
                                  </p:childTnLst>
                                </p:cTn>
                              </p:par>
                            </p:childTnLst>
                          </p:cTn>
                        </p:par>
                        <p:par>
                          <p:cTn id="74" fill="hold">
                            <p:stCondLst>
                              <p:cond delay="2000"/>
                            </p:stCondLst>
                            <p:childTnLst>
                              <p:par>
                                <p:cTn id="68" presetID="10" presetClass="entr" presetSubtype="0"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STAKES · IMPACT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Used across Airbus organisations and sites</a:t>
            </a:r>
            <a:endParaRPr lang="en-US" sz="3600" dirty="0"/>
          </a:p>
        </p:txBody>
      </p:sp>
      <p:sp>
        <p:nvSpPr>
          <p:cNvPr id="4" name="org-sub"/>
          <p:cNvSpPr txBox="1"/>
          <p:nvPr/>
        </p:nvSpPr>
        <p:spPr>
          <a:xfrm>
            <a:off x="548640" y="1115568"/>
            <a:ext cx="11094415" cy="320040"/>
          </a:xfrm>
          <a:prstGeom prst="rect">
            <a:avLst/>
          </a:prstGeom>
          <a:noFill/>
          <a:ln/>
        </p:spPr>
        <p:txBody>
          <a:bodyPr wrap="square" lIns="0" tIns="0" rIns="0" bIns="0" rtlCol="0" anchor="t"/>
          <a:lstStyle/>
          <a:p>
            <a:pPr indent="0" marL="0">
              <a:buNone/>
            </a:pPr>
            <a:r>
              <a:rPr lang="en-US" sz="1400" dirty="0">
                <a:solidFill>
                  <a:schemeClr val="tx2"/>
                </a:solidFill>
              </a:rPr>
              <a:t>More than half of ERM users work outside its largest organisation, across 6 countries</a:t>
            </a:r>
            <a:endParaRPr lang="en-US" sz="1400" dirty="0"/>
          </a:p>
        </p:txBody>
      </p:sp>
      <p:sp>
        <p:nvSpPr>
          <p:cNvPr id="5" name="org-card"/>
          <p:cNvSpPr/>
          <p:nvPr/>
        </p:nvSpPr>
        <p:spPr>
          <a:xfrm>
            <a:off x="548640" y="1600200"/>
            <a:ext cx="6766560" cy="4846320"/>
          </a:xfrm>
          <a:prstGeom prst="roundRect">
            <a:avLst>
              <a:gd name="adj" fmla="val 2264"/>
            </a:avLst>
          </a:prstGeom>
          <a:solidFill>
            <a:schemeClr val="bg2"/>
          </a:solidFill>
          <a:ln/>
        </p:spPr>
      </p:sp>
      <p:sp>
        <p:nvSpPr>
          <p:cNvPr id="6" name="org-title"/>
          <p:cNvSpPr txBox="1"/>
          <p:nvPr/>
        </p:nvSpPr>
        <p:spPr>
          <a:xfrm>
            <a:off x="777240" y="1709928"/>
            <a:ext cx="6309360" cy="274320"/>
          </a:xfrm>
          <a:prstGeom prst="rect">
            <a:avLst/>
          </a:prstGeom>
          <a:noFill/>
          <a:ln/>
        </p:spPr>
        <p:txBody>
          <a:bodyPr wrap="square" lIns="0" tIns="0" rIns="0" bIns="0" rtlCol="0" anchor="t"/>
          <a:lstStyle/>
          <a:p>
            <a:pPr indent="0" marL="0">
              <a:buNone/>
            </a:pPr>
            <a:r>
              <a:rPr lang="en-US" sz="1100" b="1" spc="100" kern="0" dirty="0">
                <a:solidFill>
                  <a:schemeClr val="tx1"/>
                </a:solidFill>
              </a:rPr>
              <a:t>UNIQUE USERS BY ORGANISATION (SIGLUM 1)</a:t>
            </a:r>
            <a:endParaRPr lang="en-US" sz="1100" dirty="0"/>
          </a:p>
        </p:txBody>
      </p:sp>
      <p:graphicFrame>
        <p:nvGraphicFramePr>
          <p:cNvPr id="7" name="org-chart" descr=""/>
          <p:cNvGraphicFramePr/>
          <p:nvPr/>
        </p:nvGraphicFramePr>
        <p:xfrm>
          <a:off x="640080" y="2011680"/>
          <a:ext cx="6583680" cy="3794760"/>
        </p:xfrm>
        <a:graphic xmlns:a="http://schemas.openxmlformats.org/drawingml/2006/main">
          <a:graphicData uri="http://schemas.openxmlformats.org/drawingml/2006/chart">
            <c:chart xmlns:c="http://schemas.openxmlformats.org/drawingml/2006/chart" r:id="rId1"/>
          </a:graphicData>
        </a:graphic>
      </p:graphicFrame>
      <p:sp>
        <p:nvSpPr>
          <p:cNvPr id="8" name="org-caption"/>
          <p:cNvSpPr txBox="1"/>
          <p:nvPr/>
        </p:nvSpPr>
        <p:spPr>
          <a:xfrm>
            <a:off x="777240" y="5852160"/>
            <a:ext cx="6309360" cy="457200"/>
          </a:xfrm>
          <a:prstGeom prst="rect">
            <a:avLst/>
          </a:prstGeom>
          <a:noFill/>
          <a:ln/>
        </p:spPr>
        <p:txBody>
          <a:bodyPr wrap="square" lIns="0" tIns="0" rIns="0" bIns="0" rtlCol="0" anchor="t"/>
          <a:lstStyle/>
          <a:p>
            <a:pPr indent="0" marL="0">
              <a:buNone/>
            </a:pPr>
            <a:r>
              <a:rPr lang="en-US" sz="1000" i="1" dirty="0">
                <a:solidFill>
                  <a:schemeClr val="tx2"/>
                </a:solidFill>
              </a:rPr>
              <a:t>Plus about 12 smaller organisations (D, M, Z, Q, G, F, H, I, V, E, T…). Approximate values, read from the ERM usage chart</a:t>
            </a:r>
            <a:endParaRPr lang="en-US" sz="1000" dirty="0"/>
          </a:p>
        </p:txBody>
      </p:sp>
      <p:sp>
        <p:nvSpPr>
          <p:cNvPr id="9" name="loc-card"/>
          <p:cNvSpPr/>
          <p:nvPr/>
        </p:nvSpPr>
        <p:spPr>
          <a:xfrm>
            <a:off x="7589520" y="1600200"/>
            <a:ext cx="4050792" cy="4846320"/>
          </a:xfrm>
          <a:prstGeom prst="roundRect">
            <a:avLst>
              <a:gd name="adj" fmla="val 2709"/>
            </a:avLst>
          </a:prstGeom>
          <a:solidFill>
            <a:schemeClr val="tx1"/>
          </a:solidFill>
          <a:ln/>
        </p:spPr>
      </p:sp>
      <p:sp>
        <p:nvSpPr>
          <p:cNvPr id="10" name="loc-title"/>
          <p:cNvSpPr txBox="1"/>
          <p:nvPr/>
        </p:nvSpPr>
        <p:spPr>
          <a:xfrm>
            <a:off x="7818120" y="1737360"/>
            <a:ext cx="365760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LOCATION PROFILE</a:t>
            </a:r>
            <a:endParaRPr lang="en-US" sz="1100" dirty="0"/>
          </a:p>
        </p:txBody>
      </p:sp>
      <p:sp>
        <p:nvSpPr>
          <p:cNvPr id="11" name="loc-list"/>
          <p:cNvSpPr txBox="1"/>
          <p:nvPr/>
        </p:nvSpPr>
        <p:spPr>
          <a:xfrm>
            <a:off x="7818120" y="2148840"/>
            <a:ext cx="3657600" cy="4114800"/>
          </a:xfrm>
          <a:prstGeom prst="rect">
            <a:avLst/>
          </a:prstGeom>
          <a:noFill/>
          <a:ln/>
        </p:spPr>
        <p:txBody>
          <a:bodyPr wrap="square" lIns="0" tIns="0" rIns="0" bIns="0" rtlCol="0" anchor="t"/>
          <a:lstStyle/>
          <a:p>
            <a:pPr indent="0" marL="0">
              <a:buNone/>
            </a:pPr>
            <a:r>
              <a:rPr lang="en-US" sz="1500" b="1" dirty="0">
                <a:solidFill>
                  <a:schemeClr val="bg1"/>
                </a:solidFill>
              </a:rPr>
              <a:t>France</a:t>
            </a:r>
            <a:endParaRPr lang="en-US" sz="1500" dirty="0"/>
          </a:p>
          <a:p>
            <a:pPr indent="0" marL="0">
              <a:spcAft>
                <a:spcPts val="900"/>
              </a:spcAft>
              <a:buNone/>
            </a:pPr>
            <a:r>
              <a:rPr lang="en-US" sz="1300" dirty="0">
                <a:solidFill>
                  <a:schemeClr val="accent5"/>
                </a:solidFill>
              </a:rPr>
              <a:t>Blagnac Wings Campus 271, Saint-Martin 43 users</a:t>
            </a:r>
            <a:endParaRPr lang="en-US" sz="1500" dirty="0"/>
          </a:p>
          <a:p>
            <a:pPr indent="0" marL="0">
              <a:buNone/>
            </a:pPr>
            <a:r>
              <a:rPr lang="en-US" sz="1500" b="1" dirty="0">
                <a:solidFill>
                  <a:schemeClr val="bg1"/>
                </a:solidFill>
              </a:rPr>
              <a:t>Germany</a:t>
            </a:r>
            <a:endParaRPr lang="en-US" sz="1500" dirty="0"/>
          </a:p>
          <a:p>
            <a:pPr indent="0" marL="0">
              <a:spcAft>
                <a:spcPts val="900"/>
              </a:spcAft>
              <a:buNone/>
            </a:pPr>
            <a:r>
              <a:rPr lang="en-US" sz="1300" dirty="0">
                <a:solidFill>
                  <a:schemeClr val="accent5"/>
                </a:solidFill>
              </a:rPr>
              <a:t>Hamburg Finkenwerder 205 users</a:t>
            </a:r>
            <a:endParaRPr lang="en-US" sz="1500" dirty="0"/>
          </a:p>
          <a:p>
            <a:pPr indent="0" marL="0">
              <a:buNone/>
            </a:pPr>
            <a:r>
              <a:rPr lang="en-US" sz="1500" b="1" dirty="0">
                <a:solidFill>
                  <a:schemeClr val="bg1"/>
                </a:solidFill>
              </a:rPr>
              <a:t>United Kingdom</a:t>
            </a:r>
            <a:endParaRPr lang="en-US" sz="1500" dirty="0"/>
          </a:p>
          <a:p>
            <a:pPr indent="0" marL="0">
              <a:spcAft>
                <a:spcPts val="900"/>
              </a:spcAft>
              <a:buNone/>
            </a:pPr>
            <a:r>
              <a:rPr lang="en-US" sz="1300" dirty="0">
                <a:solidFill>
                  <a:schemeClr val="accent5"/>
                </a:solidFill>
              </a:rPr>
              <a:t>Broughton 32, Filton 26 users</a:t>
            </a:r>
            <a:endParaRPr lang="en-US" sz="1500" dirty="0"/>
          </a:p>
          <a:p>
            <a:pPr indent="0" marL="0">
              <a:buNone/>
            </a:pPr>
            <a:r>
              <a:rPr lang="en-US" sz="1500" b="1" dirty="0">
                <a:solidFill>
                  <a:schemeClr val="bg1"/>
                </a:solidFill>
              </a:rPr>
              <a:t>Spain</a:t>
            </a:r>
            <a:endParaRPr lang="en-US" sz="1500" dirty="0"/>
          </a:p>
          <a:p>
            <a:pPr indent="0" marL="0">
              <a:spcAft>
                <a:spcPts val="900"/>
              </a:spcAft>
              <a:buNone/>
            </a:pPr>
            <a:r>
              <a:rPr lang="en-US" sz="1300" dirty="0">
                <a:solidFill>
                  <a:schemeClr val="accent5"/>
                </a:solidFill>
              </a:rPr>
              <a:t>Getafe 25 users</a:t>
            </a:r>
            <a:endParaRPr lang="en-US" sz="1500" dirty="0"/>
          </a:p>
          <a:p>
            <a:pPr indent="0" marL="0">
              <a:buNone/>
            </a:pPr>
            <a:r>
              <a:rPr lang="en-US" sz="1500" b="1" dirty="0">
                <a:solidFill>
                  <a:schemeClr val="bg1"/>
                </a:solidFill>
              </a:rPr>
              <a:t>Canada</a:t>
            </a:r>
            <a:endParaRPr lang="en-US" sz="1500" dirty="0"/>
          </a:p>
          <a:p>
            <a:pPr indent="0" marL="0">
              <a:spcAft>
                <a:spcPts val="900"/>
              </a:spcAft>
              <a:buNone/>
            </a:pPr>
            <a:r>
              <a:rPr lang="en-US" sz="1300" dirty="0">
                <a:solidFill>
                  <a:schemeClr val="accent5"/>
                </a:solidFill>
              </a:rPr>
              <a:t>Mirabel 12 users</a:t>
            </a:r>
            <a:endParaRPr lang="en-US" sz="1500" dirty="0"/>
          </a:p>
          <a:p>
            <a:pPr indent="0" marL="0">
              <a:buNone/>
            </a:pPr>
            <a:r>
              <a:rPr lang="en-US" sz="1500" b="1" dirty="0">
                <a:solidFill>
                  <a:schemeClr val="bg1"/>
                </a:solidFill>
              </a:rPr>
              <a:t>India</a:t>
            </a:r>
            <a:endParaRPr lang="en-US" sz="1500" dirty="0"/>
          </a:p>
          <a:p>
            <a:pPr indent="0" marL="0">
              <a:spcAft>
                <a:spcPts val="900"/>
              </a:spcAft>
              <a:buNone/>
            </a:pPr>
            <a:r>
              <a:rPr lang="en-US" sz="1300" dirty="0">
                <a:solidFill>
                  <a:schemeClr val="accent5"/>
                </a:solidFill>
              </a:rPr>
              <a:t>Bangalore 7 users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9"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22" presetClass="entr" presetSubtype="8"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450"/>
                                        <p:tgtEl>
                                          <p:spTgt spid="7"/>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childTnLst>
                          </p:cTn>
                        </p:par>
                        <p:par>
                          <p:cTn id="2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COMPLICATION</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But Slate had become the bottleneck</a:t>
            </a:r>
            <a:endParaRPr lang="en-US" sz="3600" dirty="0"/>
          </a:p>
        </p:txBody>
      </p:sp>
      <p:sp>
        <p:nvSpPr>
          <p:cNvPr id="4" name="prob-0-card"/>
          <p:cNvSpPr/>
          <p:nvPr/>
        </p:nvSpPr>
        <p:spPr>
          <a:xfrm>
            <a:off x="548640" y="1371600"/>
            <a:ext cx="5029200" cy="777240"/>
          </a:xfrm>
          <a:prstGeom prst="roundRect">
            <a:avLst>
              <a:gd name="adj" fmla="val 14118"/>
            </a:avLst>
          </a:prstGeom>
          <a:solidFill>
            <a:schemeClr val="bg2"/>
          </a:solidFill>
          <a:ln/>
        </p:spPr>
      </p:sp>
      <p:sp>
        <p:nvSpPr>
          <p:cNvPr id="5" name="prob-0-text"/>
          <p:cNvSpPr txBox="1"/>
          <p:nvPr/>
        </p:nvSpPr>
        <p:spPr>
          <a:xfrm>
            <a:off x="777240" y="1444752"/>
            <a:ext cx="4572000" cy="630936"/>
          </a:xfrm>
          <a:prstGeom prst="rect">
            <a:avLst/>
          </a:prstGeom>
          <a:noFill/>
          <a:ln/>
        </p:spPr>
        <p:txBody>
          <a:bodyPr wrap="square" lIns="0" tIns="0" rIns="0" bIns="0" rtlCol="0" anchor="ctr"/>
          <a:lstStyle/>
          <a:p>
            <a:pPr indent="0" marL="0">
              <a:buNone/>
            </a:pPr>
            <a:r>
              <a:rPr lang="en-US" sz="1500" b="1" dirty="0">
                <a:solidFill>
                  <a:schemeClr val="tx1"/>
                </a:solidFill>
              </a:rPr>
              <a:t>Tangled dependencies</a:t>
            </a:r>
            <a:endParaRPr lang="en-US" sz="1500" dirty="0"/>
          </a:p>
          <a:p>
            <a:pPr indent="0" marL="0">
              <a:buNone/>
            </a:pPr>
            <a:r>
              <a:rPr lang="en-US" sz="1300" dirty="0">
                <a:solidFill>
                  <a:schemeClr val="tx2"/>
                </a:solidFill>
              </a:rPr>
              <a:t>One user action cascades through widgets, events, actions and variables</a:t>
            </a:r>
            <a:endParaRPr lang="en-US" sz="1500" dirty="0"/>
          </a:p>
        </p:txBody>
      </p:sp>
      <p:sp>
        <p:nvSpPr>
          <p:cNvPr id="6" name="prob-1-card"/>
          <p:cNvSpPr/>
          <p:nvPr/>
        </p:nvSpPr>
        <p:spPr>
          <a:xfrm>
            <a:off x="548640" y="2258568"/>
            <a:ext cx="5029200" cy="777240"/>
          </a:xfrm>
          <a:prstGeom prst="roundRect">
            <a:avLst>
              <a:gd name="adj" fmla="val 14118"/>
            </a:avLst>
          </a:prstGeom>
          <a:solidFill>
            <a:schemeClr val="bg2"/>
          </a:solidFill>
          <a:ln/>
        </p:spPr>
      </p:sp>
      <p:sp>
        <p:nvSpPr>
          <p:cNvPr id="7" name="prob-1-text"/>
          <p:cNvSpPr txBox="1"/>
          <p:nvPr/>
        </p:nvSpPr>
        <p:spPr>
          <a:xfrm>
            <a:off x="777240" y="2331720"/>
            <a:ext cx="4572000" cy="630936"/>
          </a:xfrm>
          <a:prstGeom prst="rect">
            <a:avLst/>
          </a:prstGeom>
          <a:noFill/>
          <a:ln/>
        </p:spPr>
        <p:txBody>
          <a:bodyPr wrap="square" lIns="0" tIns="0" rIns="0" bIns="0" rtlCol="0" anchor="ctr"/>
          <a:lstStyle/>
          <a:p>
            <a:pPr indent="0" marL="0">
              <a:buNone/>
            </a:pPr>
            <a:r>
              <a:rPr lang="en-US" sz="1500" b="1" dirty="0">
                <a:solidFill>
                  <a:schemeClr val="tx1"/>
                </a:solidFill>
              </a:rPr>
              <a:t>High regression risk</a:t>
            </a:r>
            <a:endParaRPr lang="en-US" sz="1500" dirty="0"/>
          </a:p>
          <a:p>
            <a:pPr indent="0" marL="0">
              <a:buNone/>
            </a:pPr>
            <a:r>
              <a:rPr lang="en-US" sz="1300" dirty="0">
                <a:solidFill>
                  <a:schemeClr val="tx2"/>
                </a:solidFill>
              </a:rPr>
              <a:t>Changing one feature can break unrelated dashboard behaviour</a:t>
            </a:r>
            <a:endParaRPr lang="en-US" sz="1500" dirty="0"/>
          </a:p>
        </p:txBody>
      </p:sp>
      <p:sp>
        <p:nvSpPr>
          <p:cNvPr id="8" name="prob-2-card"/>
          <p:cNvSpPr/>
          <p:nvPr/>
        </p:nvSpPr>
        <p:spPr>
          <a:xfrm>
            <a:off x="548640" y="3145536"/>
            <a:ext cx="5029200" cy="777240"/>
          </a:xfrm>
          <a:prstGeom prst="roundRect">
            <a:avLst>
              <a:gd name="adj" fmla="val 14118"/>
            </a:avLst>
          </a:prstGeom>
          <a:solidFill>
            <a:schemeClr val="bg2"/>
          </a:solidFill>
          <a:ln/>
        </p:spPr>
      </p:sp>
      <p:sp>
        <p:nvSpPr>
          <p:cNvPr id="9" name="prob-2-text"/>
          <p:cNvSpPr txBox="1"/>
          <p:nvPr/>
        </p:nvSpPr>
        <p:spPr>
          <a:xfrm>
            <a:off x="777240" y="3218688"/>
            <a:ext cx="4572000" cy="630936"/>
          </a:xfrm>
          <a:prstGeom prst="rect">
            <a:avLst/>
          </a:prstGeom>
          <a:noFill/>
          <a:ln/>
        </p:spPr>
        <p:txBody>
          <a:bodyPr wrap="square" lIns="0" tIns="0" rIns="0" bIns="0" rtlCol="0" anchor="ctr"/>
          <a:lstStyle/>
          <a:p>
            <a:pPr indent="0" marL="0">
              <a:buNone/>
            </a:pPr>
            <a:r>
              <a:rPr lang="en-US" sz="1500" b="1" dirty="0">
                <a:solidFill>
                  <a:schemeClr val="tx1"/>
                </a:solidFill>
              </a:rPr>
              <a:t>Slow navigation</a:t>
            </a:r>
            <a:endParaRPr lang="en-US" sz="1500" dirty="0"/>
          </a:p>
          <a:p>
            <a:pPr indent="0" marL="0">
              <a:buNone/>
            </a:pPr>
            <a:r>
              <a:rPr lang="en-US" sz="1300" dirty="0">
                <a:solidFill>
                  <a:schemeClr val="tx2"/>
                </a:solidFill>
              </a:rPr>
              <a:t>Variable trees are recalculated on every tab switch</a:t>
            </a:r>
            <a:endParaRPr lang="en-US" sz="1500" dirty="0"/>
          </a:p>
        </p:txBody>
      </p:sp>
      <p:sp>
        <p:nvSpPr>
          <p:cNvPr id="10" name="prob-3-card"/>
          <p:cNvSpPr/>
          <p:nvPr/>
        </p:nvSpPr>
        <p:spPr>
          <a:xfrm>
            <a:off x="548640" y="4032504"/>
            <a:ext cx="5029200" cy="777240"/>
          </a:xfrm>
          <a:prstGeom prst="roundRect">
            <a:avLst>
              <a:gd name="adj" fmla="val 14118"/>
            </a:avLst>
          </a:prstGeom>
          <a:solidFill>
            <a:schemeClr val="bg2"/>
          </a:solidFill>
          <a:ln/>
        </p:spPr>
      </p:sp>
      <p:sp>
        <p:nvSpPr>
          <p:cNvPr id="11" name="prob-3-text"/>
          <p:cNvSpPr txBox="1"/>
          <p:nvPr/>
        </p:nvSpPr>
        <p:spPr>
          <a:xfrm>
            <a:off x="777240" y="4105656"/>
            <a:ext cx="4572000" cy="630936"/>
          </a:xfrm>
          <a:prstGeom prst="rect">
            <a:avLst/>
          </a:prstGeom>
          <a:noFill/>
          <a:ln/>
        </p:spPr>
        <p:txBody>
          <a:bodyPr wrap="square" lIns="0" tIns="0" rIns="0" bIns="0" rtlCol="0" anchor="ctr"/>
          <a:lstStyle/>
          <a:p>
            <a:pPr indent="0" marL="0">
              <a:buNone/>
            </a:pPr>
            <a:r>
              <a:rPr lang="en-US" sz="1500" b="1" dirty="0">
                <a:solidFill>
                  <a:schemeClr val="accent3"/>
                </a:solidFill>
              </a:rPr>
              <a:t>No documentation</a:t>
            </a:r>
            <a:endParaRPr lang="en-US" sz="1500" dirty="0"/>
          </a:p>
          <a:p>
            <a:pPr indent="0" marL="0">
              <a:buNone/>
            </a:pPr>
            <a:r>
              <a:rPr lang="en-US" sz="1300" dirty="0">
                <a:solidFill>
                  <a:schemeClr val="tx2"/>
                </a:solidFill>
              </a:rPr>
              <a:t>8 Slate exports, about 25 MB of configuration, no specs</a:t>
            </a:r>
            <a:endParaRPr lang="en-US" sz="1500" dirty="0"/>
          </a:p>
        </p:txBody>
      </p:sp>
      <p:pic>
        <p:nvPicPr>
          <p:cNvPr id="12" name="gif-legacy-breakdown" descr="Animation: the ERM Slate app splits into a shell and 7 modules, then AI extracts 105 features from them">    </p:cNvPr>
          <p:cNvPicPr>
            <a:picLocks noChangeAspect="1"/>
          </p:cNvPicPr>
          <p:nvPr/>
        </p:nvPicPr>
        <p:blipFill>
          <a:blip r:embed="rId1"/>
          <a:stretch>
            <a:fillRect/>
          </a:stretch>
        </p:blipFill>
        <p:spPr>
          <a:xfrm>
            <a:off x="5852160" y="1371600"/>
            <a:ext cx="5788152" cy="3474720"/>
          </a:xfrm>
          <a:prstGeom prst="rect">
            <a:avLst/>
          </a:prstGeom>
        </p:spPr>
      </p:pic>
      <p:sp>
        <p:nvSpPr>
          <p:cNvPr id="13" name="question-card"/>
          <p:cNvSpPr/>
          <p:nvPr/>
        </p:nvSpPr>
        <p:spPr>
          <a:xfrm>
            <a:off x="548640" y="5120640"/>
            <a:ext cx="11094415" cy="1234440"/>
          </a:xfrm>
          <a:prstGeom prst="roundRect">
            <a:avLst>
              <a:gd name="adj" fmla="val 8889"/>
            </a:avLst>
          </a:prstGeom>
          <a:solidFill>
            <a:schemeClr val="tx1"/>
          </a:solidFill>
          <a:ln/>
        </p:spPr>
      </p:sp>
      <p:sp>
        <p:nvSpPr>
          <p:cNvPr id="14" name="question-text"/>
          <p:cNvSpPr txBox="1"/>
          <p:nvPr/>
        </p:nvSpPr>
        <p:spPr>
          <a:xfrm>
            <a:off x="868680" y="5212080"/>
            <a:ext cx="10454335" cy="1051560"/>
          </a:xfrm>
          <a:prstGeom prst="rect">
            <a:avLst/>
          </a:prstGeom>
          <a:noFill/>
          <a:ln/>
        </p:spPr>
        <p:txBody>
          <a:bodyPr wrap="square" lIns="0" tIns="0" rIns="0" bIns="0" rtlCol="0" anchor="ctr"/>
          <a:lstStyle/>
          <a:p>
            <a:pPr indent="0" marL="0">
              <a:buNone/>
            </a:pPr>
            <a:r>
              <a:rPr lang="en-US" sz="1100" b="1" spc="200" kern="0" dirty="0">
                <a:solidFill>
                  <a:schemeClr val="accent5"/>
                </a:solidFill>
              </a:rPr>
              <a:t>THE QUESTION</a:t>
            </a:r>
            <a:endParaRPr lang="en-US" sz="1100" dirty="0"/>
          </a:p>
          <a:p>
            <a:pPr indent="0" marL="0">
              <a:buNone/>
            </a:pPr>
            <a:r>
              <a:rPr lang="en-US" sz="2200" b="1" dirty="0">
                <a:solidFill>
                  <a:schemeClr val="bg1"/>
                </a:solidFill>
              </a:rPr>
              <a:t>How do 2 developers move 105 hidden features in one PI, without breaking risk reporting?</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16" fill="hold">
                            <p:stCondLst>
                              <p:cond delay="45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childTnLst>
                          </p:cTn>
                        </p:par>
                        <p:par>
                          <p:cTn id="23" fill="hold">
                            <p:stCondLst>
                              <p:cond delay="9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par>
                          <p:cTn id="30" fill="hold">
                            <p:stCondLst>
                              <p:cond delay="135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childTnLst>
                          </p:cTn>
                        </p:par>
                        <p:par>
                          <p:cTn id="37" fill="hold">
                            <p:stCondLst>
                              <p:cond delay="1800"/>
                            </p:stCondLst>
                            <p:childTnLst>
                              <p:par>
                                <p:cTn id="31" presetID="22" presetClass="entr" presetSubtype="8" fill="hold" grpId="0" nodeType="afterEffect">
                                  <p:stCondLst>
                                    <p:cond delay="30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450"/>
                                        <p:tgtEl>
                                          <p:spTgt spid="13"/>
                                        </p:tgtEl>
                                      </p:cBhvr>
                                    </p:animEffect>
                                  </p:childTnLst>
                                </p:cTn>
                              </p:par>
                              <p:par>
                                <p:cTn id="34" presetID="22" presetClass="entr" presetSubtype="8" fill="hold" grpId="0" nodeType="withEffect">
                                  <p:stCondLst>
                                    <p:cond delay="30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INSIGHT · INNOVATION</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Our answer: AI reverse-engineers, people verify</a:t>
            </a:r>
            <a:endParaRPr lang="en-US" sz="3600" dirty="0"/>
          </a:p>
        </p:txBody>
      </p:sp>
      <p:pic>
        <p:nvPicPr>
          <p:cNvPr id="4" name="gif-migration" descr="Animation: features flow from each Slate module through the 105-feature catalogue into the matching React tab, then new features appear">    </p:cNvPr>
          <p:cNvPicPr>
            <a:picLocks noChangeAspect="1"/>
          </p:cNvPicPr>
          <p:nvPr/>
        </p:nvPicPr>
        <p:blipFill>
          <a:blip r:embed="rId1"/>
          <a:stretch>
            <a:fillRect/>
          </a:stretch>
        </p:blipFill>
        <p:spPr>
          <a:xfrm>
            <a:off x="548640" y="1371600"/>
            <a:ext cx="5486400" cy="3291840"/>
          </a:xfrm>
          <a:prstGeom prst="rect">
            <a:avLst/>
          </a:prstGeom>
        </p:spPr>
      </p:pic>
      <p:sp>
        <p:nvSpPr>
          <p:cNvPr id="5" name="pack-card"/>
          <p:cNvSpPr/>
          <p:nvPr/>
        </p:nvSpPr>
        <p:spPr>
          <a:xfrm>
            <a:off x="548640" y="4846320"/>
            <a:ext cx="5486400" cy="1508760"/>
          </a:xfrm>
          <a:prstGeom prst="roundRect">
            <a:avLst>
              <a:gd name="adj" fmla="val 7273"/>
            </a:avLst>
          </a:prstGeom>
          <a:solidFill>
            <a:schemeClr val="tx1"/>
          </a:solidFill>
          <a:ln/>
        </p:spPr>
      </p:sp>
      <p:sp>
        <p:nvSpPr>
          <p:cNvPr id="6" name="pack-text"/>
          <p:cNvSpPr txBox="1"/>
          <p:nvPr/>
        </p:nvSpPr>
        <p:spPr>
          <a:xfrm>
            <a:off x="822960" y="4956048"/>
            <a:ext cx="4937760" cy="1289304"/>
          </a:xfrm>
          <a:prstGeom prst="rect">
            <a:avLst/>
          </a:prstGeom>
          <a:noFill/>
          <a:ln/>
        </p:spPr>
        <p:txBody>
          <a:bodyPr wrap="square" lIns="0" tIns="0" rIns="0" bIns="0" rtlCol="0" anchor="ctr"/>
          <a:lstStyle/>
          <a:p>
            <a:pPr indent="0" marL="0">
              <a:buNone/>
            </a:pPr>
            <a:r>
              <a:rPr lang="en-US" sz="1800" b="1" dirty="0">
                <a:solidFill>
                  <a:schemeClr val="bg1"/>
                </a:solidFill>
              </a:rPr>
              <a:t>pack-project.ts</a:t>
            </a:r>
            <a:endParaRPr lang="en-US" sz="1800" dirty="0"/>
          </a:p>
          <a:p>
            <a:pPr indent="0" marL="0">
              <a:buNone/>
            </a:pPr>
            <a:r>
              <a:rPr lang="en-US" sz="1300" dirty="0">
                <a:solidFill>
                  <a:schemeClr val="accent5"/>
                </a:solidFill>
              </a:rPr>
              <a:t>Our script packs the whole React app, 75 files, into one dated context the AI reads in one go. The 8 Slate exports complete the picture.</a:t>
            </a:r>
            <a:endParaRPr lang="en-US" sz="1800" dirty="0"/>
          </a:p>
        </p:txBody>
      </p:sp>
      <p:sp>
        <p:nvSpPr>
          <p:cNvPr id="7" name="cmp-head-old"/>
          <p:cNvSpPr txBox="1"/>
          <p:nvPr/>
        </p:nvSpPr>
        <p:spPr>
          <a:xfrm>
            <a:off x="6309360" y="1371600"/>
            <a:ext cx="2596896" cy="274320"/>
          </a:xfrm>
          <a:prstGeom prst="rect">
            <a:avLst/>
          </a:prstGeom>
          <a:noFill/>
          <a:ln/>
        </p:spPr>
        <p:txBody>
          <a:bodyPr wrap="square" lIns="0" tIns="0" rIns="0" bIns="0" rtlCol="0" anchor="t"/>
          <a:lstStyle/>
          <a:p>
            <a:pPr indent="0" marL="0">
              <a:buNone/>
            </a:pPr>
            <a:r>
              <a:rPr lang="en-US" sz="1100" b="1" spc="100" kern="0" dirty="0">
                <a:solidFill>
                  <a:schemeClr val="tx2"/>
                </a:solidFill>
              </a:rPr>
              <a:t>USUAL MIGRATION</a:t>
            </a:r>
            <a:endParaRPr lang="en-US" sz="1100" dirty="0"/>
          </a:p>
        </p:txBody>
      </p:sp>
      <p:sp>
        <p:nvSpPr>
          <p:cNvPr id="8" name="cmp-head-new"/>
          <p:cNvSpPr txBox="1"/>
          <p:nvPr/>
        </p:nvSpPr>
        <p:spPr>
          <a:xfrm>
            <a:off x="9043416" y="1371600"/>
            <a:ext cx="2596896"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OUR METHOD</a:t>
            </a:r>
            <a:endParaRPr lang="en-US" sz="1100" dirty="0"/>
          </a:p>
        </p:txBody>
      </p:sp>
      <p:sp>
        <p:nvSpPr>
          <p:cNvPr id="9" name="cmp-0-old"/>
          <p:cNvSpPr/>
          <p:nvPr/>
        </p:nvSpPr>
        <p:spPr>
          <a:xfrm>
            <a:off x="6309360" y="1719072"/>
            <a:ext cx="2596896" cy="1042416"/>
          </a:xfrm>
          <a:prstGeom prst="roundRect">
            <a:avLst>
              <a:gd name="adj" fmla="val 10526"/>
            </a:avLst>
          </a:prstGeom>
          <a:solidFill>
            <a:schemeClr val="bg1"/>
          </a:solidFill>
          <a:ln/>
        </p:spPr>
      </p:sp>
      <p:sp>
        <p:nvSpPr>
          <p:cNvPr id="10" name="cmp-0-oldtext"/>
          <p:cNvSpPr txBox="1"/>
          <p:nvPr/>
        </p:nvSpPr>
        <p:spPr>
          <a:xfrm>
            <a:off x="6473952" y="1810512"/>
            <a:ext cx="2267712" cy="859536"/>
          </a:xfrm>
          <a:prstGeom prst="rect">
            <a:avLst/>
          </a:prstGeom>
          <a:noFill/>
          <a:ln/>
        </p:spPr>
        <p:txBody>
          <a:bodyPr wrap="square" lIns="0" tIns="0" rIns="0" bIns="0" rtlCol="0" anchor="ctr"/>
          <a:lstStyle/>
          <a:p>
            <a:pPr indent="0" marL="0">
              <a:buNone/>
            </a:pPr>
            <a:r>
              <a:rPr lang="en-US" sz="1300" b="1" dirty="0">
                <a:solidFill>
                  <a:schemeClr val="tx2"/>
                </a:solidFill>
              </a:rPr>
              <a:t>Discovery</a:t>
            </a:r>
            <a:endParaRPr lang="en-US" sz="1300" dirty="0"/>
          </a:p>
          <a:p>
            <a:pPr indent="0" marL="0">
              <a:buNone/>
            </a:pPr>
            <a:r>
              <a:rPr lang="en-US" sz="1300" dirty="0">
                <a:solidFill>
                  <a:schemeClr val="tx2"/>
                </a:solidFill>
              </a:rPr>
              <a:t>Interviews and clicking through screens</a:t>
            </a:r>
            <a:endParaRPr lang="en-US" sz="1300" dirty="0"/>
          </a:p>
        </p:txBody>
      </p:sp>
      <p:sp>
        <p:nvSpPr>
          <p:cNvPr id="11" name="cmp-0-new"/>
          <p:cNvSpPr/>
          <p:nvPr/>
        </p:nvSpPr>
        <p:spPr>
          <a:xfrm>
            <a:off x="9043416" y="1719072"/>
            <a:ext cx="2596896" cy="1042416"/>
          </a:xfrm>
          <a:prstGeom prst="roundRect">
            <a:avLst>
              <a:gd name="adj" fmla="val 10526"/>
            </a:avLst>
          </a:prstGeom>
          <a:solidFill>
            <a:schemeClr val="tx1"/>
          </a:solidFill>
          <a:ln/>
        </p:spPr>
      </p:sp>
      <p:sp>
        <p:nvSpPr>
          <p:cNvPr id="12" name="cmp-0-newtext"/>
          <p:cNvSpPr txBox="1"/>
          <p:nvPr/>
        </p:nvSpPr>
        <p:spPr>
          <a:xfrm>
            <a:off x="9208008" y="1810512"/>
            <a:ext cx="2267712" cy="859536"/>
          </a:xfrm>
          <a:prstGeom prst="rect">
            <a:avLst/>
          </a:prstGeom>
          <a:noFill/>
          <a:ln/>
        </p:spPr>
        <p:txBody>
          <a:bodyPr wrap="square" lIns="0" tIns="0" rIns="0" bIns="0" rtlCol="0" anchor="ctr"/>
          <a:lstStyle/>
          <a:p>
            <a:pPr indent="0" marL="0">
              <a:buNone/>
            </a:pPr>
            <a:r>
              <a:rPr lang="en-US" sz="1300" b="1" dirty="0">
                <a:solidFill>
                  <a:schemeClr val="bg1"/>
                </a:solidFill>
              </a:rPr>
              <a:t>Discovery</a:t>
            </a:r>
            <a:endParaRPr lang="en-US" sz="1300" dirty="0"/>
          </a:p>
          <a:p>
            <a:pPr indent="0" marL="0">
              <a:buNone/>
            </a:pPr>
            <a:r>
              <a:rPr lang="en-US" sz="1300" dirty="0">
                <a:solidFill>
                  <a:schemeClr val="accent5"/>
                </a:solidFill>
              </a:rPr>
              <a:t>AI reads all 8 Slate exports: 105 features catalogued</a:t>
            </a:r>
            <a:endParaRPr lang="en-US" sz="1300" dirty="0"/>
          </a:p>
        </p:txBody>
      </p:sp>
      <p:sp>
        <p:nvSpPr>
          <p:cNvPr id="13" name="cmp-1-old"/>
          <p:cNvSpPr/>
          <p:nvPr/>
        </p:nvSpPr>
        <p:spPr>
          <a:xfrm>
            <a:off x="6309360" y="2889504"/>
            <a:ext cx="2596896" cy="1042416"/>
          </a:xfrm>
          <a:prstGeom prst="roundRect">
            <a:avLst>
              <a:gd name="adj" fmla="val 10526"/>
            </a:avLst>
          </a:prstGeom>
          <a:solidFill>
            <a:schemeClr val="bg1"/>
          </a:solidFill>
          <a:ln/>
        </p:spPr>
      </p:sp>
      <p:sp>
        <p:nvSpPr>
          <p:cNvPr id="14" name="cmp-1-oldtext"/>
          <p:cNvSpPr txBox="1"/>
          <p:nvPr/>
        </p:nvSpPr>
        <p:spPr>
          <a:xfrm>
            <a:off x="6473952" y="2980944"/>
            <a:ext cx="2267712" cy="859536"/>
          </a:xfrm>
          <a:prstGeom prst="rect">
            <a:avLst/>
          </a:prstGeom>
          <a:noFill/>
          <a:ln/>
        </p:spPr>
        <p:txBody>
          <a:bodyPr wrap="square" lIns="0" tIns="0" rIns="0" bIns="0" rtlCol="0" anchor="ctr"/>
          <a:lstStyle/>
          <a:p>
            <a:pPr indent="0" marL="0">
              <a:buNone/>
            </a:pPr>
            <a:r>
              <a:rPr lang="en-US" sz="1300" b="1" dirty="0">
                <a:solidFill>
                  <a:schemeClr val="tx2"/>
                </a:solidFill>
              </a:rPr>
              <a:t>Context</a:t>
            </a:r>
            <a:endParaRPr lang="en-US" sz="1300" dirty="0"/>
          </a:p>
          <a:p>
            <a:pPr indent="0" marL="0">
              <a:buNone/>
            </a:pPr>
            <a:r>
              <a:rPr lang="en-US" sz="1300" dirty="0">
                <a:solidFill>
                  <a:schemeClr val="tx2"/>
                </a:solidFill>
              </a:rPr>
              <a:t>Code read in fragments</a:t>
            </a:r>
            <a:endParaRPr lang="en-US" sz="1300" dirty="0"/>
          </a:p>
        </p:txBody>
      </p:sp>
      <p:sp>
        <p:nvSpPr>
          <p:cNvPr id="15" name="cmp-1-new"/>
          <p:cNvSpPr/>
          <p:nvPr/>
        </p:nvSpPr>
        <p:spPr>
          <a:xfrm>
            <a:off x="9043416" y="2889504"/>
            <a:ext cx="2596896" cy="1042416"/>
          </a:xfrm>
          <a:prstGeom prst="roundRect">
            <a:avLst>
              <a:gd name="adj" fmla="val 10526"/>
            </a:avLst>
          </a:prstGeom>
          <a:solidFill>
            <a:schemeClr val="tx1"/>
          </a:solidFill>
          <a:ln/>
        </p:spPr>
      </p:sp>
      <p:sp>
        <p:nvSpPr>
          <p:cNvPr id="16" name="cmp-1-newtext"/>
          <p:cNvSpPr txBox="1"/>
          <p:nvPr/>
        </p:nvSpPr>
        <p:spPr>
          <a:xfrm>
            <a:off x="9208008" y="2980944"/>
            <a:ext cx="2267712" cy="859536"/>
          </a:xfrm>
          <a:prstGeom prst="rect">
            <a:avLst/>
          </a:prstGeom>
          <a:noFill/>
          <a:ln/>
        </p:spPr>
        <p:txBody>
          <a:bodyPr wrap="square" lIns="0" tIns="0" rIns="0" bIns="0" rtlCol="0" anchor="ctr"/>
          <a:lstStyle/>
          <a:p>
            <a:pPr indent="0" marL="0">
              <a:buNone/>
            </a:pPr>
            <a:r>
              <a:rPr lang="en-US" sz="1300" b="1" dirty="0">
                <a:solidFill>
                  <a:schemeClr val="bg1"/>
                </a:solidFill>
              </a:rPr>
              <a:t>Context</a:t>
            </a:r>
            <a:endParaRPr lang="en-US" sz="1300" dirty="0"/>
          </a:p>
          <a:p>
            <a:pPr indent="0" marL="0">
              <a:buNone/>
            </a:pPr>
            <a:r>
              <a:rPr lang="en-US" sz="1300" dirty="0">
                <a:solidFill>
                  <a:schemeClr val="accent5"/>
                </a:solidFill>
              </a:rPr>
              <a:t>pack-project.ts gives the AI the whole app at once</a:t>
            </a:r>
            <a:endParaRPr lang="en-US" sz="1300" dirty="0"/>
          </a:p>
        </p:txBody>
      </p:sp>
      <p:sp>
        <p:nvSpPr>
          <p:cNvPr id="17" name="cmp-2-old"/>
          <p:cNvSpPr/>
          <p:nvPr/>
        </p:nvSpPr>
        <p:spPr>
          <a:xfrm>
            <a:off x="6309360" y="4059936"/>
            <a:ext cx="2596896" cy="1042416"/>
          </a:xfrm>
          <a:prstGeom prst="roundRect">
            <a:avLst>
              <a:gd name="adj" fmla="val 10526"/>
            </a:avLst>
          </a:prstGeom>
          <a:solidFill>
            <a:schemeClr val="bg1"/>
          </a:solidFill>
          <a:ln/>
        </p:spPr>
      </p:sp>
      <p:sp>
        <p:nvSpPr>
          <p:cNvPr id="18" name="cmp-2-oldtext"/>
          <p:cNvSpPr txBox="1"/>
          <p:nvPr/>
        </p:nvSpPr>
        <p:spPr>
          <a:xfrm>
            <a:off x="6473952" y="4151376"/>
            <a:ext cx="2267712" cy="859536"/>
          </a:xfrm>
          <a:prstGeom prst="rect">
            <a:avLst/>
          </a:prstGeom>
          <a:noFill/>
          <a:ln/>
        </p:spPr>
        <p:txBody>
          <a:bodyPr wrap="square" lIns="0" tIns="0" rIns="0" bIns="0" rtlCol="0" anchor="ctr"/>
          <a:lstStyle/>
          <a:p>
            <a:pPr indent="0" marL="0">
              <a:buNone/>
            </a:pPr>
            <a:r>
              <a:rPr lang="en-US" sz="1300" b="1" dirty="0">
                <a:solidFill>
                  <a:schemeClr val="tx2"/>
                </a:solidFill>
              </a:rPr>
              <a:t>Parity check</a:t>
            </a:r>
            <a:endParaRPr lang="en-US" sz="1300" dirty="0"/>
          </a:p>
          <a:p>
            <a:pPr indent="0" marL="0">
              <a:buNone/>
            </a:pPr>
            <a:r>
              <a:rPr lang="en-US" sz="1300" dirty="0">
                <a:solidFill>
                  <a:schemeClr val="tx2"/>
                </a:solidFill>
              </a:rPr>
              <a:t>Manual testing, gaps found late</a:t>
            </a:r>
            <a:endParaRPr lang="en-US" sz="1300" dirty="0"/>
          </a:p>
        </p:txBody>
      </p:sp>
      <p:sp>
        <p:nvSpPr>
          <p:cNvPr id="19" name="cmp-2-new"/>
          <p:cNvSpPr/>
          <p:nvPr/>
        </p:nvSpPr>
        <p:spPr>
          <a:xfrm>
            <a:off x="9043416" y="4059936"/>
            <a:ext cx="2596896" cy="1042416"/>
          </a:xfrm>
          <a:prstGeom prst="roundRect">
            <a:avLst>
              <a:gd name="adj" fmla="val 10526"/>
            </a:avLst>
          </a:prstGeom>
          <a:solidFill>
            <a:schemeClr val="tx1"/>
          </a:solidFill>
          <a:ln/>
        </p:spPr>
      </p:sp>
      <p:sp>
        <p:nvSpPr>
          <p:cNvPr id="20" name="cmp-2-newtext"/>
          <p:cNvSpPr txBox="1"/>
          <p:nvPr/>
        </p:nvSpPr>
        <p:spPr>
          <a:xfrm>
            <a:off x="9208008" y="4151376"/>
            <a:ext cx="2267712" cy="859536"/>
          </a:xfrm>
          <a:prstGeom prst="rect">
            <a:avLst/>
          </a:prstGeom>
          <a:noFill/>
          <a:ln/>
        </p:spPr>
        <p:txBody>
          <a:bodyPr wrap="square" lIns="0" tIns="0" rIns="0" bIns="0" rtlCol="0" anchor="ctr"/>
          <a:lstStyle/>
          <a:p>
            <a:pPr indent="0" marL="0">
              <a:buNone/>
            </a:pPr>
            <a:r>
              <a:rPr lang="en-US" sz="1300" b="1" dirty="0">
                <a:solidFill>
                  <a:schemeClr val="bg1"/>
                </a:solidFill>
              </a:rPr>
              <a:t>Parity check</a:t>
            </a:r>
            <a:endParaRPr lang="en-US" sz="1300" dirty="0"/>
          </a:p>
          <a:p>
            <a:pPr indent="0" marL="0">
              <a:buNone/>
            </a:pPr>
            <a:r>
              <a:rPr lang="en-US" sz="1300" dirty="0">
                <a:solidFill>
                  <a:schemeClr val="accent5"/>
                </a:solidFill>
              </a:rPr>
              <a:t>Every feature checked against the code: 31 gaps found</a:t>
            </a:r>
            <a:endParaRPr lang="en-US" sz="1300" dirty="0"/>
          </a:p>
        </p:txBody>
      </p:sp>
      <p:sp>
        <p:nvSpPr>
          <p:cNvPr id="21" name="cmp-3-old"/>
          <p:cNvSpPr/>
          <p:nvPr/>
        </p:nvSpPr>
        <p:spPr>
          <a:xfrm>
            <a:off x="6309360" y="5230368"/>
            <a:ext cx="2596896" cy="1042416"/>
          </a:xfrm>
          <a:prstGeom prst="roundRect">
            <a:avLst>
              <a:gd name="adj" fmla="val 10526"/>
            </a:avLst>
          </a:prstGeom>
          <a:solidFill>
            <a:schemeClr val="bg1"/>
          </a:solidFill>
          <a:ln/>
        </p:spPr>
      </p:sp>
      <p:sp>
        <p:nvSpPr>
          <p:cNvPr id="22" name="cmp-3-oldtext"/>
          <p:cNvSpPr txBox="1"/>
          <p:nvPr/>
        </p:nvSpPr>
        <p:spPr>
          <a:xfrm>
            <a:off x="6473952" y="5321808"/>
            <a:ext cx="2267712" cy="859536"/>
          </a:xfrm>
          <a:prstGeom prst="rect">
            <a:avLst/>
          </a:prstGeom>
          <a:noFill/>
          <a:ln/>
        </p:spPr>
        <p:txBody>
          <a:bodyPr wrap="square" lIns="0" tIns="0" rIns="0" bIns="0" rtlCol="0" anchor="ctr"/>
          <a:lstStyle/>
          <a:p>
            <a:pPr indent="0" marL="0">
              <a:buNone/>
            </a:pPr>
            <a:r>
              <a:rPr lang="en-US" sz="1300" b="1" dirty="0">
                <a:solidFill>
                  <a:schemeClr val="tx2"/>
                </a:solidFill>
              </a:rPr>
              <a:t>Documentation</a:t>
            </a:r>
            <a:endParaRPr lang="en-US" sz="1300" dirty="0"/>
          </a:p>
          <a:p>
            <a:pPr indent="0" marL="0">
              <a:buNone/>
            </a:pPr>
            <a:r>
              <a:rPr lang="en-US" sz="1300" dirty="0">
                <a:solidFill>
                  <a:schemeClr val="tx2"/>
                </a:solidFill>
              </a:rPr>
              <a:t>Written afterwards, if at all</a:t>
            </a:r>
            <a:endParaRPr lang="en-US" sz="1300" dirty="0"/>
          </a:p>
        </p:txBody>
      </p:sp>
      <p:sp>
        <p:nvSpPr>
          <p:cNvPr id="23" name="cmp-3-new"/>
          <p:cNvSpPr/>
          <p:nvPr/>
        </p:nvSpPr>
        <p:spPr>
          <a:xfrm>
            <a:off x="9043416" y="5230368"/>
            <a:ext cx="2596896" cy="1042416"/>
          </a:xfrm>
          <a:prstGeom prst="roundRect">
            <a:avLst>
              <a:gd name="adj" fmla="val 10526"/>
            </a:avLst>
          </a:prstGeom>
          <a:solidFill>
            <a:schemeClr val="tx1"/>
          </a:solidFill>
          <a:ln/>
        </p:spPr>
      </p:sp>
      <p:sp>
        <p:nvSpPr>
          <p:cNvPr id="24" name="cmp-3-newtext"/>
          <p:cNvSpPr txBox="1"/>
          <p:nvPr/>
        </p:nvSpPr>
        <p:spPr>
          <a:xfrm>
            <a:off x="9208008" y="5321808"/>
            <a:ext cx="2267712" cy="859536"/>
          </a:xfrm>
          <a:prstGeom prst="rect">
            <a:avLst/>
          </a:prstGeom>
          <a:noFill/>
          <a:ln/>
        </p:spPr>
        <p:txBody>
          <a:bodyPr wrap="square" lIns="0" tIns="0" rIns="0" bIns="0" rtlCol="0" anchor="ctr"/>
          <a:lstStyle/>
          <a:p>
            <a:pPr indent="0" marL="0">
              <a:buNone/>
            </a:pPr>
            <a:r>
              <a:rPr lang="en-US" sz="1300" b="1" dirty="0">
                <a:solidFill>
                  <a:schemeClr val="bg1"/>
                </a:solidFill>
              </a:rPr>
              <a:t>Documentation</a:t>
            </a:r>
            <a:endParaRPr lang="en-US" sz="1300" dirty="0"/>
          </a:p>
          <a:p>
            <a:pPr indent="0" marL="0">
              <a:buNone/>
            </a:pPr>
            <a:r>
              <a:rPr lang="en-US" sz="1300" dirty="0">
                <a:solidFill>
                  <a:schemeClr val="accent5"/>
                </a:solidFill>
              </a:rPr>
              <a:t>8 architecture and lifecycle diagrams made alongside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9"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childTnLst>
                          </p:cTn>
                        </p:par>
                        <p:par>
                          <p:cTn id="22" fill="hold">
                            <p:stCondLst>
                              <p:cond delay="600"/>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6" presetID="22" presetClass="entr" presetSubtype="8" fill="hold" grpId="0" nodeType="withEffect">
                                  <p:stCondLst>
                                    <p:cond delay="30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450"/>
                                        <p:tgtEl>
                                          <p:spTgt spid="11"/>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450"/>
                                        <p:tgtEl>
                                          <p:spTgt spid="12"/>
                                        </p:tgtEl>
                                      </p:cBhvr>
                                    </p:animEffect>
                                  </p:childTnLst>
                                </p:cTn>
                              </p:par>
                            </p:childTnLst>
                          </p:cTn>
                        </p:par>
                        <p:par>
                          <p:cTn id="35" fill="hold">
                            <p:stCondLst>
                              <p:cond delay="120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par>
                                <p:cTn id="29" presetID="22" presetClass="entr" presetSubtype="8" fill="hold" grpId="0" nodeType="withEffect">
                                  <p:stCondLst>
                                    <p:cond delay="30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450"/>
                                        <p:tgtEl>
                                          <p:spTgt spid="15"/>
                                        </p:tgtEl>
                                      </p:cBhvr>
                                    </p:animEffect>
                                  </p:childTnLst>
                                </p:cTn>
                              </p:par>
                              <p:par>
                                <p:cTn id="32" presetID="22" presetClass="entr" presetSubtype="8" fill="hold" grpId="0" nodeType="withEffect">
                                  <p:stCondLst>
                                    <p:cond delay="30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450"/>
                                        <p:tgtEl>
                                          <p:spTgt spid="16"/>
                                        </p:tgtEl>
                                      </p:cBhvr>
                                    </p:animEffect>
                                  </p:childTnLst>
                                </p:cTn>
                              </p:par>
                            </p:childTnLst>
                          </p:cTn>
                        </p:par>
                        <p:par>
                          <p:cTn id="48" fill="hold">
                            <p:stCondLst>
                              <p:cond delay="1800"/>
                            </p:stCondLst>
                            <p:childTnLst>
                              <p:par>
                                <p:cTn id="36" presetID="10" presetClass="entr" presetSubtype="0"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22" presetClass="entr" presetSubtype="8" fill="hold" grpId="0" nodeType="withEffect">
                                  <p:stCondLst>
                                    <p:cond delay="30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450"/>
                                        <p:tgtEl>
                                          <p:spTgt spid="19"/>
                                        </p:tgtEl>
                                      </p:cBhvr>
                                    </p:animEffect>
                                  </p:childTnLst>
                                </p:cTn>
                              </p:par>
                              <p:par>
                                <p:cTn id="45" presetID="22" presetClass="entr" presetSubtype="8" fill="hold" grpId="0" nodeType="withEffect">
                                  <p:stCondLst>
                                    <p:cond delay="30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450"/>
                                        <p:tgtEl>
                                          <p:spTgt spid="20"/>
                                        </p:tgtEl>
                                      </p:cBhvr>
                                    </p:animEffect>
                                  </p:childTnLst>
                                </p:cTn>
                              </p:par>
                            </p:childTnLst>
                          </p:cTn>
                        </p:par>
                        <p:par>
                          <p:cTn id="61" fill="hold">
                            <p:stCondLst>
                              <p:cond delay="2400"/>
                            </p:stCondLst>
                            <p:childTnLst>
                              <p:par>
                                <p:cTn id="49" presetID="10" presetClass="entr" presetSubtype="0"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5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50"/>
                                        <p:tgtEl>
                                          <p:spTgt spid="22"/>
                                        </p:tgtEl>
                                      </p:cBhvr>
                                    </p:animEffect>
                                  </p:childTnLst>
                                </p:cTn>
                              </p:par>
                              <p:par>
                                <p:cTn id="55" presetID="22" presetClass="entr" presetSubtype="8" fill="hold" grpId="0" nodeType="withEffect">
                                  <p:stCondLst>
                                    <p:cond delay="30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450"/>
                                        <p:tgtEl>
                                          <p:spTgt spid="23"/>
                                        </p:tgtEl>
                                      </p:cBhvr>
                                    </p:animEffect>
                                  </p:childTnLst>
                                </p:cTn>
                              </p:par>
                              <p:par>
                                <p:cTn id="58" presetID="22" presetClass="entr" presetSubtype="8" fill="hold" grpId="0" nodeType="withEffect">
                                  <p:stCondLst>
                                    <p:cond delay="300"/>
                                  </p:stCondLst>
                                  <p:childTnLst>
                                    <p:set>
                                      <p:cBhvr>
                                        <p:cTn id="59" dur="1" fill="hold">
                                          <p:stCondLst>
                                            <p:cond delay="0"/>
                                          </p:stCondLst>
                                        </p:cTn>
                                        <p:tgtEl>
                                          <p:spTgt spid="24"/>
                                        </p:tgtEl>
                                        <p:attrNameLst>
                                          <p:attrName>style.visibility</p:attrName>
                                        </p:attrNameLst>
                                      </p:cBhvr>
                                      <p:to>
                                        <p:strVal val="visible"/>
                                      </p:to>
                                    </p:set>
                                    <p:animEffect transition="in" filter="wipe(left)">
                                      <p:cBhvr>
                                        <p:cTn id="60" dur="450"/>
                                        <p:tgtEl>
                                          <p:spTgt spid="24"/>
                                        </p:tgtEl>
                                      </p:cBhvr>
                                    </p:animEffect>
                                  </p:childTnLst>
                                </p:cTn>
                              </p:par>
                            </p:childTnLst>
                          </p:cTn>
                        </p:par>
                        <p:par>
                          <p:cTn id="68" fill="hold">
                            <p:stCondLst>
                              <p:cond delay="3000"/>
                            </p:stCondLst>
                            <p:childTnLst>
                              <p:par>
                                <p:cTn id="62" presetID="10" presetClass="entr" presetSubtype="0" fill="hold" grpId="0" nodeType="after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450"/>
                                        <p:tgtEl>
                                          <p:spTgt spid="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fade">
                                      <p:cBhvr>
                                        <p:cTn id="6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THE PROOF · IMPACT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Same features, one PI, two developers</a:t>
            </a:r>
            <a:endParaRPr lang="en-US" sz="3600" dirty="0"/>
          </a:p>
        </p:txBody>
      </p:sp>
      <p:sp>
        <p:nvSpPr>
          <p:cNvPr id="4" name="fact-0-card"/>
          <p:cNvSpPr/>
          <p:nvPr/>
        </p:nvSpPr>
        <p:spPr>
          <a:xfrm>
            <a:off x="548640" y="1371600"/>
            <a:ext cx="2225040" cy="1481328"/>
          </a:xfrm>
          <a:prstGeom prst="roundRect">
            <a:avLst>
              <a:gd name="adj" fmla="val 7407"/>
            </a:avLst>
          </a:prstGeom>
          <a:solidFill>
            <a:schemeClr val="bg2"/>
          </a:solidFill>
          <a:ln/>
        </p:spPr>
      </p:sp>
      <p:sp>
        <p:nvSpPr>
          <p:cNvPr id="5" name="fact-0-value"/>
          <p:cNvSpPr txBox="1"/>
          <p:nvPr/>
        </p:nvSpPr>
        <p:spPr>
          <a:xfrm>
            <a:off x="749808" y="1508760"/>
            <a:ext cx="1822704" cy="640080"/>
          </a:xfrm>
          <a:prstGeom prst="rect">
            <a:avLst/>
          </a:prstGeom>
          <a:noFill/>
          <a:ln/>
        </p:spPr>
        <p:txBody>
          <a:bodyPr wrap="square" lIns="0" tIns="0" rIns="0" bIns="0" rtlCol="0" anchor="t"/>
          <a:lstStyle/>
          <a:p>
            <a:pPr indent="0" marL="0">
              <a:buNone/>
            </a:pPr>
            <a:r>
              <a:rPr lang="en-US" sz="3600" b="1" dirty="0">
                <a:solidFill>
                  <a:schemeClr val="tx1"/>
                </a:solidFill>
              </a:rPr>
              <a:t>1 PI</a:t>
            </a:r>
            <a:endParaRPr lang="en-US" sz="3600" dirty="0"/>
          </a:p>
        </p:txBody>
      </p:sp>
      <p:sp>
        <p:nvSpPr>
          <p:cNvPr id="6" name="fact-0-label"/>
          <p:cNvSpPr txBox="1"/>
          <p:nvPr/>
        </p:nvSpPr>
        <p:spPr>
          <a:xfrm>
            <a:off x="749808" y="2176272"/>
            <a:ext cx="1822704" cy="594360"/>
          </a:xfrm>
          <a:prstGeom prst="rect">
            <a:avLst/>
          </a:prstGeom>
          <a:noFill/>
          <a:ln/>
        </p:spPr>
        <p:txBody>
          <a:bodyPr wrap="square" lIns="0" tIns="0" rIns="0" bIns="0" rtlCol="0" anchor="t"/>
          <a:lstStyle/>
          <a:p>
            <a:pPr indent="0" marL="0">
              <a:buNone/>
            </a:pPr>
            <a:r>
              <a:rPr lang="en-US" sz="1300" dirty="0">
                <a:solidFill>
                  <a:schemeClr val="tx2"/>
                </a:solidFill>
              </a:rPr>
              <a:t>for the whole migration</a:t>
            </a:r>
            <a:endParaRPr lang="en-US" sz="1300" dirty="0"/>
          </a:p>
        </p:txBody>
      </p:sp>
      <p:sp>
        <p:nvSpPr>
          <p:cNvPr id="7" name="fact-1-card"/>
          <p:cNvSpPr/>
          <p:nvPr/>
        </p:nvSpPr>
        <p:spPr>
          <a:xfrm>
            <a:off x="3048000" y="1371600"/>
            <a:ext cx="2225040" cy="1481328"/>
          </a:xfrm>
          <a:prstGeom prst="roundRect">
            <a:avLst>
              <a:gd name="adj" fmla="val 7407"/>
            </a:avLst>
          </a:prstGeom>
          <a:solidFill>
            <a:schemeClr val="bg2"/>
          </a:solidFill>
          <a:ln/>
        </p:spPr>
      </p:sp>
      <p:sp>
        <p:nvSpPr>
          <p:cNvPr id="8" name="fact-1-value"/>
          <p:cNvSpPr txBox="1"/>
          <p:nvPr/>
        </p:nvSpPr>
        <p:spPr>
          <a:xfrm>
            <a:off x="3249168" y="1508760"/>
            <a:ext cx="1822704" cy="640080"/>
          </a:xfrm>
          <a:prstGeom prst="rect">
            <a:avLst/>
          </a:prstGeom>
          <a:noFill/>
          <a:ln/>
        </p:spPr>
        <p:txBody>
          <a:bodyPr wrap="square" lIns="0" tIns="0" rIns="0" bIns="0" rtlCol="0" anchor="t"/>
          <a:lstStyle/>
          <a:p>
            <a:pPr indent="0" marL="0">
              <a:buNone/>
            </a:pPr>
            <a:r>
              <a:rPr lang="en-US" sz="3600" b="1" dirty="0">
                <a:solidFill>
                  <a:schemeClr val="tx1"/>
                </a:solidFill>
              </a:rPr>
              <a:t>2</a:t>
            </a:r>
            <a:endParaRPr lang="en-US" sz="3600" dirty="0"/>
          </a:p>
        </p:txBody>
      </p:sp>
      <p:sp>
        <p:nvSpPr>
          <p:cNvPr id="9" name="fact-1-label"/>
          <p:cNvSpPr txBox="1"/>
          <p:nvPr/>
        </p:nvSpPr>
        <p:spPr>
          <a:xfrm>
            <a:off x="3249168" y="2176272"/>
            <a:ext cx="1822704" cy="594360"/>
          </a:xfrm>
          <a:prstGeom prst="rect">
            <a:avLst/>
          </a:prstGeom>
          <a:noFill/>
          <a:ln/>
        </p:spPr>
        <p:txBody>
          <a:bodyPr wrap="square" lIns="0" tIns="0" rIns="0" bIns="0" rtlCol="0" anchor="t"/>
          <a:lstStyle/>
          <a:p>
            <a:pPr indent="0" marL="0">
              <a:buNone/>
            </a:pPr>
            <a:r>
              <a:rPr lang="en-US" sz="1300" dirty="0">
                <a:solidFill>
                  <a:schemeClr val="tx2"/>
                </a:solidFill>
              </a:rPr>
              <a:t>developers</a:t>
            </a:r>
            <a:endParaRPr lang="en-US" sz="1300" dirty="0"/>
          </a:p>
        </p:txBody>
      </p:sp>
      <p:sp>
        <p:nvSpPr>
          <p:cNvPr id="10" name="fact-2-card"/>
          <p:cNvSpPr/>
          <p:nvPr/>
        </p:nvSpPr>
        <p:spPr>
          <a:xfrm>
            <a:off x="5547360" y="1371600"/>
            <a:ext cx="2225040" cy="1481328"/>
          </a:xfrm>
          <a:prstGeom prst="roundRect">
            <a:avLst>
              <a:gd name="adj" fmla="val 7407"/>
            </a:avLst>
          </a:prstGeom>
          <a:solidFill>
            <a:schemeClr val="bg2"/>
          </a:solidFill>
          <a:ln/>
        </p:spPr>
      </p:sp>
      <p:sp>
        <p:nvSpPr>
          <p:cNvPr id="11" name="fact-2-value"/>
          <p:cNvSpPr txBox="1"/>
          <p:nvPr/>
        </p:nvSpPr>
        <p:spPr>
          <a:xfrm>
            <a:off x="5748528" y="1508760"/>
            <a:ext cx="1822704" cy="640080"/>
          </a:xfrm>
          <a:prstGeom prst="rect">
            <a:avLst/>
          </a:prstGeom>
          <a:noFill/>
          <a:ln/>
        </p:spPr>
        <p:txBody>
          <a:bodyPr wrap="square" lIns="0" tIns="0" rIns="0" bIns="0" rtlCol="0" anchor="t"/>
          <a:lstStyle/>
          <a:p>
            <a:pPr indent="0" marL="0">
              <a:buNone/>
            </a:pPr>
            <a:r>
              <a:rPr lang="en-US" sz="3600" b="1" dirty="0">
                <a:solidFill>
                  <a:schemeClr val="tx1"/>
                </a:solidFill>
              </a:rPr>
              <a:t>105</a:t>
            </a:r>
            <a:endParaRPr lang="en-US" sz="3600" dirty="0"/>
          </a:p>
        </p:txBody>
      </p:sp>
      <p:sp>
        <p:nvSpPr>
          <p:cNvPr id="12" name="fact-2-label"/>
          <p:cNvSpPr txBox="1"/>
          <p:nvPr/>
        </p:nvSpPr>
        <p:spPr>
          <a:xfrm>
            <a:off x="5748528" y="2176272"/>
            <a:ext cx="1822704" cy="594360"/>
          </a:xfrm>
          <a:prstGeom prst="rect">
            <a:avLst/>
          </a:prstGeom>
          <a:noFill/>
          <a:ln/>
        </p:spPr>
        <p:txBody>
          <a:bodyPr wrap="square" lIns="0" tIns="0" rIns="0" bIns="0" rtlCol="0" anchor="t"/>
          <a:lstStyle/>
          <a:p>
            <a:pPr indent="0" marL="0">
              <a:buNone/>
            </a:pPr>
            <a:r>
              <a:rPr lang="en-US" sz="1300" dirty="0">
                <a:solidFill>
                  <a:schemeClr val="tx2"/>
                </a:solidFill>
              </a:rPr>
              <a:t>features carried over and checked</a:t>
            </a:r>
            <a:endParaRPr lang="en-US" sz="1300" dirty="0"/>
          </a:p>
        </p:txBody>
      </p:sp>
      <p:sp>
        <p:nvSpPr>
          <p:cNvPr id="13" name="fact-3-card"/>
          <p:cNvSpPr/>
          <p:nvPr/>
        </p:nvSpPr>
        <p:spPr>
          <a:xfrm>
            <a:off x="548640" y="3081528"/>
            <a:ext cx="2225040" cy="1481328"/>
          </a:xfrm>
          <a:prstGeom prst="roundRect">
            <a:avLst>
              <a:gd name="adj" fmla="val 7407"/>
            </a:avLst>
          </a:prstGeom>
          <a:solidFill>
            <a:schemeClr val="bg2"/>
          </a:solidFill>
          <a:ln/>
        </p:spPr>
      </p:sp>
      <p:sp>
        <p:nvSpPr>
          <p:cNvPr id="14" name="fact-3-value"/>
          <p:cNvSpPr txBox="1"/>
          <p:nvPr/>
        </p:nvSpPr>
        <p:spPr>
          <a:xfrm>
            <a:off x="749808" y="3218688"/>
            <a:ext cx="1822704" cy="640080"/>
          </a:xfrm>
          <a:prstGeom prst="rect">
            <a:avLst/>
          </a:prstGeom>
          <a:noFill/>
          <a:ln/>
        </p:spPr>
        <p:txBody>
          <a:bodyPr wrap="square" lIns="0" tIns="0" rIns="0" bIns="0" rtlCol="0" anchor="t"/>
          <a:lstStyle/>
          <a:p>
            <a:pPr indent="0" marL="0">
              <a:buNone/>
            </a:pPr>
            <a:r>
              <a:rPr lang="en-US" sz="3600" b="1" dirty="0">
                <a:solidFill>
                  <a:schemeClr val="tx1"/>
                </a:solidFill>
              </a:rPr>
              <a:t>31</a:t>
            </a:r>
            <a:endParaRPr lang="en-US" sz="3600" dirty="0"/>
          </a:p>
        </p:txBody>
      </p:sp>
      <p:sp>
        <p:nvSpPr>
          <p:cNvPr id="15" name="fact-3-label"/>
          <p:cNvSpPr txBox="1"/>
          <p:nvPr/>
        </p:nvSpPr>
        <p:spPr>
          <a:xfrm>
            <a:off x="749808" y="3886200"/>
            <a:ext cx="1822704" cy="594360"/>
          </a:xfrm>
          <a:prstGeom prst="rect">
            <a:avLst/>
          </a:prstGeom>
          <a:noFill/>
          <a:ln/>
        </p:spPr>
        <p:txBody>
          <a:bodyPr wrap="square" lIns="0" tIns="0" rIns="0" bIns="0" rtlCol="0" anchor="t"/>
          <a:lstStyle/>
          <a:p>
            <a:pPr indent="0" marL="0">
              <a:buNone/>
            </a:pPr>
            <a:r>
              <a:rPr lang="en-US" sz="1300" dirty="0">
                <a:solidFill>
                  <a:schemeClr val="tx2"/>
                </a:solidFill>
              </a:rPr>
              <a:t>gaps found and prioritised by AI review</a:t>
            </a:r>
            <a:endParaRPr lang="en-US" sz="1300" dirty="0"/>
          </a:p>
        </p:txBody>
      </p:sp>
      <p:sp>
        <p:nvSpPr>
          <p:cNvPr id="16" name="fact-4-card"/>
          <p:cNvSpPr/>
          <p:nvPr/>
        </p:nvSpPr>
        <p:spPr>
          <a:xfrm>
            <a:off x="3048000" y="3081528"/>
            <a:ext cx="2225040" cy="1481328"/>
          </a:xfrm>
          <a:prstGeom prst="roundRect">
            <a:avLst>
              <a:gd name="adj" fmla="val 7407"/>
            </a:avLst>
          </a:prstGeom>
          <a:solidFill>
            <a:schemeClr val="bg2"/>
          </a:solidFill>
          <a:ln/>
        </p:spPr>
      </p:sp>
      <p:sp>
        <p:nvSpPr>
          <p:cNvPr id="17" name="fact-4-value"/>
          <p:cNvSpPr txBox="1"/>
          <p:nvPr/>
        </p:nvSpPr>
        <p:spPr>
          <a:xfrm>
            <a:off x="3249168" y="3218688"/>
            <a:ext cx="1822704" cy="640080"/>
          </a:xfrm>
          <a:prstGeom prst="rect">
            <a:avLst/>
          </a:prstGeom>
          <a:noFill/>
          <a:ln/>
        </p:spPr>
        <p:txBody>
          <a:bodyPr wrap="square" lIns="0" tIns="0" rIns="0" bIns="0" rtlCol="0" anchor="t"/>
          <a:lstStyle/>
          <a:p>
            <a:pPr indent="0" marL="0">
              <a:buNone/>
            </a:pPr>
            <a:r>
              <a:rPr lang="en-US" sz="3600" b="1" dirty="0">
                <a:solidFill>
                  <a:schemeClr val="accent3"/>
                </a:solidFill>
              </a:rPr>
              <a:t>7</a:t>
            </a:r>
            <a:endParaRPr lang="en-US" sz="3600" dirty="0"/>
          </a:p>
        </p:txBody>
      </p:sp>
      <p:sp>
        <p:nvSpPr>
          <p:cNvPr id="18" name="fact-4-label"/>
          <p:cNvSpPr txBox="1"/>
          <p:nvPr/>
        </p:nvSpPr>
        <p:spPr>
          <a:xfrm>
            <a:off x="3249168" y="3886200"/>
            <a:ext cx="1822704" cy="594360"/>
          </a:xfrm>
          <a:prstGeom prst="rect">
            <a:avLst/>
          </a:prstGeom>
          <a:noFill/>
          <a:ln/>
        </p:spPr>
        <p:txBody>
          <a:bodyPr wrap="square" lIns="0" tIns="0" rIns="0" bIns="0" rtlCol="0" anchor="t"/>
          <a:lstStyle/>
          <a:p>
            <a:pPr indent="0" marL="0">
              <a:buNone/>
            </a:pPr>
            <a:r>
              <a:rPr lang="en-US" sz="1300" dirty="0">
                <a:solidFill>
                  <a:schemeClr val="tx2"/>
                </a:solidFill>
              </a:rPr>
              <a:t>security and data-integrity issues caught in review</a:t>
            </a:r>
            <a:endParaRPr lang="en-US" sz="1300" dirty="0"/>
          </a:p>
        </p:txBody>
      </p:sp>
      <p:sp>
        <p:nvSpPr>
          <p:cNvPr id="19" name="fact-5-card"/>
          <p:cNvSpPr/>
          <p:nvPr/>
        </p:nvSpPr>
        <p:spPr>
          <a:xfrm>
            <a:off x="5547360" y="3081528"/>
            <a:ext cx="2225040" cy="1481328"/>
          </a:xfrm>
          <a:prstGeom prst="roundRect">
            <a:avLst>
              <a:gd name="adj" fmla="val 7407"/>
            </a:avLst>
          </a:prstGeom>
          <a:solidFill>
            <a:schemeClr val="bg2"/>
          </a:solidFill>
          <a:ln/>
        </p:spPr>
      </p:sp>
      <p:sp>
        <p:nvSpPr>
          <p:cNvPr id="20" name="fact-5-value"/>
          <p:cNvSpPr txBox="1"/>
          <p:nvPr/>
        </p:nvSpPr>
        <p:spPr>
          <a:xfrm>
            <a:off x="5748528" y="3218688"/>
            <a:ext cx="1822704" cy="640080"/>
          </a:xfrm>
          <a:prstGeom prst="rect">
            <a:avLst/>
          </a:prstGeom>
          <a:noFill/>
          <a:ln/>
        </p:spPr>
        <p:txBody>
          <a:bodyPr wrap="square" lIns="0" tIns="0" rIns="0" bIns="0" rtlCol="0" anchor="t"/>
          <a:lstStyle/>
          <a:p>
            <a:pPr indent="0" marL="0">
              <a:buNone/>
            </a:pPr>
            <a:r>
              <a:rPr lang="en-US" sz="3600" b="1" dirty="0">
                <a:solidFill>
                  <a:schemeClr val="tx1"/>
                </a:solidFill>
              </a:rPr>
              <a:t>0 → 10</a:t>
            </a:r>
            <a:endParaRPr lang="en-US" sz="3600" dirty="0"/>
          </a:p>
        </p:txBody>
      </p:sp>
      <p:sp>
        <p:nvSpPr>
          <p:cNvPr id="21" name="fact-5-label"/>
          <p:cNvSpPr txBox="1"/>
          <p:nvPr/>
        </p:nvSpPr>
        <p:spPr>
          <a:xfrm>
            <a:off x="5748528" y="3886200"/>
            <a:ext cx="1822704" cy="594360"/>
          </a:xfrm>
          <a:prstGeom prst="rect">
            <a:avLst/>
          </a:prstGeom>
          <a:noFill/>
          <a:ln/>
        </p:spPr>
        <p:txBody>
          <a:bodyPr wrap="square" lIns="0" tIns="0" rIns="0" bIns="0" rtlCol="0" anchor="t"/>
          <a:lstStyle/>
          <a:p>
            <a:pPr indent="0" marL="0">
              <a:buNone/>
            </a:pPr>
            <a:r>
              <a:rPr lang="en-US" sz="1300" dirty="0">
                <a:solidFill>
                  <a:schemeClr val="tx2"/>
                </a:solidFill>
              </a:rPr>
              <a:t>documents: 8 diagrams and 2 guides</a:t>
            </a:r>
            <a:endParaRPr lang="en-US" sz="1300" dirty="0"/>
          </a:p>
        </p:txBody>
      </p:sp>
      <p:sp>
        <p:nvSpPr>
          <p:cNvPr id="22" name="effort-card"/>
          <p:cNvSpPr/>
          <p:nvPr/>
        </p:nvSpPr>
        <p:spPr>
          <a:xfrm>
            <a:off x="8046720" y="1371600"/>
            <a:ext cx="3593592" cy="3191256"/>
          </a:xfrm>
          <a:prstGeom prst="roundRect">
            <a:avLst>
              <a:gd name="adj" fmla="val 3438"/>
            </a:avLst>
          </a:prstGeom>
          <a:solidFill>
            <a:schemeClr val="tx1"/>
          </a:solidFill>
          <a:ln/>
        </p:spPr>
      </p:sp>
      <p:sp>
        <p:nvSpPr>
          <p:cNvPr id="23" name="effort-text"/>
          <p:cNvSpPr txBox="1"/>
          <p:nvPr/>
        </p:nvSpPr>
        <p:spPr>
          <a:xfrm>
            <a:off x="8275320" y="1554480"/>
            <a:ext cx="3136392" cy="2834640"/>
          </a:xfrm>
          <a:prstGeom prst="rect">
            <a:avLst/>
          </a:prstGeom>
          <a:noFill/>
          <a:ln/>
        </p:spPr>
        <p:txBody>
          <a:bodyPr wrap="square" lIns="0" tIns="0" rIns="0" bIns="0" rtlCol="0" anchor="t"/>
          <a:lstStyle/>
          <a:p>
            <a:pPr indent="0" marL="0">
              <a:buNone/>
            </a:pPr>
            <a:r>
              <a:rPr lang="en-US" sz="4800" b="1" dirty="0">
                <a:solidFill>
                  <a:schemeClr val="accent5"/>
                </a:solidFill>
              </a:rPr>
              <a:t>~$80K</a:t>
            </a:r>
            <a:endParaRPr lang="en-US" sz="4800" dirty="0"/>
          </a:p>
          <a:p>
            <a:pPr indent="0" marL="0">
              <a:buNone/>
            </a:pPr>
            <a:r>
              <a:rPr lang="en-US" sz="1600" b="1" dirty="0">
                <a:solidFill>
                  <a:schemeClr val="bg1"/>
                </a:solidFill>
              </a:rPr>
              <a:t>saved: about 76% less effort than a manual migration</a:t>
            </a:r>
            <a:endParaRPr lang="en-US" sz="4800" dirty="0"/>
          </a:p>
          <a:p>
            <a:pPr indent="0" marL="0">
              <a:buNone/>
            </a:pPr>
            <a:r>
              <a:rPr lang="en-US" sz="800" dirty="0">
                <a:solidFill>
                  <a:srgbClr val="000000"/>
                </a:solidFill>
              </a:rPr>
              <a:t> </a:t>
            </a:r>
            <a:endParaRPr lang="en-US" sz="4800" dirty="0"/>
          </a:p>
          <a:p>
            <a:pPr indent="0" marL="0">
              <a:buNone/>
            </a:pPr>
            <a:r>
              <a:rPr lang="en-US" sz="1300" dirty="0">
                <a:solidFill>
                  <a:schemeClr val="accent5"/>
                </a:solidFill>
              </a:rPr>
              <a:t>4 sprints (≈ $25K) actual vs ~17 sprints (≈ $105K) estimated for 2 developers</a:t>
            </a:r>
            <a:endParaRPr lang="en-US" sz="4800" dirty="0"/>
          </a:p>
          <a:p>
            <a:pPr indent="0" marL="0">
              <a:buNone/>
            </a:pPr>
            <a:r>
              <a:rPr lang="en-US" sz="1100" i="1" dirty="0">
                <a:solidFill>
                  <a:schemeClr val="accent5"/>
                </a:solidFill>
              </a:rPr>
              <a:t>Generic estimate: 105 features × 3 days + 25 days docs ≈ 340 person-days, at $38.50/h</a:t>
            </a:r>
            <a:endParaRPr lang="en-US" sz="4800" dirty="0"/>
          </a:p>
        </p:txBody>
      </p:sp>
      <p:sp>
        <p:nvSpPr>
          <p:cNvPr id="24" name="golive-card"/>
          <p:cNvSpPr/>
          <p:nvPr/>
        </p:nvSpPr>
        <p:spPr>
          <a:xfrm>
            <a:off x="548640" y="4800600"/>
            <a:ext cx="11094415" cy="1554480"/>
          </a:xfrm>
          <a:prstGeom prst="roundRect">
            <a:avLst>
              <a:gd name="adj" fmla="val 7059"/>
            </a:avLst>
          </a:prstGeom>
          <a:solidFill>
            <a:schemeClr val="bg1"/>
          </a:solidFill>
          <a:ln w="12700">
            <a:solidFill>
              <a:srgbClr val="DCE3EE"/>
            </a:solidFill>
            <a:prstDash val="solid"/>
          </a:ln>
        </p:spPr>
      </p:sp>
      <p:sp>
        <p:nvSpPr>
          <p:cNvPr id="25" name="golive-title"/>
          <p:cNvSpPr txBox="1"/>
          <p:nvPr/>
        </p:nvSpPr>
        <p:spPr>
          <a:xfrm>
            <a:off x="822960" y="4937760"/>
            <a:ext cx="731520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READY FOR GO-LIVE · [planned date]</a:t>
            </a:r>
            <a:endParaRPr lang="en-US" sz="1100" dirty="0"/>
          </a:p>
        </p:txBody>
      </p:sp>
      <p:sp>
        <p:nvSpPr>
          <p:cNvPr id="26" name="golive-0"/>
          <p:cNvSpPr txBox="1"/>
          <p:nvPr/>
        </p:nvSpPr>
        <p:spPr>
          <a:xfrm>
            <a:off x="822960" y="5257800"/>
            <a:ext cx="3383280" cy="960120"/>
          </a:xfrm>
          <a:prstGeom prst="rect">
            <a:avLst/>
          </a:prstGeom>
          <a:noFill/>
          <a:ln/>
        </p:spPr>
        <p:txBody>
          <a:bodyPr wrap="square" lIns="0" tIns="0" rIns="0" bIns="0" rtlCol="0" anchor="t"/>
          <a:lstStyle/>
          <a:p>
            <a:pPr indent="0" marL="0">
              <a:buNone/>
            </a:pPr>
            <a:r>
              <a:rPr lang="en-US" sz="1600" b="1" dirty="0">
                <a:solidFill>
                  <a:schemeClr val="tx1"/>
                </a:solidFill>
              </a:rPr>
              <a:t>Ready now</a:t>
            </a:r>
            <a:endParaRPr lang="en-US" sz="1600" dirty="0"/>
          </a:p>
          <a:p>
            <a:pPr indent="0" marL="0">
              <a:buNone/>
            </a:pPr>
            <a:r>
              <a:rPr lang="en-US" sz="1300" dirty="0">
                <a:solidFill>
                  <a:schemeClr val="tx2"/>
                </a:solidFill>
              </a:rPr>
              <a:t>All 105 features checked against the code; backend sharing fix deployed</a:t>
            </a:r>
            <a:endParaRPr lang="en-US" sz="1600" dirty="0"/>
          </a:p>
        </p:txBody>
      </p:sp>
      <p:sp>
        <p:nvSpPr>
          <p:cNvPr id="27" name="golive-1"/>
          <p:cNvSpPr txBox="1"/>
          <p:nvPr/>
        </p:nvSpPr>
        <p:spPr>
          <a:xfrm>
            <a:off x="4480560" y="5257800"/>
            <a:ext cx="3383280" cy="960120"/>
          </a:xfrm>
          <a:prstGeom prst="rect">
            <a:avLst/>
          </a:prstGeom>
          <a:noFill/>
          <a:ln/>
        </p:spPr>
        <p:txBody>
          <a:bodyPr wrap="square" lIns="0" tIns="0" rIns="0" bIns="0" rtlCol="0" anchor="t"/>
          <a:lstStyle/>
          <a:p>
            <a:pPr indent="0" marL="0">
              <a:buNone/>
            </a:pPr>
            <a:r>
              <a:rPr lang="en-US" sz="1600" b="1" dirty="0">
                <a:solidFill>
                  <a:schemeClr val="tx1"/>
                </a:solidFill>
              </a:rPr>
              <a:t>Next</a:t>
            </a:r>
            <a:endParaRPr lang="en-US" sz="1600" dirty="0"/>
          </a:p>
          <a:p>
            <a:pPr indent="0" marL="0">
              <a:buNone/>
            </a:pPr>
            <a:r>
              <a:rPr lang="en-US" sz="1300" dirty="0">
                <a:solidFill>
                  <a:schemeClr val="tx2"/>
                </a:solidFill>
              </a:rPr>
              <a:t>Go-live to 892 users across 6 countries, then retire the Slate app</a:t>
            </a:r>
            <a:endParaRPr lang="en-US" sz="1600" dirty="0"/>
          </a:p>
        </p:txBody>
      </p:sp>
      <p:sp>
        <p:nvSpPr>
          <p:cNvPr id="28" name="golive-2"/>
          <p:cNvSpPr txBox="1"/>
          <p:nvPr/>
        </p:nvSpPr>
        <p:spPr>
          <a:xfrm>
            <a:off x="8138160" y="5257800"/>
            <a:ext cx="3383280" cy="960120"/>
          </a:xfrm>
          <a:prstGeom prst="rect">
            <a:avLst/>
          </a:prstGeom>
          <a:noFill/>
          <a:ln/>
        </p:spPr>
        <p:txBody>
          <a:bodyPr wrap="square" lIns="0" tIns="0" rIns="0" bIns="0" rtlCol="0" anchor="t"/>
          <a:lstStyle/>
          <a:p>
            <a:pPr indent="0" marL="0">
              <a:buNone/>
            </a:pPr>
            <a:r>
              <a:rPr lang="en-US" sz="1600" b="1" dirty="0">
                <a:solidFill>
                  <a:schemeClr val="tx1"/>
                </a:solidFill>
              </a:rPr>
              <a:t>We will measure</a:t>
            </a:r>
            <a:endParaRPr lang="en-US" sz="1600" dirty="0"/>
          </a:p>
          <a:p>
            <a:pPr indent="0" marL="0">
              <a:buNone/>
            </a:pPr>
            <a:r>
              <a:rPr lang="en-US" sz="1300" dirty="0">
                <a:solidFill>
                  <a:schemeClr val="tx2"/>
                </a:solidFill>
              </a:rPr>
              <a:t>Users retained, page-switch time against Slate, incidents after release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6"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22" fill="hold">
                            <p:stCondLst>
                              <p:cond delay="35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childTnLst>
                          </p:cTn>
                        </p:par>
                        <p:par>
                          <p:cTn id="32" fill="hold">
                            <p:stCondLst>
                              <p:cond delay="7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par>
                          <p:cTn id="42" fill="hold">
                            <p:stCondLst>
                              <p:cond delay="105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childTnLst>
                          </p:cTn>
                        </p:par>
                        <p:par>
                          <p:cTn id="52" fill="hold">
                            <p:stCondLst>
                              <p:cond delay="14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childTnLst>
                          </p:cTn>
                        </p:par>
                        <p:par>
                          <p:cTn id="62" fill="hold">
                            <p:stCondLst>
                              <p:cond delay="175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childTnLst>
                          </p:cTn>
                        </p:par>
                        <p:par>
                          <p:cTn id="69" fill="hold">
                            <p:stCondLst>
                              <p:cond delay="2100"/>
                            </p:stCondLst>
                            <p:childTnLst>
                              <p:par>
                                <p:cTn id="63" presetID="22" presetClass="entr" presetSubtype="8" fill="hold" grpId="0"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450"/>
                                        <p:tgtEl>
                                          <p:spTgt spid="22"/>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450"/>
                                        <p:tgtEl>
                                          <p:spTgt spid="23"/>
                                        </p:tgtEl>
                                      </p:cBhvr>
                                    </p:animEffect>
                                  </p:childTnLst>
                                </p:cTn>
                              </p:par>
                            </p:childTnLst>
                          </p:cTn>
                        </p:par>
                        <p:par>
                          <p:cTn id="85" fill="hold">
                            <p:stCondLst>
                              <p:cond delay="2450"/>
                            </p:stCondLst>
                            <p:childTnLst>
                              <p:par>
                                <p:cTn id="70" presetID="10" presetClass="entr" presetSubtype="0"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5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SUSTAINABILITY · IMPACT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Faster to build, cheaper to run</a:t>
            </a:r>
            <a:endParaRPr lang="en-US" sz="3600" dirty="0"/>
          </a:p>
        </p:txBody>
      </p:sp>
      <p:sp>
        <p:nvSpPr>
          <p:cNvPr id="4" name="ease-0-card"/>
          <p:cNvSpPr/>
          <p:nvPr/>
        </p:nvSpPr>
        <p:spPr>
          <a:xfrm>
            <a:off x="548640" y="1371600"/>
            <a:ext cx="2567864" cy="1554480"/>
          </a:xfrm>
          <a:prstGeom prst="roundRect">
            <a:avLst>
              <a:gd name="adj" fmla="val 7059"/>
            </a:avLst>
          </a:prstGeom>
          <a:solidFill>
            <a:schemeClr val="bg1"/>
          </a:solidFill>
          <a:ln/>
        </p:spPr>
      </p:sp>
      <p:sp>
        <p:nvSpPr>
          <p:cNvPr id="5" name="ease-0-value"/>
          <p:cNvSpPr txBox="1"/>
          <p:nvPr/>
        </p:nvSpPr>
        <p:spPr>
          <a:xfrm>
            <a:off x="749808" y="1481328"/>
            <a:ext cx="2165528" cy="640080"/>
          </a:xfrm>
          <a:prstGeom prst="rect">
            <a:avLst/>
          </a:prstGeom>
          <a:noFill/>
          <a:ln/>
        </p:spPr>
        <p:txBody>
          <a:bodyPr wrap="square" lIns="0" tIns="0" rIns="0" bIns="0" rtlCol="0" anchor="t"/>
          <a:lstStyle/>
          <a:p>
            <a:pPr indent="0" marL="0">
              <a:buNone/>
            </a:pPr>
            <a:r>
              <a:rPr lang="en-US" sz="3400" b="1" dirty="0">
                <a:solidFill>
                  <a:schemeClr val="accent3"/>
                </a:solidFill>
              </a:rPr>
              <a:t>11</a:t>
            </a:r>
            <a:endParaRPr lang="en-US" sz="3400" dirty="0"/>
          </a:p>
        </p:txBody>
      </p:sp>
      <p:sp>
        <p:nvSpPr>
          <p:cNvPr id="6" name="ease-0-label"/>
          <p:cNvSpPr txBox="1"/>
          <p:nvPr/>
        </p:nvSpPr>
        <p:spPr>
          <a:xfrm>
            <a:off x="749808" y="2148840"/>
            <a:ext cx="2165528" cy="685800"/>
          </a:xfrm>
          <a:prstGeom prst="rect">
            <a:avLst/>
          </a:prstGeom>
          <a:noFill/>
          <a:ln/>
        </p:spPr>
        <p:txBody>
          <a:bodyPr wrap="square" lIns="0" tIns="0" rIns="0" bIns="0" rtlCol="0" anchor="t"/>
          <a:lstStyle/>
          <a:p>
            <a:pPr indent="0" marL="0">
              <a:buNone/>
            </a:pPr>
            <a:r>
              <a:rPr lang="en-US" sz="1300" dirty="0">
                <a:solidFill>
                  <a:schemeClr val="tx2"/>
                </a:solidFill>
              </a:rPr>
              <a:t>new features Slate never had, shipped in the same PI</a:t>
            </a:r>
            <a:endParaRPr lang="en-US" sz="1300" dirty="0"/>
          </a:p>
        </p:txBody>
      </p:sp>
      <p:sp>
        <p:nvSpPr>
          <p:cNvPr id="7" name="ease-1-card"/>
          <p:cNvSpPr/>
          <p:nvPr/>
        </p:nvSpPr>
        <p:spPr>
          <a:xfrm>
            <a:off x="3390824" y="1371600"/>
            <a:ext cx="2567864" cy="1554480"/>
          </a:xfrm>
          <a:prstGeom prst="roundRect">
            <a:avLst>
              <a:gd name="adj" fmla="val 7059"/>
            </a:avLst>
          </a:prstGeom>
          <a:solidFill>
            <a:schemeClr val="bg1"/>
          </a:solidFill>
          <a:ln/>
        </p:spPr>
      </p:sp>
      <p:sp>
        <p:nvSpPr>
          <p:cNvPr id="8" name="ease-1-value"/>
          <p:cNvSpPr txBox="1"/>
          <p:nvPr/>
        </p:nvSpPr>
        <p:spPr>
          <a:xfrm>
            <a:off x="3591992" y="1481328"/>
            <a:ext cx="2165528" cy="640080"/>
          </a:xfrm>
          <a:prstGeom prst="rect">
            <a:avLst/>
          </a:prstGeom>
          <a:noFill/>
          <a:ln/>
        </p:spPr>
        <p:txBody>
          <a:bodyPr wrap="square" lIns="0" tIns="0" rIns="0" bIns="0" rtlCol="0" anchor="t"/>
          <a:lstStyle/>
          <a:p>
            <a:pPr indent="0" marL="0">
              <a:buNone/>
            </a:pPr>
            <a:r>
              <a:rPr lang="en-US" sz="3400" b="1" dirty="0">
                <a:solidFill>
                  <a:schemeClr val="tx1"/>
                </a:solidFill>
              </a:rPr>
              <a:t>11 files</a:t>
            </a:r>
            <a:endParaRPr lang="en-US" sz="3400" dirty="0"/>
          </a:p>
        </p:txBody>
      </p:sp>
      <p:sp>
        <p:nvSpPr>
          <p:cNvPr id="9" name="ease-1-label"/>
          <p:cNvSpPr txBox="1"/>
          <p:nvPr/>
        </p:nvSpPr>
        <p:spPr>
          <a:xfrm>
            <a:off x="3591992" y="2148840"/>
            <a:ext cx="2165528" cy="685800"/>
          </a:xfrm>
          <a:prstGeom prst="rect">
            <a:avLst/>
          </a:prstGeom>
          <a:noFill/>
          <a:ln/>
        </p:spPr>
        <p:txBody>
          <a:bodyPr wrap="square" lIns="0" tIns="0" rIns="0" bIns="0" rtlCol="0" anchor="t"/>
          <a:lstStyle/>
          <a:p>
            <a:pPr indent="0" marL="0">
              <a:buNone/>
            </a:pPr>
            <a:r>
              <a:rPr lang="en-US" sz="1300" dirty="0">
                <a:solidFill>
                  <a:schemeClr val="tx2"/>
                </a:solidFill>
              </a:rPr>
              <a:t>one change added app-wide notifications and auto-refresh</a:t>
            </a:r>
            <a:endParaRPr lang="en-US" sz="1300" dirty="0"/>
          </a:p>
        </p:txBody>
      </p:sp>
      <p:sp>
        <p:nvSpPr>
          <p:cNvPr id="10" name="ease-2-card"/>
          <p:cNvSpPr/>
          <p:nvPr/>
        </p:nvSpPr>
        <p:spPr>
          <a:xfrm>
            <a:off x="6233008" y="1371600"/>
            <a:ext cx="2567864" cy="1554480"/>
          </a:xfrm>
          <a:prstGeom prst="roundRect">
            <a:avLst>
              <a:gd name="adj" fmla="val 7059"/>
            </a:avLst>
          </a:prstGeom>
          <a:solidFill>
            <a:schemeClr val="bg1"/>
          </a:solidFill>
          <a:ln/>
        </p:spPr>
      </p:sp>
      <p:sp>
        <p:nvSpPr>
          <p:cNvPr id="11" name="ease-2-value"/>
          <p:cNvSpPr txBox="1"/>
          <p:nvPr/>
        </p:nvSpPr>
        <p:spPr>
          <a:xfrm>
            <a:off x="6434176" y="1481328"/>
            <a:ext cx="2165528" cy="640080"/>
          </a:xfrm>
          <a:prstGeom prst="rect">
            <a:avLst/>
          </a:prstGeom>
          <a:noFill/>
          <a:ln/>
        </p:spPr>
        <p:txBody>
          <a:bodyPr wrap="square" lIns="0" tIns="0" rIns="0" bIns="0" rtlCol="0" anchor="t"/>
          <a:lstStyle/>
          <a:p>
            <a:pPr indent="0" marL="0">
              <a:buNone/>
            </a:pPr>
            <a:r>
              <a:rPr lang="en-US" sz="3400" b="1" dirty="0">
                <a:solidFill>
                  <a:schemeClr val="tx1"/>
                </a:solidFill>
              </a:rPr>
              <a:t>−97%</a:t>
            </a:r>
            <a:endParaRPr lang="en-US" sz="3400" dirty="0"/>
          </a:p>
        </p:txBody>
      </p:sp>
      <p:sp>
        <p:nvSpPr>
          <p:cNvPr id="12" name="ease-2-label"/>
          <p:cNvSpPr txBox="1"/>
          <p:nvPr/>
        </p:nvSpPr>
        <p:spPr>
          <a:xfrm>
            <a:off x="6434176" y="2148840"/>
            <a:ext cx="2165528" cy="685800"/>
          </a:xfrm>
          <a:prstGeom prst="rect">
            <a:avLst/>
          </a:prstGeom>
          <a:noFill/>
          <a:ln/>
        </p:spPr>
        <p:txBody>
          <a:bodyPr wrap="square" lIns="0" tIns="0" rIns="0" bIns="0" rtlCol="0" anchor="t"/>
          <a:lstStyle/>
          <a:p>
            <a:pPr indent="0" marL="0">
              <a:buNone/>
            </a:pPr>
            <a:r>
              <a:rPr lang="en-US" sz="1300" dirty="0">
                <a:solidFill>
                  <a:schemeClr val="tx2"/>
                </a:solidFill>
              </a:rPr>
              <a:t>25 MB of Slate configuration became 0.8 MB of typed code</a:t>
            </a:r>
            <a:endParaRPr lang="en-US" sz="1300" dirty="0"/>
          </a:p>
        </p:txBody>
      </p:sp>
      <p:sp>
        <p:nvSpPr>
          <p:cNvPr id="13" name="ease-3-card"/>
          <p:cNvSpPr/>
          <p:nvPr/>
        </p:nvSpPr>
        <p:spPr>
          <a:xfrm>
            <a:off x="9075191" y="1371600"/>
            <a:ext cx="2567864" cy="1554480"/>
          </a:xfrm>
          <a:prstGeom prst="roundRect">
            <a:avLst>
              <a:gd name="adj" fmla="val 7059"/>
            </a:avLst>
          </a:prstGeom>
          <a:solidFill>
            <a:schemeClr val="tx1"/>
          </a:solidFill>
          <a:ln/>
        </p:spPr>
      </p:sp>
      <p:sp>
        <p:nvSpPr>
          <p:cNvPr id="14" name="ease-3-value"/>
          <p:cNvSpPr txBox="1"/>
          <p:nvPr/>
        </p:nvSpPr>
        <p:spPr>
          <a:xfrm>
            <a:off x="9276359" y="1481328"/>
            <a:ext cx="2165528" cy="640080"/>
          </a:xfrm>
          <a:prstGeom prst="rect">
            <a:avLst/>
          </a:prstGeom>
          <a:noFill/>
          <a:ln/>
        </p:spPr>
        <p:txBody>
          <a:bodyPr wrap="square" lIns="0" tIns="0" rIns="0" bIns="0" rtlCol="0" anchor="t"/>
          <a:lstStyle/>
          <a:p>
            <a:pPr indent="0" marL="0">
              <a:buNone/>
            </a:pPr>
            <a:r>
              <a:rPr lang="en-US" sz="3400" b="1" dirty="0">
                <a:solidFill>
                  <a:schemeClr val="accent5"/>
                </a:solidFill>
              </a:rPr>
              <a:t>~$10K</a:t>
            </a:r>
            <a:endParaRPr lang="en-US" sz="3400" dirty="0"/>
          </a:p>
        </p:txBody>
      </p:sp>
      <p:sp>
        <p:nvSpPr>
          <p:cNvPr id="15" name="ease-3-label"/>
          <p:cNvSpPr txBox="1"/>
          <p:nvPr/>
        </p:nvSpPr>
        <p:spPr>
          <a:xfrm>
            <a:off x="9276359" y="2148840"/>
            <a:ext cx="2165528" cy="685800"/>
          </a:xfrm>
          <a:prstGeom prst="rect">
            <a:avLst/>
          </a:prstGeom>
          <a:noFill/>
          <a:ln/>
        </p:spPr>
        <p:txBody>
          <a:bodyPr wrap="square" lIns="0" tIns="0" rIns="0" bIns="0" rtlCol="0" anchor="t"/>
          <a:lstStyle/>
          <a:p>
            <a:pPr indent="0" marL="0">
              <a:buNone/>
            </a:pPr>
            <a:r>
              <a:rPr lang="en-US" sz="1300" dirty="0">
                <a:solidFill>
                  <a:schemeClr val="accent5"/>
                </a:solidFill>
              </a:rPr>
              <a:t>less maintenance effort every year (estimate)</a:t>
            </a:r>
            <a:endParaRPr lang="en-US" sz="1300" dirty="0"/>
          </a:p>
        </p:txBody>
      </p:sp>
      <p:sp>
        <p:nvSpPr>
          <p:cNvPr id="16" name="ease-old"/>
          <p:cNvSpPr/>
          <p:nvPr/>
        </p:nvSpPr>
        <p:spPr>
          <a:xfrm>
            <a:off x="548640" y="3154680"/>
            <a:ext cx="5410048" cy="2423160"/>
          </a:xfrm>
          <a:prstGeom prst="roundRect">
            <a:avLst>
              <a:gd name="adj" fmla="val 4528"/>
            </a:avLst>
          </a:prstGeom>
          <a:solidFill>
            <a:schemeClr val="bg1"/>
          </a:solidFill>
          <a:ln/>
        </p:spPr>
      </p:sp>
      <p:sp>
        <p:nvSpPr>
          <p:cNvPr id="17" name="ease-old-text"/>
          <p:cNvSpPr txBox="1"/>
          <p:nvPr/>
        </p:nvSpPr>
        <p:spPr>
          <a:xfrm>
            <a:off x="822960" y="3291840"/>
            <a:ext cx="4861408" cy="2148840"/>
          </a:xfrm>
          <a:prstGeom prst="rect">
            <a:avLst/>
          </a:prstGeom>
          <a:noFill/>
          <a:ln/>
        </p:spPr>
        <p:txBody>
          <a:bodyPr wrap="square" lIns="0" tIns="0" rIns="0" bIns="0" rtlCol="0" anchor="t"/>
          <a:lstStyle/>
          <a:p>
            <a:pPr indent="0" marL="0">
              <a:spcAft>
                <a:spcPts val="600"/>
              </a:spcAft>
              <a:buNone/>
            </a:pPr>
            <a:r>
              <a:rPr lang="en-US" sz="1100" b="1" spc="100" kern="0" dirty="0">
                <a:solidFill>
                  <a:schemeClr val="tx2"/>
                </a:solidFill>
              </a:rPr>
              <a:t>ADDING A FEATURE IN SLATE</a:t>
            </a:r>
            <a:endParaRPr lang="en-US" sz="1100" dirty="0"/>
          </a:p>
          <a:p>
            <a:pPr indent="0" marL="0">
              <a:spcAft>
                <a:spcPts val="600"/>
              </a:spcAft>
              <a:buNone/>
            </a:pPr>
            <a:r>
              <a:rPr lang="en-US" sz="600" dirty="0">
                <a:solidFill>
                  <a:srgbClr val="000000"/>
                </a:solidFill>
              </a:rPr>
              <a:t> </a:t>
            </a:r>
            <a:endParaRPr lang="en-US" sz="1100" dirty="0"/>
          </a:p>
          <a:p>
            <a:pPr marL="342900" indent="-342900">
              <a:spcAft>
                <a:spcPts val="600"/>
              </a:spcAft>
              <a:buSzPct val="100000"/>
              <a:buChar char="•"/>
            </a:pPr>
            <a:r>
              <a:rPr lang="en-US" sz="1400" dirty="0">
                <a:solidFill>
                  <a:schemeClr val="tx1"/>
                </a:solidFill>
              </a:rPr>
              <a:t>Wire widgets, events, variables and functions across 8 exports</a:t>
            </a:r>
            <a:endParaRPr lang="en-US" sz="1100" dirty="0"/>
          </a:p>
          <a:p>
            <a:pPr marL="342900" indent="-342900">
              <a:spcAft>
                <a:spcPts val="600"/>
              </a:spcAft>
              <a:buSzPct val="100000"/>
              <a:buChar char="•"/>
            </a:pPr>
            <a:r>
              <a:rPr lang="en-US" sz="1400" dirty="0">
                <a:solidFill>
                  <a:schemeClr val="tx1"/>
                </a:solidFill>
              </a:rPr>
              <a:t>Any change can break unrelated dashboards</a:t>
            </a:r>
            <a:endParaRPr lang="en-US" sz="1100" dirty="0"/>
          </a:p>
          <a:p>
            <a:pPr marL="342900" indent="-342900">
              <a:spcAft>
                <a:spcPts val="600"/>
              </a:spcAft>
              <a:buSzPct val="100000"/>
              <a:buChar char="•"/>
            </a:pPr>
            <a:r>
              <a:rPr lang="en-US" sz="1400" dirty="0">
                <a:solidFill>
                  <a:schemeClr val="tx1"/>
                </a:solidFill>
              </a:rPr>
              <a:t>No documentation to know what depends on what</a:t>
            </a:r>
            <a:endParaRPr lang="en-US" sz="1100" dirty="0"/>
          </a:p>
        </p:txBody>
      </p:sp>
      <p:sp>
        <p:nvSpPr>
          <p:cNvPr id="18" name="ease-new"/>
          <p:cNvSpPr/>
          <p:nvPr/>
        </p:nvSpPr>
        <p:spPr>
          <a:xfrm>
            <a:off x="6233008" y="3154680"/>
            <a:ext cx="5410048" cy="2423160"/>
          </a:xfrm>
          <a:prstGeom prst="roundRect">
            <a:avLst>
              <a:gd name="adj" fmla="val 4528"/>
            </a:avLst>
          </a:prstGeom>
          <a:solidFill>
            <a:schemeClr val="tx1"/>
          </a:solidFill>
          <a:ln/>
        </p:spPr>
      </p:sp>
      <p:sp>
        <p:nvSpPr>
          <p:cNvPr id="19" name="ease-new-text"/>
          <p:cNvSpPr txBox="1"/>
          <p:nvPr/>
        </p:nvSpPr>
        <p:spPr>
          <a:xfrm>
            <a:off x="6507328" y="3291840"/>
            <a:ext cx="4861408" cy="2148840"/>
          </a:xfrm>
          <a:prstGeom prst="rect">
            <a:avLst/>
          </a:prstGeom>
          <a:noFill/>
          <a:ln/>
        </p:spPr>
        <p:txBody>
          <a:bodyPr wrap="square" lIns="0" tIns="0" rIns="0" bIns="0" rtlCol="0" anchor="t"/>
          <a:lstStyle/>
          <a:p>
            <a:pPr indent="0" marL="0">
              <a:spcAft>
                <a:spcPts val="600"/>
              </a:spcAft>
              <a:buNone/>
            </a:pPr>
            <a:r>
              <a:rPr lang="en-US" sz="1100" b="1" spc="100" kern="0" dirty="0">
                <a:solidFill>
                  <a:schemeClr val="accent5"/>
                </a:solidFill>
              </a:rPr>
              <a:t>ADDING A FEATURE IN REACT + OSDK</a:t>
            </a:r>
            <a:endParaRPr lang="en-US" sz="1100" dirty="0"/>
          </a:p>
          <a:p>
            <a:pPr indent="0" marL="0">
              <a:spcAft>
                <a:spcPts val="600"/>
              </a:spcAft>
              <a:buNone/>
            </a:pPr>
            <a:r>
              <a:rPr lang="en-US" sz="600" dirty="0">
                <a:solidFill>
                  <a:srgbClr val="000000"/>
                </a:solidFill>
              </a:rPr>
              <a:t> </a:t>
            </a:r>
            <a:endParaRPr lang="en-US" sz="1100" dirty="0"/>
          </a:p>
          <a:p>
            <a:pPr marL="342900" indent="-342900">
              <a:spcAft>
                <a:spcPts val="600"/>
              </a:spcAft>
              <a:buSzPct val="100000"/>
              <a:buChar char="•"/>
            </a:pPr>
            <a:r>
              <a:rPr lang="en-US" sz="1400" dirty="0">
                <a:solidFill>
                  <a:schemeClr val="bg1"/>
                </a:solidFill>
              </a:rPr>
              <a:t>One isolated, typed component plus one OSDK call</a:t>
            </a:r>
            <a:endParaRPr lang="en-US" sz="1100" dirty="0"/>
          </a:p>
          <a:p>
            <a:pPr marL="342900" indent="-342900">
              <a:spcAft>
                <a:spcPts val="600"/>
              </a:spcAft>
              <a:buSzPct val="100000"/>
              <a:buChar char="•"/>
            </a:pPr>
            <a:r>
              <a:rPr lang="en-US" sz="1400" dirty="0">
                <a:solidFill>
                  <a:schemeClr val="bg1"/>
                </a:solidFill>
              </a:rPr>
              <a:t>pack-project.ts gives AI the whole app as context</a:t>
            </a:r>
            <a:endParaRPr lang="en-US" sz="1100" dirty="0"/>
          </a:p>
          <a:p>
            <a:pPr marL="342900" indent="-342900">
              <a:spcAft>
                <a:spcPts val="600"/>
              </a:spcAft>
              <a:buSzPct val="100000"/>
              <a:buChar char="•"/>
            </a:pPr>
            <a:r>
              <a:rPr lang="en-US" sz="1400" dirty="0">
                <a:solidFill>
                  <a:schemeClr val="bg1"/>
                </a:solidFill>
              </a:rPr>
              <a:t>Architecture and lifecycle diagrams show the impact</a:t>
            </a:r>
            <a:endParaRPr lang="en-US" sz="1100" dirty="0"/>
          </a:p>
        </p:txBody>
      </p:sp>
      <p:sp>
        <p:nvSpPr>
          <p:cNvPr id="20" name="ease-foot"/>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100" i="1" dirty="0">
                <a:solidFill>
                  <a:schemeClr val="tx2"/>
                </a:solidFill>
              </a:rPr>
              <a:t>Estimates at $38.50 per developer hour, 8 hours a day. Maintenance: rule of thumb of ~20% of build effort a year (340 person-days → 68 a year, ≈ $21K), assumed halved by modular, typed, documented code (≈ $10K a year saved).</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2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childTnLst>
                          </p:cTn>
                        </p:par>
                        <p:par>
                          <p:cTn id="32" fill="hold">
                            <p:stCondLst>
                              <p:cond delay="8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par>
                          <p:cTn id="42" fill="hold">
                            <p:stCondLst>
                              <p:cond delay="12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childTnLst>
                          </p:cTn>
                        </p:par>
                        <p:par>
                          <p:cTn id="49" fill="hold">
                            <p:stCondLst>
                              <p:cond delay="1600"/>
                            </p:stCondLst>
                            <p:childTnLst>
                              <p:par>
                                <p:cTn id="43" presetID="10"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childTnLst>
                          </p:cTn>
                        </p:par>
                        <p:par>
                          <p:cTn id="56"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450"/>
                                        <p:tgtEl>
                                          <p:spTgt spid="18"/>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450"/>
                                        <p:tgtEl>
                                          <p:spTgt spid="19"/>
                                        </p:tgtEl>
                                      </p:cBhvr>
                                    </p:animEffect>
                                  </p:childTnLst>
                                </p:cTn>
                              </p:par>
                            </p:childTnLst>
                          </p:cTn>
                        </p:par>
                        <p:par>
                          <p:cTn id="60" fill="hold">
                            <p:stCondLst>
                              <p:cond delay="2400"/>
                            </p:stCondLst>
                            <p:childTnLst>
                              <p:par>
                                <p:cTn id="57" presetID="10"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VOICE OF THE BUSINESS · IMPACT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What the business says</a:t>
            </a:r>
            <a:endParaRPr lang="en-US" sz="3600" dirty="0"/>
          </a:p>
        </p:txBody>
      </p:sp>
      <p:sp>
        <p:nvSpPr>
          <p:cNvPr id="4" name="quote-sub"/>
          <p:cNvSpPr txBox="1"/>
          <p:nvPr/>
        </p:nvSpPr>
        <p:spPr>
          <a:xfrm>
            <a:off x="548640" y="1115568"/>
            <a:ext cx="11094415" cy="320040"/>
          </a:xfrm>
          <a:prstGeom prst="rect">
            <a:avLst/>
          </a:prstGeom>
          <a:noFill/>
          <a:ln/>
        </p:spPr>
        <p:txBody>
          <a:bodyPr wrap="square" lIns="0" tIns="0" rIns="0" bIns="0" rtlCol="0" anchor="t"/>
          <a:lstStyle/>
          <a:p>
            <a:pPr indent="0" marL="0">
              <a:buNone/>
            </a:pPr>
            <a:r>
              <a:rPr lang="en-US" sz="1400" dirty="0">
                <a:solidFill>
                  <a:schemeClr val="tx2"/>
                </a:solidFill>
              </a:rPr>
              <a:t>Feedback from ERM business stakeholders, September 2026</a:t>
            </a:r>
            <a:endParaRPr lang="en-US" sz="1400" dirty="0"/>
          </a:p>
        </p:txBody>
      </p:sp>
      <p:sp>
        <p:nvSpPr>
          <p:cNvPr id="5" name="quote-0-card"/>
          <p:cNvSpPr/>
          <p:nvPr/>
        </p:nvSpPr>
        <p:spPr>
          <a:xfrm>
            <a:off x="548640" y="1645920"/>
            <a:ext cx="3515258" cy="4480560"/>
          </a:xfrm>
          <a:prstGeom prst="roundRect">
            <a:avLst>
              <a:gd name="adj" fmla="val 3121"/>
            </a:avLst>
          </a:prstGeom>
          <a:solidFill>
            <a:schemeClr val="tx1"/>
          </a:solidFill>
          <a:ln/>
        </p:spPr>
      </p:sp>
      <p:sp>
        <p:nvSpPr>
          <p:cNvPr id="6" name="quote-0-mark"/>
          <p:cNvSpPr txBox="1"/>
          <p:nvPr/>
        </p:nvSpPr>
        <p:spPr>
          <a:xfrm>
            <a:off x="822960" y="1783080"/>
            <a:ext cx="914400" cy="731520"/>
          </a:xfrm>
          <a:prstGeom prst="rect">
            <a:avLst/>
          </a:prstGeom>
          <a:noFill/>
          <a:ln/>
        </p:spPr>
        <p:txBody>
          <a:bodyPr wrap="square" lIns="0" tIns="0" rIns="0" bIns="0" rtlCol="0" anchor="t"/>
          <a:lstStyle/>
          <a:p>
            <a:pPr indent="0" marL="0">
              <a:buNone/>
            </a:pPr>
            <a:r>
              <a:rPr lang="en-US" sz="6000" b="1" dirty="0">
                <a:solidFill>
                  <a:schemeClr val="accent5"/>
                </a:solidFill>
              </a:rPr>
              <a:t>“</a:t>
            </a:r>
            <a:endParaRPr lang="en-US" sz="6000" dirty="0"/>
          </a:p>
        </p:txBody>
      </p:sp>
      <p:sp>
        <p:nvSpPr>
          <p:cNvPr id="7" name="quote-0-text"/>
          <p:cNvSpPr txBox="1"/>
          <p:nvPr/>
        </p:nvSpPr>
        <p:spPr>
          <a:xfrm>
            <a:off x="822960" y="2514600"/>
            <a:ext cx="2966618" cy="2606040"/>
          </a:xfrm>
          <a:prstGeom prst="rect">
            <a:avLst/>
          </a:prstGeom>
          <a:noFill/>
          <a:ln/>
        </p:spPr>
        <p:txBody>
          <a:bodyPr wrap="square" lIns="0" tIns="0" rIns="0" bIns="0" rtlCol="0" anchor="t"/>
          <a:lstStyle/>
          <a:p>
            <a:pPr indent="0" marL="0">
              <a:buNone/>
            </a:pPr>
            <a:r>
              <a:rPr lang="en-US" sz="1800" i="1" dirty="0">
                <a:solidFill>
                  <a:schemeClr val="bg1"/>
                </a:solidFill>
              </a:rPr>
              <a:t>Thanks to a mix of regular teamwork with the business and strong IT skills, they have turned an idea into a user-friendly industrial [solution]… User interface and performance have significantly improved.</a:t>
            </a:r>
            <a:endParaRPr lang="en-US" sz="1800" dirty="0"/>
          </a:p>
        </p:txBody>
      </p:sp>
      <p:sp>
        <p:nvSpPr>
          <p:cNvPr id="8" name="quote-0-who"/>
          <p:cNvSpPr txBox="1"/>
          <p:nvPr/>
        </p:nvSpPr>
        <p:spPr>
          <a:xfrm>
            <a:off x="822960" y="5166360"/>
            <a:ext cx="2966618" cy="731520"/>
          </a:xfrm>
          <a:prstGeom prst="rect">
            <a:avLst/>
          </a:prstGeom>
          <a:noFill/>
          <a:ln/>
        </p:spPr>
        <p:txBody>
          <a:bodyPr wrap="square" lIns="0" tIns="0" rIns="0" bIns="0" rtlCol="0" anchor="b"/>
          <a:lstStyle/>
          <a:p>
            <a:pPr indent="0" marL="0">
              <a:buNone/>
            </a:pPr>
            <a:r>
              <a:rPr lang="en-US" sz="1400" b="1" dirty="0">
                <a:solidFill>
                  <a:schemeClr val="bg1"/>
                </a:solidFill>
              </a:rPr>
              <a:t>ERM Centre of Competence</a:t>
            </a:r>
            <a:endParaRPr lang="en-US" sz="1400" dirty="0"/>
          </a:p>
          <a:p>
            <a:pPr indent="0" marL="0">
              <a:buNone/>
            </a:pPr>
            <a:r>
              <a:rPr lang="en-US" sz="1200" dirty="0">
                <a:solidFill>
                  <a:schemeClr val="accent5"/>
                </a:solidFill>
              </a:rPr>
              <a:t>Enterprise Risk Management</a:t>
            </a:r>
            <a:endParaRPr lang="en-US" sz="1400" dirty="0"/>
          </a:p>
        </p:txBody>
      </p:sp>
      <p:sp>
        <p:nvSpPr>
          <p:cNvPr id="9" name="quote-1-card"/>
          <p:cNvSpPr/>
          <p:nvPr/>
        </p:nvSpPr>
        <p:spPr>
          <a:xfrm>
            <a:off x="4338218" y="1645920"/>
            <a:ext cx="3515258" cy="4480560"/>
          </a:xfrm>
          <a:prstGeom prst="roundRect">
            <a:avLst>
              <a:gd name="adj" fmla="val 3121"/>
            </a:avLst>
          </a:prstGeom>
          <a:solidFill>
            <a:schemeClr val="bg1"/>
          </a:solidFill>
          <a:ln/>
        </p:spPr>
      </p:sp>
      <p:sp>
        <p:nvSpPr>
          <p:cNvPr id="10" name="quote-1-mark"/>
          <p:cNvSpPr txBox="1"/>
          <p:nvPr/>
        </p:nvSpPr>
        <p:spPr>
          <a:xfrm>
            <a:off x="4612538" y="1783080"/>
            <a:ext cx="914400" cy="731520"/>
          </a:xfrm>
          <a:prstGeom prst="rect">
            <a:avLst/>
          </a:prstGeom>
          <a:noFill/>
          <a:ln/>
        </p:spPr>
        <p:txBody>
          <a:bodyPr wrap="square" lIns="0" tIns="0" rIns="0" bIns="0" rtlCol="0" anchor="t"/>
          <a:lstStyle/>
          <a:p>
            <a:pPr indent="0" marL="0">
              <a:buNone/>
            </a:pPr>
            <a:r>
              <a:rPr lang="en-US" sz="6000" b="1" dirty="0">
                <a:solidFill>
                  <a:schemeClr val="accent3"/>
                </a:solidFill>
              </a:rPr>
              <a:t>“</a:t>
            </a:r>
            <a:endParaRPr lang="en-US" sz="6000" dirty="0"/>
          </a:p>
        </p:txBody>
      </p:sp>
      <p:sp>
        <p:nvSpPr>
          <p:cNvPr id="11" name="quote-1-text"/>
          <p:cNvSpPr txBox="1"/>
          <p:nvPr/>
        </p:nvSpPr>
        <p:spPr>
          <a:xfrm>
            <a:off x="4612538" y="2514600"/>
            <a:ext cx="2966618" cy="2606040"/>
          </a:xfrm>
          <a:prstGeom prst="rect">
            <a:avLst/>
          </a:prstGeom>
          <a:noFill/>
          <a:ln/>
        </p:spPr>
        <p:txBody>
          <a:bodyPr wrap="square" lIns="0" tIns="0" rIns="0" bIns="0" rtlCol="0" anchor="t"/>
          <a:lstStyle/>
          <a:p>
            <a:pPr indent="0" marL="0">
              <a:buNone/>
            </a:pPr>
            <a:r>
              <a:rPr lang="en-US" sz="1800" i="1" dirty="0">
                <a:solidFill>
                  <a:schemeClr val="tx1"/>
                </a:solidFill>
              </a:rPr>
              <a:t>The Skywise ERM dashboard application is a tremendous addition to our ERM toolset… More and more users regularly prepare and facilitate risks &amp; opportunities reviews with the application.</a:t>
            </a:r>
            <a:endParaRPr lang="en-US" sz="1800" dirty="0"/>
          </a:p>
        </p:txBody>
      </p:sp>
      <p:sp>
        <p:nvSpPr>
          <p:cNvPr id="12" name="quote-1-who"/>
          <p:cNvSpPr txBox="1"/>
          <p:nvPr/>
        </p:nvSpPr>
        <p:spPr>
          <a:xfrm>
            <a:off x="4612538" y="5166360"/>
            <a:ext cx="2966618" cy="731520"/>
          </a:xfrm>
          <a:prstGeom prst="rect">
            <a:avLst/>
          </a:prstGeom>
          <a:noFill/>
          <a:ln/>
        </p:spPr>
        <p:txBody>
          <a:bodyPr wrap="square" lIns="0" tIns="0" rIns="0" bIns="0" rtlCol="0" anchor="b"/>
          <a:lstStyle/>
          <a:p>
            <a:pPr indent="0" marL="0">
              <a:buNone/>
            </a:pPr>
            <a:r>
              <a:rPr lang="en-US" sz="1400" b="1" dirty="0">
                <a:solidFill>
                  <a:schemeClr val="tx1"/>
                </a:solidFill>
              </a:rPr>
              <a:t>ERM stakeholder</a:t>
            </a:r>
            <a:endParaRPr lang="en-US" sz="1400" dirty="0"/>
          </a:p>
          <a:p>
            <a:pPr indent="0" marL="0">
              <a:buNone/>
            </a:pPr>
            <a:r>
              <a:rPr lang="en-US" sz="1200" dirty="0">
                <a:solidFill>
                  <a:schemeClr val="tx2"/>
                </a:solidFill>
              </a:rPr>
              <a:t>[Role]</a:t>
            </a:r>
            <a:endParaRPr lang="en-US" sz="1400" dirty="0"/>
          </a:p>
        </p:txBody>
      </p:sp>
      <p:sp>
        <p:nvSpPr>
          <p:cNvPr id="13" name="quote-2-card"/>
          <p:cNvSpPr/>
          <p:nvPr/>
        </p:nvSpPr>
        <p:spPr>
          <a:xfrm>
            <a:off x="8127797" y="1645920"/>
            <a:ext cx="3515258" cy="4480560"/>
          </a:xfrm>
          <a:prstGeom prst="roundRect">
            <a:avLst>
              <a:gd name="adj" fmla="val 3121"/>
            </a:avLst>
          </a:prstGeom>
          <a:solidFill>
            <a:schemeClr val="bg1"/>
          </a:solidFill>
          <a:ln/>
        </p:spPr>
      </p:sp>
      <p:sp>
        <p:nvSpPr>
          <p:cNvPr id="14" name="quote-2-mark"/>
          <p:cNvSpPr txBox="1"/>
          <p:nvPr/>
        </p:nvSpPr>
        <p:spPr>
          <a:xfrm>
            <a:off x="8402117" y="1783080"/>
            <a:ext cx="914400" cy="731520"/>
          </a:xfrm>
          <a:prstGeom prst="rect">
            <a:avLst/>
          </a:prstGeom>
          <a:noFill/>
          <a:ln/>
        </p:spPr>
        <p:txBody>
          <a:bodyPr wrap="square" lIns="0" tIns="0" rIns="0" bIns="0" rtlCol="0" anchor="t"/>
          <a:lstStyle/>
          <a:p>
            <a:pPr indent="0" marL="0">
              <a:buNone/>
            </a:pPr>
            <a:r>
              <a:rPr lang="en-US" sz="6000" b="1" dirty="0">
                <a:solidFill>
                  <a:schemeClr val="accent3"/>
                </a:solidFill>
              </a:rPr>
              <a:t>“</a:t>
            </a:r>
            <a:endParaRPr lang="en-US" sz="6000" dirty="0"/>
          </a:p>
        </p:txBody>
      </p:sp>
      <p:sp>
        <p:nvSpPr>
          <p:cNvPr id="15" name="quote-2-text"/>
          <p:cNvSpPr txBox="1"/>
          <p:nvPr/>
        </p:nvSpPr>
        <p:spPr>
          <a:xfrm>
            <a:off x="8402117" y="2514600"/>
            <a:ext cx="2966618" cy="2606040"/>
          </a:xfrm>
          <a:prstGeom prst="rect">
            <a:avLst/>
          </a:prstGeom>
          <a:noFill/>
          <a:ln/>
        </p:spPr>
        <p:txBody>
          <a:bodyPr wrap="square" lIns="0" tIns="0" rIns="0" bIns="0" rtlCol="0" anchor="t"/>
          <a:lstStyle/>
          <a:p>
            <a:pPr indent="0" marL="0">
              <a:buNone/>
            </a:pPr>
            <a:r>
              <a:rPr lang="en-US" sz="1800" i="1" dirty="0">
                <a:solidFill>
                  <a:schemeClr val="tx1"/>
                </a:solidFill>
              </a:rPr>
              <a:t>They built great new features that make navigation easier and give us a much clearer view of our R&amp;O data. Whenever bugs or issues came up, they fixed them quickly and efficiently.</a:t>
            </a:r>
            <a:endParaRPr lang="en-US" sz="1800" dirty="0"/>
          </a:p>
        </p:txBody>
      </p:sp>
      <p:sp>
        <p:nvSpPr>
          <p:cNvPr id="16" name="quote-2-who"/>
          <p:cNvSpPr txBox="1"/>
          <p:nvPr/>
        </p:nvSpPr>
        <p:spPr>
          <a:xfrm>
            <a:off x="8402117" y="5166360"/>
            <a:ext cx="2966618" cy="731520"/>
          </a:xfrm>
          <a:prstGeom prst="rect">
            <a:avLst/>
          </a:prstGeom>
          <a:noFill/>
          <a:ln/>
        </p:spPr>
        <p:txBody>
          <a:bodyPr wrap="square" lIns="0" tIns="0" rIns="0" bIns="0" rtlCol="0" anchor="b"/>
          <a:lstStyle/>
          <a:p>
            <a:pPr indent="0" marL="0">
              <a:buNone/>
            </a:pPr>
            <a:r>
              <a:rPr lang="en-US" sz="1400" b="1" dirty="0">
                <a:solidFill>
                  <a:schemeClr val="tx1"/>
                </a:solidFill>
              </a:rPr>
              <a:t>Risk and Opportunity Manager</a:t>
            </a:r>
            <a:endParaRPr lang="en-US" sz="1400" dirty="0"/>
          </a:p>
          <a:p>
            <a:pPr indent="0" marL="0">
              <a:buNone/>
            </a:pPr>
            <a:r>
              <a:rPr lang="en-US" sz="1200" dirty="0">
                <a:solidFill>
                  <a:schemeClr val="tx2"/>
                </a:solidFill>
              </a:rPr>
              <a:t>Airbus Operations GmbH, Hamburg</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9" fill="hold">
                            <p:stCondLst>
                              <p:cond delay="6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childTnLst>
                          </p:cTn>
                        </p:par>
                        <p:par>
                          <p:cTn id="32" fill="hold">
                            <p:stCondLst>
                              <p:cond delay="12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par>
                          <p:cTn id="45" fill="hold">
                            <p:stCondLst>
                              <p:cond delay="18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STRATEGIC FIT · TEAMWORK</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Four 2026 objectives, one team effort</a:t>
            </a:r>
            <a:endParaRPr lang="en-US" sz="3600" dirty="0"/>
          </a:p>
        </p:txBody>
      </p:sp>
      <p:sp>
        <p:nvSpPr>
          <p:cNvPr id="4" name="flowhead-src"/>
          <p:cNvSpPr txBox="1"/>
          <p:nvPr/>
        </p:nvSpPr>
        <p:spPr>
          <a:xfrm>
            <a:off x="548640" y="1325880"/>
            <a:ext cx="2377440" cy="274320"/>
          </a:xfrm>
          <a:prstGeom prst="rect">
            <a:avLst/>
          </a:prstGeom>
          <a:noFill/>
          <a:ln/>
        </p:spPr>
        <p:txBody>
          <a:bodyPr wrap="square" lIns="0" tIns="0" rIns="0" bIns="0" rtlCol="0" anchor="t"/>
          <a:lstStyle/>
          <a:p>
            <a:pPr indent="0" marL="0">
              <a:buNone/>
            </a:pPr>
            <a:r>
              <a:rPr lang="en-US" sz="1100" b="1" spc="100" kern="0" dirty="0">
                <a:solidFill>
                  <a:schemeClr val="tx2"/>
                </a:solidFill>
              </a:rPr>
              <a:t>OUR PROJECT</a:t>
            </a:r>
            <a:endParaRPr lang="en-US" sz="1100" dirty="0"/>
          </a:p>
        </p:txBody>
      </p:sp>
      <p:sp>
        <p:nvSpPr>
          <p:cNvPr id="5" name="flowhead-ev"/>
          <p:cNvSpPr txBox="1"/>
          <p:nvPr/>
        </p:nvSpPr>
        <p:spPr>
          <a:xfrm>
            <a:off x="3429000" y="1325880"/>
            <a:ext cx="4069080" cy="274320"/>
          </a:xfrm>
          <a:prstGeom prst="rect">
            <a:avLst/>
          </a:prstGeom>
          <a:noFill/>
          <a:ln/>
        </p:spPr>
        <p:txBody>
          <a:bodyPr wrap="square" lIns="0" tIns="0" rIns="0" bIns="0" rtlCol="0" anchor="t"/>
          <a:lstStyle/>
          <a:p>
            <a:pPr indent="0" marL="0">
              <a:buNone/>
            </a:pPr>
            <a:r>
              <a:rPr lang="en-US" sz="1100" b="1" spc="100" kern="0" dirty="0">
                <a:solidFill>
                  <a:schemeClr val="tx2"/>
                </a:solidFill>
              </a:rPr>
              <a:t>EVIDENCE</a:t>
            </a:r>
            <a:endParaRPr lang="en-US" sz="1100" dirty="0"/>
          </a:p>
        </p:txBody>
      </p:sp>
      <p:sp>
        <p:nvSpPr>
          <p:cNvPr id="6" name="flowhead-obj"/>
          <p:cNvSpPr txBox="1"/>
          <p:nvPr/>
        </p:nvSpPr>
        <p:spPr>
          <a:xfrm>
            <a:off x="8001000" y="1325880"/>
            <a:ext cx="3639312" cy="274320"/>
          </a:xfrm>
          <a:prstGeom prst="rect">
            <a:avLst/>
          </a:prstGeom>
          <a:noFill/>
          <a:ln/>
        </p:spPr>
        <p:txBody>
          <a:bodyPr wrap="square" lIns="0" tIns="0" rIns="0" bIns="0" rtlCol="0" anchor="t"/>
          <a:lstStyle/>
          <a:p>
            <a:pPr indent="0" marL="0">
              <a:buNone/>
            </a:pPr>
            <a:r>
              <a:rPr lang="en-US" sz="1100" b="1" spc="100" kern="0" dirty="0">
                <a:solidFill>
                  <a:schemeClr val="tx2"/>
                </a:solidFill>
              </a:rPr>
              <a:t>2026 OBJECTIVE</a:t>
            </a:r>
            <a:endParaRPr lang="en-US" sz="1100" dirty="0"/>
          </a:p>
        </p:txBody>
      </p:sp>
      <p:sp>
        <p:nvSpPr>
          <p:cNvPr id="7" name="flow-src-box"/>
          <p:cNvSpPr/>
          <p:nvPr/>
        </p:nvSpPr>
        <p:spPr>
          <a:xfrm>
            <a:off x="548640" y="1691640"/>
            <a:ext cx="2377440" cy="3602736"/>
          </a:xfrm>
          <a:prstGeom prst="roundRect">
            <a:avLst>
              <a:gd name="adj" fmla="val 4615"/>
            </a:avLst>
          </a:prstGeom>
          <a:solidFill>
            <a:schemeClr val="accent4"/>
          </a:solidFill>
          <a:ln/>
        </p:spPr>
      </p:sp>
      <p:sp>
        <p:nvSpPr>
          <p:cNvPr id="8" name="flow-src-text"/>
          <p:cNvSpPr txBox="1"/>
          <p:nvPr/>
        </p:nvSpPr>
        <p:spPr>
          <a:xfrm>
            <a:off x="777240" y="1965960"/>
            <a:ext cx="1920240" cy="3054096"/>
          </a:xfrm>
          <a:prstGeom prst="rect">
            <a:avLst/>
          </a:prstGeom>
          <a:noFill/>
          <a:ln/>
        </p:spPr>
        <p:txBody>
          <a:bodyPr wrap="square" lIns="0" tIns="0" rIns="0" bIns="0" rtlCol="0" anchor="ctr"/>
          <a:lstStyle/>
          <a:p>
            <a:pPr indent="0" marL="0">
              <a:buNone/>
            </a:pPr>
            <a:r>
              <a:rPr lang="en-US" sz="2000" b="1" dirty="0">
                <a:solidFill>
                  <a:schemeClr val="bg1"/>
                </a:solidFill>
              </a:rPr>
              <a:t>AI-assisted migration of ERM</a:t>
            </a:r>
            <a:endParaRPr lang="en-US" sz="2000" dirty="0"/>
          </a:p>
          <a:p>
            <a:pPr indent="0" marL="0">
              <a:buNone/>
            </a:pPr>
            <a:r>
              <a:rPr lang="en-US" sz="1000" dirty="0">
                <a:solidFill>
                  <a:srgbClr val="000000"/>
                </a:solidFill>
              </a:rPr>
              <a:t> </a:t>
            </a:r>
            <a:endParaRPr lang="en-US" sz="2000" dirty="0"/>
          </a:p>
          <a:p>
            <a:pPr indent="0" marL="0">
              <a:buNone/>
            </a:pPr>
            <a:r>
              <a:rPr lang="en-US" sz="1400" dirty="0">
                <a:solidFill>
                  <a:schemeClr val="bg1"/>
                </a:solidFill>
              </a:rPr>
              <a:t>Slate to React + OSDK</a:t>
            </a:r>
            <a:endParaRPr lang="en-US" sz="2000" dirty="0"/>
          </a:p>
          <a:p>
            <a:pPr indent="0" marL="0">
              <a:buNone/>
            </a:pPr>
            <a:r>
              <a:rPr lang="en-US" sz="1400" dirty="0">
                <a:solidFill>
                  <a:schemeClr val="bg1"/>
                </a:solidFill>
              </a:rPr>
              <a:t>2 developers · 1 PI</a:t>
            </a:r>
            <a:endParaRPr lang="en-US" sz="2000" dirty="0"/>
          </a:p>
          <a:p>
            <a:pPr indent="0" marL="0">
              <a:buNone/>
            </a:pPr>
            <a:r>
              <a:rPr lang="en-US" sz="1400" dirty="0">
                <a:solidFill>
                  <a:schemeClr val="bg1"/>
                </a:solidFill>
              </a:rPr>
              <a:t>pack-project.ts</a:t>
            </a:r>
            <a:endParaRPr lang="en-US" sz="2000" dirty="0"/>
          </a:p>
        </p:txBody>
      </p:sp>
      <p:sp>
        <p:nvSpPr>
          <p:cNvPr id="9" name="flow-0-arrow1"/>
          <p:cNvSpPr/>
          <p:nvPr/>
        </p:nvSpPr>
        <p:spPr>
          <a:xfrm>
            <a:off x="2971800" y="2093976"/>
            <a:ext cx="411480" cy="0"/>
          </a:xfrm>
          <a:prstGeom prst="line">
            <a:avLst/>
          </a:prstGeom>
          <a:noFill/>
          <a:ln w="22225">
            <a:solidFill>
              <a:schemeClr val="tx2"/>
            </a:solidFill>
            <a:prstDash val="solid"/>
            <a:tailEnd type="triangle"/>
          </a:ln>
        </p:spPr>
      </p:sp>
      <p:sp>
        <p:nvSpPr>
          <p:cNvPr id="10" name="flow-0-evbox"/>
          <p:cNvSpPr/>
          <p:nvPr/>
        </p:nvSpPr>
        <p:spPr>
          <a:xfrm>
            <a:off x="3429000" y="1691640"/>
            <a:ext cx="4069080" cy="804672"/>
          </a:xfrm>
          <a:prstGeom prst="roundRect">
            <a:avLst>
              <a:gd name="adj" fmla="val 13636"/>
            </a:avLst>
          </a:prstGeom>
          <a:solidFill>
            <a:schemeClr val="bg2"/>
          </a:solidFill>
          <a:ln/>
        </p:spPr>
      </p:sp>
      <p:sp>
        <p:nvSpPr>
          <p:cNvPr id="11" name="flow-0-evtext"/>
          <p:cNvSpPr txBox="1"/>
          <p:nvPr/>
        </p:nvSpPr>
        <p:spPr>
          <a:xfrm>
            <a:off x="3611880" y="1783080"/>
            <a:ext cx="3703320" cy="621792"/>
          </a:xfrm>
          <a:prstGeom prst="rect">
            <a:avLst/>
          </a:prstGeom>
          <a:noFill/>
          <a:ln/>
        </p:spPr>
        <p:txBody>
          <a:bodyPr wrap="square" lIns="0" tIns="0" rIns="0" bIns="0" rtlCol="0" anchor="ctr"/>
          <a:lstStyle/>
          <a:p>
            <a:pPr indent="0" marL="0">
              <a:buNone/>
            </a:pPr>
            <a:r>
              <a:rPr lang="en-US" sz="1300" dirty="0">
                <a:solidFill>
                  <a:schemeClr val="tx1"/>
                </a:solidFill>
              </a:rPr>
              <a:t>AI read 8 Slate exports and the packed React code: 105 features recovered, 31 gaps found</a:t>
            </a:r>
            <a:endParaRPr lang="en-US" sz="1300" dirty="0"/>
          </a:p>
        </p:txBody>
      </p:sp>
      <p:sp>
        <p:nvSpPr>
          <p:cNvPr id="12" name="flow-0-arrow2"/>
          <p:cNvSpPr/>
          <p:nvPr/>
        </p:nvSpPr>
        <p:spPr>
          <a:xfrm>
            <a:off x="7543800" y="2093976"/>
            <a:ext cx="411480" cy="0"/>
          </a:xfrm>
          <a:prstGeom prst="line">
            <a:avLst/>
          </a:prstGeom>
          <a:noFill/>
          <a:ln w="22225">
            <a:solidFill>
              <a:schemeClr val="tx2"/>
            </a:solidFill>
            <a:prstDash val="solid"/>
            <a:tailEnd type="triangle"/>
          </a:ln>
        </p:spPr>
      </p:sp>
      <p:sp>
        <p:nvSpPr>
          <p:cNvPr id="13" name="flow-0-objbox"/>
          <p:cNvSpPr/>
          <p:nvPr/>
        </p:nvSpPr>
        <p:spPr>
          <a:xfrm>
            <a:off x="8001000" y="1691640"/>
            <a:ext cx="3639312" cy="804672"/>
          </a:xfrm>
          <a:prstGeom prst="roundRect">
            <a:avLst>
              <a:gd name="adj" fmla="val 13636"/>
            </a:avLst>
          </a:prstGeom>
          <a:solidFill>
            <a:schemeClr val="tx1"/>
          </a:solidFill>
          <a:ln/>
        </p:spPr>
      </p:sp>
      <p:sp>
        <p:nvSpPr>
          <p:cNvPr id="14" name="flow-0-objtext"/>
          <p:cNvSpPr txBox="1"/>
          <p:nvPr/>
        </p:nvSpPr>
        <p:spPr>
          <a:xfrm>
            <a:off x="8183880" y="1783080"/>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Leverage AI to solve business problems</a:t>
            </a:r>
            <a:endParaRPr lang="en-US" sz="1400" dirty="0"/>
          </a:p>
          <a:p>
            <a:pPr indent="0" marL="0">
              <a:buNone/>
            </a:pPr>
            <a:r>
              <a:rPr lang="en-US" sz="1100" dirty="0">
                <a:solidFill>
                  <a:schemeClr val="accent5"/>
                </a:solidFill>
              </a:rPr>
              <a:t>India TFO · Digital: democratise AI</a:t>
            </a:r>
            <a:endParaRPr lang="en-US" sz="1400" dirty="0"/>
          </a:p>
        </p:txBody>
      </p:sp>
      <p:sp>
        <p:nvSpPr>
          <p:cNvPr id="15" name="flow-1-arrow1"/>
          <p:cNvSpPr/>
          <p:nvPr/>
        </p:nvSpPr>
        <p:spPr>
          <a:xfrm>
            <a:off x="2971800" y="3026664"/>
            <a:ext cx="411480" cy="0"/>
          </a:xfrm>
          <a:prstGeom prst="line">
            <a:avLst/>
          </a:prstGeom>
          <a:noFill/>
          <a:ln w="22225">
            <a:solidFill>
              <a:schemeClr val="tx2"/>
            </a:solidFill>
            <a:prstDash val="solid"/>
            <a:tailEnd type="triangle"/>
          </a:ln>
        </p:spPr>
      </p:sp>
      <p:sp>
        <p:nvSpPr>
          <p:cNvPr id="16" name="flow-1-evbox"/>
          <p:cNvSpPr/>
          <p:nvPr/>
        </p:nvSpPr>
        <p:spPr>
          <a:xfrm>
            <a:off x="3429000" y="2624328"/>
            <a:ext cx="4069080" cy="804672"/>
          </a:xfrm>
          <a:prstGeom prst="roundRect">
            <a:avLst>
              <a:gd name="adj" fmla="val 13636"/>
            </a:avLst>
          </a:prstGeom>
          <a:solidFill>
            <a:schemeClr val="bg2"/>
          </a:solidFill>
          <a:ln/>
        </p:spPr>
      </p:sp>
      <p:sp>
        <p:nvSpPr>
          <p:cNvPr id="17" name="flow-1-evtext"/>
          <p:cNvSpPr txBox="1"/>
          <p:nvPr/>
        </p:nvSpPr>
        <p:spPr>
          <a:xfrm>
            <a:off x="3611880" y="2715768"/>
            <a:ext cx="3703320" cy="621792"/>
          </a:xfrm>
          <a:prstGeom prst="rect">
            <a:avLst/>
          </a:prstGeom>
          <a:noFill/>
          <a:ln/>
        </p:spPr>
        <p:txBody>
          <a:bodyPr wrap="square" lIns="0" tIns="0" rIns="0" bIns="0" rtlCol="0" anchor="ctr"/>
          <a:lstStyle/>
          <a:p>
            <a:pPr indent="0" marL="0">
              <a:buNone/>
            </a:pPr>
            <a:r>
              <a:rPr lang="en-US" sz="1300" dirty="0">
                <a:solidFill>
                  <a:schemeClr val="tx1"/>
                </a:solidFill>
              </a:rPr>
              <a:t>Delivered in 1 PI by 2 developers, about 76% less effort than a manual estimate</a:t>
            </a:r>
            <a:endParaRPr lang="en-US" sz="1300" dirty="0"/>
          </a:p>
        </p:txBody>
      </p:sp>
      <p:sp>
        <p:nvSpPr>
          <p:cNvPr id="18" name="flow-1-arrow2"/>
          <p:cNvSpPr/>
          <p:nvPr/>
        </p:nvSpPr>
        <p:spPr>
          <a:xfrm>
            <a:off x="7543800" y="3026664"/>
            <a:ext cx="411480" cy="0"/>
          </a:xfrm>
          <a:prstGeom prst="line">
            <a:avLst/>
          </a:prstGeom>
          <a:noFill/>
          <a:ln w="22225">
            <a:solidFill>
              <a:schemeClr val="tx2"/>
            </a:solidFill>
            <a:prstDash val="solid"/>
            <a:tailEnd type="triangle"/>
          </a:ln>
        </p:spPr>
      </p:sp>
      <p:sp>
        <p:nvSpPr>
          <p:cNvPr id="19" name="flow-1-objbox"/>
          <p:cNvSpPr/>
          <p:nvPr/>
        </p:nvSpPr>
        <p:spPr>
          <a:xfrm>
            <a:off x="8001000" y="2624328"/>
            <a:ext cx="3639312" cy="804672"/>
          </a:xfrm>
          <a:prstGeom prst="roundRect">
            <a:avLst>
              <a:gd name="adj" fmla="val 13636"/>
            </a:avLst>
          </a:prstGeom>
          <a:solidFill>
            <a:schemeClr val="tx1"/>
          </a:solidFill>
          <a:ln/>
        </p:spPr>
      </p:sp>
      <p:sp>
        <p:nvSpPr>
          <p:cNvPr id="20" name="flow-1-objtext"/>
          <p:cNvSpPr txBox="1"/>
          <p:nvPr/>
        </p:nvSpPr>
        <p:spPr>
          <a:xfrm>
            <a:off x="8183880" y="2715768"/>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Deliver on time, on cost, on quality</a:t>
            </a:r>
            <a:endParaRPr lang="en-US" sz="1400" dirty="0"/>
          </a:p>
          <a:p>
            <a:pPr indent="0" marL="0">
              <a:buNone/>
            </a:pPr>
            <a:r>
              <a:rPr lang="en-US" sz="1100" dirty="0">
                <a:solidFill>
                  <a:schemeClr val="accent5"/>
                </a:solidFill>
              </a:rPr>
              <a:t>Digital: optimise our digital resources</a:t>
            </a:r>
            <a:endParaRPr lang="en-US" sz="1400" dirty="0"/>
          </a:p>
        </p:txBody>
      </p:sp>
      <p:sp>
        <p:nvSpPr>
          <p:cNvPr id="21" name="flow-2-arrow1"/>
          <p:cNvSpPr/>
          <p:nvPr/>
        </p:nvSpPr>
        <p:spPr>
          <a:xfrm>
            <a:off x="2971800" y="3959352"/>
            <a:ext cx="411480" cy="0"/>
          </a:xfrm>
          <a:prstGeom prst="line">
            <a:avLst/>
          </a:prstGeom>
          <a:noFill/>
          <a:ln w="22225">
            <a:solidFill>
              <a:schemeClr val="tx2"/>
            </a:solidFill>
            <a:prstDash val="solid"/>
            <a:tailEnd type="triangle"/>
          </a:ln>
        </p:spPr>
      </p:sp>
      <p:sp>
        <p:nvSpPr>
          <p:cNvPr id="22" name="flow-2-evbox"/>
          <p:cNvSpPr/>
          <p:nvPr/>
        </p:nvSpPr>
        <p:spPr>
          <a:xfrm>
            <a:off x="3429000" y="3557016"/>
            <a:ext cx="4069080" cy="804672"/>
          </a:xfrm>
          <a:prstGeom prst="roundRect">
            <a:avLst>
              <a:gd name="adj" fmla="val 13636"/>
            </a:avLst>
          </a:prstGeom>
          <a:solidFill>
            <a:schemeClr val="bg2"/>
          </a:solidFill>
          <a:ln/>
        </p:spPr>
      </p:sp>
      <p:sp>
        <p:nvSpPr>
          <p:cNvPr id="23" name="flow-2-evtext"/>
          <p:cNvSpPr txBox="1"/>
          <p:nvPr/>
        </p:nvSpPr>
        <p:spPr>
          <a:xfrm>
            <a:off x="3611880" y="3648456"/>
            <a:ext cx="3703320" cy="621792"/>
          </a:xfrm>
          <a:prstGeom prst="rect">
            <a:avLst/>
          </a:prstGeom>
          <a:noFill/>
          <a:ln/>
        </p:spPr>
        <p:txBody>
          <a:bodyPr wrap="square" lIns="0" tIns="0" rIns="0" bIns="0" rtlCol="0" anchor="ctr"/>
          <a:lstStyle/>
          <a:p>
            <a:pPr indent="0" marL="0">
              <a:buNone/>
            </a:pPr>
            <a:r>
              <a:rPr lang="en-US" sz="1300" dirty="0">
                <a:solidFill>
                  <a:schemeClr val="tx1"/>
                </a:solidFill>
              </a:rPr>
              <a:t>All 105 features tracked for parity; ERM rebuilt on a standard, maintainable stack, ready to leave Slate</a:t>
            </a:r>
            <a:endParaRPr lang="en-US" sz="1300" dirty="0"/>
          </a:p>
        </p:txBody>
      </p:sp>
      <p:sp>
        <p:nvSpPr>
          <p:cNvPr id="24" name="flow-2-arrow2"/>
          <p:cNvSpPr/>
          <p:nvPr/>
        </p:nvSpPr>
        <p:spPr>
          <a:xfrm>
            <a:off x="7543800" y="3959352"/>
            <a:ext cx="411480" cy="0"/>
          </a:xfrm>
          <a:prstGeom prst="line">
            <a:avLst/>
          </a:prstGeom>
          <a:noFill/>
          <a:ln w="22225">
            <a:solidFill>
              <a:schemeClr val="tx2"/>
            </a:solidFill>
            <a:prstDash val="solid"/>
            <a:tailEnd type="triangle"/>
          </a:ln>
        </p:spPr>
      </p:sp>
      <p:sp>
        <p:nvSpPr>
          <p:cNvPr id="25" name="flow-2-objbox"/>
          <p:cNvSpPr/>
          <p:nvPr/>
        </p:nvSpPr>
        <p:spPr>
          <a:xfrm>
            <a:off x="8001000" y="3557016"/>
            <a:ext cx="3639312" cy="804672"/>
          </a:xfrm>
          <a:prstGeom prst="roundRect">
            <a:avLst>
              <a:gd name="adj" fmla="val 13636"/>
            </a:avLst>
          </a:prstGeom>
          <a:solidFill>
            <a:schemeClr val="tx1"/>
          </a:solidFill>
          <a:ln/>
        </p:spPr>
      </p:sp>
      <p:sp>
        <p:nvSpPr>
          <p:cNvPr id="26" name="flow-2-objtext"/>
          <p:cNvSpPr txBox="1"/>
          <p:nvPr/>
        </p:nvSpPr>
        <p:spPr>
          <a:xfrm>
            <a:off x="8183880" y="3648456"/>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Ensure our operational performance</a:t>
            </a:r>
            <a:endParaRPr lang="en-US" sz="1400" dirty="0"/>
          </a:p>
          <a:p>
            <a:pPr indent="0" marL="0">
              <a:buNone/>
            </a:pPr>
            <a:r>
              <a:rPr lang="en-US" sz="1100" dirty="0">
                <a:solidFill>
                  <a:schemeClr val="accent5"/>
                </a:solidFill>
              </a:rPr>
              <a:t>Digital: availability of systems for operations</a:t>
            </a:r>
            <a:endParaRPr lang="en-US" sz="1400" dirty="0"/>
          </a:p>
        </p:txBody>
      </p:sp>
      <p:sp>
        <p:nvSpPr>
          <p:cNvPr id="27" name="flow-3-arrow1"/>
          <p:cNvSpPr/>
          <p:nvPr/>
        </p:nvSpPr>
        <p:spPr>
          <a:xfrm>
            <a:off x="2971800" y="4892040"/>
            <a:ext cx="411480" cy="0"/>
          </a:xfrm>
          <a:prstGeom prst="line">
            <a:avLst/>
          </a:prstGeom>
          <a:noFill/>
          <a:ln w="22225">
            <a:solidFill>
              <a:schemeClr val="tx2"/>
            </a:solidFill>
            <a:prstDash val="solid"/>
            <a:tailEnd type="triangle"/>
          </a:ln>
        </p:spPr>
      </p:sp>
      <p:sp>
        <p:nvSpPr>
          <p:cNvPr id="28" name="flow-3-evbox"/>
          <p:cNvSpPr/>
          <p:nvPr/>
        </p:nvSpPr>
        <p:spPr>
          <a:xfrm>
            <a:off x="3429000" y="4489704"/>
            <a:ext cx="4069080" cy="804672"/>
          </a:xfrm>
          <a:prstGeom prst="roundRect">
            <a:avLst>
              <a:gd name="adj" fmla="val 13636"/>
            </a:avLst>
          </a:prstGeom>
          <a:solidFill>
            <a:schemeClr val="bg2"/>
          </a:solidFill>
          <a:ln/>
        </p:spPr>
      </p:sp>
      <p:sp>
        <p:nvSpPr>
          <p:cNvPr id="29" name="flow-3-evtext"/>
          <p:cNvSpPr txBox="1"/>
          <p:nvPr/>
        </p:nvSpPr>
        <p:spPr>
          <a:xfrm>
            <a:off x="3611880" y="4581144"/>
            <a:ext cx="3703320" cy="621792"/>
          </a:xfrm>
          <a:prstGeom prst="rect">
            <a:avLst/>
          </a:prstGeom>
          <a:noFill/>
          <a:ln/>
        </p:spPr>
        <p:txBody>
          <a:bodyPr wrap="square" lIns="0" tIns="0" rIns="0" bIns="0" rtlCol="0" anchor="ctr"/>
          <a:lstStyle/>
          <a:p>
            <a:pPr indent="0" marL="0">
              <a:buNone/>
            </a:pPr>
            <a:r>
              <a:rPr lang="en-US" sz="1300" dirty="0">
                <a:solidFill>
                  <a:schemeClr val="tx1"/>
                </a:solidFill>
              </a:rPr>
              <a:t>pack-project.ts and the playbook let any team repeat the method</a:t>
            </a:r>
            <a:endParaRPr lang="en-US" sz="1300" dirty="0"/>
          </a:p>
        </p:txBody>
      </p:sp>
      <p:sp>
        <p:nvSpPr>
          <p:cNvPr id="30" name="flow-3-arrow2"/>
          <p:cNvSpPr/>
          <p:nvPr/>
        </p:nvSpPr>
        <p:spPr>
          <a:xfrm>
            <a:off x="7543800" y="4892040"/>
            <a:ext cx="411480" cy="0"/>
          </a:xfrm>
          <a:prstGeom prst="line">
            <a:avLst/>
          </a:prstGeom>
          <a:noFill/>
          <a:ln w="22225">
            <a:solidFill>
              <a:schemeClr val="tx2"/>
            </a:solidFill>
            <a:prstDash val="solid"/>
            <a:tailEnd type="triangle"/>
          </a:ln>
        </p:spPr>
      </p:sp>
      <p:sp>
        <p:nvSpPr>
          <p:cNvPr id="31" name="flow-3-objbox"/>
          <p:cNvSpPr/>
          <p:nvPr/>
        </p:nvSpPr>
        <p:spPr>
          <a:xfrm>
            <a:off x="8001000" y="4489704"/>
            <a:ext cx="3639312" cy="804672"/>
          </a:xfrm>
          <a:prstGeom prst="roundRect">
            <a:avLst>
              <a:gd name="adj" fmla="val 13636"/>
            </a:avLst>
          </a:prstGeom>
          <a:solidFill>
            <a:schemeClr val="tx1"/>
          </a:solidFill>
          <a:ln/>
        </p:spPr>
      </p:sp>
      <p:sp>
        <p:nvSpPr>
          <p:cNvPr id="32" name="flow-3-objtext"/>
          <p:cNvSpPr txBox="1"/>
          <p:nvPr/>
        </p:nvSpPr>
        <p:spPr>
          <a:xfrm>
            <a:off x="8183880" y="4581144"/>
            <a:ext cx="3273552" cy="621792"/>
          </a:xfrm>
          <a:prstGeom prst="rect">
            <a:avLst/>
          </a:prstGeom>
          <a:noFill/>
          <a:ln/>
        </p:spPr>
        <p:txBody>
          <a:bodyPr wrap="square" lIns="0" tIns="0" rIns="0" bIns="0" rtlCol="0" anchor="ctr"/>
          <a:lstStyle/>
          <a:p>
            <a:pPr indent="0" marL="0">
              <a:buNone/>
            </a:pPr>
            <a:r>
              <a:rPr lang="en-US" sz="1400" b="1" dirty="0">
                <a:solidFill>
                  <a:schemeClr val="bg1"/>
                </a:solidFill>
              </a:rPr>
              <a:t>Grow digital acumen and competencies</a:t>
            </a:r>
            <a:endParaRPr lang="en-US" sz="1400" dirty="0"/>
          </a:p>
          <a:p>
            <a:pPr indent="0" marL="0">
              <a:buNone/>
            </a:pPr>
            <a:r>
              <a:rPr lang="en-US" sz="1100" dirty="0">
                <a:solidFill>
                  <a:schemeClr val="accent5"/>
                </a:solidFill>
              </a:rPr>
              <a:t>Digital: develop our people · India TFO</a:t>
            </a:r>
            <a:endParaRPr lang="en-US" sz="1400" dirty="0"/>
          </a:p>
        </p:txBody>
      </p:sp>
      <p:sp>
        <p:nvSpPr>
          <p:cNvPr id="33" name="team-card"/>
          <p:cNvSpPr/>
          <p:nvPr/>
        </p:nvSpPr>
        <p:spPr>
          <a:xfrm>
            <a:off x="548640" y="5477256"/>
            <a:ext cx="11094415" cy="969264"/>
          </a:xfrm>
          <a:prstGeom prst="roundRect">
            <a:avLst>
              <a:gd name="adj" fmla="val 11321"/>
            </a:avLst>
          </a:prstGeom>
          <a:solidFill>
            <a:schemeClr val="bg1"/>
          </a:solidFill>
          <a:ln/>
        </p:spPr>
      </p:sp>
      <p:sp>
        <p:nvSpPr>
          <p:cNvPr id="34" name="team-text"/>
          <p:cNvSpPr txBox="1"/>
          <p:nvPr/>
        </p:nvSpPr>
        <p:spPr>
          <a:xfrm>
            <a:off x="822960" y="5477256"/>
            <a:ext cx="10545775" cy="969264"/>
          </a:xfrm>
          <a:prstGeom prst="rect">
            <a:avLst/>
          </a:prstGeom>
          <a:noFill/>
          <a:ln/>
        </p:spPr>
        <p:txBody>
          <a:bodyPr wrap="square" lIns="0" tIns="0" rIns="0" bIns="0" rtlCol="0" anchor="ctr"/>
          <a:lstStyle/>
          <a:p>
            <a:pPr indent="0" marL="0">
              <a:buNone/>
            </a:pPr>
            <a:r>
              <a:rPr lang="en-US" sz="1100" b="1" spc="200" kern="0" dirty="0">
                <a:solidFill>
                  <a:schemeClr val="accent3"/>
                </a:solidFill>
              </a:rPr>
              <a:t>BUILT TOGETHER  </a:t>
            </a:r>
            <a:pPr indent="0" marL="0">
              <a:buNone/>
            </a:pPr>
            <a:r>
              <a:rPr lang="en-US" sz="1300" dirty="0">
                <a:solidFill>
                  <a:schemeClr val="tx1"/>
                </a:solidFill>
              </a:rPr>
              <a:t>Business users confirmed the feature catalogue · Data and security owners kept restricted views intact · Backend and frontend fixes shipped together</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childTnLst>
                          </p:cTn>
                        </p:par>
                        <p:par>
                          <p:cTn id="28" fill="hold">
                            <p:stCondLst>
                              <p:cond delay="11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450"/>
                                        <p:tgtEl>
                                          <p:spTgt spid="9"/>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6" presetID="10" presetClass="entr" presetSubtype="0" fill="hold" grpId="0" nodeType="withEffect">
                                  <p:stCondLst>
                                    <p:cond delay="25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par>
                                <p:cTn id="19" presetID="22" presetClass="entr" presetSubtype="8" fill="hold" grpId="0" nodeType="withEffect">
                                  <p:stCondLst>
                                    <p:cond delay="55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450"/>
                                        <p:tgtEl>
                                          <p:spTgt spid="12"/>
                                        </p:tgtEl>
                                      </p:cBhvr>
                                    </p:animEffect>
                                  </p:childTnLst>
                                </p:cTn>
                              </p:par>
                              <p:par>
                                <p:cTn id="22" presetID="10" presetClass="entr" presetSubtype="0" fill="hold" grpId="0" nodeType="withEffect">
                                  <p:stCondLst>
                                    <p:cond delay="80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grpId="0" nodeType="withEffect">
                                  <p:stCondLst>
                                    <p:cond delay="8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par>
                          <p:cTn id="47" fill="hold">
                            <p:stCondLst>
                              <p:cond delay="2200"/>
                            </p:stCondLst>
                            <p:childTnLst>
                              <p:par>
                                <p:cTn id="29" presetID="22" presetClass="entr" presetSubtype="8"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450"/>
                                        <p:tgtEl>
                                          <p:spTgt spid="15"/>
                                        </p:tgtEl>
                                      </p:cBhvr>
                                    </p:animEffect>
                                  </p:childTnLst>
                                </p:cTn>
                              </p:par>
                              <p:par>
                                <p:cTn id="32" presetID="10" presetClass="entr" presetSubtype="0" fill="hold" grpId="0" nodeType="withEffect">
                                  <p:stCondLst>
                                    <p:cond delay="25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grpId="0" nodeType="withEffect">
                                  <p:stCondLst>
                                    <p:cond delay="25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par>
                                <p:cTn id="38" presetID="22" presetClass="entr" presetSubtype="8" fill="hold" grpId="0" nodeType="withEffect">
                                  <p:stCondLst>
                                    <p:cond delay="55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450"/>
                                        <p:tgtEl>
                                          <p:spTgt spid="18"/>
                                        </p:tgtEl>
                                      </p:cBhvr>
                                    </p:animEffect>
                                  </p:childTnLst>
                                </p:cTn>
                              </p:par>
                              <p:par>
                                <p:cTn id="41" presetID="10" presetClass="entr" presetSubtype="0" fill="hold" grpId="0" nodeType="withEffect">
                                  <p:stCondLst>
                                    <p:cond delay="8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50"/>
                                        <p:tgtEl>
                                          <p:spTgt spid="19"/>
                                        </p:tgtEl>
                                      </p:cBhvr>
                                    </p:animEffect>
                                  </p:childTnLst>
                                </p:cTn>
                              </p:par>
                              <p:par>
                                <p:cTn id="44" presetID="10" presetClass="entr" presetSubtype="0" fill="hold" grpId="0" nodeType="withEffect">
                                  <p:stCondLst>
                                    <p:cond delay="80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50"/>
                                        <p:tgtEl>
                                          <p:spTgt spid="20"/>
                                        </p:tgtEl>
                                      </p:cBhvr>
                                    </p:animEffect>
                                  </p:childTnLst>
                                </p:cTn>
                              </p:par>
                            </p:childTnLst>
                          </p:cTn>
                        </p:par>
                        <p:par>
                          <p:cTn id="66" fill="hold">
                            <p:stCondLst>
                              <p:cond delay="3300"/>
                            </p:stCondLst>
                            <p:childTnLst>
                              <p:par>
                                <p:cTn id="48" presetID="22" presetClass="entr" presetSubtype="8"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450"/>
                                        <p:tgtEl>
                                          <p:spTgt spid="21"/>
                                        </p:tgtEl>
                                      </p:cBhvr>
                                    </p:animEffect>
                                  </p:childTnLst>
                                </p:cTn>
                              </p:par>
                              <p:par>
                                <p:cTn id="51" presetID="10" presetClass="entr" presetSubtype="0" fill="hold" grpId="0" nodeType="withEffect">
                                  <p:stCondLst>
                                    <p:cond delay="25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grpId="0" nodeType="withEffect">
                                  <p:stCondLst>
                                    <p:cond delay="25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22" presetClass="entr" presetSubtype="8" fill="hold" grpId="0" nodeType="withEffect">
                                  <p:stCondLst>
                                    <p:cond delay="55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9" dur="450"/>
                                        <p:tgtEl>
                                          <p:spTgt spid="24"/>
                                        </p:tgtEl>
                                      </p:cBhvr>
                                    </p:animEffect>
                                  </p:childTnLst>
                                </p:cTn>
                              </p:par>
                              <p:par>
                                <p:cTn id="60" presetID="10" presetClass="entr" presetSubtype="0" fill="hold" grpId="0" nodeType="withEffect">
                                  <p:stCondLst>
                                    <p:cond delay="80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par>
                                <p:cTn id="63" presetID="10" presetClass="entr" presetSubtype="0" fill="hold" grpId="0" nodeType="withEffect">
                                  <p:stCondLst>
                                    <p:cond delay="80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50"/>
                                        <p:tgtEl>
                                          <p:spTgt spid="26"/>
                                        </p:tgtEl>
                                      </p:cBhvr>
                                    </p:animEffect>
                                  </p:childTnLst>
                                </p:cTn>
                              </p:par>
                            </p:childTnLst>
                          </p:cTn>
                        </p:par>
                        <p:par>
                          <p:cTn id="85" fill="hold">
                            <p:stCondLst>
                              <p:cond delay="4400"/>
                            </p:stCondLst>
                            <p:childTnLst>
                              <p:par>
                                <p:cTn id="67" presetID="22" presetClass="entr" presetSubtype="8" fill="hold" grpId="0" nodeType="after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left)">
                                      <p:cBhvr>
                                        <p:cTn id="69" dur="450"/>
                                        <p:tgtEl>
                                          <p:spTgt spid="27"/>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50"/>
                                        <p:tgtEl>
                                          <p:spTgt spid="28"/>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par>
                                <p:cTn id="76" presetID="22" presetClass="entr" presetSubtype="8" fill="hold" grpId="0" nodeType="withEffect">
                                  <p:stCondLst>
                                    <p:cond delay="550"/>
                                  </p:stCondLst>
                                  <p:childTnLst>
                                    <p:set>
                                      <p:cBhvr>
                                        <p:cTn id="77" dur="1" fill="hold">
                                          <p:stCondLst>
                                            <p:cond delay="0"/>
                                          </p:stCondLst>
                                        </p:cTn>
                                        <p:tgtEl>
                                          <p:spTgt spid="30"/>
                                        </p:tgtEl>
                                        <p:attrNameLst>
                                          <p:attrName>style.visibility</p:attrName>
                                        </p:attrNameLst>
                                      </p:cBhvr>
                                      <p:to>
                                        <p:strVal val="visible"/>
                                      </p:to>
                                    </p:set>
                                    <p:animEffect transition="in" filter="wipe(left)">
                                      <p:cBhvr>
                                        <p:cTn id="78" dur="450"/>
                                        <p:tgtEl>
                                          <p:spTgt spid="30"/>
                                        </p:tgtEl>
                                      </p:cBhvr>
                                    </p:animEffect>
                                  </p:childTnLst>
                                </p:cTn>
                              </p:par>
                              <p:par>
                                <p:cTn id="79" presetID="10" presetClass="entr" presetSubtype="0" fill="hold" grpId="0" nodeType="withEffect">
                                  <p:stCondLst>
                                    <p:cond delay="80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50"/>
                                        <p:tgtEl>
                                          <p:spTgt spid="31"/>
                                        </p:tgtEl>
                                      </p:cBhvr>
                                    </p:animEffect>
                                  </p:childTnLst>
                                </p:cTn>
                              </p:par>
                              <p:par>
                                <p:cTn id="82" presetID="10" presetClass="entr" presetSubtype="0" fill="hold" grpId="0" nodeType="withEffect">
                                  <p:stCondLst>
                                    <p:cond delay="80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childTnLst>
                          </p:cTn>
                        </p:par>
                        <p:par>
                          <p:cTn id="92" fill="hold">
                            <p:stCondLst>
                              <p:cond delay="5500"/>
                            </p:stCondLst>
                            <p:childTnLst>
                              <p:par>
                                <p:cTn id="86" presetID="22" presetClass="entr" presetSubtype="8" fill="hold" grpId="0" nodeType="after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wipe(left)">
                                      <p:cBhvr>
                                        <p:cTn id="88" dur="450"/>
                                        <p:tgtEl>
                                          <p:spTgt spid="33"/>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left)">
                                      <p:cBhvr>
                                        <p:cTn id="91"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SCALE · TRANSFERABILITY</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A playbook any team can run next</a:t>
            </a:r>
            <a:endParaRPr lang="en-US" sz="3600" dirty="0"/>
          </a:p>
        </p:txBody>
      </p:sp>
      <p:sp>
        <p:nvSpPr>
          <p:cNvPr id="4" name="step-0"/>
          <p:cNvSpPr/>
          <p:nvPr/>
        </p:nvSpPr>
        <p:spPr>
          <a:xfrm>
            <a:off x="548640" y="1463040"/>
            <a:ext cx="2131101" cy="777240"/>
          </a:xfrm>
          <a:prstGeom prst="chevron">
            <a:avLst/>
          </a:prstGeom>
          <a:solidFill>
            <a:schemeClr val="accent2"/>
          </a:solidFill>
          <a:ln/>
        </p:spPr>
      </p:sp>
      <p:sp>
        <p:nvSpPr>
          <p:cNvPr id="5" name="step-0-text"/>
          <p:cNvSpPr txBox="1"/>
          <p:nvPr/>
        </p:nvSpPr>
        <p:spPr>
          <a:xfrm>
            <a:off x="822960"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Pack</a:t>
            </a:r>
            <a:endParaRPr lang="en-US" sz="1800" dirty="0"/>
          </a:p>
        </p:txBody>
      </p:sp>
      <p:sp>
        <p:nvSpPr>
          <p:cNvPr id="6" name="step-1"/>
          <p:cNvSpPr/>
          <p:nvPr/>
        </p:nvSpPr>
        <p:spPr>
          <a:xfrm>
            <a:off x="2789469" y="1463040"/>
            <a:ext cx="2131101" cy="777240"/>
          </a:xfrm>
          <a:prstGeom prst="chevron">
            <a:avLst/>
          </a:prstGeom>
          <a:solidFill>
            <a:schemeClr val="accent4"/>
          </a:solidFill>
          <a:ln/>
        </p:spPr>
      </p:sp>
      <p:sp>
        <p:nvSpPr>
          <p:cNvPr id="7" name="step-1-text"/>
          <p:cNvSpPr txBox="1"/>
          <p:nvPr/>
        </p:nvSpPr>
        <p:spPr>
          <a:xfrm>
            <a:off x="3063789"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Extract</a:t>
            </a:r>
            <a:endParaRPr lang="en-US" sz="1800" dirty="0"/>
          </a:p>
        </p:txBody>
      </p:sp>
      <p:sp>
        <p:nvSpPr>
          <p:cNvPr id="8" name="step-2"/>
          <p:cNvSpPr/>
          <p:nvPr/>
        </p:nvSpPr>
        <p:spPr>
          <a:xfrm>
            <a:off x="5030297" y="1463040"/>
            <a:ext cx="2131101" cy="777240"/>
          </a:xfrm>
          <a:prstGeom prst="chevron">
            <a:avLst/>
          </a:prstGeom>
          <a:solidFill>
            <a:schemeClr val="accent4"/>
          </a:solidFill>
          <a:ln/>
        </p:spPr>
      </p:sp>
      <p:sp>
        <p:nvSpPr>
          <p:cNvPr id="9" name="step-2-text"/>
          <p:cNvSpPr txBox="1"/>
          <p:nvPr/>
        </p:nvSpPr>
        <p:spPr>
          <a:xfrm>
            <a:off x="5304617"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Compare</a:t>
            </a:r>
            <a:endParaRPr lang="en-US" sz="1800" dirty="0"/>
          </a:p>
        </p:txBody>
      </p:sp>
      <p:sp>
        <p:nvSpPr>
          <p:cNvPr id="10" name="step-3"/>
          <p:cNvSpPr/>
          <p:nvPr/>
        </p:nvSpPr>
        <p:spPr>
          <a:xfrm>
            <a:off x="7271126" y="1463040"/>
            <a:ext cx="2131101" cy="777240"/>
          </a:xfrm>
          <a:prstGeom prst="chevron">
            <a:avLst/>
          </a:prstGeom>
          <a:solidFill>
            <a:schemeClr val="accent4"/>
          </a:solidFill>
          <a:ln/>
        </p:spPr>
      </p:sp>
      <p:sp>
        <p:nvSpPr>
          <p:cNvPr id="11" name="step-3-text"/>
          <p:cNvSpPr txBox="1"/>
          <p:nvPr/>
        </p:nvSpPr>
        <p:spPr>
          <a:xfrm>
            <a:off x="7545446"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Fix</a:t>
            </a:r>
            <a:endParaRPr lang="en-US" sz="1800" dirty="0"/>
          </a:p>
        </p:txBody>
      </p:sp>
      <p:sp>
        <p:nvSpPr>
          <p:cNvPr id="12" name="step-4"/>
          <p:cNvSpPr/>
          <p:nvPr/>
        </p:nvSpPr>
        <p:spPr>
          <a:xfrm>
            <a:off x="9511955" y="1463040"/>
            <a:ext cx="2131101" cy="777240"/>
          </a:xfrm>
          <a:prstGeom prst="chevron">
            <a:avLst/>
          </a:prstGeom>
          <a:solidFill>
            <a:schemeClr val="accent4"/>
          </a:solidFill>
          <a:ln/>
        </p:spPr>
      </p:sp>
      <p:sp>
        <p:nvSpPr>
          <p:cNvPr id="13" name="step-4-text"/>
          <p:cNvSpPr txBox="1"/>
          <p:nvPr/>
        </p:nvSpPr>
        <p:spPr>
          <a:xfrm>
            <a:off x="9786275" y="1463040"/>
            <a:ext cx="1582461" cy="777240"/>
          </a:xfrm>
          <a:prstGeom prst="rect">
            <a:avLst/>
          </a:prstGeom>
          <a:noFill/>
          <a:ln/>
        </p:spPr>
        <p:txBody>
          <a:bodyPr wrap="square" lIns="0" tIns="0" rIns="0" bIns="0" rtlCol="0" anchor="ctr"/>
          <a:lstStyle/>
          <a:p>
            <a:pPr algn="ctr" indent="0" marL="0">
              <a:buNone/>
            </a:pPr>
            <a:r>
              <a:rPr lang="en-US" sz="1800" b="1" dirty="0">
                <a:solidFill>
                  <a:schemeClr val="bg1"/>
                </a:solidFill>
              </a:rPr>
              <a:t>Document</a:t>
            </a:r>
            <a:endParaRPr lang="en-US" sz="1800" dirty="0"/>
          </a:p>
        </p:txBody>
      </p:sp>
      <p:sp>
        <p:nvSpPr>
          <p:cNvPr id="14" name="reuse-0-card"/>
          <p:cNvSpPr/>
          <p:nvPr/>
        </p:nvSpPr>
        <p:spPr>
          <a:xfrm>
            <a:off x="548640" y="2560320"/>
            <a:ext cx="3515258" cy="2743200"/>
          </a:xfrm>
          <a:prstGeom prst="roundRect">
            <a:avLst>
              <a:gd name="adj" fmla="val 4000"/>
            </a:avLst>
          </a:prstGeom>
          <a:solidFill>
            <a:schemeClr val="accent4"/>
          </a:solidFill>
          <a:ln/>
        </p:spPr>
      </p:sp>
      <p:sp>
        <p:nvSpPr>
          <p:cNvPr id="15" name="reuse-0-title"/>
          <p:cNvSpPr txBox="1"/>
          <p:nvPr/>
        </p:nvSpPr>
        <p:spPr>
          <a:xfrm>
            <a:off x="822960" y="2743200"/>
            <a:ext cx="2966618" cy="411480"/>
          </a:xfrm>
          <a:prstGeom prst="rect">
            <a:avLst/>
          </a:prstGeom>
          <a:noFill/>
          <a:ln/>
        </p:spPr>
        <p:txBody>
          <a:bodyPr wrap="square" lIns="0" tIns="0" rIns="0" bIns="0" rtlCol="0" anchor="t"/>
          <a:lstStyle/>
          <a:p>
            <a:pPr indent="0" marL="0">
              <a:buNone/>
            </a:pPr>
            <a:r>
              <a:rPr lang="en-US" sz="2000" b="1" dirty="0">
                <a:solidFill>
                  <a:schemeClr val="accent5"/>
                </a:solidFill>
              </a:rPr>
              <a:t>Ready to reuse</a:t>
            </a:r>
            <a:endParaRPr lang="en-US" sz="2000" dirty="0"/>
          </a:p>
        </p:txBody>
      </p:sp>
      <p:sp>
        <p:nvSpPr>
          <p:cNvPr id="16" name="reuse-0-list"/>
          <p:cNvSpPr txBox="1"/>
          <p:nvPr/>
        </p:nvSpPr>
        <p:spPr>
          <a:xfrm>
            <a:off x="822960" y="3246120"/>
            <a:ext cx="2966618"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6"/>
                </a:solidFill>
              </a:rPr>
              <a:t>pack-project.ts: whole-app context in one command</a:t>
            </a:r>
            <a:endParaRPr lang="en-US" sz="1400" dirty="0"/>
          </a:p>
          <a:p>
            <a:pPr marL="342900" indent="-342900">
              <a:spcAft>
                <a:spcPts val="800"/>
              </a:spcAft>
              <a:buSzPct val="100000"/>
              <a:buChar char="•"/>
            </a:pPr>
            <a:r>
              <a:rPr lang="en-US" sz="1400" dirty="0">
                <a:solidFill>
                  <a:schemeClr val="accent6"/>
                </a:solidFill>
              </a:rPr>
              <a:t>Feature comparison template</a:t>
            </a:r>
            <a:endParaRPr lang="en-US" sz="1400" dirty="0"/>
          </a:p>
          <a:p>
            <a:pPr marL="342900" indent="-342900">
              <a:spcAft>
                <a:spcPts val="800"/>
              </a:spcAft>
              <a:buSzPct val="100000"/>
              <a:buChar char="•"/>
            </a:pPr>
            <a:r>
              <a:rPr lang="en-US" sz="1400" dirty="0">
                <a:solidFill>
                  <a:schemeClr val="accent6"/>
                </a:solidFill>
              </a:rPr>
              <a:t>Architecture and lifecycle diagram formats</a:t>
            </a:r>
            <a:endParaRPr lang="en-US" sz="1400" dirty="0"/>
          </a:p>
        </p:txBody>
      </p:sp>
      <p:sp>
        <p:nvSpPr>
          <p:cNvPr id="17" name="reuse-1-card"/>
          <p:cNvSpPr/>
          <p:nvPr/>
        </p:nvSpPr>
        <p:spPr>
          <a:xfrm>
            <a:off x="4338218" y="2560320"/>
            <a:ext cx="3515258" cy="2743200"/>
          </a:xfrm>
          <a:prstGeom prst="roundRect">
            <a:avLst>
              <a:gd name="adj" fmla="val 4000"/>
            </a:avLst>
          </a:prstGeom>
          <a:solidFill>
            <a:schemeClr val="accent4"/>
          </a:solidFill>
          <a:ln/>
        </p:spPr>
      </p:sp>
      <p:sp>
        <p:nvSpPr>
          <p:cNvPr id="18" name="reuse-1-title"/>
          <p:cNvSpPr txBox="1"/>
          <p:nvPr/>
        </p:nvSpPr>
        <p:spPr>
          <a:xfrm>
            <a:off x="4612538" y="2743200"/>
            <a:ext cx="2966618" cy="411480"/>
          </a:xfrm>
          <a:prstGeom prst="rect">
            <a:avLst/>
          </a:prstGeom>
          <a:noFill/>
          <a:ln/>
        </p:spPr>
        <p:txBody>
          <a:bodyPr wrap="square" lIns="0" tIns="0" rIns="0" bIns="0" rtlCol="0" anchor="t"/>
          <a:lstStyle/>
          <a:p>
            <a:pPr indent="0" marL="0">
              <a:buNone/>
            </a:pPr>
            <a:r>
              <a:rPr lang="en-US" sz="2000" b="1" dirty="0">
                <a:solidFill>
                  <a:schemeClr val="accent5"/>
                </a:solidFill>
              </a:rPr>
              <a:t>Where next</a:t>
            </a:r>
            <a:endParaRPr lang="en-US" sz="2000" dirty="0"/>
          </a:p>
        </p:txBody>
      </p:sp>
      <p:sp>
        <p:nvSpPr>
          <p:cNvPr id="19" name="reuse-1-list"/>
          <p:cNvSpPr txBox="1"/>
          <p:nvPr/>
        </p:nvSpPr>
        <p:spPr>
          <a:xfrm>
            <a:off x="4612538" y="3246120"/>
            <a:ext cx="2966618"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accent6"/>
                </a:solidFill>
              </a:rPr>
              <a:t>Functions beyond DMS, via the architecture sync</a:t>
            </a:r>
            <a:endParaRPr lang="en-US" sz="1400" dirty="0"/>
          </a:p>
          <a:p>
            <a:pPr marL="342900" indent="-342900">
              <a:spcAft>
                <a:spcPts val="800"/>
              </a:spcAft>
              <a:buSzPct val="100000"/>
              <a:buChar char="•"/>
            </a:pPr>
            <a:r>
              <a:rPr lang="en-US" sz="1400" dirty="0">
                <a:solidFill>
                  <a:schemeClr val="accent6"/>
                </a:solidFill>
              </a:rPr>
              <a:t>Other Slate apps in [business areas]</a:t>
            </a:r>
            <a:endParaRPr lang="en-US" sz="1400" dirty="0"/>
          </a:p>
          <a:p>
            <a:pPr marL="342900" indent="-342900">
              <a:spcAft>
                <a:spcPts val="800"/>
              </a:spcAft>
              <a:buSzPct val="100000"/>
              <a:buChar char="•"/>
            </a:pPr>
            <a:r>
              <a:rPr lang="en-US" sz="1400" dirty="0">
                <a:solidFill>
                  <a:schemeClr val="accent6"/>
                </a:solidFill>
              </a:rPr>
              <a:t>Any low-code tool with little documentation</a:t>
            </a:r>
            <a:endParaRPr lang="en-US" sz="1400" dirty="0"/>
          </a:p>
          <a:p>
            <a:pPr marL="342900" indent="-342900">
              <a:spcAft>
                <a:spcPts val="800"/>
              </a:spcAft>
              <a:buSzPct val="100000"/>
              <a:buChar char="•"/>
            </a:pPr>
            <a:r>
              <a:rPr lang="en-US" sz="1400" dirty="0">
                <a:solidFill>
                  <a:schemeClr val="accent6"/>
                </a:solidFill>
              </a:rPr>
              <a:t>Any team starting an AI-assisted migration</a:t>
            </a:r>
            <a:endParaRPr lang="en-US" sz="1400" dirty="0"/>
          </a:p>
        </p:txBody>
      </p:sp>
      <p:sp>
        <p:nvSpPr>
          <p:cNvPr id="20" name="ask-card"/>
          <p:cNvSpPr/>
          <p:nvPr/>
        </p:nvSpPr>
        <p:spPr>
          <a:xfrm>
            <a:off x="8127797" y="2560320"/>
            <a:ext cx="3515258" cy="2743200"/>
          </a:xfrm>
          <a:prstGeom prst="roundRect">
            <a:avLst>
              <a:gd name="adj" fmla="val 4000"/>
            </a:avLst>
          </a:prstGeom>
          <a:solidFill>
            <a:schemeClr val="bg1"/>
          </a:solidFill>
          <a:ln/>
        </p:spPr>
      </p:sp>
      <p:sp>
        <p:nvSpPr>
          <p:cNvPr id="21" name="ask-text"/>
          <p:cNvSpPr txBox="1"/>
          <p:nvPr/>
        </p:nvSpPr>
        <p:spPr>
          <a:xfrm>
            <a:off x="8402117" y="2743200"/>
            <a:ext cx="2966618" cy="2377440"/>
          </a:xfrm>
          <a:prstGeom prst="rect">
            <a:avLst/>
          </a:prstGeom>
          <a:noFill/>
          <a:ln/>
        </p:spPr>
        <p:txBody>
          <a:bodyPr wrap="square" lIns="0" tIns="0" rIns="0" bIns="0" rtlCol="0" anchor="t"/>
          <a:lstStyle/>
          <a:p>
            <a:pPr indent="0" marL="0">
              <a:buNone/>
            </a:pPr>
            <a:r>
              <a:rPr lang="en-US" sz="2000" b="1" dirty="0">
                <a:solidFill>
                  <a:schemeClr val="accent3"/>
                </a:solidFill>
              </a:rPr>
              <a:t>Our ask</a:t>
            </a:r>
            <a:endParaRPr lang="en-US" sz="2000" dirty="0"/>
          </a:p>
          <a:p>
            <a:pPr indent="0" marL="0">
              <a:buNone/>
            </a:pPr>
            <a:r>
              <a:rPr lang="en-US" sz="800" dirty="0">
                <a:solidFill>
                  <a:srgbClr val="000000"/>
                </a:solidFill>
              </a:rPr>
              <a:t> </a:t>
            </a:r>
            <a:endParaRPr lang="en-US" sz="2000" dirty="0"/>
          </a:p>
          <a:p>
            <a:pPr indent="0" marL="0">
              <a:buNone/>
            </a:pPr>
            <a:r>
              <a:rPr lang="en-US" sz="1500" dirty="0">
                <a:solidFill>
                  <a:schemeClr val="tx1"/>
                </a:solidFill>
              </a:rPr>
              <a:t>Endorse the playbook as a DevX pattern. We have aligned with [Architect] to propose it at the architecture sync, so functions beyond DMS can use it.</a:t>
            </a:r>
            <a:endParaRPr lang="en-US" sz="2000" dirty="0"/>
          </a:p>
          <a:p>
            <a:pPr indent="0" marL="0">
              <a:buNone/>
            </a:pPr>
            <a:r>
              <a:rPr lang="en-US" sz="800" dirty="0">
                <a:solidFill>
                  <a:srgbClr val="000000"/>
                </a:solidFill>
              </a:rPr>
              <a:t> </a:t>
            </a:r>
            <a:endParaRPr lang="en-US" sz="2000" dirty="0"/>
          </a:p>
          <a:p>
            <a:pPr indent="0" marL="0">
              <a:buNone/>
            </a:pPr>
            <a:r>
              <a:rPr lang="en-US" sz="1400" dirty="0">
                <a:solidFill>
                  <a:schemeClr val="tx2"/>
                </a:solidFill>
              </a:rPr>
              <a:t>[Next: a first team outside DMS]</a:t>
            </a:r>
            <a:endParaRPr lang="en-US" sz="2000" dirty="0"/>
          </a:p>
        </p:txBody>
      </p:sp>
      <p:sp>
        <p:nvSpPr>
          <p:cNvPr id="22" name="closing"/>
          <p:cNvSpPr txBox="1"/>
          <p:nvPr/>
        </p:nvSpPr>
        <p:spPr>
          <a:xfrm>
            <a:off x="548640" y="5623560"/>
            <a:ext cx="11094415" cy="502920"/>
          </a:xfrm>
          <a:prstGeom prst="rect">
            <a:avLst/>
          </a:prstGeom>
          <a:noFill/>
          <a:ln/>
        </p:spPr>
        <p:txBody>
          <a:bodyPr wrap="square" lIns="0" tIns="0" rIns="0" bIns="0" rtlCol="0" anchor="t"/>
          <a:lstStyle/>
          <a:p>
            <a:pPr indent="0" marL="0">
              <a:buNone/>
            </a:pPr>
            <a:r>
              <a:rPr lang="en-US" sz="2200" b="1" dirty="0">
                <a:solidFill>
                  <a:schemeClr val="bg1"/>
                </a:solidFill>
              </a:rPr>
              <a:t>105 features, one PI, two developers. Ready for go-live, and for the next app.</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9" fill="hold">
                      <p:stCondLst>
                        <p:cond delay="indefinite"/>
                        <p:cond evt="onBegin" delay="0">
                          <p:tn val="2"/>
                        </p:cond>
                      </p:stCondLst>
                      <p:childTnLst>
                        <p:par>
                          <p:cTn id="9"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wipe(left)">
                                      <p:cBhvr>
                                        <p:cTn id="5" dur="450"/>
                                        <p:tgtEl>
                                          <p:spTgt spid="4"/>
                                        </p:tgtEl>
                                      </p:cBhvr>
                                    </p:animEffect>
                                  </p:childTnLst>
                                </p:cTn>
                              </p:par>
                              <p:par>
                                <p:cTn id="6" presetID="22" presetClass="entr" presetSubtype="8"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wipe(left)">
                                      <p:cBhvr>
                                        <p:cTn id="8" dur="450"/>
                                        <p:tgtEl>
                                          <p:spTgt spid="5"/>
                                        </p:tgtEl>
                                      </p:cBhvr>
                                    </p:animEffect>
                                  </p:childTnLst>
                                </p:cTn>
                              </p:par>
                            </p:childTnLst>
                          </p:cTn>
                        </p:par>
                        <p:par>
                          <p:cTn id="16" fill="hold">
                            <p:stCondLst>
                              <p:cond delay="350"/>
                            </p:stCondLst>
                            <p:childTnLst>
                              <p:par>
                                <p:cTn id="10" presetID="2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45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450"/>
                                        <p:tgtEl>
                                          <p:spTgt spid="7"/>
                                        </p:tgtEl>
                                      </p:cBhvr>
                                    </p:animEffect>
                                  </p:childTnLst>
                                </p:cTn>
                              </p:par>
                            </p:childTnLst>
                          </p:cTn>
                        </p:par>
                        <p:par>
                          <p:cTn id="23" fill="hold">
                            <p:stCondLst>
                              <p:cond delay="7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45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450"/>
                                        <p:tgtEl>
                                          <p:spTgt spid="9"/>
                                        </p:tgtEl>
                                      </p:cBhvr>
                                    </p:animEffect>
                                  </p:childTnLst>
                                </p:cTn>
                              </p:par>
                            </p:childTnLst>
                          </p:cTn>
                        </p:par>
                        <p:par>
                          <p:cTn id="30" fill="hold">
                            <p:stCondLst>
                              <p:cond delay="105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45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450"/>
                                        <p:tgtEl>
                                          <p:spTgt spid="11"/>
                                        </p:tgtEl>
                                      </p:cBhvr>
                                    </p:animEffect>
                                  </p:childTnLst>
                                </p:cTn>
                              </p:par>
                            </p:childTnLst>
                          </p:cTn>
                        </p:par>
                        <p:par>
                          <p:cTn id="37" fill="hold">
                            <p:stCondLst>
                              <p:cond delay="14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45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450"/>
                                        <p:tgtEl>
                                          <p:spTgt spid="13"/>
                                        </p:tgtEl>
                                      </p:cBhvr>
                                    </p:animEffect>
                                  </p:childTnLst>
                                </p:cTn>
                              </p:par>
                            </p:childTnLst>
                          </p:cTn>
                        </p:par>
                        <p:par>
                          <p:cTn id="47" fill="hold">
                            <p:stCondLst>
                              <p:cond delay="1750"/>
                            </p:stCondLst>
                            <p:childTnLst>
                              <p:par>
                                <p:cTn id="38" presetID="10"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childTnLst>
                          </p:cTn>
                        </p:par>
                        <p:par>
                          <p:cTn id="57" fill="hold">
                            <p:stCondLst>
                              <p:cond delay="2100"/>
                            </p:stCondLst>
                            <p:childTnLst>
                              <p:par>
                                <p:cTn id="48" presetID="10"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450"/>
                                        <p:tgtEl>
                                          <p:spTgt spid="19"/>
                                        </p:tgtEl>
                                      </p:cBhvr>
                                    </p:animEffect>
                                  </p:childTnLst>
                                </p:cTn>
                              </p:par>
                            </p:childTnLst>
                          </p:cTn>
                        </p:par>
                        <p:par>
                          <p:cTn id="64" fill="hold">
                            <p:stCondLst>
                              <p:cond delay="2450"/>
                            </p:stCondLst>
                            <p:childTnLst>
                              <p:par>
                                <p:cTn id="58" presetID="10" presetClass="entr" presetSubtype="0" fill="hold" grpId="0"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5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50"/>
                                        <p:tgtEl>
                                          <p:spTgt spid="21"/>
                                        </p:tgtEl>
                                      </p:cBhvr>
                                    </p:animEffect>
                                  </p:childTnLst>
                                </p:cTn>
                              </p:par>
                            </p:childTnLst>
                          </p:cTn>
                        </p:par>
                        <p:par>
                          <p:cTn id="68" fill="hold">
                            <p:stCondLst>
                              <p:cond delay="2800"/>
                            </p:stCondLst>
                            <p:childTnLst>
                              <p:par>
                                <p:cTn id="65" presetID="22" presetClass="entr" presetSubtype="8" fill="hold" grpId="0"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theme/theme1.xml><?xml version="1.0" encoding="utf-8"?>
<a:theme xmlns:a="http://schemas.openxmlformats.org/drawingml/2006/main" name="ERM Migration Airbus">
  <a:themeElements>
    <a:clrScheme name="ERM Migration Airbus">
      <a:dk1>
        <a:srgbClr val="00205B"/>
      </a:dk1>
      <a:lt1>
        <a:srgbClr val="FFFFFF"/>
      </a:lt1>
      <a:dk2>
        <a:srgbClr val="4A5568"/>
      </a:dk2>
      <a:lt2>
        <a:srgbClr val="EEF1F7"/>
      </a:lt2>
      <a:accent1>
        <a:srgbClr val="C8326C"/>
      </a:accent1>
      <a:accent2>
        <a:srgbClr val="0085CA"/>
      </a:accent2>
      <a:accent3>
        <a:srgbClr val="B0245A"/>
      </a:accent3>
      <a:accent4>
        <a:srgbClr val="5F3A8F"/>
      </a:accent4>
      <a:accent5>
        <a:srgbClr val="C9D6EA"/>
      </a:accent5>
      <a:accent6>
        <a:srgbClr val="DCE3EE"/>
      </a:accent6>
      <a:hlink>
        <a:srgbClr val="0085CA"/>
      </a:hlink>
      <a:folHlink>
        <a:srgbClr val="5F3A8F"/>
      </a:folHlink>
    </a:clrScheme>
    <a:fontScheme name="ERM Migration Airb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ERM Migration Jury Pitch</dc:title>
  <dc:subject>PptxGenJS Presentation</dc:subject>
  <dc:creator>PptxGenJS</dc:creator>
  <cp:lastModifiedBy>PptxGenJS</cp:lastModifiedBy>
  <cp:revision>1</cp:revision>
  <dcterms:created xsi:type="dcterms:W3CDTF">2026-10-04T12:19:28Z</dcterms:created>
  <dcterms:modified xsi:type="dcterms:W3CDTF">2026-10-04T12:19:28Z</dcterms:modified>
</cp:coreProperties>
</file>