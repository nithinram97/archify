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1462c2d2-a28e-1426-4334-9057c175f087}">
          <p14:sldIdLst>
            <p14:sldId id="256"/>
          </p14:sldIdLst>
        </p14:section>
        <p14:section name="Situation" id="{0bdc2fe9-a12e-e1a5-dd35-4ae85bc175b1}">
          <p14:sldIdLst>
            <p14:sldId id="257"/>
          </p14:sldIdLst>
        </p14:section>
        <p14:section name="Complication" id="{ee7d66fd-c8d9-e1d4-ffbe-40c3c7797043}">
          <p14:sldIdLst>
            <p14:sldId id="258"/>
          </p14:sldIdLst>
        </p14:section>
        <p14:section name="Answer and proof" id="{c59aff3a-e285-f65e-8047-67920dc97003}">
          <p14:sldIdLst>
            <p14:sldId id="259"/>
            <p14:sldId id="260"/>
            <p14:sldId id="261"/>
          </p14:sldIdLst>
        </p14:section>
        <p14:section name="Fit and scale" id="{712f7c34-fa96-d320-ec5b-87ebdda4b3a9}">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few minutes I'd like to tell you how two of us rebuilt a business-critical application in a single PI, and why the way we did it matters for more than this one app.
The application is ERM, Enterprise Risk Management. If you haven't used it, it's where Airbus risk managers keep track of their risks and opportunities, build dashboards on them and prepare their reviews.
ERM wasn't ours to begin with. It started as a Business Owned Tool, built in Slate by another team, and it grew fast because people needed it. When it came to us, our job was to standardise it and enhance it, without breaking anything for the people who rely on it every day.
So let me start with those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explain what ERM actually does. A risk manager opens the dashboard for their area and sees their risks and opportunities on a heat map. They drill into one, update its status, its mitigations and key messages, and then use the one-pager or the report to take it into their review. Every quarter the dashboards are validated and released, so management sees a governed picture, and they can be shared across divisions.
So it isn't a side tool. Just a few highlights on screen: close to nine hundred people have used it, around three hundred in a busy month, and there are more than sixteen hundred dashboards. It's used right across the company, by many organisations, mostly in France and Germany, but also in the UK, Spain, Canada and India.
That's why we couldn't afford to break it. And under the surface, it was fragile.
— — —
Reference if asked: 892 lifetime unique users; 320+ active in a peak month; 1,600+ dashboards; 10+ updated every day. Largest organisation B (~345), then O, P, A, L, S, K and about a dozen smaller ones. France 314, Germany 205, UK 58, Spain 25, Canada 12, India 7;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it was built. The old app is one Slate shell, the board menu, with seven modules running inside it as separate frames: search, heat map, one-pager, waterfall, action tracker, report table and print. The shell alone holds forty-four functions, ninety-six events and fourteen actions, and it pushes data into every module by passing messages between them.
For users, that showed up as problems. One click sets off a chain of widgets, events and variables, so a small change in one place could break a dashboard somewhere else. And every tab switch recalculated large variable trees, so it felt slow.
For a migration it was even harder, because nothing was documented. Eight Slate exports, about twenty-five megabytes of configuration, and no list of what the app really did.
(Let the animation play.) So the real question was the one on screen: how do two developers move a hundred and five hidden features in one PI, without breaking risk reporting?
— — —
Reference if asked: behind the shell sit Foundry Functions for versions, sharing and search, 18 Foundry action types for board, risk, key-message and settings writes, and the ERM ontology. Roles were read from a user-profile object and only enforced in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the usual way, this is a long project. You interview users and click through every screen just to find out what the app does. Then you read the configuration piece by piece, rebuild it feature by feature, and only discover the gaps in testing, near the end. Documentation comes last, if at all. Our generic estimate for that approach was around seventeen sprints for two people.
We turned it around. First, the AI read all eight Slate exports and wrote the feature catalogue for us: a hundred and five features. Second, our own script, pack-project.ts, packs the whole React app into one file, so the AI sees every component and every data call at once, not in fragments. Third, it checked every feature against that code and flagged thirty-one gaps before testing even started. And the diagrams were produced along the way, not afterwards.
One rule throughout: the AI drafts, we verify, fix and decide. So, did it work?
— — —
If time allows, show the live app here for about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did. One PI, two developers. All hundred and five features carried over and checked, thirty-one gaps found and fixed, and seven security issues caught in review. On top of that we built eleven features Slate never had, like a searchable dashboard switcher, a slideshow mode and a web address for every tab. And we went from no documentation at all to ten documents.
But the number I'd like you to remember is this one: about seventy-six percent less effort than doing it by hand. Four sprints instead of roughly seventeen. In money that's around eighty thousand dollars saved, and roughly ten thousand a year less to maintain. These are estimates, and the basis is in the footnote.
And it keeps paying back. In Slate, a new feature meant wiring widgets across eight exports. Now it's one typed component and one data call.
Numbers are only half the story, though. Here's what the users say.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Cost basis: a generic manual estimate of ~340 person-days (about 17 sprints for two developers) against 4 sprints used; at $38.50 per developer hour, ~$105K against ~$25K. Maintenance: 20% of build effort a year (~$21K), assumed halved by modular, typed, documented code. 25 MB of Slate configuration became 0.8 MB of typed code.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children edits in the risk drawer silently discarded.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the business said this than us. 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Another stakeholder calls it a tremendous addition to the ERM toolset, and says more and more people now prepare and run their risk reviews with it.
And a Risk and Opportunity Manager in Hamburg says the new features make navigation easier and give a much clearer view of their data, and that whenever something went wrong, it was fixed quickly.
That's the part we're proudest of, because it was teamwork from start to finish. Which brings me to how this fits where Airbus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do this for its own sake. It lines up with four of our 2026 objectives, and I'll take them one at a time as they appear.
First, leverage AI to solve business problems: the AI recovered a hundred and five features from an app nobody had documented.
Second, deliver on time, on cost, on quality: one PI, two developers, about seventy-six percent less effort.
Third, operational performance: ERM is a business system, so every feature was tracked for parity, and it's now rebuilt on standard, maintainable code, ready to leave Slate.
Fourth, digital acumen: pack-project.ts and the playbook let other teams do the same, so the skill spreads beyond the two of us.
And none of it happened alone. Business users confirmed the feature list, data and security owners made sure restricted views stayed restricted, and backend and frontend fixes went out together.
So the last question is: what happens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method. Five steps: pack the code, extract the features, compare, fix, and document. And the pieces are ready today: the packing script, the feature comparison template and the diagram formats.
It fits any Slate app, and really any low-code tool where the knowledge lives in configuration and nobody wrote it down. There are plenty of those.
So here's our ask. We'd like you to endorse this playbook as a DevX pattern. We've already aligned with [Architect] to propose it at the architecture sync, so that functions beyond DMS can use it too. (If you have one, name the first team outside DMS.)
To sum up: a hundred and five features, one PI, two developers, and a method the next team can pick up straight away.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ARM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ORGANISATION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154680"/>
            <a:ext cx="1858975" cy="3154680"/>
          </a:xfrm>
          <a:prstGeom prst="rect">
            <a:avLst/>
          </a:prstGeom>
          <a:noFill/>
          <a:ln/>
        </p:spPr>
        <p:txBody>
          <a:bodyPr wrap="square" lIns="0" tIns="0" rIns="0" bIns="0" rtlCol="0" anchor="t"/>
          <a:lstStyle/>
          <a:p>
            <a:pPr indent="0" marL="0">
              <a:buNone/>
            </a:pPr>
            <a:r>
              <a:rPr lang="en-US" sz="1200" b="1" dirty="0">
                <a:solidFill>
                  <a:schemeClr val="bg1"/>
                </a:solidFill>
              </a:rPr>
              <a:t>France</a:t>
            </a:r>
            <a:endParaRPr lang="en-US" sz="1200" dirty="0"/>
          </a:p>
          <a:p>
            <a:pPr indent="0" marL="0">
              <a:spcAft>
                <a:spcPts val="600"/>
              </a:spcAft>
              <a:buNone/>
            </a:pPr>
            <a:r>
              <a:rPr lang="en-US" sz="1100" dirty="0">
                <a:solidFill>
                  <a:schemeClr val="accent5"/>
                </a:solidFill>
              </a:rPr>
              <a:t>Blagnac 271, Saint-Martin 43</a:t>
            </a:r>
            <a:endParaRPr lang="en-US" sz="1200" dirty="0"/>
          </a:p>
          <a:p>
            <a:pPr indent="0" marL="0">
              <a:buNone/>
            </a:pPr>
            <a:r>
              <a:rPr lang="en-US" sz="1200" b="1" dirty="0">
                <a:solidFill>
                  <a:schemeClr val="bg1"/>
                </a:solidFill>
              </a:rPr>
              <a:t>Germany</a:t>
            </a:r>
            <a:endParaRPr lang="en-US" sz="1200" dirty="0"/>
          </a:p>
          <a:p>
            <a:pPr indent="0" marL="0">
              <a:spcAft>
                <a:spcPts val="600"/>
              </a:spcAft>
              <a:buNone/>
            </a:pPr>
            <a:r>
              <a:rPr lang="en-US" sz="1100" dirty="0">
                <a:solidFill>
                  <a:schemeClr val="accent5"/>
                </a:solidFill>
              </a:rPr>
              <a:t>Hamburg 205</a:t>
            </a:r>
            <a:endParaRPr lang="en-US" sz="1200" dirty="0"/>
          </a:p>
          <a:p>
            <a:pPr indent="0" marL="0">
              <a:buNone/>
            </a:pPr>
            <a:r>
              <a:rPr lang="en-US" sz="1200" b="1" dirty="0">
                <a:solidFill>
                  <a:schemeClr val="bg1"/>
                </a:solidFill>
              </a:rPr>
              <a:t>United Kingdom</a:t>
            </a:r>
            <a:endParaRPr lang="en-US" sz="1200" dirty="0"/>
          </a:p>
          <a:p>
            <a:pPr indent="0" marL="0">
              <a:spcAft>
                <a:spcPts val="600"/>
              </a:spcAft>
              <a:buNone/>
            </a:pPr>
            <a:r>
              <a:rPr lang="en-US" sz="1100" dirty="0">
                <a:solidFill>
                  <a:schemeClr val="accent5"/>
                </a:solidFill>
              </a:rPr>
              <a:t>Broughton 32, Filton 26</a:t>
            </a:r>
            <a:endParaRPr lang="en-US" sz="1200" dirty="0"/>
          </a:p>
          <a:p>
            <a:pPr indent="0" marL="0">
              <a:buNone/>
            </a:pPr>
            <a:r>
              <a:rPr lang="en-US" sz="1200" b="1" dirty="0">
                <a:solidFill>
                  <a:schemeClr val="bg1"/>
                </a:solidFill>
              </a:rPr>
              <a:t>Spain</a:t>
            </a:r>
            <a:endParaRPr lang="en-US" sz="1200" dirty="0"/>
          </a:p>
          <a:p>
            <a:pPr indent="0" marL="0">
              <a:spcAft>
                <a:spcPts val="600"/>
              </a:spcAft>
              <a:buNone/>
            </a:pPr>
            <a:r>
              <a:rPr lang="en-US" sz="1100" dirty="0">
                <a:solidFill>
                  <a:schemeClr val="accent5"/>
                </a:solidFill>
              </a:rPr>
              <a:t>Getafe 25</a:t>
            </a:r>
            <a:endParaRPr lang="en-US" sz="1200" dirty="0"/>
          </a:p>
          <a:p>
            <a:pPr indent="0" marL="0">
              <a:buNone/>
            </a:pPr>
            <a:r>
              <a:rPr lang="en-US" sz="1200" b="1" dirty="0">
                <a:solidFill>
                  <a:schemeClr val="bg1"/>
                </a:solidFill>
              </a:rPr>
              <a:t>Canada</a:t>
            </a:r>
            <a:endParaRPr lang="en-US" sz="1200" dirty="0"/>
          </a:p>
          <a:p>
            <a:pPr indent="0" marL="0">
              <a:spcAft>
                <a:spcPts val="600"/>
              </a:spcAft>
              <a:buNone/>
            </a:pPr>
            <a:r>
              <a:rPr lang="en-US" sz="1100" dirty="0">
                <a:solidFill>
                  <a:schemeClr val="accent5"/>
                </a:solidFill>
              </a:rPr>
              <a:t>Mirabel 12</a:t>
            </a:r>
            <a:endParaRPr lang="en-US" sz="1200" dirty="0"/>
          </a:p>
          <a:p>
            <a:pPr indent="0" marL="0">
              <a:buNone/>
            </a:pPr>
            <a:r>
              <a:rPr lang="en-US" sz="1200" b="1" dirty="0">
                <a:solidFill>
                  <a:schemeClr val="bg1"/>
                </a:solidFill>
              </a:rPr>
              <a:t>India</a:t>
            </a:r>
            <a:endParaRPr lang="en-US" sz="1200" dirty="0"/>
          </a:p>
          <a:p>
            <a:pPr indent="0" marL="0">
              <a:spcAft>
                <a:spcPts val="600"/>
              </a:spcAft>
              <a:buNone/>
            </a:pPr>
            <a:r>
              <a:rPr lang="en-US" sz="1100" dirty="0">
                <a:solidFill>
                  <a:schemeClr val="accent5"/>
                </a:solidFill>
              </a:rPr>
              <a:t>Bangalore 7</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 PI</a:t>
            </a:r>
            <a:endParaRPr lang="en-US" sz="2200" dirty="0"/>
          </a:p>
        </p:txBody>
      </p:sp>
      <p:sp>
        <p:nvSpPr>
          <p:cNvPr id="6" name="fact-0-label"/>
          <p:cNvSpPr txBox="1"/>
          <p:nvPr/>
        </p:nvSpPr>
        <p:spPr>
          <a:xfrm>
            <a:off x="713232"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105</a:t>
            </a:r>
            <a:endParaRPr lang="en-US" sz="2200" dirty="0"/>
          </a:p>
        </p:txBody>
      </p:sp>
      <p:sp>
        <p:nvSpPr>
          <p:cNvPr id="9" name="fact-1-label"/>
          <p:cNvSpPr txBox="1"/>
          <p:nvPr/>
        </p:nvSpPr>
        <p:spPr>
          <a:xfrm>
            <a:off x="2592781"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31</a:t>
            </a:r>
            <a:endParaRPr lang="en-US" sz="2200" dirty="0"/>
          </a:p>
        </p:txBody>
      </p:sp>
      <p:sp>
        <p:nvSpPr>
          <p:cNvPr id="12" name="fact-2-label"/>
          <p:cNvSpPr txBox="1"/>
          <p:nvPr/>
        </p:nvSpPr>
        <p:spPr>
          <a:xfrm>
            <a:off x="447233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gaps found by AI review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7</a:t>
            </a:r>
            <a:endParaRPr lang="en-US" sz="2200" dirty="0"/>
          </a:p>
        </p:txBody>
      </p:sp>
      <p:sp>
        <p:nvSpPr>
          <p:cNvPr id="15" name="fact-3-label"/>
          <p:cNvSpPr txBox="1"/>
          <p:nvPr/>
        </p:nvSpPr>
        <p:spPr>
          <a:xfrm>
            <a:off x="635188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security issues caught in review</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11</a:t>
            </a:r>
            <a:endParaRPr lang="en-US" sz="2200" dirty="0"/>
          </a:p>
        </p:txBody>
      </p:sp>
      <p:sp>
        <p:nvSpPr>
          <p:cNvPr id="18" name="fact-4-label"/>
          <p:cNvSpPr txBox="1"/>
          <p:nvPr/>
        </p:nvSpPr>
        <p:spPr>
          <a:xfrm>
            <a:off x="8231429"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new features Slate never had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0 → 10</a:t>
            </a:r>
            <a:endParaRPr lang="en-US" sz="2200" dirty="0"/>
          </a:p>
        </p:txBody>
      </p:sp>
      <p:sp>
        <p:nvSpPr>
          <p:cNvPr id="21" name="fact-5-label"/>
          <p:cNvSpPr txBox="1"/>
          <p:nvPr/>
        </p:nvSpPr>
        <p:spPr>
          <a:xfrm>
            <a:off x="10110978"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documents: 8 diagrams, 2 guides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2026-10-04T18:10:37Z</dcterms:created>
  <dcterms:modified xsi:type="dcterms:W3CDTF">2026-10-04T18:10:37Z</dcterms:modified>
</cp:coreProperties>
</file>