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nswer" id="{a634cea8-c2d3-b512-4853-dce48fbaab62}">
          <p14:sldIdLst>
            <p14:sldId id="256"/>
          </p14:sldIdLst>
        </p14:section>
        <p14:section name="Situation" id="{15a91126-7555-deb1-cfd5-66d9a81fb395}">
          <p14:sldIdLst>
            <p14:sldId id="257"/>
          </p14:sldIdLst>
        </p14:section>
        <p14:section name="Complication" id="{8a29fd7d-4943-cc58-93cf-d9b9748ab51d}">
          <p14:sldIdLst>
            <p14:sldId id="258"/>
          </p14:sldIdLst>
        </p14:section>
        <p14:section name="Answer and proof" id="{7e87f509-2674-5d75-d8cb-44e9cda4c32d}">
          <p14:sldIdLst>
            <p14:sldId id="259"/>
            <p14:sldId id="260"/>
            <p14:sldId id="261"/>
          </p14:sldIdLst>
        </p14:section>
        <p14:section name="Fit and scale" id="{33907e3b-9d93-9ae1-bfcf-0532d3dbaee1}">
          <p14:sldIdLst>
            <p14:sldId id="262"/>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Unique users</c:v>
                </c:pt>
              </c:strCache>
            </c:strRef>
          </c:tx>
          <c:spPr>
            <a:solidFill>
              <a:srgbClr val="0085CA"/>
            </a:solidFill>
            <a:ln w="25400" cap="flat">
              <a:solidFill>
                <a:srgbClr val="0085C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0085CA"/>
              </a:solidFill>
              <a:ln w="9525" cap="flat">
                <a:solidFill>
                  <a:srgbClr val="0085CA"/>
                </a:solidFill>
                <a:prstDash val="solid"/>
                <a:round/>
              </a:ln>
              <a:effectLst/>
            </c:spPr>
          </c:marker>
          <c:cat>
            <c:strRef>
              <c:f>Sheet1!$A$2:$A$24</c:f>
              <c:strCache>
                <c:ptCount val="23"/>
                <c:pt idx="0">
                  <c:v>Aug 2024</c:v>
                </c:pt>
                <c:pt idx="1">
                  <c:v>Sep 2024</c:v>
                </c:pt>
                <c:pt idx="2">
                  <c:v>Oct 2024</c:v>
                </c:pt>
                <c:pt idx="3">
                  <c:v>Nov 2024</c:v>
                </c:pt>
                <c:pt idx="4">
                  <c:v>Dec 2024</c:v>
                </c:pt>
                <c:pt idx="5">
                  <c:v>Jan 2025</c:v>
                </c:pt>
                <c:pt idx="6">
                  <c:v>Feb 2025</c:v>
                </c:pt>
                <c:pt idx="7">
                  <c:v>Mar 2025</c:v>
                </c:pt>
                <c:pt idx="8">
                  <c:v>Apr 2025</c:v>
                </c:pt>
                <c:pt idx="9">
                  <c:v>May 2025</c:v>
                </c:pt>
                <c:pt idx="10">
                  <c:v>Jun 2025</c:v>
                </c:pt>
                <c:pt idx="11">
                  <c:v>Jul 2025</c:v>
                </c:pt>
                <c:pt idx="12">
                  <c:v>Aug 2025</c:v>
                </c:pt>
                <c:pt idx="13">
                  <c:v>Sep 2025</c:v>
                </c:pt>
                <c:pt idx="14">
                  <c:v>Oct 2025</c:v>
                </c:pt>
                <c:pt idx="15">
                  <c:v>Nov 2025</c:v>
                </c:pt>
                <c:pt idx="16">
                  <c:v>Dec 2025</c:v>
                </c:pt>
                <c:pt idx="17">
                  <c:v>Jan 2026</c:v>
                </c:pt>
                <c:pt idx="18">
                  <c:v>Feb 2026</c:v>
                </c:pt>
                <c:pt idx="19">
                  <c:v>Mar 2026</c:v>
                </c:pt>
                <c:pt idx="20">
                  <c:v>Apr 2026</c:v>
                </c:pt>
                <c:pt idx="21">
                  <c:v>May 2026</c:v>
                </c:pt>
                <c:pt idx="22">
                  <c:v>Jun 2026</c:v>
                </c:pt>
              </c:strCache>
            </c:strRef>
          </c:cat>
          <c:val>
            <c:numRef>
              <c:f>Sheet1!$B$2:$B$24</c:f>
              <c:numCache>
                <c:formatCode>General</c:formatCode>
                <c:ptCount val="23"/>
                <c:pt idx="0">
                  <c:v>0</c:v>
                </c:pt>
                <c:pt idx="1">
                  <c:v>50</c:v>
                </c:pt>
                <c:pt idx="2">
                  <c:v>95</c:v>
                </c:pt>
                <c:pt idx="3">
                  <c:v>105</c:v>
                </c:pt>
                <c:pt idx="4">
                  <c:v>65</c:v>
                </c:pt>
                <c:pt idx="5">
                  <c:v>110</c:v>
                </c:pt>
                <c:pt idx="6">
                  <c:v>135</c:v>
                </c:pt>
                <c:pt idx="7">
                  <c:v>125</c:v>
                </c:pt>
                <c:pt idx="8">
                  <c:v>150</c:v>
                </c:pt>
                <c:pt idx="9">
                  <c:v>245</c:v>
                </c:pt>
                <c:pt idx="10">
                  <c:v>220</c:v>
                </c:pt>
                <c:pt idx="11">
                  <c:v>230</c:v>
                </c:pt>
                <c:pt idx="12">
                  <c:v>240</c:v>
                </c:pt>
                <c:pt idx="13">
                  <c:v>265</c:v>
                </c:pt>
                <c:pt idx="14">
                  <c:v>230</c:v>
                </c:pt>
                <c:pt idx="15">
                  <c:v>300</c:v>
                </c:pt>
                <c:pt idx="16">
                  <c:v>190</c:v>
                </c:pt>
                <c:pt idx="17">
                  <c:v>210</c:v>
                </c:pt>
                <c:pt idx="18">
                  <c:v>340</c:v>
                </c:pt>
                <c:pt idx="19">
                  <c:v>280</c:v>
                </c:pt>
                <c:pt idx="20">
                  <c:v>220</c:v>
                </c:pt>
                <c:pt idx="21">
                  <c:v>305</c:v>
                </c:pt>
                <c:pt idx="22">
                  <c:v>310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2"/>
        <c:crosses val="autoZero"/>
        <c:auto val="1"/>
        <c:lblAlgn val="ctr"/>
        <c:noMultiLvlLbl val="0"/>
        <c:tickLblSkip val="5"/>
      </c:catAx>
      <c:valAx>
        <c:axId val="2094734552"/>
        <c:scaling>
          <c:orientation val="minMax"/>
          <c:max val="350"/>
          <c:min val="0"/>
        </c:scaling>
        <c:delete val="0"/>
        <c:axPos val="l"/>
        <c:majorGridlines>
          <c:spPr>
            <a:ln w="9525" cap="flat">
              <a:solidFill>
                <a:srgbClr val="DCE3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4"/>
        <c:crosses val="autoZero"/>
        <c:crossBetween val="between"/>
        <c:majorUnit val="1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Unique users</c:v>
                </c:pt>
              </c:strCache>
            </c:strRef>
          </c:tx>
          <c:spPr>
            <a:solidFill>
              <a:srgbClr val="0085CA"/>
            </a:solidFill>
            <a:effectLst/>
          </c:spPr>
          <c:invertIfNegative val="0"/>
          <c:dLbls>
            <c:numFmt formatCode="#,##0" sourceLinked="0"/>
            <c:txPr>
              <a:bodyPr/>
              <a:lstStyle/>
              <a:p>
                <a:pPr>
                  <a:defRPr b="0" i="0" strike="noStrike" sz="1000" u="none">
                    <a:solidFill>
                      <a:srgbClr val="00205B"/>
                    </a:solidFill>
                    <a:latin typeface="+mn-lt"/>
                  </a:defRPr>
                </a:pPr>
              </a:p>
            </c:txPr>
            <c:showLegendKey val="0"/>
            <c:showVal val="1"/>
            <c:showCatName val="0"/>
            <c:showSerName val="0"/>
            <c:showPercent val="0"/>
            <c:showBubbleSize val="0"/>
            <c:showLeaderLines val="0"/>
          </c:dLbls>
          <c:cat>
            <c:strRef>
              <c:f>Sheet1!$A$2:$A$8</c:f>
              <c:strCache>
                <c:ptCount val="7"/>
                <c:pt idx="0">
                  <c:v>B</c:v>
                </c:pt>
                <c:pt idx="1">
                  <c:v>O</c:v>
                </c:pt>
                <c:pt idx="2">
                  <c:v>P</c:v>
                </c:pt>
                <c:pt idx="3">
                  <c:v>A</c:v>
                </c:pt>
                <c:pt idx="4">
                  <c:v>L</c:v>
                </c:pt>
                <c:pt idx="5">
                  <c:v>S</c:v>
                </c:pt>
                <c:pt idx="6">
                  <c:v>K</c:v>
                </c:pt>
              </c:strCache>
            </c:strRef>
          </c:cat>
          <c:val>
            <c:numRef>
              <c:f>Sheet1!$B$2:$B$8</c:f>
              <c:numCache>
                <c:formatCode>General</c:formatCode>
                <c:ptCount val="7"/>
                <c:pt idx="0">
                  <c:v>345</c:v>
                </c:pt>
                <c:pt idx="1">
                  <c:v>120</c:v>
                </c:pt>
                <c:pt idx="2">
                  <c:v>95</c:v>
                </c:pt>
                <c:pt idx="3">
                  <c:v>60</c:v>
                </c:pt>
                <c:pt idx="4">
                  <c:v>55</c:v>
                </c:pt>
                <c:pt idx="5">
                  <c:v>55</c:v>
                </c:pt>
                <c:pt idx="6">
                  <c:v>50</c:v>
                </c:pt>
              </c:numCache>
            </c:numRef>
          </c:val>
        </c:ser>
        <c:dLbls>
          <c:numFmt formatCode="#,##0" sourceLinked="0"/>
          <c:txPr>
            <a:bodyPr/>
            <a:lstStyle/>
            <a:p>
              <a:pPr>
                <a:defRPr b="0" i="0" strike="noStrike" sz="1000" u="none">
                  <a:solidFill>
                    <a:srgbClr val="00205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A5568"/>
                </a:solidFill>
                <a:latin typeface="+mn-lt"/>
              </a:defRPr>
            </a:pPr>
            <a:endParaRPr lang="en-US"/>
          </a:p>
        </c:txPr>
        <c:crossAx val="2094734552"/>
        <c:crosses val="autoZero"/>
        <c:auto val="1"/>
        <c:lblAlgn val="ctr"/>
        <c:noMultiLvlLbl val="0"/>
      </c:catAx>
      <c:valAx>
        <c:axId val="2094734552"/>
        <c:scaling>
          <c:orientation val="minMax"/>
          <c:max val="4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next few minutes I'd like to tell you how two of us rebuilt a business-critical application in a single PI, and why the way we did it matters for more than this one app.
The application is ERM, Enterprise Risk Management. If you haven't used it, it's where Airbus risk managers keep track of their risks and opportunities, build dashboards on them and prepare their reviews.
ERM wasn't ours to begin with. It started as a Business Owned Tool, built in Slate by another team, and it grew fast because people needed it. When it came to us, our job was to standardise it and enhance it, without breaking anything for the people who rely on it every day.
So let me start with those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explain what ERM actually does. A risk manager opens the dashboard for their area and sees their risks and opportunities on a heat map. They drill into one, update its status, its mitigations and key messages, and then use the one-pager or the report to take it into their review. Every quarter the dashboards are validated and released, so management sees a governed picture, and they can be shared across divisions.
So it isn't a side tool. Just a few highlights on screen: close to nine hundred people have used it, around three hundred in a busy month, and there are more than sixteen hundred dashboards. It's used right across the company, by many organisations, mostly in France and Germany, but also in the UK, Spain, Canada and India.
That's why we couldn't afford to break it. And under the surface, it was fragile.
— — —
Reference if asked: 892 lifetime unique users; 320+ active in a peak month; 1,600+ dashboards; 10+ updated every day. Largest organisation B (~345), then O, P, A, L, S, K and about a dozen smaller ones. France 314, Germany 205, UK 58, Spain 25, Canada 12, India 7; top sites Blagnac 271 and Hamburg 205. Chart values are read from the usage dashboard, so they are approximate.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you how it was built. The old app is one Slate shell, the board menu, with seven modules running inside it as separate frames: search, heat map, one-pager, waterfall, action tracker, report table and print. The shell alone holds forty-four functions, ninety-six events and fourteen actions, and it pushes data into every module by passing messages between them.
For users, that showed up as problems. One click sets off a chain of widgets, events and variables, so a small change in one place could break a dashboard somewhere else. And every tab switch recalculated large variable trees, so it felt slow.
For a migration it was even harder, because nothing was documented. Eight Slate exports, about twenty-five megabytes of configuration, and no list of what the app really did.
(Let the animation play.) So the real question was the one on screen: how do two developers move a hundred and five hidden features in one PI, without breaking risk reporting?
— — —
Reference if asked: behind the shell sit Foundry Functions for versions, sharing and search, 18 Foundry action types for board, risk, key-message and settings writes, and the ERM ontology. Roles were read from a user-profile object and only enforced in the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Done the usual way, this is a long project. You interview users and click through every screen just to find out what the app does. Then you read the configuration piece by piece, rebuild it feature by feature, and only discover the gaps in testing, near the end. Documentation comes last, if at all. Our generic estimate for that approach was around seventeen sprints for two people.
We turned it around. First, the AI read all eight Slate exports and wrote the feature catalogue for us: a hundred and five features. Second, our own script, pack-project.ts, packs the whole React app into one file, so the AI sees every component and every data call at once, not in fragments. Third, it checked every feature against that code and flagged thirty-one gaps before testing even started. And the diagrams were produced along the way, not afterwards.
One rule throughout: the AI drafts, we verify, fix and decide. So, did it work?
— — —
If time allows, show the live app here for about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did. One PI, two developers. All hundred and five features carried over and checked, thirty-one gaps found and fixed, and seven security issues caught in review. On top of that we built eleven features Slate never had, like a searchable dashboard switcher, a slideshow mode and a web address for every tab. And we went from no documentation at all to ten documents.
But the number I'd like you to remember is this one: about seventy-six percent less effort than doing it by hand. Four sprints instead of roughly seventeen. In money that's around eighty thousand dollars saved, and roughly ten thousand a year less to maintain. These are estimates, and the basis is in the footnote.
And it keeps paying back. In Slate, a new feature meant wiring widgets across eight exports. Now it's one typed component and one data call.
Numbers are only half the story, though. Here's what the users say.
— — —
Reference if asked.
The 11 new features: permissions-only edit for locked versions; a web address per tab; a searchable dashboard switcher; a criticality-differs filter; category and impact-category filters; a fourth one-pager layout with custom slots; resizable columns saved per board; report classification and cover toggle; slideshow mode; one-pager selection shortcuts; showing risks by ID or title.
Cost basis: a generic manual estimate of ~340 person-days (about 17 sprints for two developers) against 4 sprints used; at $38.50 per developer hour, ~$105K against ~$25K. Maintenance: 20% of build effort a year (~$21K), assumed halved by modular, typed, documented code. 25 MB of Slate configuration became 0.8 MB of typed code.
Security and data-integrity findings caught in review: stored cross-site scripting from unsanitised rich HTML in 5 places; permission checks that matched e-mails by substring instead of exactly; sharing payload arrays misaligned with the wrong fields; settings JSON overwritten whole from a stale copy; reports printing shared risks the legacy app left out; no 100-risk print cap, a legacy cybersecurity limit; children edits in the risk drawer silently discarded. The dashboard sharing-access fix is deployed.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rather the business said this than us. These came from ERM stakeholders in September, and they talk about the team and the tool as a whole.
The ERM Centre of Competence says that regular teamwork with the business, together with strong IT skills, turned an idea into a user-friendly industrial solution, and that the interface and performance have clearly improved.
Another stakeholder calls it a tremendous addition to the ERM toolset, and says more and more people now prepare and run their risk reviews with it.
And a Risk and Opportunity Manager in Hamburg says the new features make navigation easier and give a much clearer view of their data, and that whenever something went wrong, it was fixed quickly.
That's the part we're proudest of, because it was teamwork from start to finish. Which brings me to how this fits where Airbus is heading.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didn't do this for its own sake. It lines up with four of our 2026 objectives, and I'll take them one at a time as they appear.
First, leverage AI to solve business problems: the AI recovered a hundred and five features from an app nobody had documented.
Second, deliver on time, on cost, on quality: one PI, two developers, about seventy-six percent less effort.
Third, operational performance: ERM is a business system, so every feature was tracked for parity, and it's now rebuilt on standard, maintainable code, ready to leave Slate.
Fourth, digital acumen: pack-project.ts and the playbook let other teams do the same, so the skill spreads beyond the two of us.
And none of it happened alone. Business users confirmed the feature list, data and security owners made sure restricted views stayed restricted, and backend and frontend fixes went out together.
So the last question is: what happens next?
— — —
Name the people and teams on the team strip if you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we'd like to leave behind isn't only a new ERM, it's a method. Five steps: pack the code, extract the features, compare, fix, and document. And the pieces are ready today: the packing script, the feature comparison template and the diagram formats.
It fits any Slate app, and really any low-code tool where the knowledge lives in configuration and nobody wrote it down. There are plenty of those.
So here's our ask. We'd like you to endorse this playbook as a DevX pattern. We've already aligned with [Architect] to propose it at the architecture sync, so that functions beyond DMS can use it too. (If you have one, name the first team outside DMS.)
To sum up: a hundred and five features, one PI, two developers, and a method the next team can pick up straight away.
Thank you. I'm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_ALT">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4.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eyebrow"/>
          <p:cNvSpPr txBox="1"/>
          <p:nvPr/>
        </p:nvSpPr>
        <p:spPr>
          <a:xfrm>
            <a:off x="3383280" y="2514600"/>
            <a:ext cx="8229600" cy="320040"/>
          </a:xfrm>
          <a:prstGeom prst="rect">
            <a:avLst/>
          </a:prstGeom>
          <a:noFill/>
          <a:ln/>
        </p:spPr>
        <p:txBody>
          <a:bodyPr wrap="square" lIns="0" tIns="0" rIns="0" bIns="0" rtlCol="0" anchor="t"/>
          <a:lstStyle/>
          <a:p>
            <a:pPr indent="0" marL="0">
              <a:buNone/>
            </a:pPr>
            <a:r>
              <a:rPr lang="en-US" sz="1400" b="1" spc="200" kern="0" dirty="0">
                <a:solidFill>
                  <a:schemeClr val="bg1"/>
                </a:solidFill>
              </a:rPr>
              <a:t>QUARTERLY AWARDS · INNOVATION</a:t>
            </a:r>
            <a:endParaRPr lang="en-US" sz="1400" dirty="0"/>
          </a:p>
        </p:txBody>
      </p:sp>
      <p:sp>
        <p:nvSpPr>
          <p:cNvPr id="3" name="cover-title"/>
          <p:cNvSpPr txBox="1"/>
          <p:nvPr/>
        </p:nvSpPr>
        <p:spPr>
          <a:xfrm>
            <a:off x="3383280" y="2880360"/>
            <a:ext cx="8503920" cy="685800"/>
          </a:xfrm>
          <a:prstGeom prst="rect">
            <a:avLst/>
          </a:prstGeom>
          <a:noFill/>
          <a:ln/>
        </p:spPr>
        <p:txBody>
          <a:bodyPr wrap="square" lIns="0" tIns="0" rIns="0" bIns="0" rtlCol="0" anchor="t"/>
          <a:lstStyle/>
          <a:p>
            <a:pPr indent="0" marL="0">
              <a:buNone/>
            </a:pPr>
            <a:r>
              <a:rPr lang="en-US" sz="3600" b="1" dirty="0">
                <a:solidFill>
                  <a:schemeClr val="bg1"/>
                </a:solidFill>
              </a:rPr>
              <a:t>Enterprise Risk Management (ERM)</a:t>
            </a:r>
            <a:endParaRPr lang="en-US" sz="3600" dirty="0"/>
          </a:p>
        </p:txBody>
      </p:sp>
      <p:sp>
        <p:nvSpPr>
          <p:cNvPr id="4" name="cover-answer"/>
          <p:cNvSpPr txBox="1"/>
          <p:nvPr/>
        </p:nvSpPr>
        <p:spPr>
          <a:xfrm>
            <a:off x="3383280" y="3611880"/>
            <a:ext cx="8321040" cy="914400"/>
          </a:xfrm>
          <a:prstGeom prst="rect">
            <a:avLst/>
          </a:prstGeom>
          <a:noFill/>
          <a:ln/>
        </p:spPr>
        <p:txBody>
          <a:bodyPr wrap="square" lIns="0" tIns="0" rIns="0" bIns="0" rtlCol="0" anchor="t"/>
          <a:lstStyle/>
          <a:p>
            <a:pPr indent="0" marL="0">
              <a:buNone/>
            </a:pPr>
            <a:r>
              <a:rPr lang="en-US" sz="2000" dirty="0">
                <a:solidFill>
                  <a:schemeClr val="bg1"/>
                </a:solidFill>
              </a:rPr>
              <a:t>2 developers rebuilt a business-critical, undocumented app for Airbus DevX in one PI, with an AI method any team can reuse</a:t>
            </a:r>
            <a:endParaRPr lang="en-US" sz="2000" dirty="0"/>
          </a:p>
        </p:txBody>
      </p:sp>
      <p:sp>
        <p:nvSpPr>
          <p:cNvPr id="5" name="presenters"/>
          <p:cNvSpPr txBox="1"/>
          <p:nvPr/>
        </p:nvSpPr>
        <p:spPr>
          <a:xfrm>
            <a:off x="3383280" y="5806440"/>
            <a:ext cx="7315200" cy="365760"/>
          </a:xfrm>
          <a:prstGeom prst="rect">
            <a:avLst/>
          </a:prstGeom>
          <a:noFill/>
          <a:ln/>
        </p:spPr>
        <p:txBody>
          <a:bodyPr wrap="square" lIns="0" tIns="0" rIns="0" bIns="0" rtlCol="0" anchor="t"/>
          <a:lstStyle/>
          <a:p>
            <a:pPr indent="0" marL="0">
              <a:buNone/>
            </a:pPr>
            <a:r>
              <a:rPr lang="en-US" sz="1400" dirty="0">
                <a:solidFill>
                  <a:schemeClr val="bg1"/>
                </a:solidFill>
              </a:rPr>
              <a:t>[Team name] · [Presenter names] · [Date]</a:t>
            </a:r>
            <a:endParaRPr lang="en-US" sz="1400" dirty="0"/>
          </a:p>
        </p:txBody>
      </p:sp>
      <p:sp>
        <p:nvSpPr>
          <p:cNvPr id="7"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endParaRPr lang="en-US" sz="3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THE STAKES · IMPACT</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ERM is business-critical for 892 users</a:t>
            </a:r>
            <a:endParaRPr lang="en-US" sz="3600" dirty="0"/>
          </a:p>
        </p:txBody>
      </p:sp>
      <p:sp>
        <p:nvSpPr>
          <p:cNvPr id="4" name="kpi-sub"/>
          <p:cNvSpPr txBox="1"/>
          <p:nvPr/>
        </p:nvSpPr>
        <p:spPr>
          <a:xfrm>
            <a:off x="548640" y="1115568"/>
            <a:ext cx="11094415" cy="320040"/>
          </a:xfrm>
          <a:prstGeom prst="rect">
            <a:avLst/>
          </a:prstGeom>
          <a:noFill/>
          <a:ln/>
        </p:spPr>
        <p:txBody>
          <a:bodyPr wrap="square" lIns="0" tIns="0" rIns="0" bIns="0" rtlCol="0" anchor="t"/>
          <a:lstStyle/>
          <a:p>
            <a:pPr indent="0" marL="0">
              <a:buNone/>
            </a:pPr>
            <a:r>
              <a:rPr lang="en-US" sz="1400" dirty="0">
                <a:solidFill>
                  <a:schemeClr val="tx2"/>
                </a:solidFill>
              </a:rPr>
              <a:t>One place to manage ARM risks and opportunities: dashboards, live editing, trends, releases and sharing</a:t>
            </a:r>
            <a:endParaRPr lang="en-US" sz="1400" dirty="0"/>
          </a:p>
        </p:txBody>
      </p:sp>
      <p:sp>
        <p:nvSpPr>
          <p:cNvPr id="5" name="kpi-0-card"/>
          <p:cNvSpPr/>
          <p:nvPr/>
        </p:nvSpPr>
        <p:spPr>
          <a:xfrm>
            <a:off x="548640" y="1536192"/>
            <a:ext cx="2567864" cy="987552"/>
          </a:xfrm>
          <a:prstGeom prst="roundRect">
            <a:avLst>
              <a:gd name="adj" fmla="val 11111"/>
            </a:avLst>
          </a:prstGeom>
          <a:solidFill>
            <a:schemeClr val="tx1"/>
          </a:solidFill>
          <a:ln/>
        </p:spPr>
      </p:sp>
      <p:sp>
        <p:nvSpPr>
          <p:cNvPr id="6" name="kpi-0-value"/>
          <p:cNvSpPr txBox="1"/>
          <p:nvPr/>
        </p:nvSpPr>
        <p:spPr>
          <a:xfrm>
            <a:off x="749808" y="1591056"/>
            <a:ext cx="2165528" cy="502920"/>
          </a:xfrm>
          <a:prstGeom prst="rect">
            <a:avLst/>
          </a:prstGeom>
          <a:noFill/>
          <a:ln/>
        </p:spPr>
        <p:txBody>
          <a:bodyPr wrap="square" lIns="0" tIns="0" rIns="0" bIns="0" rtlCol="0" anchor="t"/>
          <a:lstStyle/>
          <a:p>
            <a:pPr indent="0" marL="0">
              <a:buNone/>
            </a:pPr>
            <a:r>
              <a:rPr lang="en-US" sz="2800" b="1" dirty="0">
                <a:solidFill>
                  <a:schemeClr val="bg1"/>
                </a:solidFill>
              </a:rPr>
              <a:t>892</a:t>
            </a:r>
            <a:endParaRPr lang="en-US" sz="2800" dirty="0"/>
          </a:p>
        </p:txBody>
      </p:sp>
      <p:sp>
        <p:nvSpPr>
          <p:cNvPr id="7" name="kpi-0-desc"/>
          <p:cNvSpPr txBox="1"/>
          <p:nvPr/>
        </p:nvSpPr>
        <p:spPr>
          <a:xfrm>
            <a:off x="749808" y="2103120"/>
            <a:ext cx="2165528" cy="320040"/>
          </a:xfrm>
          <a:prstGeom prst="rect">
            <a:avLst/>
          </a:prstGeom>
          <a:noFill/>
          <a:ln/>
        </p:spPr>
        <p:txBody>
          <a:bodyPr wrap="square" lIns="0" tIns="0" rIns="0" bIns="0" rtlCol="0" anchor="t"/>
          <a:lstStyle/>
          <a:p>
            <a:pPr indent="0" marL="0">
              <a:buNone/>
            </a:pPr>
            <a:r>
              <a:rPr lang="en-US" sz="1300" dirty="0">
                <a:solidFill>
                  <a:schemeClr val="accent5"/>
                </a:solidFill>
              </a:rPr>
              <a:t>lifetime unique users</a:t>
            </a:r>
            <a:endParaRPr lang="en-US" sz="1300" dirty="0"/>
          </a:p>
        </p:txBody>
      </p:sp>
      <p:sp>
        <p:nvSpPr>
          <p:cNvPr id="8" name="kpi-1-card"/>
          <p:cNvSpPr/>
          <p:nvPr/>
        </p:nvSpPr>
        <p:spPr>
          <a:xfrm>
            <a:off x="3390824" y="1536192"/>
            <a:ext cx="2567864" cy="987552"/>
          </a:xfrm>
          <a:prstGeom prst="roundRect">
            <a:avLst>
              <a:gd name="adj" fmla="val 11111"/>
            </a:avLst>
          </a:prstGeom>
          <a:solidFill>
            <a:schemeClr val="bg1"/>
          </a:solidFill>
          <a:ln/>
        </p:spPr>
      </p:sp>
      <p:sp>
        <p:nvSpPr>
          <p:cNvPr id="9" name="kpi-1-value"/>
          <p:cNvSpPr txBox="1"/>
          <p:nvPr/>
        </p:nvSpPr>
        <p:spPr>
          <a:xfrm>
            <a:off x="3591992" y="1591056"/>
            <a:ext cx="2165528" cy="502920"/>
          </a:xfrm>
          <a:prstGeom prst="rect">
            <a:avLst/>
          </a:prstGeom>
          <a:noFill/>
          <a:ln/>
        </p:spPr>
        <p:txBody>
          <a:bodyPr wrap="square" lIns="0" tIns="0" rIns="0" bIns="0" rtlCol="0" anchor="t"/>
          <a:lstStyle/>
          <a:p>
            <a:pPr indent="0" marL="0">
              <a:buNone/>
            </a:pPr>
            <a:r>
              <a:rPr lang="en-US" sz="2800" b="1" dirty="0">
                <a:solidFill>
                  <a:schemeClr val="tx1"/>
                </a:solidFill>
              </a:rPr>
              <a:t>320+</a:t>
            </a:r>
            <a:endParaRPr lang="en-US" sz="2800" dirty="0"/>
          </a:p>
        </p:txBody>
      </p:sp>
      <p:sp>
        <p:nvSpPr>
          <p:cNvPr id="10" name="kpi-1-desc"/>
          <p:cNvSpPr txBox="1"/>
          <p:nvPr/>
        </p:nvSpPr>
        <p:spPr>
          <a:xfrm>
            <a:off x="3591992" y="2103120"/>
            <a:ext cx="2165528" cy="320040"/>
          </a:xfrm>
          <a:prstGeom prst="rect">
            <a:avLst/>
          </a:prstGeom>
          <a:noFill/>
          <a:ln/>
        </p:spPr>
        <p:txBody>
          <a:bodyPr wrap="square" lIns="0" tIns="0" rIns="0" bIns="0" rtlCol="0" anchor="t"/>
          <a:lstStyle/>
          <a:p>
            <a:pPr indent="0" marL="0">
              <a:buNone/>
            </a:pPr>
            <a:r>
              <a:rPr lang="en-US" sz="1300" dirty="0">
                <a:solidFill>
                  <a:schemeClr val="tx2"/>
                </a:solidFill>
              </a:rPr>
              <a:t>active in a peak month</a:t>
            </a:r>
            <a:endParaRPr lang="en-US" sz="1300" dirty="0"/>
          </a:p>
        </p:txBody>
      </p:sp>
      <p:sp>
        <p:nvSpPr>
          <p:cNvPr id="11" name="kpi-2-card"/>
          <p:cNvSpPr/>
          <p:nvPr/>
        </p:nvSpPr>
        <p:spPr>
          <a:xfrm>
            <a:off x="6233008" y="1536192"/>
            <a:ext cx="2567864" cy="987552"/>
          </a:xfrm>
          <a:prstGeom prst="roundRect">
            <a:avLst>
              <a:gd name="adj" fmla="val 11111"/>
            </a:avLst>
          </a:prstGeom>
          <a:solidFill>
            <a:schemeClr val="bg1"/>
          </a:solidFill>
          <a:ln/>
        </p:spPr>
      </p:sp>
      <p:sp>
        <p:nvSpPr>
          <p:cNvPr id="12" name="kpi-2-value"/>
          <p:cNvSpPr txBox="1"/>
          <p:nvPr/>
        </p:nvSpPr>
        <p:spPr>
          <a:xfrm>
            <a:off x="6434176" y="1591056"/>
            <a:ext cx="2165528" cy="502920"/>
          </a:xfrm>
          <a:prstGeom prst="rect">
            <a:avLst/>
          </a:prstGeom>
          <a:noFill/>
          <a:ln/>
        </p:spPr>
        <p:txBody>
          <a:bodyPr wrap="square" lIns="0" tIns="0" rIns="0" bIns="0" rtlCol="0" anchor="t"/>
          <a:lstStyle/>
          <a:p>
            <a:pPr indent="0" marL="0">
              <a:buNone/>
            </a:pPr>
            <a:r>
              <a:rPr lang="en-US" sz="2800" b="1" dirty="0">
                <a:solidFill>
                  <a:schemeClr val="tx1"/>
                </a:solidFill>
              </a:rPr>
              <a:t>1,600+</a:t>
            </a:r>
            <a:endParaRPr lang="en-US" sz="2800" dirty="0"/>
          </a:p>
        </p:txBody>
      </p:sp>
      <p:sp>
        <p:nvSpPr>
          <p:cNvPr id="13" name="kpi-2-desc"/>
          <p:cNvSpPr txBox="1"/>
          <p:nvPr/>
        </p:nvSpPr>
        <p:spPr>
          <a:xfrm>
            <a:off x="6434176" y="2103120"/>
            <a:ext cx="2165528" cy="320040"/>
          </a:xfrm>
          <a:prstGeom prst="rect">
            <a:avLst/>
          </a:prstGeom>
          <a:noFill/>
          <a:ln/>
        </p:spPr>
        <p:txBody>
          <a:bodyPr wrap="square" lIns="0" tIns="0" rIns="0" bIns="0" rtlCol="0" anchor="t"/>
          <a:lstStyle/>
          <a:p>
            <a:pPr indent="0" marL="0">
              <a:buNone/>
            </a:pPr>
            <a:r>
              <a:rPr lang="en-US" sz="1300" dirty="0">
                <a:solidFill>
                  <a:schemeClr val="tx2"/>
                </a:solidFill>
              </a:rPr>
              <a:t>dashboards created</a:t>
            </a:r>
            <a:endParaRPr lang="en-US" sz="1300" dirty="0"/>
          </a:p>
        </p:txBody>
      </p:sp>
      <p:sp>
        <p:nvSpPr>
          <p:cNvPr id="14" name="kpi-3-card"/>
          <p:cNvSpPr/>
          <p:nvPr/>
        </p:nvSpPr>
        <p:spPr>
          <a:xfrm>
            <a:off x="9075191" y="1536192"/>
            <a:ext cx="2567864" cy="987552"/>
          </a:xfrm>
          <a:prstGeom prst="roundRect">
            <a:avLst>
              <a:gd name="adj" fmla="val 11111"/>
            </a:avLst>
          </a:prstGeom>
          <a:solidFill>
            <a:schemeClr val="bg1"/>
          </a:solidFill>
          <a:ln/>
        </p:spPr>
      </p:sp>
      <p:sp>
        <p:nvSpPr>
          <p:cNvPr id="15" name="kpi-3-value"/>
          <p:cNvSpPr txBox="1"/>
          <p:nvPr/>
        </p:nvSpPr>
        <p:spPr>
          <a:xfrm>
            <a:off x="9276359" y="1591056"/>
            <a:ext cx="2165528" cy="502920"/>
          </a:xfrm>
          <a:prstGeom prst="rect">
            <a:avLst/>
          </a:prstGeom>
          <a:noFill/>
          <a:ln/>
        </p:spPr>
        <p:txBody>
          <a:bodyPr wrap="square" lIns="0" tIns="0" rIns="0" bIns="0" rtlCol="0" anchor="t"/>
          <a:lstStyle/>
          <a:p>
            <a:pPr indent="0" marL="0">
              <a:buNone/>
            </a:pPr>
            <a:r>
              <a:rPr lang="en-US" sz="2800" b="1" dirty="0">
                <a:solidFill>
                  <a:schemeClr val="tx1"/>
                </a:solidFill>
              </a:rPr>
              <a:t>10+</a:t>
            </a:r>
            <a:endParaRPr lang="en-US" sz="2800" dirty="0"/>
          </a:p>
        </p:txBody>
      </p:sp>
      <p:sp>
        <p:nvSpPr>
          <p:cNvPr id="16" name="kpi-3-desc"/>
          <p:cNvSpPr txBox="1"/>
          <p:nvPr/>
        </p:nvSpPr>
        <p:spPr>
          <a:xfrm>
            <a:off x="9276359" y="2103120"/>
            <a:ext cx="2165528" cy="320040"/>
          </a:xfrm>
          <a:prstGeom prst="rect">
            <a:avLst/>
          </a:prstGeom>
          <a:noFill/>
          <a:ln/>
        </p:spPr>
        <p:txBody>
          <a:bodyPr wrap="square" lIns="0" tIns="0" rIns="0" bIns="0" rtlCol="0" anchor="t"/>
          <a:lstStyle/>
          <a:p>
            <a:pPr indent="0" marL="0">
              <a:buNone/>
            </a:pPr>
            <a:r>
              <a:rPr lang="en-US" sz="1300" dirty="0">
                <a:solidFill>
                  <a:schemeClr val="tx2"/>
                </a:solidFill>
              </a:rPr>
              <a:t>updated every day</a:t>
            </a:r>
            <a:endParaRPr lang="en-US" sz="1300" dirty="0"/>
          </a:p>
        </p:txBody>
      </p:sp>
      <p:sp>
        <p:nvSpPr>
          <p:cNvPr id="17" name="trend-card"/>
          <p:cNvSpPr/>
          <p:nvPr/>
        </p:nvSpPr>
        <p:spPr>
          <a:xfrm>
            <a:off x="548640" y="2697480"/>
            <a:ext cx="4572000" cy="3749040"/>
          </a:xfrm>
          <a:prstGeom prst="roundRect">
            <a:avLst>
              <a:gd name="adj" fmla="val 2927"/>
            </a:avLst>
          </a:prstGeom>
          <a:solidFill>
            <a:schemeClr val="bg1"/>
          </a:solidFill>
          <a:ln/>
        </p:spPr>
      </p:sp>
      <p:sp>
        <p:nvSpPr>
          <p:cNvPr id="18" name="trend-title"/>
          <p:cNvSpPr txBox="1"/>
          <p:nvPr/>
        </p:nvSpPr>
        <p:spPr>
          <a:xfrm>
            <a:off x="731520" y="2807208"/>
            <a:ext cx="4206240" cy="256032"/>
          </a:xfrm>
          <a:prstGeom prst="rect">
            <a:avLst/>
          </a:prstGeom>
          <a:noFill/>
          <a:ln/>
        </p:spPr>
        <p:txBody>
          <a:bodyPr wrap="square" lIns="0" tIns="0" rIns="0" bIns="0" rtlCol="0" anchor="t"/>
          <a:lstStyle/>
          <a:p>
            <a:pPr indent="0" marL="0">
              <a:buNone/>
            </a:pPr>
            <a:r>
              <a:rPr lang="en-US" sz="1000" b="1" spc="100" kern="0" dirty="0">
                <a:solidFill>
                  <a:schemeClr val="tx1"/>
                </a:solidFill>
              </a:rPr>
              <a:t>MONTHLY UNIQUE USERS</a:t>
            </a:r>
            <a:endParaRPr lang="en-US" sz="1000" dirty="0"/>
          </a:p>
        </p:txBody>
      </p:sp>
      <p:graphicFrame>
        <p:nvGraphicFramePr>
          <p:cNvPr id="19" name="users-trend" descr=""/>
          <p:cNvGraphicFramePr/>
          <p:nvPr/>
        </p:nvGraphicFramePr>
        <p:xfrm>
          <a:off x="594360" y="3063240"/>
          <a:ext cx="4480560" cy="2971800"/>
        </p:xfrm>
        <a:graphic xmlns:a="http://schemas.openxmlformats.org/drawingml/2006/main">
          <a:graphicData uri="http://schemas.openxmlformats.org/drawingml/2006/chart">
            <c:chart xmlns:c="http://schemas.openxmlformats.org/drawingml/2006/chart" r:id="rId1"/>
          </a:graphicData>
        </a:graphic>
      </p:graphicFrame>
      <p:sp>
        <p:nvSpPr>
          <p:cNvPr id="20" name="trend-caption"/>
          <p:cNvSpPr txBox="1"/>
          <p:nvPr/>
        </p:nvSpPr>
        <p:spPr>
          <a:xfrm>
            <a:off x="731520" y="6099048"/>
            <a:ext cx="4206240" cy="237744"/>
          </a:xfrm>
          <a:prstGeom prst="rect">
            <a:avLst/>
          </a:prstGeom>
          <a:noFill/>
          <a:ln/>
        </p:spPr>
        <p:txBody>
          <a:bodyPr wrap="square" lIns="0" tIns="0" rIns="0" bIns="0" rtlCol="0" anchor="t"/>
          <a:lstStyle/>
          <a:p>
            <a:pPr indent="0" marL="0">
              <a:buNone/>
            </a:pPr>
            <a:r>
              <a:rPr lang="en-US" sz="1000" i="1" dirty="0">
                <a:solidFill>
                  <a:schemeClr val="tx2"/>
                </a:solidFill>
              </a:rPr>
              <a:t>Approximate, read from the ERM usage chart</a:t>
            </a:r>
            <a:endParaRPr lang="en-US" sz="1000" dirty="0"/>
          </a:p>
        </p:txBody>
      </p:sp>
      <p:sp>
        <p:nvSpPr>
          <p:cNvPr id="21" name="org-card"/>
          <p:cNvSpPr/>
          <p:nvPr/>
        </p:nvSpPr>
        <p:spPr>
          <a:xfrm>
            <a:off x="5349240" y="2697480"/>
            <a:ext cx="3840480" cy="3749040"/>
          </a:xfrm>
          <a:prstGeom prst="roundRect">
            <a:avLst>
              <a:gd name="adj" fmla="val 2927"/>
            </a:avLst>
          </a:prstGeom>
          <a:solidFill>
            <a:schemeClr val="bg1"/>
          </a:solidFill>
          <a:ln/>
        </p:spPr>
      </p:sp>
      <p:sp>
        <p:nvSpPr>
          <p:cNvPr id="22" name="org-title"/>
          <p:cNvSpPr txBox="1"/>
          <p:nvPr/>
        </p:nvSpPr>
        <p:spPr>
          <a:xfrm>
            <a:off x="5532120" y="2807208"/>
            <a:ext cx="3474720" cy="256032"/>
          </a:xfrm>
          <a:prstGeom prst="rect">
            <a:avLst/>
          </a:prstGeom>
          <a:noFill/>
          <a:ln/>
        </p:spPr>
        <p:txBody>
          <a:bodyPr wrap="square" lIns="0" tIns="0" rIns="0" bIns="0" rtlCol="0" anchor="t"/>
          <a:lstStyle/>
          <a:p>
            <a:pPr indent="0" marL="0">
              <a:buNone/>
            </a:pPr>
            <a:r>
              <a:rPr lang="en-US" sz="1000" b="1" spc="100" kern="0" dirty="0">
                <a:solidFill>
                  <a:schemeClr val="tx1"/>
                </a:solidFill>
              </a:rPr>
              <a:t>USERS BY ORGANISATION (SIGLUM 1)</a:t>
            </a:r>
            <a:endParaRPr lang="en-US" sz="1000" dirty="0"/>
          </a:p>
        </p:txBody>
      </p:sp>
      <p:graphicFrame>
        <p:nvGraphicFramePr>
          <p:cNvPr id="23" name="org-chart" descr=""/>
          <p:cNvGraphicFramePr/>
          <p:nvPr/>
        </p:nvGraphicFramePr>
        <p:xfrm>
          <a:off x="5394960" y="3063240"/>
          <a:ext cx="3749040" cy="2971800"/>
        </p:xfrm>
        <a:graphic xmlns:a="http://schemas.openxmlformats.org/drawingml/2006/main">
          <a:graphicData uri="http://schemas.openxmlformats.org/drawingml/2006/chart">
            <c:chart xmlns:c="http://schemas.openxmlformats.org/drawingml/2006/chart" r:id="rId2"/>
          </a:graphicData>
        </a:graphic>
      </p:graphicFrame>
      <p:sp>
        <p:nvSpPr>
          <p:cNvPr id="24" name="org-caption"/>
          <p:cNvSpPr txBox="1"/>
          <p:nvPr/>
        </p:nvSpPr>
        <p:spPr>
          <a:xfrm>
            <a:off x="5532120" y="6099048"/>
            <a:ext cx="3474720" cy="237744"/>
          </a:xfrm>
          <a:prstGeom prst="rect">
            <a:avLst/>
          </a:prstGeom>
          <a:noFill/>
          <a:ln/>
        </p:spPr>
        <p:txBody>
          <a:bodyPr wrap="square" lIns="0" tIns="0" rIns="0" bIns="0" rtlCol="0" anchor="t"/>
          <a:lstStyle/>
          <a:p>
            <a:pPr indent="0" marL="0">
              <a:buNone/>
            </a:pPr>
            <a:r>
              <a:rPr lang="en-US" sz="1000" i="1" dirty="0">
                <a:solidFill>
                  <a:schemeClr val="tx2"/>
                </a:solidFill>
              </a:rPr>
              <a:t>Plus about 12 smaller organisations. Approximate</a:t>
            </a:r>
            <a:endParaRPr lang="en-US" sz="1000" dirty="0"/>
          </a:p>
        </p:txBody>
      </p:sp>
      <p:sp>
        <p:nvSpPr>
          <p:cNvPr id="25" name="loc-card"/>
          <p:cNvSpPr/>
          <p:nvPr/>
        </p:nvSpPr>
        <p:spPr>
          <a:xfrm>
            <a:off x="9418320" y="2697480"/>
            <a:ext cx="2224735" cy="3749040"/>
          </a:xfrm>
          <a:prstGeom prst="roundRect">
            <a:avLst>
              <a:gd name="adj" fmla="val 4932"/>
            </a:avLst>
          </a:prstGeom>
          <a:solidFill>
            <a:schemeClr val="tx1"/>
          </a:solidFill>
          <a:ln/>
        </p:spPr>
      </p:sp>
      <p:sp>
        <p:nvSpPr>
          <p:cNvPr id="26" name="loc-title"/>
          <p:cNvSpPr txBox="1"/>
          <p:nvPr/>
        </p:nvSpPr>
        <p:spPr>
          <a:xfrm>
            <a:off x="9601200" y="2807208"/>
            <a:ext cx="1858975" cy="256032"/>
          </a:xfrm>
          <a:prstGeom prst="rect">
            <a:avLst/>
          </a:prstGeom>
          <a:noFill/>
          <a:ln/>
        </p:spPr>
        <p:txBody>
          <a:bodyPr wrap="square" lIns="0" tIns="0" rIns="0" bIns="0" rtlCol="0" anchor="t"/>
          <a:lstStyle/>
          <a:p>
            <a:pPr indent="0" marL="0">
              <a:buNone/>
            </a:pPr>
            <a:r>
              <a:rPr lang="en-US" sz="1000" b="1" spc="100" kern="0" dirty="0">
                <a:solidFill>
                  <a:schemeClr val="accent5"/>
                </a:solidFill>
              </a:rPr>
              <a:t>LOCATION PROFILE</a:t>
            </a:r>
            <a:endParaRPr lang="en-US" sz="1000" dirty="0"/>
          </a:p>
        </p:txBody>
      </p:sp>
      <p:sp>
        <p:nvSpPr>
          <p:cNvPr id="27" name="loc-list"/>
          <p:cNvSpPr txBox="1"/>
          <p:nvPr/>
        </p:nvSpPr>
        <p:spPr>
          <a:xfrm>
            <a:off x="9601200" y="3154680"/>
            <a:ext cx="1858975" cy="3154680"/>
          </a:xfrm>
          <a:prstGeom prst="rect">
            <a:avLst/>
          </a:prstGeom>
          <a:noFill/>
          <a:ln/>
        </p:spPr>
        <p:txBody>
          <a:bodyPr wrap="square" lIns="0" tIns="0" rIns="0" bIns="0" rtlCol="0" anchor="t"/>
          <a:lstStyle/>
          <a:p>
            <a:pPr indent="0" marL="0">
              <a:buNone/>
            </a:pPr>
            <a:r>
              <a:rPr lang="en-US" sz="1200" b="1" dirty="0">
                <a:solidFill>
                  <a:schemeClr val="bg1"/>
                </a:solidFill>
              </a:rPr>
              <a:t>France</a:t>
            </a:r>
            <a:endParaRPr lang="en-US" sz="1200" dirty="0"/>
          </a:p>
          <a:p>
            <a:pPr indent="0" marL="0">
              <a:spcAft>
                <a:spcPts val="600"/>
              </a:spcAft>
              <a:buNone/>
            </a:pPr>
            <a:r>
              <a:rPr lang="en-US" sz="1100" dirty="0">
                <a:solidFill>
                  <a:schemeClr val="accent5"/>
                </a:solidFill>
              </a:rPr>
              <a:t>Blagnac 271, Saint-Martin 43</a:t>
            </a:r>
            <a:endParaRPr lang="en-US" sz="1200" dirty="0"/>
          </a:p>
          <a:p>
            <a:pPr indent="0" marL="0">
              <a:buNone/>
            </a:pPr>
            <a:r>
              <a:rPr lang="en-US" sz="1200" b="1" dirty="0">
                <a:solidFill>
                  <a:schemeClr val="bg1"/>
                </a:solidFill>
              </a:rPr>
              <a:t>Germany</a:t>
            </a:r>
            <a:endParaRPr lang="en-US" sz="1200" dirty="0"/>
          </a:p>
          <a:p>
            <a:pPr indent="0" marL="0">
              <a:spcAft>
                <a:spcPts val="600"/>
              </a:spcAft>
              <a:buNone/>
            </a:pPr>
            <a:r>
              <a:rPr lang="en-US" sz="1100" dirty="0">
                <a:solidFill>
                  <a:schemeClr val="accent5"/>
                </a:solidFill>
              </a:rPr>
              <a:t>Hamburg 205</a:t>
            </a:r>
            <a:endParaRPr lang="en-US" sz="1200" dirty="0"/>
          </a:p>
          <a:p>
            <a:pPr indent="0" marL="0">
              <a:buNone/>
            </a:pPr>
            <a:r>
              <a:rPr lang="en-US" sz="1200" b="1" dirty="0">
                <a:solidFill>
                  <a:schemeClr val="bg1"/>
                </a:solidFill>
              </a:rPr>
              <a:t>United Kingdom</a:t>
            </a:r>
            <a:endParaRPr lang="en-US" sz="1200" dirty="0"/>
          </a:p>
          <a:p>
            <a:pPr indent="0" marL="0">
              <a:spcAft>
                <a:spcPts val="600"/>
              </a:spcAft>
              <a:buNone/>
            </a:pPr>
            <a:r>
              <a:rPr lang="en-US" sz="1100" dirty="0">
                <a:solidFill>
                  <a:schemeClr val="accent5"/>
                </a:solidFill>
              </a:rPr>
              <a:t>Broughton 32, Filton 26</a:t>
            </a:r>
            <a:endParaRPr lang="en-US" sz="1200" dirty="0"/>
          </a:p>
          <a:p>
            <a:pPr indent="0" marL="0">
              <a:buNone/>
            </a:pPr>
            <a:r>
              <a:rPr lang="en-US" sz="1200" b="1" dirty="0">
                <a:solidFill>
                  <a:schemeClr val="bg1"/>
                </a:solidFill>
              </a:rPr>
              <a:t>Spain</a:t>
            </a:r>
            <a:endParaRPr lang="en-US" sz="1200" dirty="0"/>
          </a:p>
          <a:p>
            <a:pPr indent="0" marL="0">
              <a:spcAft>
                <a:spcPts val="600"/>
              </a:spcAft>
              <a:buNone/>
            </a:pPr>
            <a:r>
              <a:rPr lang="en-US" sz="1100" dirty="0">
                <a:solidFill>
                  <a:schemeClr val="accent5"/>
                </a:solidFill>
              </a:rPr>
              <a:t>Getafe 25</a:t>
            </a:r>
            <a:endParaRPr lang="en-US" sz="1200" dirty="0"/>
          </a:p>
          <a:p>
            <a:pPr indent="0" marL="0">
              <a:buNone/>
            </a:pPr>
            <a:r>
              <a:rPr lang="en-US" sz="1200" b="1" dirty="0">
                <a:solidFill>
                  <a:schemeClr val="bg1"/>
                </a:solidFill>
              </a:rPr>
              <a:t>Canada</a:t>
            </a:r>
            <a:endParaRPr lang="en-US" sz="1200" dirty="0"/>
          </a:p>
          <a:p>
            <a:pPr indent="0" marL="0">
              <a:spcAft>
                <a:spcPts val="600"/>
              </a:spcAft>
              <a:buNone/>
            </a:pPr>
            <a:r>
              <a:rPr lang="en-US" sz="1100" dirty="0">
                <a:solidFill>
                  <a:schemeClr val="accent5"/>
                </a:solidFill>
              </a:rPr>
              <a:t>Mirabel 12</a:t>
            </a:r>
            <a:endParaRPr lang="en-US" sz="1200" dirty="0"/>
          </a:p>
          <a:p>
            <a:pPr indent="0" marL="0">
              <a:buNone/>
            </a:pPr>
            <a:r>
              <a:rPr lang="en-US" sz="1200" b="1" dirty="0">
                <a:solidFill>
                  <a:schemeClr val="bg1"/>
                </a:solidFill>
              </a:rPr>
              <a:t>India</a:t>
            </a:r>
            <a:endParaRPr lang="en-US" sz="1200" dirty="0"/>
          </a:p>
          <a:p>
            <a:pPr indent="0" marL="0">
              <a:spcAft>
                <a:spcPts val="600"/>
              </a:spcAft>
              <a:buNone/>
            </a:pPr>
            <a:r>
              <a:rPr lang="en-US" sz="1100" dirty="0">
                <a:solidFill>
                  <a:schemeClr val="accent5"/>
                </a:solidFill>
              </a:rPr>
              <a:t>Bangalore 7</a:t>
            </a:r>
            <a:endParaRPr lang="en-US" sz="1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3"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childTnLst>
                          </p:cTn>
                        </p:par>
                        <p:par>
                          <p:cTn id="16" fill="hold">
                            <p:stCondLst>
                              <p:cond delay="400"/>
                            </p:stCondLst>
                            <p:childTnLst>
                              <p:par>
                                <p:cTn id="7" presetID="10" presetClass="entr" presetSubtype="0" fill="hold" grpId="0" nodeType="after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450"/>
                                        <p:tgtEl>
                                          <p:spTgt spid="5"/>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50"/>
                                        <p:tgtEl>
                                          <p:spTgt spid="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childTnLst>
                          </p:cTn>
                        </p:par>
                        <p:par>
                          <p:cTn id="26" fill="hold">
                            <p:stCondLst>
                              <p:cond delay="800"/>
                            </p:stCondLst>
                            <p:childTnLst>
                              <p:par>
                                <p:cTn id="17" presetID="10" presetClass="entr" presetSubtype="0" fill="hold" grpId="0" nodeType="after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5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50"/>
                                        <p:tgtEl>
                                          <p:spTgt spid="10"/>
                                        </p:tgtEl>
                                      </p:cBhvr>
                                    </p:animEffect>
                                  </p:childTnLst>
                                </p:cTn>
                              </p:par>
                            </p:childTnLst>
                          </p:cTn>
                        </p:par>
                        <p:par>
                          <p:cTn id="36" fill="hold">
                            <p:stCondLst>
                              <p:cond delay="1200"/>
                            </p:stCondLst>
                            <p:childTnLst>
                              <p:par>
                                <p:cTn id="27" presetID="10" presetClass="entr" presetSubtype="0" fill="hold" grpId="0" nodeType="after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5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5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50"/>
                                        <p:tgtEl>
                                          <p:spTgt spid="13"/>
                                        </p:tgtEl>
                                      </p:cBhvr>
                                    </p:animEffect>
                                  </p:childTnLst>
                                </p:cTn>
                              </p:par>
                            </p:childTnLst>
                          </p:cTn>
                        </p:par>
                        <p:par>
                          <p:cTn id="46" fill="hold">
                            <p:stCondLst>
                              <p:cond delay="1600"/>
                            </p:stCondLst>
                            <p:childTnLst>
                              <p:par>
                                <p:cTn id="37" presetID="10" presetClass="entr" presetSubtype="0" fill="hold" grpId="0" nodeType="after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450"/>
                                        <p:tgtEl>
                                          <p:spTgt spid="1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450"/>
                                        <p:tgtEl>
                                          <p:spTgt spid="1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450"/>
                                        <p:tgtEl>
                                          <p:spTgt spid="16"/>
                                        </p:tgtEl>
                                      </p:cBhvr>
                                    </p:animEffect>
                                  </p:childTnLst>
                                </p:cTn>
                              </p:par>
                            </p:childTnLst>
                          </p:cTn>
                        </p:par>
                        <p:par>
                          <p:cTn id="59" fill="hold">
                            <p:stCondLst>
                              <p:cond delay="2000"/>
                            </p:stCondLst>
                            <p:childTnLst>
                              <p:par>
                                <p:cTn id="47" presetID="10" presetClass="entr" presetSubtype="0" fill="hold" grpId="0" nodeType="after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5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5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450"/>
                                        <p:tgtEl>
                                          <p:spTgt spid="20"/>
                                        </p:tgtEl>
                                      </p:cBhvr>
                                    </p:animEffect>
                                  </p:childTnLst>
                                </p:cTn>
                              </p:par>
                              <p:par>
                                <p:cTn id="56" presetID="22" presetClass="entr" presetSubtype="8" fill="hold" grpId="0" nodeType="withEffect">
                                  <p:stCondLst>
                                    <p:cond delay="200"/>
                                  </p:stCondLst>
                                  <p:childTnLst>
                                    <p:set>
                                      <p:cBhvr>
                                        <p:cTn id="57" dur="1" fill="hold">
                                          <p:stCondLst>
                                            <p:cond delay="0"/>
                                          </p:stCondLst>
                                        </p:cTn>
                                        <p:tgtEl>
                                          <p:spTgt spid="19"/>
                                        </p:tgtEl>
                                        <p:attrNameLst>
                                          <p:attrName>style.visibility</p:attrName>
                                        </p:attrNameLst>
                                      </p:cBhvr>
                                      <p:to>
                                        <p:strVal val="visible"/>
                                      </p:to>
                                    </p:set>
                                    <p:animEffect transition="in" filter="wipe(left)">
                                      <p:cBhvr>
                                        <p:cTn id="58" dur="450"/>
                                        <p:tgtEl>
                                          <p:spTgt spid="19"/>
                                        </p:tgtEl>
                                      </p:cBhvr>
                                    </p:animEffect>
                                  </p:childTnLst>
                                </p:cTn>
                              </p:par>
                            </p:childTnLst>
                          </p:cTn>
                        </p:par>
                        <p:par>
                          <p:cTn id="72" fill="hold">
                            <p:stCondLst>
                              <p:cond delay="2400"/>
                            </p:stCondLst>
                            <p:childTnLst>
                              <p:par>
                                <p:cTn id="60" presetID="10" presetClass="entr" presetSubtype="0" fill="hold" grpId="0" nodeType="afterEffect">
                                  <p:stCondLst>
                                    <p:cond delay="0"/>
                                  </p:stCondLst>
                                  <p:childTnLst>
                                    <p:set>
                                      <p:cBhvr>
                                        <p:cTn id="61" dur="1" fill="hold">
                                          <p:stCondLst>
                                            <p:cond delay="0"/>
                                          </p:stCondLst>
                                        </p:cTn>
                                        <p:tgtEl>
                                          <p:spTgt spid="21"/>
                                        </p:tgtEl>
                                        <p:attrNameLst>
                                          <p:attrName>style.visibility</p:attrName>
                                        </p:attrNameLst>
                                      </p:cBhvr>
                                      <p:to>
                                        <p:strVal val="visible"/>
                                      </p:to>
                                    </p:set>
                                    <p:animEffect transition="in" filter="fade">
                                      <p:cBhvr>
                                        <p:cTn id="62" dur="450"/>
                                        <p:tgtEl>
                                          <p:spTgt spid="21"/>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2"/>
                                        </p:tgtEl>
                                        <p:attrNameLst>
                                          <p:attrName>style.visibility</p:attrName>
                                        </p:attrNameLst>
                                      </p:cBhvr>
                                      <p:to>
                                        <p:strVal val="visible"/>
                                      </p:to>
                                    </p:set>
                                    <p:animEffect transition="in" filter="fade">
                                      <p:cBhvr>
                                        <p:cTn id="65" dur="450"/>
                                        <p:tgtEl>
                                          <p:spTgt spid="22"/>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3"/>
                                        </p:tgtEl>
                                        <p:attrNameLst>
                                          <p:attrName>style.visibility</p:attrName>
                                        </p:attrNameLst>
                                      </p:cBhvr>
                                      <p:to>
                                        <p:strVal val="visible"/>
                                      </p:to>
                                    </p:set>
                                    <p:animEffect transition="in" filter="fade">
                                      <p:cBhvr>
                                        <p:cTn id="68" dur="450"/>
                                        <p:tgtEl>
                                          <p:spTgt spid="23"/>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24"/>
                                        </p:tgtEl>
                                        <p:attrNameLst>
                                          <p:attrName>style.visibility</p:attrName>
                                        </p:attrNameLst>
                                      </p:cBhvr>
                                      <p:to>
                                        <p:strVal val="visible"/>
                                      </p:to>
                                    </p:set>
                                    <p:animEffect transition="in" filter="fade">
                                      <p:cBhvr>
                                        <p:cTn id="71" dur="450"/>
                                        <p:tgtEl>
                                          <p:spTgt spid="24"/>
                                        </p:tgtEl>
                                      </p:cBhvr>
                                    </p:animEffect>
                                  </p:childTnLst>
                                </p:cTn>
                              </p:par>
                            </p:childTnLst>
                          </p:cTn>
                        </p:par>
                        <p:par>
                          <p:cTn id="82" fill="hold">
                            <p:stCondLst>
                              <p:cond delay="2800"/>
                            </p:stCondLst>
                            <p:childTnLst>
                              <p:par>
                                <p:cTn id="73" presetID="10" presetClass="entr" presetSubtype="0" fill="hold" grpId="0" nodeType="after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5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50"/>
                                        <p:tgtEl>
                                          <p:spTgt spid="26"/>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7"/>
                                        </p:tgtEl>
                                        <p:attrNameLst>
                                          <p:attrName>style.visibility</p:attrName>
                                        </p:attrNameLst>
                                      </p:cBhvr>
                                      <p:to>
                                        <p:strVal val="visible"/>
                                      </p:to>
                                    </p:set>
                                    <p:animEffect transition="in" filter="fade">
                                      <p:cBhvr>
                                        <p:cTn id="81" dur="45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20" grpId="0" animBg="1"/>
      <p:bldP spid="21" grpId="0" animBg="1"/>
      <p:bldP spid="22" grpId="0" animBg="1"/>
      <p:bldP spid="24" grpId="0" animBg="1"/>
      <p:bldP spid="25" grpId="0" animBg="1"/>
      <p:bldP spid="26" grpId="0" animBg="1"/>
      <p:bldP spid="27"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THE COMPLICATION</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But Slate had become the bottleneck</a:t>
            </a:r>
            <a:endParaRPr lang="en-US" sz="3600" dirty="0"/>
          </a:p>
        </p:txBody>
      </p:sp>
      <p:sp>
        <p:nvSpPr>
          <p:cNvPr id="4" name="prob-0-card"/>
          <p:cNvSpPr/>
          <p:nvPr/>
        </p:nvSpPr>
        <p:spPr>
          <a:xfrm>
            <a:off x="548640" y="1371600"/>
            <a:ext cx="5029200" cy="777240"/>
          </a:xfrm>
          <a:prstGeom prst="roundRect">
            <a:avLst>
              <a:gd name="adj" fmla="val 14118"/>
            </a:avLst>
          </a:prstGeom>
          <a:solidFill>
            <a:schemeClr val="bg2"/>
          </a:solidFill>
          <a:ln/>
        </p:spPr>
      </p:sp>
      <p:sp>
        <p:nvSpPr>
          <p:cNvPr id="5" name="prob-0-text"/>
          <p:cNvSpPr txBox="1"/>
          <p:nvPr/>
        </p:nvSpPr>
        <p:spPr>
          <a:xfrm>
            <a:off x="777240" y="1444752"/>
            <a:ext cx="4572000" cy="630936"/>
          </a:xfrm>
          <a:prstGeom prst="rect">
            <a:avLst/>
          </a:prstGeom>
          <a:noFill/>
          <a:ln/>
        </p:spPr>
        <p:txBody>
          <a:bodyPr wrap="square" lIns="0" tIns="0" rIns="0" bIns="0" rtlCol="0" anchor="ctr"/>
          <a:lstStyle/>
          <a:p>
            <a:pPr indent="0" marL="0">
              <a:buNone/>
            </a:pPr>
            <a:r>
              <a:rPr lang="en-US" sz="1500" b="1" dirty="0">
                <a:solidFill>
                  <a:schemeClr val="tx1"/>
                </a:solidFill>
              </a:rPr>
              <a:t>Tangled dependencies</a:t>
            </a:r>
            <a:endParaRPr lang="en-US" sz="1500" dirty="0"/>
          </a:p>
          <a:p>
            <a:pPr indent="0" marL="0">
              <a:buNone/>
            </a:pPr>
            <a:r>
              <a:rPr lang="en-US" sz="1300" dirty="0">
                <a:solidFill>
                  <a:schemeClr val="tx2"/>
                </a:solidFill>
              </a:rPr>
              <a:t>One user action cascades through widgets, events, actions and variables</a:t>
            </a:r>
            <a:endParaRPr lang="en-US" sz="1500" dirty="0"/>
          </a:p>
        </p:txBody>
      </p:sp>
      <p:sp>
        <p:nvSpPr>
          <p:cNvPr id="6" name="prob-1-card"/>
          <p:cNvSpPr/>
          <p:nvPr/>
        </p:nvSpPr>
        <p:spPr>
          <a:xfrm>
            <a:off x="548640" y="2258568"/>
            <a:ext cx="5029200" cy="777240"/>
          </a:xfrm>
          <a:prstGeom prst="roundRect">
            <a:avLst>
              <a:gd name="adj" fmla="val 14118"/>
            </a:avLst>
          </a:prstGeom>
          <a:solidFill>
            <a:schemeClr val="bg2"/>
          </a:solidFill>
          <a:ln/>
        </p:spPr>
      </p:sp>
      <p:sp>
        <p:nvSpPr>
          <p:cNvPr id="7" name="prob-1-text"/>
          <p:cNvSpPr txBox="1"/>
          <p:nvPr/>
        </p:nvSpPr>
        <p:spPr>
          <a:xfrm>
            <a:off x="777240" y="2331720"/>
            <a:ext cx="4572000" cy="630936"/>
          </a:xfrm>
          <a:prstGeom prst="rect">
            <a:avLst/>
          </a:prstGeom>
          <a:noFill/>
          <a:ln/>
        </p:spPr>
        <p:txBody>
          <a:bodyPr wrap="square" lIns="0" tIns="0" rIns="0" bIns="0" rtlCol="0" anchor="ctr"/>
          <a:lstStyle/>
          <a:p>
            <a:pPr indent="0" marL="0">
              <a:buNone/>
            </a:pPr>
            <a:r>
              <a:rPr lang="en-US" sz="1500" b="1" dirty="0">
                <a:solidFill>
                  <a:schemeClr val="tx1"/>
                </a:solidFill>
              </a:rPr>
              <a:t>High regression risk</a:t>
            </a:r>
            <a:endParaRPr lang="en-US" sz="1500" dirty="0"/>
          </a:p>
          <a:p>
            <a:pPr indent="0" marL="0">
              <a:buNone/>
            </a:pPr>
            <a:r>
              <a:rPr lang="en-US" sz="1300" dirty="0">
                <a:solidFill>
                  <a:schemeClr val="tx2"/>
                </a:solidFill>
              </a:rPr>
              <a:t>Changing one feature can break unrelated dashboard behaviour</a:t>
            </a:r>
            <a:endParaRPr lang="en-US" sz="1500" dirty="0"/>
          </a:p>
        </p:txBody>
      </p:sp>
      <p:sp>
        <p:nvSpPr>
          <p:cNvPr id="8" name="prob-2-card"/>
          <p:cNvSpPr/>
          <p:nvPr/>
        </p:nvSpPr>
        <p:spPr>
          <a:xfrm>
            <a:off x="548640" y="3145536"/>
            <a:ext cx="5029200" cy="777240"/>
          </a:xfrm>
          <a:prstGeom prst="roundRect">
            <a:avLst>
              <a:gd name="adj" fmla="val 14118"/>
            </a:avLst>
          </a:prstGeom>
          <a:solidFill>
            <a:schemeClr val="bg2"/>
          </a:solidFill>
          <a:ln/>
        </p:spPr>
      </p:sp>
      <p:sp>
        <p:nvSpPr>
          <p:cNvPr id="9" name="prob-2-text"/>
          <p:cNvSpPr txBox="1"/>
          <p:nvPr/>
        </p:nvSpPr>
        <p:spPr>
          <a:xfrm>
            <a:off x="777240" y="3218688"/>
            <a:ext cx="4572000" cy="630936"/>
          </a:xfrm>
          <a:prstGeom prst="rect">
            <a:avLst/>
          </a:prstGeom>
          <a:noFill/>
          <a:ln/>
        </p:spPr>
        <p:txBody>
          <a:bodyPr wrap="square" lIns="0" tIns="0" rIns="0" bIns="0" rtlCol="0" anchor="ctr"/>
          <a:lstStyle/>
          <a:p>
            <a:pPr indent="0" marL="0">
              <a:buNone/>
            </a:pPr>
            <a:r>
              <a:rPr lang="en-US" sz="1500" b="1" dirty="0">
                <a:solidFill>
                  <a:schemeClr val="tx1"/>
                </a:solidFill>
              </a:rPr>
              <a:t>Slow navigation</a:t>
            </a:r>
            <a:endParaRPr lang="en-US" sz="1500" dirty="0"/>
          </a:p>
          <a:p>
            <a:pPr indent="0" marL="0">
              <a:buNone/>
            </a:pPr>
            <a:r>
              <a:rPr lang="en-US" sz="1300" dirty="0">
                <a:solidFill>
                  <a:schemeClr val="tx2"/>
                </a:solidFill>
              </a:rPr>
              <a:t>Variable trees are recalculated on every tab switch</a:t>
            </a:r>
            <a:endParaRPr lang="en-US" sz="1500" dirty="0"/>
          </a:p>
        </p:txBody>
      </p:sp>
      <p:sp>
        <p:nvSpPr>
          <p:cNvPr id="10" name="prob-3-card"/>
          <p:cNvSpPr/>
          <p:nvPr/>
        </p:nvSpPr>
        <p:spPr>
          <a:xfrm>
            <a:off x="548640" y="4032504"/>
            <a:ext cx="5029200" cy="777240"/>
          </a:xfrm>
          <a:prstGeom prst="roundRect">
            <a:avLst>
              <a:gd name="adj" fmla="val 14118"/>
            </a:avLst>
          </a:prstGeom>
          <a:solidFill>
            <a:schemeClr val="bg2"/>
          </a:solidFill>
          <a:ln/>
        </p:spPr>
      </p:sp>
      <p:sp>
        <p:nvSpPr>
          <p:cNvPr id="11" name="prob-3-text"/>
          <p:cNvSpPr txBox="1"/>
          <p:nvPr/>
        </p:nvSpPr>
        <p:spPr>
          <a:xfrm>
            <a:off x="777240" y="4105656"/>
            <a:ext cx="4572000" cy="630936"/>
          </a:xfrm>
          <a:prstGeom prst="rect">
            <a:avLst/>
          </a:prstGeom>
          <a:noFill/>
          <a:ln/>
        </p:spPr>
        <p:txBody>
          <a:bodyPr wrap="square" lIns="0" tIns="0" rIns="0" bIns="0" rtlCol="0" anchor="ctr"/>
          <a:lstStyle/>
          <a:p>
            <a:pPr indent="0" marL="0">
              <a:buNone/>
            </a:pPr>
            <a:r>
              <a:rPr lang="en-US" sz="1500" b="1" dirty="0">
                <a:solidFill>
                  <a:schemeClr val="accent3"/>
                </a:solidFill>
              </a:rPr>
              <a:t>No documentation</a:t>
            </a:r>
            <a:endParaRPr lang="en-US" sz="1500" dirty="0"/>
          </a:p>
          <a:p>
            <a:pPr indent="0" marL="0">
              <a:buNone/>
            </a:pPr>
            <a:r>
              <a:rPr lang="en-US" sz="1300" dirty="0">
                <a:solidFill>
                  <a:schemeClr val="tx2"/>
                </a:solidFill>
              </a:rPr>
              <a:t>8 Slate exports, about 25 MB of configuration, no specs</a:t>
            </a:r>
            <a:endParaRPr lang="en-US" sz="1500" dirty="0"/>
          </a:p>
        </p:txBody>
      </p:sp>
      <p:pic>
        <p:nvPicPr>
          <p:cNvPr id="12" name="gif-legacy-breakdown" descr="Animation: the ERM Slate app splits into a shell and 7 modules, then AI extracts 105 features from them">    </p:cNvPr>
          <p:cNvPicPr>
            <a:picLocks noChangeAspect="1"/>
          </p:cNvPicPr>
          <p:nvPr/>
        </p:nvPicPr>
        <p:blipFill>
          <a:blip r:embed="rId1"/>
          <a:stretch>
            <a:fillRect/>
          </a:stretch>
        </p:blipFill>
        <p:spPr>
          <a:xfrm>
            <a:off x="5852160" y="1371600"/>
            <a:ext cx="5788152" cy="3474720"/>
          </a:xfrm>
          <a:prstGeom prst="rect">
            <a:avLst/>
          </a:prstGeom>
        </p:spPr>
      </p:pic>
      <p:sp>
        <p:nvSpPr>
          <p:cNvPr id="13" name="question-card"/>
          <p:cNvSpPr/>
          <p:nvPr/>
        </p:nvSpPr>
        <p:spPr>
          <a:xfrm>
            <a:off x="548640" y="5120640"/>
            <a:ext cx="11094415" cy="1234440"/>
          </a:xfrm>
          <a:prstGeom prst="roundRect">
            <a:avLst>
              <a:gd name="adj" fmla="val 8889"/>
            </a:avLst>
          </a:prstGeom>
          <a:solidFill>
            <a:schemeClr val="tx1"/>
          </a:solidFill>
          <a:ln/>
        </p:spPr>
      </p:sp>
      <p:sp>
        <p:nvSpPr>
          <p:cNvPr id="14" name="question-text"/>
          <p:cNvSpPr txBox="1"/>
          <p:nvPr/>
        </p:nvSpPr>
        <p:spPr>
          <a:xfrm>
            <a:off x="868680" y="5212080"/>
            <a:ext cx="10454335" cy="1051560"/>
          </a:xfrm>
          <a:prstGeom prst="rect">
            <a:avLst/>
          </a:prstGeom>
          <a:noFill/>
          <a:ln/>
        </p:spPr>
        <p:txBody>
          <a:bodyPr wrap="square" lIns="0" tIns="0" rIns="0" bIns="0" rtlCol="0" anchor="ctr"/>
          <a:lstStyle/>
          <a:p>
            <a:pPr indent="0" marL="0">
              <a:buNone/>
            </a:pPr>
            <a:r>
              <a:rPr lang="en-US" sz="1100" b="1" spc="200" kern="0" dirty="0">
                <a:solidFill>
                  <a:schemeClr val="accent5"/>
                </a:solidFill>
              </a:rPr>
              <a:t>THE QUESTION</a:t>
            </a:r>
            <a:endParaRPr lang="en-US" sz="1100" dirty="0"/>
          </a:p>
          <a:p>
            <a:pPr indent="0" marL="0">
              <a:buNone/>
            </a:pPr>
            <a:r>
              <a:rPr lang="en-US" sz="2200" b="1" dirty="0">
                <a:solidFill>
                  <a:schemeClr val="bg1"/>
                </a:solidFill>
              </a:rPr>
              <a:t>How do 2 developers move 105 hidden features in one PI, without breaking risk reporting?</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8"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childTnLst>
                          </p:cTn>
                        </p:par>
                        <p:par>
                          <p:cTn id="16" fill="hold">
                            <p:stCondLst>
                              <p:cond delay="450"/>
                            </p:stCondLst>
                            <p:childTnLst>
                              <p:par>
                                <p:cTn id="10" presetID="10" presetClass="entr" presetSubtype="0" fill="hold" grpId="0" nodeType="after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50"/>
                                        <p:tgtEl>
                                          <p:spTgt spid="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childTnLst>
                          </p:cTn>
                        </p:par>
                        <p:par>
                          <p:cTn id="23" fill="hold">
                            <p:stCondLst>
                              <p:cond delay="900"/>
                            </p:stCondLst>
                            <p:childTnLst>
                              <p:par>
                                <p:cTn id="17" presetID="10" presetClass="entr" presetSubtype="0" fill="hold" grpId="0" nodeType="after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5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childTnLst>
                                </p:cTn>
                              </p:par>
                            </p:childTnLst>
                          </p:cTn>
                        </p:par>
                        <p:par>
                          <p:cTn id="30" fill="hold">
                            <p:stCondLst>
                              <p:cond delay="1350"/>
                            </p:stCondLst>
                            <p:childTnLst>
                              <p:par>
                                <p:cTn id="24" presetID="10" presetClass="entr" presetSubtype="0" fill="hold" grpId="0" nodeType="after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450"/>
                                        <p:tgtEl>
                                          <p:spTgt spid="1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50"/>
                                        <p:tgtEl>
                                          <p:spTgt spid="11"/>
                                        </p:tgtEl>
                                      </p:cBhvr>
                                    </p:animEffect>
                                  </p:childTnLst>
                                </p:cTn>
                              </p:par>
                            </p:childTnLst>
                          </p:cTn>
                        </p:par>
                        <p:par>
                          <p:cTn id="37" fill="hold">
                            <p:stCondLst>
                              <p:cond delay="1800"/>
                            </p:stCondLst>
                            <p:childTnLst>
                              <p:par>
                                <p:cTn id="31" presetID="22" presetClass="entr" presetSubtype="8" fill="hold" grpId="0" nodeType="afterEffect">
                                  <p:stCondLst>
                                    <p:cond delay="300"/>
                                  </p:stCondLst>
                                  <p:childTnLst>
                                    <p:set>
                                      <p:cBhvr>
                                        <p:cTn id="32" dur="1" fill="hold">
                                          <p:stCondLst>
                                            <p:cond delay="0"/>
                                          </p:stCondLst>
                                        </p:cTn>
                                        <p:tgtEl>
                                          <p:spTgt spid="13"/>
                                        </p:tgtEl>
                                        <p:attrNameLst>
                                          <p:attrName>style.visibility</p:attrName>
                                        </p:attrNameLst>
                                      </p:cBhvr>
                                      <p:to>
                                        <p:strVal val="visible"/>
                                      </p:to>
                                    </p:set>
                                    <p:animEffect transition="in" filter="wipe(left)">
                                      <p:cBhvr>
                                        <p:cTn id="33" dur="450"/>
                                        <p:tgtEl>
                                          <p:spTgt spid="13"/>
                                        </p:tgtEl>
                                      </p:cBhvr>
                                    </p:animEffect>
                                  </p:childTnLst>
                                </p:cTn>
                              </p:par>
                              <p:par>
                                <p:cTn id="34" presetID="22" presetClass="entr" presetSubtype="8" fill="hold" grpId="0" nodeType="withEffect">
                                  <p:stCondLst>
                                    <p:cond delay="300"/>
                                  </p:stCondLst>
                                  <p:childTnLst>
                                    <p:set>
                                      <p:cBhvr>
                                        <p:cTn id="35" dur="1" fill="hold">
                                          <p:stCondLst>
                                            <p:cond delay="0"/>
                                          </p:stCondLst>
                                        </p:cTn>
                                        <p:tgtEl>
                                          <p:spTgt spid="14"/>
                                        </p:tgtEl>
                                        <p:attrNameLst>
                                          <p:attrName>style.visibility</p:attrName>
                                        </p:attrNameLst>
                                      </p:cBhvr>
                                      <p:to>
                                        <p:strVal val="visible"/>
                                      </p:to>
                                    </p:set>
                                    <p:animEffect transition="in" filter="wipe(left)">
                                      <p:cBhvr>
                                        <p:cTn id="36" dur="4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3" grpId="0" animBg="1"/>
      <p:bldP spid="14"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THE INSIGHT · INNOVATION</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Our answer: AI reverse-engineers, people verify</a:t>
            </a:r>
            <a:endParaRPr lang="en-US" sz="3600" dirty="0"/>
          </a:p>
        </p:txBody>
      </p:sp>
      <p:pic>
        <p:nvPicPr>
          <p:cNvPr id="4" name="gif-migration" descr="Animation: features flow from each Slate module through the 105-feature catalogue into the matching React tab, then new features appear">    </p:cNvPr>
          <p:cNvPicPr>
            <a:picLocks noChangeAspect="1"/>
          </p:cNvPicPr>
          <p:nvPr/>
        </p:nvPicPr>
        <p:blipFill>
          <a:blip r:embed="rId1"/>
          <a:stretch>
            <a:fillRect/>
          </a:stretch>
        </p:blipFill>
        <p:spPr>
          <a:xfrm>
            <a:off x="548640" y="1371600"/>
            <a:ext cx="5486400" cy="3291840"/>
          </a:xfrm>
          <a:prstGeom prst="rect">
            <a:avLst/>
          </a:prstGeom>
        </p:spPr>
      </p:pic>
      <p:sp>
        <p:nvSpPr>
          <p:cNvPr id="5" name="pack-card"/>
          <p:cNvSpPr/>
          <p:nvPr/>
        </p:nvSpPr>
        <p:spPr>
          <a:xfrm>
            <a:off x="548640" y="4846320"/>
            <a:ext cx="5486400" cy="1508760"/>
          </a:xfrm>
          <a:prstGeom prst="roundRect">
            <a:avLst>
              <a:gd name="adj" fmla="val 7273"/>
            </a:avLst>
          </a:prstGeom>
          <a:solidFill>
            <a:schemeClr val="tx1"/>
          </a:solidFill>
          <a:ln/>
        </p:spPr>
      </p:sp>
      <p:sp>
        <p:nvSpPr>
          <p:cNvPr id="6" name="pack-text"/>
          <p:cNvSpPr txBox="1"/>
          <p:nvPr/>
        </p:nvSpPr>
        <p:spPr>
          <a:xfrm>
            <a:off x="822960" y="4956048"/>
            <a:ext cx="4937760" cy="1289304"/>
          </a:xfrm>
          <a:prstGeom prst="rect">
            <a:avLst/>
          </a:prstGeom>
          <a:noFill/>
          <a:ln/>
        </p:spPr>
        <p:txBody>
          <a:bodyPr wrap="square" lIns="0" tIns="0" rIns="0" bIns="0" rtlCol="0" anchor="ctr"/>
          <a:lstStyle/>
          <a:p>
            <a:pPr indent="0" marL="0">
              <a:buNone/>
            </a:pPr>
            <a:r>
              <a:rPr lang="en-US" sz="1800" b="1" dirty="0">
                <a:solidFill>
                  <a:schemeClr val="bg1"/>
                </a:solidFill>
              </a:rPr>
              <a:t>pack-project.ts</a:t>
            </a:r>
            <a:endParaRPr lang="en-US" sz="1800" dirty="0"/>
          </a:p>
          <a:p>
            <a:pPr indent="0" marL="0">
              <a:buNone/>
            </a:pPr>
            <a:r>
              <a:rPr lang="en-US" sz="1300" dirty="0">
                <a:solidFill>
                  <a:schemeClr val="accent5"/>
                </a:solidFill>
              </a:rPr>
              <a:t>Our script packs the whole React app, 75 files, into one dated context the AI reads in one go. The 8 Slate exports complete the picture.</a:t>
            </a:r>
            <a:endParaRPr lang="en-US" sz="1800" dirty="0"/>
          </a:p>
        </p:txBody>
      </p:sp>
      <p:sp>
        <p:nvSpPr>
          <p:cNvPr id="7" name="cmp-head-old"/>
          <p:cNvSpPr txBox="1"/>
          <p:nvPr/>
        </p:nvSpPr>
        <p:spPr>
          <a:xfrm>
            <a:off x="6309360" y="1371600"/>
            <a:ext cx="2596896" cy="274320"/>
          </a:xfrm>
          <a:prstGeom prst="rect">
            <a:avLst/>
          </a:prstGeom>
          <a:noFill/>
          <a:ln/>
        </p:spPr>
        <p:txBody>
          <a:bodyPr wrap="square" lIns="0" tIns="0" rIns="0" bIns="0" rtlCol="0" anchor="t"/>
          <a:lstStyle/>
          <a:p>
            <a:pPr indent="0" marL="0">
              <a:buNone/>
            </a:pPr>
            <a:r>
              <a:rPr lang="en-US" sz="1100" b="1" spc="100" kern="0" dirty="0">
                <a:solidFill>
                  <a:schemeClr val="tx2"/>
                </a:solidFill>
              </a:rPr>
              <a:t>USUAL MIGRATION</a:t>
            </a:r>
            <a:endParaRPr lang="en-US" sz="1100" dirty="0"/>
          </a:p>
        </p:txBody>
      </p:sp>
      <p:sp>
        <p:nvSpPr>
          <p:cNvPr id="8" name="cmp-head-new"/>
          <p:cNvSpPr txBox="1"/>
          <p:nvPr/>
        </p:nvSpPr>
        <p:spPr>
          <a:xfrm>
            <a:off x="9043416" y="1371600"/>
            <a:ext cx="2596896" cy="274320"/>
          </a:xfrm>
          <a:prstGeom prst="rect">
            <a:avLst/>
          </a:prstGeom>
          <a:noFill/>
          <a:ln/>
        </p:spPr>
        <p:txBody>
          <a:bodyPr wrap="square" lIns="0" tIns="0" rIns="0" bIns="0" rtlCol="0" anchor="t"/>
          <a:lstStyle/>
          <a:p>
            <a:pPr indent="0" marL="0">
              <a:buNone/>
            </a:pPr>
            <a:r>
              <a:rPr lang="en-US" sz="1100" b="1" spc="100" kern="0" dirty="0">
                <a:solidFill>
                  <a:schemeClr val="accent3"/>
                </a:solidFill>
              </a:rPr>
              <a:t>OUR METHOD</a:t>
            </a:r>
            <a:endParaRPr lang="en-US" sz="1100" dirty="0"/>
          </a:p>
        </p:txBody>
      </p:sp>
      <p:sp>
        <p:nvSpPr>
          <p:cNvPr id="9" name="cmp-0-old"/>
          <p:cNvSpPr/>
          <p:nvPr/>
        </p:nvSpPr>
        <p:spPr>
          <a:xfrm>
            <a:off x="6309360" y="1719072"/>
            <a:ext cx="2596896" cy="1042416"/>
          </a:xfrm>
          <a:prstGeom prst="roundRect">
            <a:avLst>
              <a:gd name="adj" fmla="val 10526"/>
            </a:avLst>
          </a:prstGeom>
          <a:solidFill>
            <a:schemeClr val="bg1"/>
          </a:solidFill>
          <a:ln/>
        </p:spPr>
      </p:sp>
      <p:sp>
        <p:nvSpPr>
          <p:cNvPr id="10" name="cmp-0-oldtext"/>
          <p:cNvSpPr txBox="1"/>
          <p:nvPr/>
        </p:nvSpPr>
        <p:spPr>
          <a:xfrm>
            <a:off x="6473952" y="1810512"/>
            <a:ext cx="2267712" cy="859536"/>
          </a:xfrm>
          <a:prstGeom prst="rect">
            <a:avLst/>
          </a:prstGeom>
          <a:noFill/>
          <a:ln/>
        </p:spPr>
        <p:txBody>
          <a:bodyPr wrap="square" lIns="0" tIns="0" rIns="0" bIns="0" rtlCol="0" anchor="ctr"/>
          <a:lstStyle/>
          <a:p>
            <a:pPr indent="0" marL="0">
              <a:buNone/>
            </a:pPr>
            <a:r>
              <a:rPr lang="en-US" sz="1300" b="1" dirty="0">
                <a:solidFill>
                  <a:schemeClr val="tx2"/>
                </a:solidFill>
              </a:rPr>
              <a:t>Discovery</a:t>
            </a:r>
            <a:endParaRPr lang="en-US" sz="1300" dirty="0"/>
          </a:p>
          <a:p>
            <a:pPr indent="0" marL="0">
              <a:buNone/>
            </a:pPr>
            <a:r>
              <a:rPr lang="en-US" sz="1300" dirty="0">
                <a:solidFill>
                  <a:schemeClr val="tx2"/>
                </a:solidFill>
              </a:rPr>
              <a:t>Interviews and clicking through screens</a:t>
            </a:r>
            <a:endParaRPr lang="en-US" sz="1300" dirty="0"/>
          </a:p>
        </p:txBody>
      </p:sp>
      <p:sp>
        <p:nvSpPr>
          <p:cNvPr id="11" name="cmp-0-new"/>
          <p:cNvSpPr/>
          <p:nvPr/>
        </p:nvSpPr>
        <p:spPr>
          <a:xfrm>
            <a:off x="9043416" y="1719072"/>
            <a:ext cx="2596896" cy="1042416"/>
          </a:xfrm>
          <a:prstGeom prst="roundRect">
            <a:avLst>
              <a:gd name="adj" fmla="val 10526"/>
            </a:avLst>
          </a:prstGeom>
          <a:solidFill>
            <a:schemeClr val="tx1"/>
          </a:solidFill>
          <a:ln/>
        </p:spPr>
      </p:sp>
      <p:sp>
        <p:nvSpPr>
          <p:cNvPr id="12" name="cmp-0-newtext"/>
          <p:cNvSpPr txBox="1"/>
          <p:nvPr/>
        </p:nvSpPr>
        <p:spPr>
          <a:xfrm>
            <a:off x="9208008" y="1810512"/>
            <a:ext cx="2267712" cy="859536"/>
          </a:xfrm>
          <a:prstGeom prst="rect">
            <a:avLst/>
          </a:prstGeom>
          <a:noFill/>
          <a:ln/>
        </p:spPr>
        <p:txBody>
          <a:bodyPr wrap="square" lIns="0" tIns="0" rIns="0" bIns="0" rtlCol="0" anchor="ctr"/>
          <a:lstStyle/>
          <a:p>
            <a:pPr indent="0" marL="0">
              <a:buNone/>
            </a:pPr>
            <a:r>
              <a:rPr lang="en-US" sz="1300" b="1" dirty="0">
                <a:solidFill>
                  <a:schemeClr val="bg1"/>
                </a:solidFill>
              </a:rPr>
              <a:t>Discovery</a:t>
            </a:r>
            <a:endParaRPr lang="en-US" sz="1300" dirty="0"/>
          </a:p>
          <a:p>
            <a:pPr indent="0" marL="0">
              <a:buNone/>
            </a:pPr>
            <a:r>
              <a:rPr lang="en-US" sz="1300" dirty="0">
                <a:solidFill>
                  <a:schemeClr val="accent5"/>
                </a:solidFill>
              </a:rPr>
              <a:t>AI reads all 8 Slate exports: 105 features catalogued</a:t>
            </a:r>
            <a:endParaRPr lang="en-US" sz="1300" dirty="0"/>
          </a:p>
        </p:txBody>
      </p:sp>
      <p:sp>
        <p:nvSpPr>
          <p:cNvPr id="13" name="cmp-1-old"/>
          <p:cNvSpPr/>
          <p:nvPr/>
        </p:nvSpPr>
        <p:spPr>
          <a:xfrm>
            <a:off x="6309360" y="2889504"/>
            <a:ext cx="2596896" cy="1042416"/>
          </a:xfrm>
          <a:prstGeom prst="roundRect">
            <a:avLst>
              <a:gd name="adj" fmla="val 10526"/>
            </a:avLst>
          </a:prstGeom>
          <a:solidFill>
            <a:schemeClr val="bg1"/>
          </a:solidFill>
          <a:ln/>
        </p:spPr>
      </p:sp>
      <p:sp>
        <p:nvSpPr>
          <p:cNvPr id="14" name="cmp-1-oldtext"/>
          <p:cNvSpPr txBox="1"/>
          <p:nvPr/>
        </p:nvSpPr>
        <p:spPr>
          <a:xfrm>
            <a:off x="6473952" y="2980944"/>
            <a:ext cx="2267712" cy="859536"/>
          </a:xfrm>
          <a:prstGeom prst="rect">
            <a:avLst/>
          </a:prstGeom>
          <a:noFill/>
          <a:ln/>
        </p:spPr>
        <p:txBody>
          <a:bodyPr wrap="square" lIns="0" tIns="0" rIns="0" bIns="0" rtlCol="0" anchor="ctr"/>
          <a:lstStyle/>
          <a:p>
            <a:pPr indent="0" marL="0">
              <a:buNone/>
            </a:pPr>
            <a:r>
              <a:rPr lang="en-US" sz="1300" b="1" dirty="0">
                <a:solidFill>
                  <a:schemeClr val="tx2"/>
                </a:solidFill>
              </a:rPr>
              <a:t>Context</a:t>
            </a:r>
            <a:endParaRPr lang="en-US" sz="1300" dirty="0"/>
          </a:p>
          <a:p>
            <a:pPr indent="0" marL="0">
              <a:buNone/>
            </a:pPr>
            <a:r>
              <a:rPr lang="en-US" sz="1300" dirty="0">
                <a:solidFill>
                  <a:schemeClr val="tx2"/>
                </a:solidFill>
              </a:rPr>
              <a:t>Code read in fragments</a:t>
            </a:r>
            <a:endParaRPr lang="en-US" sz="1300" dirty="0"/>
          </a:p>
        </p:txBody>
      </p:sp>
      <p:sp>
        <p:nvSpPr>
          <p:cNvPr id="15" name="cmp-1-new"/>
          <p:cNvSpPr/>
          <p:nvPr/>
        </p:nvSpPr>
        <p:spPr>
          <a:xfrm>
            <a:off x="9043416" y="2889504"/>
            <a:ext cx="2596896" cy="1042416"/>
          </a:xfrm>
          <a:prstGeom prst="roundRect">
            <a:avLst>
              <a:gd name="adj" fmla="val 10526"/>
            </a:avLst>
          </a:prstGeom>
          <a:solidFill>
            <a:schemeClr val="tx1"/>
          </a:solidFill>
          <a:ln/>
        </p:spPr>
      </p:sp>
      <p:sp>
        <p:nvSpPr>
          <p:cNvPr id="16" name="cmp-1-newtext"/>
          <p:cNvSpPr txBox="1"/>
          <p:nvPr/>
        </p:nvSpPr>
        <p:spPr>
          <a:xfrm>
            <a:off x="9208008" y="2980944"/>
            <a:ext cx="2267712" cy="859536"/>
          </a:xfrm>
          <a:prstGeom prst="rect">
            <a:avLst/>
          </a:prstGeom>
          <a:noFill/>
          <a:ln/>
        </p:spPr>
        <p:txBody>
          <a:bodyPr wrap="square" lIns="0" tIns="0" rIns="0" bIns="0" rtlCol="0" anchor="ctr"/>
          <a:lstStyle/>
          <a:p>
            <a:pPr indent="0" marL="0">
              <a:buNone/>
            </a:pPr>
            <a:r>
              <a:rPr lang="en-US" sz="1300" b="1" dirty="0">
                <a:solidFill>
                  <a:schemeClr val="bg1"/>
                </a:solidFill>
              </a:rPr>
              <a:t>Context</a:t>
            </a:r>
            <a:endParaRPr lang="en-US" sz="1300" dirty="0"/>
          </a:p>
          <a:p>
            <a:pPr indent="0" marL="0">
              <a:buNone/>
            </a:pPr>
            <a:r>
              <a:rPr lang="en-US" sz="1300" dirty="0">
                <a:solidFill>
                  <a:schemeClr val="accent5"/>
                </a:solidFill>
              </a:rPr>
              <a:t>pack-project.ts gives the AI the whole app at once</a:t>
            </a:r>
            <a:endParaRPr lang="en-US" sz="1300" dirty="0"/>
          </a:p>
        </p:txBody>
      </p:sp>
      <p:sp>
        <p:nvSpPr>
          <p:cNvPr id="17" name="cmp-2-old"/>
          <p:cNvSpPr/>
          <p:nvPr/>
        </p:nvSpPr>
        <p:spPr>
          <a:xfrm>
            <a:off x="6309360" y="4059936"/>
            <a:ext cx="2596896" cy="1042416"/>
          </a:xfrm>
          <a:prstGeom prst="roundRect">
            <a:avLst>
              <a:gd name="adj" fmla="val 10526"/>
            </a:avLst>
          </a:prstGeom>
          <a:solidFill>
            <a:schemeClr val="bg1"/>
          </a:solidFill>
          <a:ln/>
        </p:spPr>
      </p:sp>
      <p:sp>
        <p:nvSpPr>
          <p:cNvPr id="18" name="cmp-2-oldtext"/>
          <p:cNvSpPr txBox="1"/>
          <p:nvPr/>
        </p:nvSpPr>
        <p:spPr>
          <a:xfrm>
            <a:off x="6473952" y="4151376"/>
            <a:ext cx="2267712" cy="859536"/>
          </a:xfrm>
          <a:prstGeom prst="rect">
            <a:avLst/>
          </a:prstGeom>
          <a:noFill/>
          <a:ln/>
        </p:spPr>
        <p:txBody>
          <a:bodyPr wrap="square" lIns="0" tIns="0" rIns="0" bIns="0" rtlCol="0" anchor="ctr"/>
          <a:lstStyle/>
          <a:p>
            <a:pPr indent="0" marL="0">
              <a:buNone/>
            </a:pPr>
            <a:r>
              <a:rPr lang="en-US" sz="1300" b="1" dirty="0">
                <a:solidFill>
                  <a:schemeClr val="tx2"/>
                </a:solidFill>
              </a:rPr>
              <a:t>Parity check</a:t>
            </a:r>
            <a:endParaRPr lang="en-US" sz="1300" dirty="0"/>
          </a:p>
          <a:p>
            <a:pPr indent="0" marL="0">
              <a:buNone/>
            </a:pPr>
            <a:r>
              <a:rPr lang="en-US" sz="1300" dirty="0">
                <a:solidFill>
                  <a:schemeClr val="tx2"/>
                </a:solidFill>
              </a:rPr>
              <a:t>Manual testing, gaps found late</a:t>
            </a:r>
            <a:endParaRPr lang="en-US" sz="1300" dirty="0"/>
          </a:p>
        </p:txBody>
      </p:sp>
      <p:sp>
        <p:nvSpPr>
          <p:cNvPr id="19" name="cmp-2-new"/>
          <p:cNvSpPr/>
          <p:nvPr/>
        </p:nvSpPr>
        <p:spPr>
          <a:xfrm>
            <a:off x="9043416" y="4059936"/>
            <a:ext cx="2596896" cy="1042416"/>
          </a:xfrm>
          <a:prstGeom prst="roundRect">
            <a:avLst>
              <a:gd name="adj" fmla="val 10526"/>
            </a:avLst>
          </a:prstGeom>
          <a:solidFill>
            <a:schemeClr val="tx1"/>
          </a:solidFill>
          <a:ln/>
        </p:spPr>
      </p:sp>
      <p:sp>
        <p:nvSpPr>
          <p:cNvPr id="20" name="cmp-2-newtext"/>
          <p:cNvSpPr txBox="1"/>
          <p:nvPr/>
        </p:nvSpPr>
        <p:spPr>
          <a:xfrm>
            <a:off x="9208008" y="4151376"/>
            <a:ext cx="2267712" cy="859536"/>
          </a:xfrm>
          <a:prstGeom prst="rect">
            <a:avLst/>
          </a:prstGeom>
          <a:noFill/>
          <a:ln/>
        </p:spPr>
        <p:txBody>
          <a:bodyPr wrap="square" lIns="0" tIns="0" rIns="0" bIns="0" rtlCol="0" anchor="ctr"/>
          <a:lstStyle/>
          <a:p>
            <a:pPr indent="0" marL="0">
              <a:buNone/>
            </a:pPr>
            <a:r>
              <a:rPr lang="en-US" sz="1300" b="1" dirty="0">
                <a:solidFill>
                  <a:schemeClr val="bg1"/>
                </a:solidFill>
              </a:rPr>
              <a:t>Parity check</a:t>
            </a:r>
            <a:endParaRPr lang="en-US" sz="1300" dirty="0"/>
          </a:p>
          <a:p>
            <a:pPr indent="0" marL="0">
              <a:buNone/>
            </a:pPr>
            <a:r>
              <a:rPr lang="en-US" sz="1300" dirty="0">
                <a:solidFill>
                  <a:schemeClr val="accent5"/>
                </a:solidFill>
              </a:rPr>
              <a:t>Every feature checked against the code: 31 gaps found</a:t>
            </a:r>
            <a:endParaRPr lang="en-US" sz="1300" dirty="0"/>
          </a:p>
        </p:txBody>
      </p:sp>
      <p:sp>
        <p:nvSpPr>
          <p:cNvPr id="21" name="cmp-3-old"/>
          <p:cNvSpPr/>
          <p:nvPr/>
        </p:nvSpPr>
        <p:spPr>
          <a:xfrm>
            <a:off x="6309360" y="5230368"/>
            <a:ext cx="2596896" cy="1042416"/>
          </a:xfrm>
          <a:prstGeom prst="roundRect">
            <a:avLst>
              <a:gd name="adj" fmla="val 10526"/>
            </a:avLst>
          </a:prstGeom>
          <a:solidFill>
            <a:schemeClr val="bg1"/>
          </a:solidFill>
          <a:ln/>
        </p:spPr>
      </p:sp>
      <p:sp>
        <p:nvSpPr>
          <p:cNvPr id="22" name="cmp-3-oldtext"/>
          <p:cNvSpPr txBox="1"/>
          <p:nvPr/>
        </p:nvSpPr>
        <p:spPr>
          <a:xfrm>
            <a:off x="6473952" y="5321808"/>
            <a:ext cx="2267712" cy="859536"/>
          </a:xfrm>
          <a:prstGeom prst="rect">
            <a:avLst/>
          </a:prstGeom>
          <a:noFill/>
          <a:ln/>
        </p:spPr>
        <p:txBody>
          <a:bodyPr wrap="square" lIns="0" tIns="0" rIns="0" bIns="0" rtlCol="0" anchor="ctr"/>
          <a:lstStyle/>
          <a:p>
            <a:pPr indent="0" marL="0">
              <a:buNone/>
            </a:pPr>
            <a:r>
              <a:rPr lang="en-US" sz="1300" b="1" dirty="0">
                <a:solidFill>
                  <a:schemeClr val="tx2"/>
                </a:solidFill>
              </a:rPr>
              <a:t>Documentation</a:t>
            </a:r>
            <a:endParaRPr lang="en-US" sz="1300" dirty="0"/>
          </a:p>
          <a:p>
            <a:pPr indent="0" marL="0">
              <a:buNone/>
            </a:pPr>
            <a:r>
              <a:rPr lang="en-US" sz="1300" dirty="0">
                <a:solidFill>
                  <a:schemeClr val="tx2"/>
                </a:solidFill>
              </a:rPr>
              <a:t>Written afterwards, if at all</a:t>
            </a:r>
            <a:endParaRPr lang="en-US" sz="1300" dirty="0"/>
          </a:p>
        </p:txBody>
      </p:sp>
      <p:sp>
        <p:nvSpPr>
          <p:cNvPr id="23" name="cmp-3-new"/>
          <p:cNvSpPr/>
          <p:nvPr/>
        </p:nvSpPr>
        <p:spPr>
          <a:xfrm>
            <a:off x="9043416" y="5230368"/>
            <a:ext cx="2596896" cy="1042416"/>
          </a:xfrm>
          <a:prstGeom prst="roundRect">
            <a:avLst>
              <a:gd name="adj" fmla="val 10526"/>
            </a:avLst>
          </a:prstGeom>
          <a:solidFill>
            <a:schemeClr val="tx1"/>
          </a:solidFill>
          <a:ln/>
        </p:spPr>
      </p:sp>
      <p:sp>
        <p:nvSpPr>
          <p:cNvPr id="24" name="cmp-3-newtext"/>
          <p:cNvSpPr txBox="1"/>
          <p:nvPr/>
        </p:nvSpPr>
        <p:spPr>
          <a:xfrm>
            <a:off x="9208008" y="5321808"/>
            <a:ext cx="2267712" cy="859536"/>
          </a:xfrm>
          <a:prstGeom prst="rect">
            <a:avLst/>
          </a:prstGeom>
          <a:noFill/>
          <a:ln/>
        </p:spPr>
        <p:txBody>
          <a:bodyPr wrap="square" lIns="0" tIns="0" rIns="0" bIns="0" rtlCol="0" anchor="ctr"/>
          <a:lstStyle/>
          <a:p>
            <a:pPr indent="0" marL="0">
              <a:buNone/>
            </a:pPr>
            <a:r>
              <a:rPr lang="en-US" sz="1300" b="1" dirty="0">
                <a:solidFill>
                  <a:schemeClr val="bg1"/>
                </a:solidFill>
              </a:rPr>
              <a:t>Documentation</a:t>
            </a:r>
            <a:endParaRPr lang="en-US" sz="1300" dirty="0"/>
          </a:p>
          <a:p>
            <a:pPr indent="0" marL="0">
              <a:buNone/>
            </a:pPr>
            <a:r>
              <a:rPr lang="en-US" sz="1300" dirty="0">
                <a:solidFill>
                  <a:schemeClr val="accent5"/>
                </a:solidFill>
              </a:rPr>
              <a:t>8 architecture and lifecycle diagrams made alongside</a:t>
            </a:r>
            <a:endParaRPr lang="en-US"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9"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7"/>
                                        </p:tgtEl>
                                        <p:attrNameLst>
                                          <p:attrName>style.visibility</p:attrName>
                                        </p:attrNameLst>
                                      </p:cBhvr>
                                      <p:to>
                                        <p:strVal val="visible"/>
                                      </p:to>
                                    </p:set>
                                    <p:animEffect transition="in" filter="fade">
                                      <p:cBhvr>
                                        <p:cTn id="5" dur="450"/>
                                        <p:tgtEl>
                                          <p:spTgt spid="7"/>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50"/>
                                        <p:tgtEl>
                                          <p:spTgt spid="8"/>
                                        </p:tgtEl>
                                      </p:cBhvr>
                                    </p:animEffect>
                                  </p:childTnLst>
                                </p:cTn>
                              </p:par>
                            </p:childTnLst>
                          </p:cTn>
                        </p:par>
                        <p:par>
                          <p:cTn id="22" fill="hold">
                            <p:stCondLst>
                              <p:cond delay="600"/>
                            </p:stCondLst>
                            <p:childTnLst>
                              <p:par>
                                <p:cTn id="10" presetID="10" presetClass="entr" presetSubtype="0" fill="hold" grpId="0" nodeType="after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450"/>
                                        <p:tgtEl>
                                          <p:spTgt spid="9"/>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450"/>
                                        <p:tgtEl>
                                          <p:spTgt spid="10"/>
                                        </p:tgtEl>
                                      </p:cBhvr>
                                    </p:animEffect>
                                  </p:childTnLst>
                                </p:cTn>
                              </p:par>
                              <p:par>
                                <p:cTn id="16" presetID="22" presetClass="entr" presetSubtype="8" fill="hold" grpId="0" nodeType="withEffect">
                                  <p:stCondLst>
                                    <p:cond delay="300"/>
                                  </p:stCondLst>
                                  <p:childTnLst>
                                    <p:set>
                                      <p:cBhvr>
                                        <p:cTn id="17" dur="1" fill="hold">
                                          <p:stCondLst>
                                            <p:cond delay="0"/>
                                          </p:stCondLst>
                                        </p:cTn>
                                        <p:tgtEl>
                                          <p:spTgt spid="11"/>
                                        </p:tgtEl>
                                        <p:attrNameLst>
                                          <p:attrName>style.visibility</p:attrName>
                                        </p:attrNameLst>
                                      </p:cBhvr>
                                      <p:to>
                                        <p:strVal val="visible"/>
                                      </p:to>
                                    </p:set>
                                    <p:animEffect transition="in" filter="wipe(left)">
                                      <p:cBhvr>
                                        <p:cTn id="18" dur="450"/>
                                        <p:tgtEl>
                                          <p:spTgt spid="11"/>
                                        </p:tgtEl>
                                      </p:cBhvr>
                                    </p:animEffect>
                                  </p:childTnLst>
                                </p:cTn>
                              </p:par>
                              <p:par>
                                <p:cTn id="19" presetID="22" presetClass="entr" presetSubtype="8" fill="hold" grpId="0" nodeType="withEffect">
                                  <p:stCondLst>
                                    <p:cond delay="300"/>
                                  </p:stCondLst>
                                  <p:childTnLst>
                                    <p:set>
                                      <p:cBhvr>
                                        <p:cTn id="20" dur="1" fill="hold">
                                          <p:stCondLst>
                                            <p:cond delay="0"/>
                                          </p:stCondLst>
                                        </p:cTn>
                                        <p:tgtEl>
                                          <p:spTgt spid="12"/>
                                        </p:tgtEl>
                                        <p:attrNameLst>
                                          <p:attrName>style.visibility</p:attrName>
                                        </p:attrNameLst>
                                      </p:cBhvr>
                                      <p:to>
                                        <p:strVal val="visible"/>
                                      </p:to>
                                    </p:set>
                                    <p:animEffect transition="in" filter="wipe(left)">
                                      <p:cBhvr>
                                        <p:cTn id="21" dur="450"/>
                                        <p:tgtEl>
                                          <p:spTgt spid="12"/>
                                        </p:tgtEl>
                                      </p:cBhvr>
                                    </p:animEffect>
                                  </p:childTnLst>
                                </p:cTn>
                              </p:par>
                            </p:childTnLst>
                          </p:cTn>
                        </p:par>
                        <p:par>
                          <p:cTn id="35" fill="hold">
                            <p:stCondLst>
                              <p:cond delay="1200"/>
                            </p:stCondLst>
                            <p:childTnLst>
                              <p:par>
                                <p:cTn id="23" presetID="10" presetClass="entr" presetSubtype="0" fill="hold" grpId="0" nodeType="after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450"/>
                                        <p:tgtEl>
                                          <p:spTgt spid="1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450"/>
                                        <p:tgtEl>
                                          <p:spTgt spid="14"/>
                                        </p:tgtEl>
                                      </p:cBhvr>
                                    </p:animEffect>
                                  </p:childTnLst>
                                </p:cTn>
                              </p:par>
                              <p:par>
                                <p:cTn id="29" presetID="22" presetClass="entr" presetSubtype="8" fill="hold" grpId="0" nodeType="withEffect">
                                  <p:stCondLst>
                                    <p:cond delay="300"/>
                                  </p:stCondLst>
                                  <p:childTnLst>
                                    <p:set>
                                      <p:cBhvr>
                                        <p:cTn id="30" dur="1" fill="hold">
                                          <p:stCondLst>
                                            <p:cond delay="0"/>
                                          </p:stCondLst>
                                        </p:cTn>
                                        <p:tgtEl>
                                          <p:spTgt spid="15"/>
                                        </p:tgtEl>
                                        <p:attrNameLst>
                                          <p:attrName>style.visibility</p:attrName>
                                        </p:attrNameLst>
                                      </p:cBhvr>
                                      <p:to>
                                        <p:strVal val="visible"/>
                                      </p:to>
                                    </p:set>
                                    <p:animEffect transition="in" filter="wipe(left)">
                                      <p:cBhvr>
                                        <p:cTn id="31" dur="450"/>
                                        <p:tgtEl>
                                          <p:spTgt spid="15"/>
                                        </p:tgtEl>
                                      </p:cBhvr>
                                    </p:animEffect>
                                  </p:childTnLst>
                                </p:cTn>
                              </p:par>
                              <p:par>
                                <p:cTn id="32" presetID="22" presetClass="entr" presetSubtype="8" fill="hold" grpId="0" nodeType="withEffect">
                                  <p:stCondLst>
                                    <p:cond delay="300"/>
                                  </p:stCondLst>
                                  <p:childTnLst>
                                    <p:set>
                                      <p:cBhvr>
                                        <p:cTn id="33" dur="1" fill="hold">
                                          <p:stCondLst>
                                            <p:cond delay="0"/>
                                          </p:stCondLst>
                                        </p:cTn>
                                        <p:tgtEl>
                                          <p:spTgt spid="16"/>
                                        </p:tgtEl>
                                        <p:attrNameLst>
                                          <p:attrName>style.visibility</p:attrName>
                                        </p:attrNameLst>
                                      </p:cBhvr>
                                      <p:to>
                                        <p:strVal val="visible"/>
                                      </p:to>
                                    </p:set>
                                    <p:animEffect transition="in" filter="wipe(left)">
                                      <p:cBhvr>
                                        <p:cTn id="34" dur="450"/>
                                        <p:tgtEl>
                                          <p:spTgt spid="16"/>
                                        </p:tgtEl>
                                      </p:cBhvr>
                                    </p:animEffect>
                                  </p:childTnLst>
                                </p:cTn>
                              </p:par>
                            </p:childTnLst>
                          </p:cTn>
                        </p:par>
                        <p:par>
                          <p:cTn id="48" fill="hold">
                            <p:stCondLst>
                              <p:cond delay="1800"/>
                            </p:stCondLst>
                            <p:childTnLst>
                              <p:par>
                                <p:cTn id="36" presetID="10" presetClass="entr" presetSubtype="0" fill="hold" grpId="0" nodeType="afterEffect">
                                  <p:stCondLst>
                                    <p:cond delay="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450"/>
                                        <p:tgtEl>
                                          <p:spTgt spid="17"/>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8"/>
                                        </p:tgtEl>
                                        <p:attrNameLst>
                                          <p:attrName>style.visibility</p:attrName>
                                        </p:attrNameLst>
                                      </p:cBhvr>
                                      <p:to>
                                        <p:strVal val="visible"/>
                                      </p:to>
                                    </p:set>
                                    <p:animEffect transition="in" filter="fade">
                                      <p:cBhvr>
                                        <p:cTn id="41" dur="450"/>
                                        <p:tgtEl>
                                          <p:spTgt spid="18"/>
                                        </p:tgtEl>
                                      </p:cBhvr>
                                    </p:animEffect>
                                  </p:childTnLst>
                                </p:cTn>
                              </p:par>
                              <p:par>
                                <p:cTn id="42" presetID="22" presetClass="entr" presetSubtype="8" fill="hold" grpId="0" nodeType="withEffect">
                                  <p:stCondLst>
                                    <p:cond delay="300"/>
                                  </p:stCondLst>
                                  <p:childTnLst>
                                    <p:set>
                                      <p:cBhvr>
                                        <p:cTn id="43" dur="1" fill="hold">
                                          <p:stCondLst>
                                            <p:cond delay="0"/>
                                          </p:stCondLst>
                                        </p:cTn>
                                        <p:tgtEl>
                                          <p:spTgt spid="19"/>
                                        </p:tgtEl>
                                        <p:attrNameLst>
                                          <p:attrName>style.visibility</p:attrName>
                                        </p:attrNameLst>
                                      </p:cBhvr>
                                      <p:to>
                                        <p:strVal val="visible"/>
                                      </p:to>
                                    </p:set>
                                    <p:animEffect transition="in" filter="wipe(left)">
                                      <p:cBhvr>
                                        <p:cTn id="44" dur="450"/>
                                        <p:tgtEl>
                                          <p:spTgt spid="19"/>
                                        </p:tgtEl>
                                      </p:cBhvr>
                                    </p:animEffect>
                                  </p:childTnLst>
                                </p:cTn>
                              </p:par>
                              <p:par>
                                <p:cTn id="45" presetID="22" presetClass="entr" presetSubtype="8" fill="hold" grpId="0" nodeType="withEffect">
                                  <p:stCondLst>
                                    <p:cond delay="300"/>
                                  </p:stCondLst>
                                  <p:childTnLst>
                                    <p:set>
                                      <p:cBhvr>
                                        <p:cTn id="46" dur="1" fill="hold">
                                          <p:stCondLst>
                                            <p:cond delay="0"/>
                                          </p:stCondLst>
                                        </p:cTn>
                                        <p:tgtEl>
                                          <p:spTgt spid="20"/>
                                        </p:tgtEl>
                                        <p:attrNameLst>
                                          <p:attrName>style.visibility</p:attrName>
                                        </p:attrNameLst>
                                      </p:cBhvr>
                                      <p:to>
                                        <p:strVal val="visible"/>
                                      </p:to>
                                    </p:set>
                                    <p:animEffect transition="in" filter="wipe(left)">
                                      <p:cBhvr>
                                        <p:cTn id="47" dur="450"/>
                                        <p:tgtEl>
                                          <p:spTgt spid="20"/>
                                        </p:tgtEl>
                                      </p:cBhvr>
                                    </p:animEffect>
                                  </p:childTnLst>
                                </p:cTn>
                              </p:par>
                            </p:childTnLst>
                          </p:cTn>
                        </p:par>
                        <p:par>
                          <p:cTn id="61" fill="hold">
                            <p:stCondLst>
                              <p:cond delay="2400"/>
                            </p:stCondLst>
                            <p:childTnLst>
                              <p:par>
                                <p:cTn id="49" presetID="10" presetClass="entr" presetSubtype="0" fill="hold" grpId="0" nodeType="afterEffect">
                                  <p:stCondLst>
                                    <p:cond delay="0"/>
                                  </p:stCondLst>
                                  <p:childTnLst>
                                    <p:set>
                                      <p:cBhvr>
                                        <p:cTn id="50" dur="1" fill="hold">
                                          <p:stCondLst>
                                            <p:cond delay="0"/>
                                          </p:stCondLst>
                                        </p:cTn>
                                        <p:tgtEl>
                                          <p:spTgt spid="21"/>
                                        </p:tgtEl>
                                        <p:attrNameLst>
                                          <p:attrName>style.visibility</p:attrName>
                                        </p:attrNameLst>
                                      </p:cBhvr>
                                      <p:to>
                                        <p:strVal val="visible"/>
                                      </p:to>
                                    </p:set>
                                    <p:animEffect transition="in" filter="fade">
                                      <p:cBhvr>
                                        <p:cTn id="51" dur="450"/>
                                        <p:tgtEl>
                                          <p:spTgt spid="21"/>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2"/>
                                        </p:tgtEl>
                                        <p:attrNameLst>
                                          <p:attrName>style.visibility</p:attrName>
                                        </p:attrNameLst>
                                      </p:cBhvr>
                                      <p:to>
                                        <p:strVal val="visible"/>
                                      </p:to>
                                    </p:set>
                                    <p:animEffect transition="in" filter="fade">
                                      <p:cBhvr>
                                        <p:cTn id="54" dur="450"/>
                                        <p:tgtEl>
                                          <p:spTgt spid="22"/>
                                        </p:tgtEl>
                                      </p:cBhvr>
                                    </p:animEffect>
                                  </p:childTnLst>
                                </p:cTn>
                              </p:par>
                              <p:par>
                                <p:cTn id="55" presetID="22" presetClass="entr" presetSubtype="8" fill="hold" grpId="0" nodeType="withEffect">
                                  <p:stCondLst>
                                    <p:cond delay="300"/>
                                  </p:stCondLst>
                                  <p:childTnLst>
                                    <p:set>
                                      <p:cBhvr>
                                        <p:cTn id="56" dur="1" fill="hold">
                                          <p:stCondLst>
                                            <p:cond delay="0"/>
                                          </p:stCondLst>
                                        </p:cTn>
                                        <p:tgtEl>
                                          <p:spTgt spid="23"/>
                                        </p:tgtEl>
                                        <p:attrNameLst>
                                          <p:attrName>style.visibility</p:attrName>
                                        </p:attrNameLst>
                                      </p:cBhvr>
                                      <p:to>
                                        <p:strVal val="visible"/>
                                      </p:to>
                                    </p:set>
                                    <p:animEffect transition="in" filter="wipe(left)">
                                      <p:cBhvr>
                                        <p:cTn id="57" dur="450"/>
                                        <p:tgtEl>
                                          <p:spTgt spid="23"/>
                                        </p:tgtEl>
                                      </p:cBhvr>
                                    </p:animEffect>
                                  </p:childTnLst>
                                </p:cTn>
                              </p:par>
                              <p:par>
                                <p:cTn id="58" presetID="22" presetClass="entr" presetSubtype="8" fill="hold" grpId="0" nodeType="withEffect">
                                  <p:stCondLst>
                                    <p:cond delay="300"/>
                                  </p:stCondLst>
                                  <p:childTnLst>
                                    <p:set>
                                      <p:cBhvr>
                                        <p:cTn id="59" dur="1" fill="hold">
                                          <p:stCondLst>
                                            <p:cond delay="0"/>
                                          </p:stCondLst>
                                        </p:cTn>
                                        <p:tgtEl>
                                          <p:spTgt spid="24"/>
                                        </p:tgtEl>
                                        <p:attrNameLst>
                                          <p:attrName>style.visibility</p:attrName>
                                        </p:attrNameLst>
                                      </p:cBhvr>
                                      <p:to>
                                        <p:strVal val="visible"/>
                                      </p:to>
                                    </p:set>
                                    <p:animEffect transition="in" filter="wipe(left)">
                                      <p:cBhvr>
                                        <p:cTn id="60" dur="450"/>
                                        <p:tgtEl>
                                          <p:spTgt spid="24"/>
                                        </p:tgtEl>
                                      </p:cBhvr>
                                    </p:animEffect>
                                  </p:childTnLst>
                                </p:cTn>
                              </p:par>
                            </p:childTnLst>
                          </p:cTn>
                        </p:par>
                        <p:par>
                          <p:cTn id="68" fill="hold">
                            <p:stCondLst>
                              <p:cond delay="3000"/>
                            </p:stCondLst>
                            <p:childTnLst>
                              <p:par>
                                <p:cTn id="62" presetID="10" presetClass="entr" presetSubtype="0" fill="hold" grpId="0" nodeType="afterEffect">
                                  <p:stCondLst>
                                    <p:cond delay="0"/>
                                  </p:stCondLst>
                                  <p:childTnLst>
                                    <p:set>
                                      <p:cBhvr>
                                        <p:cTn id="63" dur="1" fill="hold">
                                          <p:stCondLst>
                                            <p:cond delay="0"/>
                                          </p:stCondLst>
                                        </p:cTn>
                                        <p:tgtEl>
                                          <p:spTgt spid="5"/>
                                        </p:tgtEl>
                                        <p:attrNameLst>
                                          <p:attrName>style.visibility</p:attrName>
                                        </p:attrNameLst>
                                      </p:cBhvr>
                                      <p:to>
                                        <p:strVal val="visible"/>
                                      </p:to>
                                    </p:set>
                                    <p:animEffect transition="in" filter="fade">
                                      <p:cBhvr>
                                        <p:cTn id="64" dur="450"/>
                                        <p:tgtEl>
                                          <p:spTgt spid="5"/>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6"/>
                                        </p:tgtEl>
                                        <p:attrNameLst>
                                          <p:attrName>style.visibility</p:attrName>
                                        </p:attrNameLst>
                                      </p:cBhvr>
                                      <p:to>
                                        <p:strVal val="visible"/>
                                      </p:to>
                                    </p:set>
                                    <p:animEffect transition="in" filter="fade">
                                      <p:cBhvr>
                                        <p:cTn id="67" dur="4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5" grpId="0" animBg="1"/>
      <p:bldP spid="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THE PROOF · IMPACT</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Same features, one PI, two developers</a:t>
            </a:r>
            <a:endParaRPr lang="en-US" sz="3600" dirty="0"/>
          </a:p>
        </p:txBody>
      </p:sp>
      <p:sp>
        <p:nvSpPr>
          <p:cNvPr id="4" name="fact-0-card"/>
          <p:cNvSpPr/>
          <p:nvPr/>
        </p:nvSpPr>
        <p:spPr>
          <a:xfrm>
            <a:off x="548640" y="1371600"/>
            <a:ext cx="1696669" cy="1463040"/>
          </a:xfrm>
          <a:prstGeom prst="roundRect">
            <a:avLst>
              <a:gd name="adj" fmla="val 7500"/>
            </a:avLst>
          </a:prstGeom>
          <a:solidFill>
            <a:schemeClr val="bg2"/>
          </a:solidFill>
          <a:ln/>
        </p:spPr>
      </p:sp>
      <p:sp>
        <p:nvSpPr>
          <p:cNvPr id="5" name="fact-0-value"/>
          <p:cNvSpPr txBox="1"/>
          <p:nvPr/>
        </p:nvSpPr>
        <p:spPr>
          <a:xfrm>
            <a:off x="713232" y="1481328"/>
            <a:ext cx="1367485" cy="594360"/>
          </a:xfrm>
          <a:prstGeom prst="rect">
            <a:avLst/>
          </a:prstGeom>
          <a:noFill/>
          <a:ln/>
        </p:spPr>
        <p:txBody>
          <a:bodyPr wrap="square" lIns="0" tIns="0" rIns="0" bIns="0" rtlCol="0" anchor="t"/>
          <a:lstStyle/>
          <a:p>
            <a:pPr indent="0" marL="0">
              <a:buNone/>
            </a:pPr>
            <a:r>
              <a:rPr lang="en-US" sz="2200" b="1" dirty="0">
                <a:solidFill>
                  <a:schemeClr val="tx1"/>
                </a:solidFill>
              </a:rPr>
              <a:t>1 PI</a:t>
            </a:r>
            <a:endParaRPr lang="en-US" sz="2200" dirty="0"/>
          </a:p>
        </p:txBody>
      </p:sp>
      <p:sp>
        <p:nvSpPr>
          <p:cNvPr id="6" name="fact-0-label"/>
          <p:cNvSpPr txBox="1"/>
          <p:nvPr/>
        </p:nvSpPr>
        <p:spPr>
          <a:xfrm>
            <a:off x="713232" y="2011680"/>
            <a:ext cx="1367485" cy="685800"/>
          </a:xfrm>
          <a:prstGeom prst="rect">
            <a:avLst/>
          </a:prstGeom>
          <a:noFill/>
          <a:ln/>
        </p:spPr>
        <p:txBody>
          <a:bodyPr wrap="square" lIns="0" tIns="0" rIns="0" bIns="0" rtlCol="0" anchor="t"/>
          <a:lstStyle/>
          <a:p>
            <a:pPr indent="0" marL="0">
              <a:buNone/>
            </a:pPr>
            <a:r>
              <a:rPr lang="en-US" sz="1200" dirty="0">
                <a:solidFill>
                  <a:schemeClr val="tx2"/>
                </a:solidFill>
              </a:rPr>
              <a:t>2 developers, whole migration</a:t>
            </a:r>
            <a:endParaRPr lang="en-US" sz="1200" dirty="0"/>
          </a:p>
        </p:txBody>
      </p:sp>
      <p:sp>
        <p:nvSpPr>
          <p:cNvPr id="7" name="fact-1-card"/>
          <p:cNvSpPr/>
          <p:nvPr/>
        </p:nvSpPr>
        <p:spPr>
          <a:xfrm>
            <a:off x="2428189" y="1371600"/>
            <a:ext cx="1696669" cy="1463040"/>
          </a:xfrm>
          <a:prstGeom prst="roundRect">
            <a:avLst>
              <a:gd name="adj" fmla="val 7500"/>
            </a:avLst>
          </a:prstGeom>
          <a:solidFill>
            <a:schemeClr val="bg2"/>
          </a:solidFill>
          <a:ln/>
        </p:spPr>
      </p:sp>
      <p:sp>
        <p:nvSpPr>
          <p:cNvPr id="8" name="fact-1-value"/>
          <p:cNvSpPr txBox="1"/>
          <p:nvPr/>
        </p:nvSpPr>
        <p:spPr>
          <a:xfrm>
            <a:off x="2592781" y="1481328"/>
            <a:ext cx="1367485" cy="594360"/>
          </a:xfrm>
          <a:prstGeom prst="rect">
            <a:avLst/>
          </a:prstGeom>
          <a:noFill/>
          <a:ln/>
        </p:spPr>
        <p:txBody>
          <a:bodyPr wrap="square" lIns="0" tIns="0" rIns="0" bIns="0" rtlCol="0" anchor="t"/>
          <a:lstStyle/>
          <a:p>
            <a:pPr indent="0" marL="0">
              <a:buNone/>
            </a:pPr>
            <a:r>
              <a:rPr lang="en-US" sz="2200" b="1" dirty="0">
                <a:solidFill>
                  <a:schemeClr val="tx1"/>
                </a:solidFill>
              </a:rPr>
              <a:t>105</a:t>
            </a:r>
            <a:endParaRPr lang="en-US" sz="2200" dirty="0"/>
          </a:p>
        </p:txBody>
      </p:sp>
      <p:sp>
        <p:nvSpPr>
          <p:cNvPr id="9" name="fact-1-label"/>
          <p:cNvSpPr txBox="1"/>
          <p:nvPr/>
        </p:nvSpPr>
        <p:spPr>
          <a:xfrm>
            <a:off x="2592781" y="2011680"/>
            <a:ext cx="1367485" cy="685800"/>
          </a:xfrm>
          <a:prstGeom prst="rect">
            <a:avLst/>
          </a:prstGeom>
          <a:noFill/>
          <a:ln/>
        </p:spPr>
        <p:txBody>
          <a:bodyPr wrap="square" lIns="0" tIns="0" rIns="0" bIns="0" rtlCol="0" anchor="t"/>
          <a:lstStyle/>
          <a:p>
            <a:pPr indent="0" marL="0">
              <a:buNone/>
            </a:pPr>
            <a:r>
              <a:rPr lang="en-US" sz="1200" dirty="0">
                <a:solidFill>
                  <a:schemeClr val="tx2"/>
                </a:solidFill>
              </a:rPr>
              <a:t>features carried over and checked</a:t>
            </a:r>
            <a:endParaRPr lang="en-US" sz="1200" dirty="0"/>
          </a:p>
        </p:txBody>
      </p:sp>
      <p:sp>
        <p:nvSpPr>
          <p:cNvPr id="10" name="fact-2-card"/>
          <p:cNvSpPr/>
          <p:nvPr/>
        </p:nvSpPr>
        <p:spPr>
          <a:xfrm>
            <a:off x="4307738" y="1371600"/>
            <a:ext cx="1696669" cy="1463040"/>
          </a:xfrm>
          <a:prstGeom prst="roundRect">
            <a:avLst>
              <a:gd name="adj" fmla="val 7500"/>
            </a:avLst>
          </a:prstGeom>
          <a:solidFill>
            <a:schemeClr val="bg2"/>
          </a:solidFill>
          <a:ln/>
        </p:spPr>
      </p:sp>
      <p:sp>
        <p:nvSpPr>
          <p:cNvPr id="11" name="fact-2-value"/>
          <p:cNvSpPr txBox="1"/>
          <p:nvPr/>
        </p:nvSpPr>
        <p:spPr>
          <a:xfrm>
            <a:off x="4472330" y="1481328"/>
            <a:ext cx="1367485" cy="594360"/>
          </a:xfrm>
          <a:prstGeom prst="rect">
            <a:avLst/>
          </a:prstGeom>
          <a:noFill/>
          <a:ln/>
        </p:spPr>
        <p:txBody>
          <a:bodyPr wrap="square" lIns="0" tIns="0" rIns="0" bIns="0" rtlCol="0" anchor="t"/>
          <a:lstStyle/>
          <a:p>
            <a:pPr indent="0" marL="0">
              <a:buNone/>
            </a:pPr>
            <a:r>
              <a:rPr lang="en-US" sz="2200" b="1" dirty="0">
                <a:solidFill>
                  <a:schemeClr val="tx1"/>
                </a:solidFill>
              </a:rPr>
              <a:t>31</a:t>
            </a:r>
            <a:endParaRPr lang="en-US" sz="2200" dirty="0"/>
          </a:p>
        </p:txBody>
      </p:sp>
      <p:sp>
        <p:nvSpPr>
          <p:cNvPr id="12" name="fact-2-label"/>
          <p:cNvSpPr txBox="1"/>
          <p:nvPr/>
        </p:nvSpPr>
        <p:spPr>
          <a:xfrm>
            <a:off x="4472330" y="2011680"/>
            <a:ext cx="1367485" cy="685800"/>
          </a:xfrm>
          <a:prstGeom prst="rect">
            <a:avLst/>
          </a:prstGeom>
          <a:noFill/>
          <a:ln/>
        </p:spPr>
        <p:txBody>
          <a:bodyPr wrap="square" lIns="0" tIns="0" rIns="0" bIns="0" rtlCol="0" anchor="t"/>
          <a:lstStyle/>
          <a:p>
            <a:pPr indent="0" marL="0">
              <a:buNone/>
            </a:pPr>
            <a:r>
              <a:rPr lang="en-US" sz="1200" dirty="0">
                <a:solidFill>
                  <a:schemeClr val="tx2"/>
                </a:solidFill>
              </a:rPr>
              <a:t>gaps found by AI review</a:t>
            </a:r>
            <a:endParaRPr lang="en-US" sz="1200" dirty="0"/>
          </a:p>
        </p:txBody>
      </p:sp>
      <p:sp>
        <p:nvSpPr>
          <p:cNvPr id="13" name="fact-3-card"/>
          <p:cNvSpPr/>
          <p:nvPr/>
        </p:nvSpPr>
        <p:spPr>
          <a:xfrm>
            <a:off x="6187288" y="1371600"/>
            <a:ext cx="1696669" cy="1463040"/>
          </a:xfrm>
          <a:prstGeom prst="roundRect">
            <a:avLst>
              <a:gd name="adj" fmla="val 7500"/>
            </a:avLst>
          </a:prstGeom>
          <a:solidFill>
            <a:schemeClr val="bg2"/>
          </a:solidFill>
          <a:ln/>
        </p:spPr>
      </p:sp>
      <p:sp>
        <p:nvSpPr>
          <p:cNvPr id="14" name="fact-3-value"/>
          <p:cNvSpPr txBox="1"/>
          <p:nvPr/>
        </p:nvSpPr>
        <p:spPr>
          <a:xfrm>
            <a:off x="6351880" y="1481328"/>
            <a:ext cx="1367485" cy="594360"/>
          </a:xfrm>
          <a:prstGeom prst="rect">
            <a:avLst/>
          </a:prstGeom>
          <a:noFill/>
          <a:ln/>
        </p:spPr>
        <p:txBody>
          <a:bodyPr wrap="square" lIns="0" tIns="0" rIns="0" bIns="0" rtlCol="0" anchor="t"/>
          <a:lstStyle/>
          <a:p>
            <a:pPr indent="0" marL="0">
              <a:buNone/>
            </a:pPr>
            <a:r>
              <a:rPr lang="en-US" sz="2200" b="1" dirty="0">
                <a:solidFill>
                  <a:schemeClr val="tx1"/>
                </a:solidFill>
              </a:rPr>
              <a:t>7</a:t>
            </a:r>
            <a:endParaRPr lang="en-US" sz="2200" dirty="0"/>
          </a:p>
        </p:txBody>
      </p:sp>
      <p:sp>
        <p:nvSpPr>
          <p:cNvPr id="15" name="fact-3-label"/>
          <p:cNvSpPr txBox="1"/>
          <p:nvPr/>
        </p:nvSpPr>
        <p:spPr>
          <a:xfrm>
            <a:off x="6351880" y="2011680"/>
            <a:ext cx="1367485" cy="685800"/>
          </a:xfrm>
          <a:prstGeom prst="rect">
            <a:avLst/>
          </a:prstGeom>
          <a:noFill/>
          <a:ln/>
        </p:spPr>
        <p:txBody>
          <a:bodyPr wrap="square" lIns="0" tIns="0" rIns="0" bIns="0" rtlCol="0" anchor="t"/>
          <a:lstStyle/>
          <a:p>
            <a:pPr indent="0" marL="0">
              <a:buNone/>
            </a:pPr>
            <a:r>
              <a:rPr lang="en-US" sz="1200" dirty="0">
                <a:solidFill>
                  <a:schemeClr val="tx2"/>
                </a:solidFill>
              </a:rPr>
              <a:t>security issues caught in review</a:t>
            </a:r>
            <a:endParaRPr lang="en-US" sz="1200" dirty="0"/>
          </a:p>
        </p:txBody>
      </p:sp>
      <p:sp>
        <p:nvSpPr>
          <p:cNvPr id="16" name="fact-4-card"/>
          <p:cNvSpPr/>
          <p:nvPr/>
        </p:nvSpPr>
        <p:spPr>
          <a:xfrm>
            <a:off x="8066837" y="1371600"/>
            <a:ext cx="1696669" cy="1463040"/>
          </a:xfrm>
          <a:prstGeom prst="roundRect">
            <a:avLst>
              <a:gd name="adj" fmla="val 7500"/>
            </a:avLst>
          </a:prstGeom>
          <a:solidFill>
            <a:schemeClr val="bg2"/>
          </a:solidFill>
          <a:ln/>
        </p:spPr>
      </p:sp>
      <p:sp>
        <p:nvSpPr>
          <p:cNvPr id="17" name="fact-4-value"/>
          <p:cNvSpPr txBox="1"/>
          <p:nvPr/>
        </p:nvSpPr>
        <p:spPr>
          <a:xfrm>
            <a:off x="8231429" y="1481328"/>
            <a:ext cx="1367485" cy="594360"/>
          </a:xfrm>
          <a:prstGeom prst="rect">
            <a:avLst/>
          </a:prstGeom>
          <a:noFill/>
          <a:ln/>
        </p:spPr>
        <p:txBody>
          <a:bodyPr wrap="square" lIns="0" tIns="0" rIns="0" bIns="0" rtlCol="0" anchor="t"/>
          <a:lstStyle/>
          <a:p>
            <a:pPr indent="0" marL="0">
              <a:buNone/>
            </a:pPr>
            <a:r>
              <a:rPr lang="en-US" sz="2200" b="1" dirty="0">
                <a:solidFill>
                  <a:schemeClr val="tx1"/>
                </a:solidFill>
              </a:rPr>
              <a:t>11</a:t>
            </a:r>
            <a:endParaRPr lang="en-US" sz="2200" dirty="0"/>
          </a:p>
        </p:txBody>
      </p:sp>
      <p:sp>
        <p:nvSpPr>
          <p:cNvPr id="18" name="fact-4-label"/>
          <p:cNvSpPr txBox="1"/>
          <p:nvPr/>
        </p:nvSpPr>
        <p:spPr>
          <a:xfrm>
            <a:off x="8231429" y="2011680"/>
            <a:ext cx="1367485" cy="685800"/>
          </a:xfrm>
          <a:prstGeom prst="rect">
            <a:avLst/>
          </a:prstGeom>
          <a:noFill/>
          <a:ln/>
        </p:spPr>
        <p:txBody>
          <a:bodyPr wrap="square" lIns="0" tIns="0" rIns="0" bIns="0" rtlCol="0" anchor="t"/>
          <a:lstStyle/>
          <a:p>
            <a:pPr indent="0" marL="0">
              <a:buNone/>
            </a:pPr>
            <a:r>
              <a:rPr lang="en-US" sz="1200" dirty="0">
                <a:solidFill>
                  <a:schemeClr val="tx2"/>
                </a:solidFill>
              </a:rPr>
              <a:t>new features Slate never had</a:t>
            </a:r>
            <a:endParaRPr lang="en-US" sz="1200" dirty="0"/>
          </a:p>
        </p:txBody>
      </p:sp>
      <p:sp>
        <p:nvSpPr>
          <p:cNvPr id="19" name="fact-5-card"/>
          <p:cNvSpPr/>
          <p:nvPr/>
        </p:nvSpPr>
        <p:spPr>
          <a:xfrm>
            <a:off x="9946386" y="1371600"/>
            <a:ext cx="1696669" cy="1463040"/>
          </a:xfrm>
          <a:prstGeom prst="roundRect">
            <a:avLst>
              <a:gd name="adj" fmla="val 7500"/>
            </a:avLst>
          </a:prstGeom>
          <a:solidFill>
            <a:schemeClr val="bg2"/>
          </a:solidFill>
          <a:ln/>
        </p:spPr>
      </p:sp>
      <p:sp>
        <p:nvSpPr>
          <p:cNvPr id="20" name="fact-5-value"/>
          <p:cNvSpPr txBox="1"/>
          <p:nvPr/>
        </p:nvSpPr>
        <p:spPr>
          <a:xfrm>
            <a:off x="10110978" y="1481328"/>
            <a:ext cx="1367485" cy="594360"/>
          </a:xfrm>
          <a:prstGeom prst="rect">
            <a:avLst/>
          </a:prstGeom>
          <a:noFill/>
          <a:ln/>
        </p:spPr>
        <p:txBody>
          <a:bodyPr wrap="square" lIns="0" tIns="0" rIns="0" bIns="0" rtlCol="0" anchor="t"/>
          <a:lstStyle/>
          <a:p>
            <a:pPr indent="0" marL="0">
              <a:buNone/>
            </a:pPr>
            <a:r>
              <a:rPr lang="en-US" sz="2200" b="1" dirty="0">
                <a:solidFill>
                  <a:schemeClr val="tx1"/>
                </a:solidFill>
              </a:rPr>
              <a:t>0 → 10</a:t>
            </a:r>
            <a:endParaRPr lang="en-US" sz="2200" dirty="0"/>
          </a:p>
        </p:txBody>
      </p:sp>
      <p:sp>
        <p:nvSpPr>
          <p:cNvPr id="21" name="fact-5-label"/>
          <p:cNvSpPr txBox="1"/>
          <p:nvPr/>
        </p:nvSpPr>
        <p:spPr>
          <a:xfrm>
            <a:off x="10110978" y="2011680"/>
            <a:ext cx="1367485" cy="685800"/>
          </a:xfrm>
          <a:prstGeom prst="rect">
            <a:avLst/>
          </a:prstGeom>
          <a:noFill/>
          <a:ln/>
        </p:spPr>
        <p:txBody>
          <a:bodyPr wrap="square" lIns="0" tIns="0" rIns="0" bIns="0" rtlCol="0" anchor="t"/>
          <a:lstStyle/>
          <a:p>
            <a:pPr indent="0" marL="0">
              <a:buNone/>
            </a:pPr>
            <a:r>
              <a:rPr lang="en-US" sz="1200" dirty="0">
                <a:solidFill>
                  <a:schemeClr val="tx2"/>
                </a:solidFill>
              </a:rPr>
              <a:t>documents: 8 diagrams, 2 guides</a:t>
            </a:r>
            <a:endParaRPr lang="en-US" sz="1200" dirty="0"/>
          </a:p>
        </p:txBody>
      </p:sp>
      <p:sp>
        <p:nvSpPr>
          <p:cNvPr id="22" name="cmp2-old"/>
          <p:cNvSpPr/>
          <p:nvPr/>
        </p:nvSpPr>
        <p:spPr>
          <a:xfrm>
            <a:off x="548640" y="3063240"/>
            <a:ext cx="3611880" cy="2697480"/>
          </a:xfrm>
          <a:prstGeom prst="roundRect">
            <a:avLst>
              <a:gd name="adj" fmla="val 4068"/>
            </a:avLst>
          </a:prstGeom>
          <a:solidFill>
            <a:schemeClr val="bg2"/>
          </a:solidFill>
          <a:ln/>
        </p:spPr>
      </p:sp>
      <p:sp>
        <p:nvSpPr>
          <p:cNvPr id="23" name="cmp2-oldtext"/>
          <p:cNvSpPr txBox="1"/>
          <p:nvPr/>
        </p:nvSpPr>
        <p:spPr>
          <a:xfrm>
            <a:off x="777240" y="3200400"/>
            <a:ext cx="3154680" cy="2423160"/>
          </a:xfrm>
          <a:prstGeom prst="rect">
            <a:avLst/>
          </a:prstGeom>
          <a:noFill/>
          <a:ln/>
        </p:spPr>
        <p:txBody>
          <a:bodyPr wrap="square" lIns="0" tIns="0" rIns="0" bIns="0" rtlCol="0" anchor="t"/>
          <a:lstStyle/>
          <a:p>
            <a:pPr indent="0" marL="0">
              <a:spcAft>
                <a:spcPts val="600"/>
              </a:spcAft>
              <a:buNone/>
            </a:pPr>
            <a:r>
              <a:rPr lang="en-US" sz="1100" b="1" spc="100" kern="0" dirty="0">
                <a:solidFill>
                  <a:schemeClr val="tx2"/>
                </a:solidFill>
              </a:rPr>
              <a:t>ADDING A FEATURE IN SLATE</a:t>
            </a:r>
            <a:endParaRPr lang="en-US" sz="1100" dirty="0"/>
          </a:p>
          <a:p>
            <a:pPr indent="0" marL="0">
              <a:spcAft>
                <a:spcPts val="600"/>
              </a:spcAft>
              <a:buNone/>
            </a:pPr>
            <a:r>
              <a:rPr lang="en-US" sz="600" dirty="0">
                <a:solidFill>
                  <a:srgbClr val="000000"/>
                </a:solidFill>
              </a:rPr>
              <a:t> </a:t>
            </a:r>
            <a:endParaRPr lang="en-US" sz="1100" dirty="0"/>
          </a:p>
          <a:p>
            <a:pPr marL="342900" indent="-342900">
              <a:spcAft>
                <a:spcPts val="600"/>
              </a:spcAft>
              <a:buSzPct val="100000"/>
              <a:buChar char="•"/>
            </a:pPr>
            <a:r>
              <a:rPr lang="en-US" sz="1400" dirty="0">
                <a:solidFill>
                  <a:schemeClr val="tx1"/>
                </a:solidFill>
              </a:rPr>
              <a:t>Wire widgets, events and variables across 8 exports</a:t>
            </a:r>
            <a:endParaRPr lang="en-US" sz="1100" dirty="0"/>
          </a:p>
          <a:p>
            <a:pPr marL="342900" indent="-342900">
              <a:spcAft>
                <a:spcPts val="600"/>
              </a:spcAft>
              <a:buSzPct val="100000"/>
              <a:buChar char="•"/>
            </a:pPr>
            <a:r>
              <a:rPr lang="en-US" sz="1400" dirty="0">
                <a:solidFill>
                  <a:schemeClr val="tx1"/>
                </a:solidFill>
              </a:rPr>
              <a:t>Any change can break unrelated dashboards</a:t>
            </a:r>
            <a:endParaRPr lang="en-US" sz="1100" dirty="0"/>
          </a:p>
          <a:p>
            <a:pPr marL="342900" indent="-342900">
              <a:spcAft>
                <a:spcPts val="600"/>
              </a:spcAft>
              <a:buSzPct val="100000"/>
              <a:buChar char="•"/>
            </a:pPr>
            <a:r>
              <a:rPr lang="en-US" sz="1400" dirty="0">
                <a:solidFill>
                  <a:schemeClr val="tx1"/>
                </a:solidFill>
              </a:rPr>
              <a:t>No docs to know what depends on what</a:t>
            </a:r>
            <a:endParaRPr lang="en-US" sz="1100" dirty="0"/>
          </a:p>
        </p:txBody>
      </p:sp>
      <p:sp>
        <p:nvSpPr>
          <p:cNvPr id="24" name="cmp2-new"/>
          <p:cNvSpPr/>
          <p:nvPr/>
        </p:nvSpPr>
        <p:spPr>
          <a:xfrm>
            <a:off x="4389120" y="3063240"/>
            <a:ext cx="3611880" cy="2697480"/>
          </a:xfrm>
          <a:prstGeom prst="roundRect">
            <a:avLst>
              <a:gd name="adj" fmla="val 4068"/>
            </a:avLst>
          </a:prstGeom>
          <a:solidFill>
            <a:schemeClr val="tx1"/>
          </a:solidFill>
          <a:ln/>
        </p:spPr>
      </p:sp>
      <p:sp>
        <p:nvSpPr>
          <p:cNvPr id="25" name="cmp2-newtext"/>
          <p:cNvSpPr txBox="1"/>
          <p:nvPr/>
        </p:nvSpPr>
        <p:spPr>
          <a:xfrm>
            <a:off x="4617720" y="3200400"/>
            <a:ext cx="3154680" cy="2423160"/>
          </a:xfrm>
          <a:prstGeom prst="rect">
            <a:avLst/>
          </a:prstGeom>
          <a:noFill/>
          <a:ln/>
        </p:spPr>
        <p:txBody>
          <a:bodyPr wrap="square" lIns="0" tIns="0" rIns="0" bIns="0" rtlCol="0" anchor="t"/>
          <a:lstStyle/>
          <a:p>
            <a:pPr indent="0" marL="0">
              <a:spcAft>
                <a:spcPts val="600"/>
              </a:spcAft>
              <a:buNone/>
            </a:pPr>
            <a:r>
              <a:rPr lang="en-US" sz="1100" b="1" spc="100" kern="0" dirty="0">
                <a:solidFill>
                  <a:schemeClr val="accent5"/>
                </a:solidFill>
              </a:rPr>
              <a:t>ADDING A FEATURE IN REACT + OSDK</a:t>
            </a:r>
            <a:endParaRPr lang="en-US" sz="1100" dirty="0"/>
          </a:p>
          <a:p>
            <a:pPr indent="0" marL="0">
              <a:spcAft>
                <a:spcPts val="600"/>
              </a:spcAft>
              <a:buNone/>
            </a:pPr>
            <a:r>
              <a:rPr lang="en-US" sz="600" dirty="0">
                <a:solidFill>
                  <a:srgbClr val="000000"/>
                </a:solidFill>
              </a:rPr>
              <a:t> </a:t>
            </a:r>
            <a:endParaRPr lang="en-US" sz="1100" dirty="0"/>
          </a:p>
          <a:p>
            <a:pPr marL="342900" indent="-342900">
              <a:spcAft>
                <a:spcPts val="600"/>
              </a:spcAft>
              <a:buSzPct val="100000"/>
              <a:buChar char="•"/>
            </a:pPr>
            <a:r>
              <a:rPr lang="en-US" sz="1400" dirty="0">
                <a:solidFill>
                  <a:schemeClr val="bg1"/>
                </a:solidFill>
              </a:rPr>
              <a:t>One isolated, typed component plus one OSDK call</a:t>
            </a:r>
            <a:endParaRPr lang="en-US" sz="1100" dirty="0"/>
          </a:p>
          <a:p>
            <a:pPr marL="342900" indent="-342900">
              <a:spcAft>
                <a:spcPts val="600"/>
              </a:spcAft>
              <a:buSzPct val="100000"/>
              <a:buChar char="•"/>
            </a:pPr>
            <a:r>
              <a:rPr lang="en-US" sz="1400" dirty="0">
                <a:solidFill>
                  <a:schemeClr val="bg1"/>
                </a:solidFill>
              </a:rPr>
              <a:t>pack-project.ts gives AI the whole app</a:t>
            </a:r>
            <a:endParaRPr lang="en-US" sz="1100" dirty="0"/>
          </a:p>
          <a:p>
            <a:pPr marL="342900" indent="-342900">
              <a:spcAft>
                <a:spcPts val="600"/>
              </a:spcAft>
              <a:buSzPct val="100000"/>
              <a:buChar char="•"/>
            </a:pPr>
            <a:r>
              <a:rPr lang="en-US" sz="1400" dirty="0">
                <a:solidFill>
                  <a:schemeClr val="bg1"/>
                </a:solidFill>
              </a:rPr>
              <a:t>25 MB of Slate config became 0.8 MB of typed code (−97%)</a:t>
            </a:r>
            <a:endParaRPr lang="en-US" sz="1100" dirty="0"/>
          </a:p>
        </p:txBody>
      </p:sp>
      <p:sp>
        <p:nvSpPr>
          <p:cNvPr id="26" name="money-card"/>
          <p:cNvSpPr/>
          <p:nvPr/>
        </p:nvSpPr>
        <p:spPr>
          <a:xfrm>
            <a:off x="8229600" y="3063240"/>
            <a:ext cx="3413455" cy="2697480"/>
          </a:xfrm>
          <a:prstGeom prst="roundRect">
            <a:avLst>
              <a:gd name="adj" fmla="val 4068"/>
            </a:avLst>
          </a:prstGeom>
          <a:solidFill>
            <a:schemeClr val="accent4"/>
          </a:solidFill>
          <a:ln/>
        </p:spPr>
      </p:sp>
      <p:sp>
        <p:nvSpPr>
          <p:cNvPr id="27" name="money-text"/>
          <p:cNvSpPr txBox="1"/>
          <p:nvPr/>
        </p:nvSpPr>
        <p:spPr>
          <a:xfrm>
            <a:off x="8458200" y="3200400"/>
            <a:ext cx="2956255" cy="2423160"/>
          </a:xfrm>
          <a:prstGeom prst="rect">
            <a:avLst/>
          </a:prstGeom>
          <a:noFill/>
          <a:ln/>
        </p:spPr>
        <p:txBody>
          <a:bodyPr wrap="square" lIns="0" tIns="0" rIns="0" bIns="0" rtlCol="0" anchor="ctr"/>
          <a:lstStyle/>
          <a:p>
            <a:pPr indent="0" marL="0">
              <a:buNone/>
            </a:pPr>
            <a:r>
              <a:rPr lang="en-US" sz="7200" b="1" dirty="0">
                <a:solidFill>
                  <a:schemeClr val="bg1"/>
                </a:solidFill>
              </a:rPr>
              <a:t>~76%</a:t>
            </a:r>
            <a:endParaRPr lang="en-US" sz="7200" dirty="0"/>
          </a:p>
          <a:p>
            <a:pPr indent="0" marL="0">
              <a:buNone/>
            </a:pPr>
            <a:r>
              <a:rPr lang="en-US" sz="1600" b="1" dirty="0">
                <a:solidFill>
                  <a:schemeClr val="bg1"/>
                </a:solidFill>
              </a:rPr>
              <a:t>less effort than a manual migration</a:t>
            </a:r>
            <a:endParaRPr lang="en-US" sz="7200" dirty="0"/>
          </a:p>
          <a:p>
            <a:pPr indent="0" marL="0">
              <a:buNone/>
            </a:pPr>
            <a:r>
              <a:rPr lang="en-US" sz="1200" dirty="0">
                <a:solidFill>
                  <a:srgbClr val="000000"/>
                </a:solidFill>
              </a:rPr>
              <a:t> </a:t>
            </a:r>
            <a:endParaRPr lang="en-US" sz="7200" dirty="0"/>
          </a:p>
          <a:p>
            <a:pPr indent="0" marL="0">
              <a:buNone/>
            </a:pPr>
            <a:r>
              <a:rPr lang="en-US" sz="1300" dirty="0">
                <a:solidFill>
                  <a:schemeClr val="accent5"/>
                </a:solidFill>
              </a:rPr>
              <a:t>≈ $80K saved on the build</a:t>
            </a:r>
            <a:endParaRPr lang="en-US" sz="7200" dirty="0"/>
          </a:p>
          <a:p>
            <a:pPr indent="0" marL="0">
              <a:buNone/>
            </a:pPr>
            <a:r>
              <a:rPr lang="en-US" sz="1300" dirty="0">
                <a:solidFill>
                  <a:schemeClr val="accent5"/>
                </a:solidFill>
              </a:rPr>
              <a:t>≈ $10K a year less maintenance</a:t>
            </a:r>
            <a:endParaRPr lang="en-US" sz="7200" dirty="0"/>
          </a:p>
        </p:txBody>
      </p:sp>
      <p:sp>
        <p:nvSpPr>
          <p:cNvPr id="28" name="proof-foot"/>
          <p:cNvSpPr txBox="1"/>
          <p:nvPr/>
        </p:nvSpPr>
        <p:spPr>
          <a:xfrm>
            <a:off x="548640" y="5897880"/>
            <a:ext cx="11094415" cy="502920"/>
          </a:xfrm>
          <a:prstGeom prst="rect">
            <a:avLst/>
          </a:prstGeom>
          <a:noFill/>
          <a:ln/>
        </p:spPr>
        <p:txBody>
          <a:bodyPr wrap="square" lIns="0" tIns="0" rIns="0" bIns="0" rtlCol="0" anchor="t"/>
          <a:lstStyle/>
          <a:p>
            <a:pPr indent="0" marL="0">
              <a:buNone/>
            </a:pPr>
            <a:r>
              <a:rPr lang="en-US" sz="1100" i="1" dirty="0">
                <a:solidFill>
                  <a:schemeClr val="tx2"/>
                </a:solidFill>
              </a:rPr>
              <a:t>Generic estimates at $38.50 per developer hour, 8 hours a day: 4 sprints (≈ $25K) actual against ~17 sprints (≈ $105K) for a manual migration of 105 features. Maintenance: ~20% of build effort a year (≈ $21K), assumed halved by modular, typed, documented code.</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8" fill="hold">
                      <p:stCondLst>
                        <p:cond delay="indefinite"/>
                        <p:cond evt="onBegin" delay="0">
                          <p:tn val="2"/>
                        </p:cond>
                      </p:stCondLst>
                      <p:childTnLst>
                        <p:par>
                          <p:cTn id="12"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50"/>
                                        <p:tgtEl>
                                          <p:spTgt spid="6"/>
                                        </p:tgtEl>
                                      </p:cBhvr>
                                    </p:animEffect>
                                  </p:childTnLst>
                                </p:cTn>
                              </p:par>
                            </p:childTnLst>
                          </p:cTn>
                        </p:par>
                        <p:par>
                          <p:cTn id="22" fill="hold">
                            <p:stCondLst>
                              <p:cond delay="300"/>
                            </p:stCondLst>
                            <p:childTnLst>
                              <p:par>
                                <p:cTn id="13" presetID="10" presetClass="entr" presetSubtype="0" fill="hold" grpId="0" nodeType="after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5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50"/>
                                        <p:tgtEl>
                                          <p:spTgt spid="9"/>
                                        </p:tgtEl>
                                      </p:cBhvr>
                                    </p:animEffect>
                                  </p:childTnLst>
                                </p:cTn>
                              </p:par>
                            </p:childTnLst>
                          </p:cTn>
                        </p:par>
                        <p:par>
                          <p:cTn id="32" fill="hold">
                            <p:stCondLst>
                              <p:cond delay="600"/>
                            </p:stCondLst>
                            <p:childTnLst>
                              <p:par>
                                <p:cTn id="23" presetID="10" presetClass="entr" presetSubtype="0" fill="hold" grpId="0" nodeType="after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5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450"/>
                                        <p:tgtEl>
                                          <p:spTgt spid="1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50"/>
                                        <p:tgtEl>
                                          <p:spTgt spid="12"/>
                                        </p:tgtEl>
                                      </p:cBhvr>
                                    </p:animEffect>
                                  </p:childTnLst>
                                </p:cTn>
                              </p:par>
                            </p:childTnLst>
                          </p:cTn>
                        </p:par>
                        <p:par>
                          <p:cTn id="42" fill="hold">
                            <p:stCondLst>
                              <p:cond delay="900"/>
                            </p:stCondLst>
                            <p:childTnLst>
                              <p:par>
                                <p:cTn id="33" presetID="10" presetClass="entr" presetSubtype="0" fill="hold" grpId="0" nodeType="after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5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5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50"/>
                                        <p:tgtEl>
                                          <p:spTgt spid="15"/>
                                        </p:tgtEl>
                                      </p:cBhvr>
                                    </p:animEffect>
                                  </p:childTnLst>
                                </p:cTn>
                              </p:par>
                            </p:childTnLst>
                          </p:cTn>
                        </p:par>
                        <p:par>
                          <p:cTn id="52" fill="hold">
                            <p:stCondLst>
                              <p:cond delay="1200"/>
                            </p:stCondLst>
                            <p:childTnLst>
                              <p:par>
                                <p:cTn id="43" presetID="10" presetClass="entr" presetSubtype="0" fill="hold" grpId="0" nodeType="after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450"/>
                                        <p:tgtEl>
                                          <p:spTgt spid="1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450"/>
                                        <p:tgtEl>
                                          <p:spTgt spid="1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450"/>
                                        <p:tgtEl>
                                          <p:spTgt spid="18"/>
                                        </p:tgtEl>
                                      </p:cBhvr>
                                    </p:animEffect>
                                  </p:childTnLst>
                                </p:cTn>
                              </p:par>
                            </p:childTnLst>
                          </p:cTn>
                        </p:par>
                        <p:par>
                          <p:cTn id="62" fill="hold">
                            <p:stCondLst>
                              <p:cond delay="1500"/>
                            </p:stCondLst>
                            <p:childTnLst>
                              <p:par>
                                <p:cTn id="53" presetID="10" presetClass="entr" presetSubtype="0" fill="hold" grpId="0" nodeType="after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5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5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50"/>
                                        <p:tgtEl>
                                          <p:spTgt spid="21"/>
                                        </p:tgtEl>
                                      </p:cBhvr>
                                    </p:animEffect>
                                  </p:childTnLst>
                                </p:cTn>
                              </p:par>
                            </p:childTnLst>
                          </p:cTn>
                        </p:par>
                        <p:par>
                          <p:cTn id="69" fill="hold">
                            <p:stCondLst>
                              <p:cond delay="1800"/>
                            </p:stCondLst>
                            <p:childTnLst>
                              <p:par>
                                <p:cTn id="63" presetID="10" presetClass="entr" presetSubtype="0" fill="hold" grpId="0" nodeType="afterEffect">
                                  <p:stCondLst>
                                    <p:cond delay="0"/>
                                  </p:stCondLst>
                                  <p:childTnLst>
                                    <p:set>
                                      <p:cBhvr>
                                        <p:cTn id="64" dur="1" fill="hold">
                                          <p:stCondLst>
                                            <p:cond delay="0"/>
                                          </p:stCondLst>
                                        </p:cTn>
                                        <p:tgtEl>
                                          <p:spTgt spid="22"/>
                                        </p:tgtEl>
                                        <p:attrNameLst>
                                          <p:attrName>style.visibility</p:attrName>
                                        </p:attrNameLst>
                                      </p:cBhvr>
                                      <p:to>
                                        <p:strVal val="visible"/>
                                      </p:to>
                                    </p:set>
                                    <p:animEffect transition="in" filter="fade">
                                      <p:cBhvr>
                                        <p:cTn id="65" dur="450"/>
                                        <p:tgtEl>
                                          <p:spTgt spid="22"/>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3"/>
                                        </p:tgtEl>
                                        <p:attrNameLst>
                                          <p:attrName>style.visibility</p:attrName>
                                        </p:attrNameLst>
                                      </p:cBhvr>
                                      <p:to>
                                        <p:strVal val="visible"/>
                                      </p:to>
                                    </p:set>
                                    <p:animEffect transition="in" filter="fade">
                                      <p:cBhvr>
                                        <p:cTn id="68" dur="450"/>
                                        <p:tgtEl>
                                          <p:spTgt spid="23"/>
                                        </p:tgtEl>
                                      </p:cBhvr>
                                    </p:animEffect>
                                  </p:childTnLst>
                                </p:cTn>
                              </p:par>
                            </p:childTnLst>
                          </p:cTn>
                        </p:par>
                        <p:par>
                          <p:cTn id="76" fill="hold">
                            <p:stCondLst>
                              <p:cond delay="2100"/>
                            </p:stCondLst>
                            <p:childTnLst>
                              <p:par>
                                <p:cTn id="70" presetID="22" presetClass="entr" presetSubtype="8" fill="hold" grpId="0" nodeType="afterEffect">
                                  <p:stCondLst>
                                    <p:cond delay="0"/>
                                  </p:stCondLst>
                                  <p:childTnLst>
                                    <p:set>
                                      <p:cBhvr>
                                        <p:cTn id="71" dur="1" fill="hold">
                                          <p:stCondLst>
                                            <p:cond delay="0"/>
                                          </p:stCondLst>
                                        </p:cTn>
                                        <p:tgtEl>
                                          <p:spTgt spid="24"/>
                                        </p:tgtEl>
                                        <p:attrNameLst>
                                          <p:attrName>style.visibility</p:attrName>
                                        </p:attrNameLst>
                                      </p:cBhvr>
                                      <p:to>
                                        <p:strVal val="visible"/>
                                      </p:to>
                                    </p:set>
                                    <p:animEffect transition="in" filter="wipe(left)">
                                      <p:cBhvr>
                                        <p:cTn id="72" dur="450"/>
                                        <p:tgtEl>
                                          <p:spTgt spid="24"/>
                                        </p:tgtEl>
                                      </p:cBhvr>
                                    </p:animEffect>
                                  </p:childTnLst>
                                </p:cTn>
                              </p:par>
                              <p:par>
                                <p:cTn id="73" presetID="22" presetClass="entr" presetSubtype="8" fill="hold" grpId="0" nodeType="with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wipe(left)">
                                      <p:cBhvr>
                                        <p:cTn id="75" dur="450"/>
                                        <p:tgtEl>
                                          <p:spTgt spid="25"/>
                                        </p:tgtEl>
                                      </p:cBhvr>
                                    </p:animEffect>
                                  </p:childTnLst>
                                </p:cTn>
                              </p:par>
                            </p:childTnLst>
                          </p:cTn>
                        </p:par>
                        <p:par>
                          <p:cTn id="83" fill="hold">
                            <p:stCondLst>
                              <p:cond delay="2400"/>
                            </p:stCondLst>
                            <p:childTnLst>
                              <p:par>
                                <p:cTn id="77" presetID="10" presetClass="entr" presetSubtype="0" fill="hold" grpId="0" nodeType="afterEffect">
                                  <p:stCondLst>
                                    <p:cond delay="0"/>
                                  </p:stCondLst>
                                  <p:childTnLst>
                                    <p:set>
                                      <p:cBhvr>
                                        <p:cTn id="78" dur="1" fill="hold">
                                          <p:stCondLst>
                                            <p:cond delay="0"/>
                                          </p:stCondLst>
                                        </p:cTn>
                                        <p:tgtEl>
                                          <p:spTgt spid="26"/>
                                        </p:tgtEl>
                                        <p:attrNameLst>
                                          <p:attrName>style.visibility</p:attrName>
                                        </p:attrNameLst>
                                      </p:cBhvr>
                                      <p:to>
                                        <p:strVal val="visible"/>
                                      </p:to>
                                    </p:set>
                                    <p:animEffect transition="in" filter="fade">
                                      <p:cBhvr>
                                        <p:cTn id="79" dur="450"/>
                                        <p:tgtEl>
                                          <p:spTgt spid="26"/>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27"/>
                                        </p:tgtEl>
                                        <p:attrNameLst>
                                          <p:attrName>style.visibility</p:attrName>
                                        </p:attrNameLst>
                                      </p:cBhvr>
                                      <p:to>
                                        <p:strVal val="visible"/>
                                      </p:to>
                                    </p:set>
                                    <p:animEffect transition="in" filter="fade">
                                      <p:cBhvr>
                                        <p:cTn id="82" dur="450"/>
                                        <p:tgtEl>
                                          <p:spTgt spid="27"/>
                                        </p:tgtEl>
                                      </p:cBhvr>
                                    </p:animEffect>
                                  </p:childTnLst>
                                </p:cTn>
                              </p:par>
                            </p:childTnLst>
                          </p:cTn>
                        </p:par>
                        <p:par>
                          <p:cTn id="87" fill="hold">
                            <p:stCondLst>
                              <p:cond delay="2700"/>
                            </p:stCondLst>
                            <p:childTnLst>
                              <p:par>
                                <p:cTn id="84" presetID="10" presetClass="entr" presetSubtype="0" fill="hold" grpId="0" nodeType="afterEffect">
                                  <p:stCondLst>
                                    <p:cond delay="0"/>
                                  </p:stCondLst>
                                  <p:childTnLst>
                                    <p:set>
                                      <p:cBhvr>
                                        <p:cTn id="85" dur="1" fill="hold">
                                          <p:stCondLst>
                                            <p:cond delay="0"/>
                                          </p:stCondLst>
                                        </p:cTn>
                                        <p:tgtEl>
                                          <p:spTgt spid="28"/>
                                        </p:tgtEl>
                                        <p:attrNameLst>
                                          <p:attrName>style.visibility</p:attrName>
                                        </p:attrNameLst>
                                      </p:cBhvr>
                                      <p:to>
                                        <p:strVal val="visible"/>
                                      </p:to>
                                    </p:set>
                                    <p:animEffect transition="in" filter="fade">
                                      <p:cBhvr>
                                        <p:cTn id="86" dur="45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VOICE OF THE BUSINESS · IMPACT</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What the business says</a:t>
            </a:r>
            <a:endParaRPr lang="en-US" sz="3600" dirty="0"/>
          </a:p>
        </p:txBody>
      </p:sp>
      <p:sp>
        <p:nvSpPr>
          <p:cNvPr id="4" name="quote-sub"/>
          <p:cNvSpPr txBox="1"/>
          <p:nvPr/>
        </p:nvSpPr>
        <p:spPr>
          <a:xfrm>
            <a:off x="548640" y="1115568"/>
            <a:ext cx="11094415" cy="320040"/>
          </a:xfrm>
          <a:prstGeom prst="rect">
            <a:avLst/>
          </a:prstGeom>
          <a:noFill/>
          <a:ln/>
        </p:spPr>
        <p:txBody>
          <a:bodyPr wrap="square" lIns="0" tIns="0" rIns="0" bIns="0" rtlCol="0" anchor="t"/>
          <a:lstStyle/>
          <a:p>
            <a:pPr indent="0" marL="0">
              <a:buNone/>
            </a:pPr>
            <a:r>
              <a:rPr lang="en-US" sz="1400" dirty="0">
                <a:solidFill>
                  <a:schemeClr val="tx2"/>
                </a:solidFill>
              </a:rPr>
              <a:t>Feedback from ERM business stakeholders, September 2026</a:t>
            </a:r>
            <a:endParaRPr lang="en-US" sz="1400" dirty="0"/>
          </a:p>
        </p:txBody>
      </p:sp>
      <p:sp>
        <p:nvSpPr>
          <p:cNvPr id="5" name="quote-0-card"/>
          <p:cNvSpPr/>
          <p:nvPr/>
        </p:nvSpPr>
        <p:spPr>
          <a:xfrm>
            <a:off x="548640" y="1645920"/>
            <a:ext cx="3515258" cy="4480560"/>
          </a:xfrm>
          <a:prstGeom prst="roundRect">
            <a:avLst>
              <a:gd name="adj" fmla="val 3121"/>
            </a:avLst>
          </a:prstGeom>
          <a:solidFill>
            <a:schemeClr val="tx1"/>
          </a:solidFill>
          <a:ln/>
        </p:spPr>
      </p:sp>
      <p:sp>
        <p:nvSpPr>
          <p:cNvPr id="6" name="quote-0-mark"/>
          <p:cNvSpPr txBox="1"/>
          <p:nvPr/>
        </p:nvSpPr>
        <p:spPr>
          <a:xfrm>
            <a:off x="822960" y="1783080"/>
            <a:ext cx="914400" cy="731520"/>
          </a:xfrm>
          <a:prstGeom prst="rect">
            <a:avLst/>
          </a:prstGeom>
          <a:noFill/>
          <a:ln/>
        </p:spPr>
        <p:txBody>
          <a:bodyPr wrap="square" lIns="0" tIns="0" rIns="0" bIns="0" rtlCol="0" anchor="t"/>
          <a:lstStyle/>
          <a:p>
            <a:pPr indent="0" marL="0">
              <a:buNone/>
            </a:pPr>
            <a:r>
              <a:rPr lang="en-US" sz="6000" b="1" dirty="0">
                <a:solidFill>
                  <a:schemeClr val="accent5"/>
                </a:solidFill>
              </a:rPr>
              <a:t>“</a:t>
            </a:r>
            <a:endParaRPr lang="en-US" sz="6000" dirty="0"/>
          </a:p>
        </p:txBody>
      </p:sp>
      <p:sp>
        <p:nvSpPr>
          <p:cNvPr id="7" name="quote-0-text"/>
          <p:cNvSpPr txBox="1"/>
          <p:nvPr/>
        </p:nvSpPr>
        <p:spPr>
          <a:xfrm>
            <a:off x="822960" y="2514600"/>
            <a:ext cx="2966618" cy="2606040"/>
          </a:xfrm>
          <a:prstGeom prst="rect">
            <a:avLst/>
          </a:prstGeom>
          <a:noFill/>
          <a:ln/>
        </p:spPr>
        <p:txBody>
          <a:bodyPr wrap="square" lIns="0" tIns="0" rIns="0" bIns="0" rtlCol="0" anchor="t"/>
          <a:lstStyle/>
          <a:p>
            <a:pPr indent="0" marL="0">
              <a:buNone/>
            </a:pPr>
            <a:r>
              <a:rPr lang="en-US" sz="1800" i="1" dirty="0">
                <a:solidFill>
                  <a:schemeClr val="bg1"/>
                </a:solidFill>
              </a:rPr>
              <a:t>Thanks to a mix of regular teamwork with the business and strong IT skills, they have turned an idea into a user-friendly industrial [solution]… User interface and performance have significantly improved.</a:t>
            </a:r>
            <a:endParaRPr lang="en-US" sz="1800" dirty="0"/>
          </a:p>
        </p:txBody>
      </p:sp>
      <p:sp>
        <p:nvSpPr>
          <p:cNvPr id="8" name="quote-0-who"/>
          <p:cNvSpPr txBox="1"/>
          <p:nvPr/>
        </p:nvSpPr>
        <p:spPr>
          <a:xfrm>
            <a:off x="822960" y="5166360"/>
            <a:ext cx="2966618" cy="731520"/>
          </a:xfrm>
          <a:prstGeom prst="rect">
            <a:avLst/>
          </a:prstGeom>
          <a:noFill/>
          <a:ln/>
        </p:spPr>
        <p:txBody>
          <a:bodyPr wrap="square" lIns="0" tIns="0" rIns="0" bIns="0" rtlCol="0" anchor="b"/>
          <a:lstStyle/>
          <a:p>
            <a:pPr indent="0" marL="0">
              <a:buNone/>
            </a:pPr>
            <a:r>
              <a:rPr lang="en-US" sz="1400" b="1" dirty="0">
                <a:solidFill>
                  <a:schemeClr val="bg1"/>
                </a:solidFill>
              </a:rPr>
              <a:t>ERM Centre of Competence</a:t>
            </a:r>
            <a:endParaRPr lang="en-US" sz="1400" dirty="0"/>
          </a:p>
          <a:p>
            <a:pPr indent="0" marL="0">
              <a:buNone/>
            </a:pPr>
            <a:r>
              <a:rPr lang="en-US" sz="1200" dirty="0">
                <a:solidFill>
                  <a:schemeClr val="accent5"/>
                </a:solidFill>
              </a:rPr>
              <a:t>Enterprise Risk Management</a:t>
            </a:r>
            <a:endParaRPr lang="en-US" sz="1400" dirty="0"/>
          </a:p>
        </p:txBody>
      </p:sp>
      <p:sp>
        <p:nvSpPr>
          <p:cNvPr id="9" name="quote-1-card"/>
          <p:cNvSpPr/>
          <p:nvPr/>
        </p:nvSpPr>
        <p:spPr>
          <a:xfrm>
            <a:off x="4338218" y="1645920"/>
            <a:ext cx="3515258" cy="4480560"/>
          </a:xfrm>
          <a:prstGeom prst="roundRect">
            <a:avLst>
              <a:gd name="adj" fmla="val 3121"/>
            </a:avLst>
          </a:prstGeom>
          <a:solidFill>
            <a:schemeClr val="bg1"/>
          </a:solidFill>
          <a:ln/>
        </p:spPr>
      </p:sp>
      <p:sp>
        <p:nvSpPr>
          <p:cNvPr id="10" name="quote-1-mark"/>
          <p:cNvSpPr txBox="1"/>
          <p:nvPr/>
        </p:nvSpPr>
        <p:spPr>
          <a:xfrm>
            <a:off x="4612538" y="1783080"/>
            <a:ext cx="914400" cy="731520"/>
          </a:xfrm>
          <a:prstGeom prst="rect">
            <a:avLst/>
          </a:prstGeom>
          <a:noFill/>
          <a:ln/>
        </p:spPr>
        <p:txBody>
          <a:bodyPr wrap="square" lIns="0" tIns="0" rIns="0" bIns="0" rtlCol="0" anchor="t"/>
          <a:lstStyle/>
          <a:p>
            <a:pPr indent="0" marL="0">
              <a:buNone/>
            </a:pPr>
            <a:r>
              <a:rPr lang="en-US" sz="6000" b="1" dirty="0">
                <a:solidFill>
                  <a:schemeClr val="accent3"/>
                </a:solidFill>
              </a:rPr>
              <a:t>“</a:t>
            </a:r>
            <a:endParaRPr lang="en-US" sz="6000" dirty="0"/>
          </a:p>
        </p:txBody>
      </p:sp>
      <p:sp>
        <p:nvSpPr>
          <p:cNvPr id="11" name="quote-1-text"/>
          <p:cNvSpPr txBox="1"/>
          <p:nvPr/>
        </p:nvSpPr>
        <p:spPr>
          <a:xfrm>
            <a:off x="4612538" y="2514600"/>
            <a:ext cx="2966618" cy="2606040"/>
          </a:xfrm>
          <a:prstGeom prst="rect">
            <a:avLst/>
          </a:prstGeom>
          <a:noFill/>
          <a:ln/>
        </p:spPr>
        <p:txBody>
          <a:bodyPr wrap="square" lIns="0" tIns="0" rIns="0" bIns="0" rtlCol="0" anchor="t"/>
          <a:lstStyle/>
          <a:p>
            <a:pPr indent="0" marL="0">
              <a:buNone/>
            </a:pPr>
            <a:r>
              <a:rPr lang="en-US" sz="1800" i="1" dirty="0">
                <a:solidFill>
                  <a:schemeClr val="tx1"/>
                </a:solidFill>
              </a:rPr>
              <a:t>The Skywise ERM dashboard application is a tremendous addition to our ERM toolset… More and more users regularly prepare and facilitate risks &amp; opportunities reviews with the application.</a:t>
            </a:r>
            <a:endParaRPr lang="en-US" sz="1800" dirty="0"/>
          </a:p>
        </p:txBody>
      </p:sp>
      <p:sp>
        <p:nvSpPr>
          <p:cNvPr id="12" name="quote-1-who"/>
          <p:cNvSpPr txBox="1"/>
          <p:nvPr/>
        </p:nvSpPr>
        <p:spPr>
          <a:xfrm>
            <a:off x="4612538" y="5166360"/>
            <a:ext cx="2966618" cy="731520"/>
          </a:xfrm>
          <a:prstGeom prst="rect">
            <a:avLst/>
          </a:prstGeom>
          <a:noFill/>
          <a:ln/>
        </p:spPr>
        <p:txBody>
          <a:bodyPr wrap="square" lIns="0" tIns="0" rIns="0" bIns="0" rtlCol="0" anchor="b"/>
          <a:lstStyle/>
          <a:p>
            <a:pPr indent="0" marL="0">
              <a:buNone/>
            </a:pPr>
            <a:r>
              <a:rPr lang="en-US" sz="1400" b="1" dirty="0">
                <a:solidFill>
                  <a:schemeClr val="tx1"/>
                </a:solidFill>
              </a:rPr>
              <a:t>ERM stakeholder</a:t>
            </a:r>
            <a:endParaRPr lang="en-US" sz="1400" dirty="0"/>
          </a:p>
          <a:p>
            <a:pPr indent="0" marL="0">
              <a:buNone/>
            </a:pPr>
            <a:r>
              <a:rPr lang="en-US" sz="1200" dirty="0">
                <a:solidFill>
                  <a:schemeClr val="tx2"/>
                </a:solidFill>
              </a:rPr>
              <a:t>[Role]</a:t>
            </a:r>
            <a:endParaRPr lang="en-US" sz="1400" dirty="0"/>
          </a:p>
        </p:txBody>
      </p:sp>
      <p:sp>
        <p:nvSpPr>
          <p:cNvPr id="13" name="quote-2-card"/>
          <p:cNvSpPr/>
          <p:nvPr/>
        </p:nvSpPr>
        <p:spPr>
          <a:xfrm>
            <a:off x="8127797" y="1645920"/>
            <a:ext cx="3515258" cy="4480560"/>
          </a:xfrm>
          <a:prstGeom prst="roundRect">
            <a:avLst>
              <a:gd name="adj" fmla="val 3121"/>
            </a:avLst>
          </a:prstGeom>
          <a:solidFill>
            <a:schemeClr val="bg1"/>
          </a:solidFill>
          <a:ln/>
        </p:spPr>
      </p:sp>
      <p:sp>
        <p:nvSpPr>
          <p:cNvPr id="14" name="quote-2-mark"/>
          <p:cNvSpPr txBox="1"/>
          <p:nvPr/>
        </p:nvSpPr>
        <p:spPr>
          <a:xfrm>
            <a:off x="8402117" y="1783080"/>
            <a:ext cx="914400" cy="731520"/>
          </a:xfrm>
          <a:prstGeom prst="rect">
            <a:avLst/>
          </a:prstGeom>
          <a:noFill/>
          <a:ln/>
        </p:spPr>
        <p:txBody>
          <a:bodyPr wrap="square" lIns="0" tIns="0" rIns="0" bIns="0" rtlCol="0" anchor="t"/>
          <a:lstStyle/>
          <a:p>
            <a:pPr indent="0" marL="0">
              <a:buNone/>
            </a:pPr>
            <a:r>
              <a:rPr lang="en-US" sz="6000" b="1" dirty="0">
                <a:solidFill>
                  <a:schemeClr val="accent3"/>
                </a:solidFill>
              </a:rPr>
              <a:t>“</a:t>
            </a:r>
            <a:endParaRPr lang="en-US" sz="6000" dirty="0"/>
          </a:p>
        </p:txBody>
      </p:sp>
      <p:sp>
        <p:nvSpPr>
          <p:cNvPr id="15" name="quote-2-text"/>
          <p:cNvSpPr txBox="1"/>
          <p:nvPr/>
        </p:nvSpPr>
        <p:spPr>
          <a:xfrm>
            <a:off x="8402117" y="2514600"/>
            <a:ext cx="2966618" cy="2606040"/>
          </a:xfrm>
          <a:prstGeom prst="rect">
            <a:avLst/>
          </a:prstGeom>
          <a:noFill/>
          <a:ln/>
        </p:spPr>
        <p:txBody>
          <a:bodyPr wrap="square" lIns="0" tIns="0" rIns="0" bIns="0" rtlCol="0" anchor="t"/>
          <a:lstStyle/>
          <a:p>
            <a:pPr indent="0" marL="0">
              <a:buNone/>
            </a:pPr>
            <a:r>
              <a:rPr lang="en-US" sz="1800" i="1" dirty="0">
                <a:solidFill>
                  <a:schemeClr val="tx1"/>
                </a:solidFill>
              </a:rPr>
              <a:t>They built great new features that make navigation easier and give us a much clearer view of our R&amp;O data. Whenever bugs or issues came up, they fixed them quickly and efficiently.</a:t>
            </a:r>
            <a:endParaRPr lang="en-US" sz="1800" dirty="0"/>
          </a:p>
        </p:txBody>
      </p:sp>
      <p:sp>
        <p:nvSpPr>
          <p:cNvPr id="16" name="quote-2-who"/>
          <p:cNvSpPr txBox="1"/>
          <p:nvPr/>
        </p:nvSpPr>
        <p:spPr>
          <a:xfrm>
            <a:off x="8402117" y="5166360"/>
            <a:ext cx="2966618" cy="731520"/>
          </a:xfrm>
          <a:prstGeom prst="rect">
            <a:avLst/>
          </a:prstGeom>
          <a:noFill/>
          <a:ln/>
        </p:spPr>
        <p:txBody>
          <a:bodyPr wrap="square" lIns="0" tIns="0" rIns="0" bIns="0" rtlCol="0" anchor="b"/>
          <a:lstStyle/>
          <a:p>
            <a:pPr indent="0" marL="0">
              <a:buNone/>
            </a:pPr>
            <a:r>
              <a:rPr lang="en-US" sz="1400" b="1" dirty="0">
                <a:solidFill>
                  <a:schemeClr val="tx1"/>
                </a:solidFill>
              </a:rPr>
              <a:t>Risk and Opportunity Manager</a:t>
            </a:r>
            <a:endParaRPr lang="en-US" sz="1400" dirty="0"/>
          </a:p>
          <a:p>
            <a:pPr indent="0" marL="0">
              <a:buNone/>
            </a:pPr>
            <a:r>
              <a:rPr lang="en-US" sz="1200" dirty="0">
                <a:solidFill>
                  <a:schemeClr val="tx2"/>
                </a:solidFill>
              </a:rPr>
              <a:t>Airbus Operations GmbH, Hamburg</a:t>
            </a:r>
            <a:endParaRPr lang="en-US" sz="1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6"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childTnLst>
                          </p:cTn>
                        </p:par>
                        <p:par>
                          <p:cTn id="19" fill="hold">
                            <p:stCondLst>
                              <p:cond delay="600"/>
                            </p:stCondLst>
                            <p:childTnLst>
                              <p:par>
                                <p:cTn id="7" presetID="10" presetClass="entr" presetSubtype="0" fill="hold" grpId="0" nodeType="after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450"/>
                                        <p:tgtEl>
                                          <p:spTgt spid="5"/>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50"/>
                                        <p:tgtEl>
                                          <p:spTgt spid="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50"/>
                                        <p:tgtEl>
                                          <p:spTgt spid="8"/>
                                        </p:tgtEl>
                                      </p:cBhvr>
                                    </p:animEffect>
                                  </p:childTnLst>
                                </p:cTn>
                              </p:par>
                            </p:childTnLst>
                          </p:cTn>
                        </p:par>
                        <p:par>
                          <p:cTn id="32" fill="hold">
                            <p:stCondLst>
                              <p:cond delay="12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5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450"/>
                                        <p:tgtEl>
                                          <p:spTgt spid="1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50"/>
                                        <p:tgtEl>
                                          <p:spTgt spid="12"/>
                                        </p:tgtEl>
                                      </p:cBhvr>
                                    </p:animEffect>
                                  </p:childTnLst>
                                </p:cTn>
                              </p:par>
                            </p:childTnLst>
                          </p:cTn>
                        </p:par>
                        <p:par>
                          <p:cTn id="45" fill="hold">
                            <p:stCondLst>
                              <p:cond delay="1800"/>
                            </p:stCondLst>
                            <p:childTnLst>
                              <p:par>
                                <p:cTn id="33" presetID="10" presetClass="entr" presetSubtype="0" fill="hold" grpId="0" nodeType="after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5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5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5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5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STRATEGIC FIT · TEAMWORK</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Four 2026 objectives, one team effort</a:t>
            </a:r>
            <a:endParaRPr lang="en-US" sz="3600" dirty="0"/>
          </a:p>
        </p:txBody>
      </p:sp>
      <p:sp>
        <p:nvSpPr>
          <p:cNvPr id="4" name="flowhead-src"/>
          <p:cNvSpPr txBox="1"/>
          <p:nvPr/>
        </p:nvSpPr>
        <p:spPr>
          <a:xfrm>
            <a:off x="548640" y="1325880"/>
            <a:ext cx="2377440" cy="274320"/>
          </a:xfrm>
          <a:prstGeom prst="rect">
            <a:avLst/>
          </a:prstGeom>
          <a:noFill/>
          <a:ln/>
        </p:spPr>
        <p:txBody>
          <a:bodyPr wrap="square" lIns="0" tIns="0" rIns="0" bIns="0" rtlCol="0" anchor="t"/>
          <a:lstStyle/>
          <a:p>
            <a:pPr indent="0" marL="0">
              <a:buNone/>
            </a:pPr>
            <a:r>
              <a:rPr lang="en-US" sz="1100" b="1" spc="100" kern="0" dirty="0">
                <a:solidFill>
                  <a:schemeClr val="tx2"/>
                </a:solidFill>
              </a:rPr>
              <a:t>OUR PROJECT</a:t>
            </a:r>
            <a:endParaRPr lang="en-US" sz="1100" dirty="0"/>
          </a:p>
        </p:txBody>
      </p:sp>
      <p:sp>
        <p:nvSpPr>
          <p:cNvPr id="5" name="flowhead-ev"/>
          <p:cNvSpPr txBox="1"/>
          <p:nvPr/>
        </p:nvSpPr>
        <p:spPr>
          <a:xfrm>
            <a:off x="3429000" y="1325880"/>
            <a:ext cx="4069080" cy="274320"/>
          </a:xfrm>
          <a:prstGeom prst="rect">
            <a:avLst/>
          </a:prstGeom>
          <a:noFill/>
          <a:ln/>
        </p:spPr>
        <p:txBody>
          <a:bodyPr wrap="square" lIns="0" tIns="0" rIns="0" bIns="0" rtlCol="0" anchor="t"/>
          <a:lstStyle/>
          <a:p>
            <a:pPr indent="0" marL="0">
              <a:buNone/>
            </a:pPr>
            <a:r>
              <a:rPr lang="en-US" sz="1100" b="1" spc="100" kern="0" dirty="0">
                <a:solidFill>
                  <a:schemeClr val="tx2"/>
                </a:solidFill>
              </a:rPr>
              <a:t>EVIDENCE</a:t>
            </a:r>
            <a:endParaRPr lang="en-US" sz="1100" dirty="0"/>
          </a:p>
        </p:txBody>
      </p:sp>
      <p:sp>
        <p:nvSpPr>
          <p:cNvPr id="6" name="flowhead-obj"/>
          <p:cNvSpPr txBox="1"/>
          <p:nvPr/>
        </p:nvSpPr>
        <p:spPr>
          <a:xfrm>
            <a:off x="8001000" y="1325880"/>
            <a:ext cx="3639312" cy="274320"/>
          </a:xfrm>
          <a:prstGeom prst="rect">
            <a:avLst/>
          </a:prstGeom>
          <a:noFill/>
          <a:ln/>
        </p:spPr>
        <p:txBody>
          <a:bodyPr wrap="square" lIns="0" tIns="0" rIns="0" bIns="0" rtlCol="0" anchor="t"/>
          <a:lstStyle/>
          <a:p>
            <a:pPr indent="0" marL="0">
              <a:buNone/>
            </a:pPr>
            <a:r>
              <a:rPr lang="en-US" sz="1100" b="1" spc="100" kern="0" dirty="0">
                <a:solidFill>
                  <a:schemeClr val="tx2"/>
                </a:solidFill>
              </a:rPr>
              <a:t>2026 OBJECTIVE</a:t>
            </a:r>
            <a:endParaRPr lang="en-US" sz="1100" dirty="0"/>
          </a:p>
        </p:txBody>
      </p:sp>
      <p:sp>
        <p:nvSpPr>
          <p:cNvPr id="7" name="flow-src-box"/>
          <p:cNvSpPr/>
          <p:nvPr/>
        </p:nvSpPr>
        <p:spPr>
          <a:xfrm>
            <a:off x="548640" y="1691640"/>
            <a:ext cx="2377440" cy="3602736"/>
          </a:xfrm>
          <a:prstGeom prst="roundRect">
            <a:avLst>
              <a:gd name="adj" fmla="val 4615"/>
            </a:avLst>
          </a:prstGeom>
          <a:solidFill>
            <a:schemeClr val="accent4"/>
          </a:solidFill>
          <a:ln/>
        </p:spPr>
      </p:sp>
      <p:sp>
        <p:nvSpPr>
          <p:cNvPr id="8" name="flow-src-text"/>
          <p:cNvSpPr txBox="1"/>
          <p:nvPr/>
        </p:nvSpPr>
        <p:spPr>
          <a:xfrm>
            <a:off x="777240" y="1965960"/>
            <a:ext cx="1920240" cy="3054096"/>
          </a:xfrm>
          <a:prstGeom prst="rect">
            <a:avLst/>
          </a:prstGeom>
          <a:noFill/>
          <a:ln/>
        </p:spPr>
        <p:txBody>
          <a:bodyPr wrap="square" lIns="0" tIns="0" rIns="0" bIns="0" rtlCol="0" anchor="ctr"/>
          <a:lstStyle/>
          <a:p>
            <a:pPr indent="0" marL="0">
              <a:buNone/>
            </a:pPr>
            <a:r>
              <a:rPr lang="en-US" sz="2000" b="1" dirty="0">
                <a:solidFill>
                  <a:schemeClr val="bg1"/>
                </a:solidFill>
              </a:rPr>
              <a:t>AI-assisted migration of ERM</a:t>
            </a:r>
            <a:endParaRPr lang="en-US" sz="2000" dirty="0"/>
          </a:p>
          <a:p>
            <a:pPr indent="0" marL="0">
              <a:buNone/>
            </a:pPr>
            <a:r>
              <a:rPr lang="en-US" sz="1000" dirty="0">
                <a:solidFill>
                  <a:srgbClr val="000000"/>
                </a:solidFill>
              </a:rPr>
              <a:t> </a:t>
            </a:r>
            <a:endParaRPr lang="en-US" sz="2000" dirty="0"/>
          </a:p>
          <a:p>
            <a:pPr indent="0" marL="0">
              <a:buNone/>
            </a:pPr>
            <a:r>
              <a:rPr lang="en-US" sz="1400" dirty="0">
                <a:solidFill>
                  <a:schemeClr val="bg1"/>
                </a:solidFill>
              </a:rPr>
              <a:t>Slate to React + OSDK</a:t>
            </a:r>
            <a:endParaRPr lang="en-US" sz="2000" dirty="0"/>
          </a:p>
          <a:p>
            <a:pPr indent="0" marL="0">
              <a:buNone/>
            </a:pPr>
            <a:r>
              <a:rPr lang="en-US" sz="1400" dirty="0">
                <a:solidFill>
                  <a:schemeClr val="bg1"/>
                </a:solidFill>
              </a:rPr>
              <a:t>2 developers · 1 PI</a:t>
            </a:r>
            <a:endParaRPr lang="en-US" sz="2000" dirty="0"/>
          </a:p>
          <a:p>
            <a:pPr indent="0" marL="0">
              <a:buNone/>
            </a:pPr>
            <a:r>
              <a:rPr lang="en-US" sz="1400" dirty="0">
                <a:solidFill>
                  <a:schemeClr val="bg1"/>
                </a:solidFill>
              </a:rPr>
              <a:t>pack-project.ts</a:t>
            </a:r>
            <a:endParaRPr lang="en-US" sz="2000" dirty="0"/>
          </a:p>
        </p:txBody>
      </p:sp>
      <p:sp>
        <p:nvSpPr>
          <p:cNvPr id="9" name="flow-0-arrow1"/>
          <p:cNvSpPr/>
          <p:nvPr/>
        </p:nvSpPr>
        <p:spPr>
          <a:xfrm>
            <a:off x="2971800" y="2093976"/>
            <a:ext cx="411480" cy="0"/>
          </a:xfrm>
          <a:prstGeom prst="line">
            <a:avLst/>
          </a:prstGeom>
          <a:noFill/>
          <a:ln w="22225">
            <a:solidFill>
              <a:schemeClr val="tx2"/>
            </a:solidFill>
            <a:prstDash val="solid"/>
            <a:tailEnd type="triangle"/>
          </a:ln>
        </p:spPr>
      </p:sp>
      <p:sp>
        <p:nvSpPr>
          <p:cNvPr id="10" name="flow-0-evbox"/>
          <p:cNvSpPr/>
          <p:nvPr/>
        </p:nvSpPr>
        <p:spPr>
          <a:xfrm>
            <a:off x="3429000" y="1691640"/>
            <a:ext cx="4069080" cy="804672"/>
          </a:xfrm>
          <a:prstGeom prst="roundRect">
            <a:avLst>
              <a:gd name="adj" fmla="val 13636"/>
            </a:avLst>
          </a:prstGeom>
          <a:solidFill>
            <a:schemeClr val="bg2"/>
          </a:solidFill>
          <a:ln/>
        </p:spPr>
      </p:sp>
      <p:sp>
        <p:nvSpPr>
          <p:cNvPr id="11" name="flow-0-evtext"/>
          <p:cNvSpPr txBox="1"/>
          <p:nvPr/>
        </p:nvSpPr>
        <p:spPr>
          <a:xfrm>
            <a:off x="3611880" y="1783080"/>
            <a:ext cx="3703320" cy="621792"/>
          </a:xfrm>
          <a:prstGeom prst="rect">
            <a:avLst/>
          </a:prstGeom>
          <a:noFill/>
          <a:ln/>
        </p:spPr>
        <p:txBody>
          <a:bodyPr wrap="square" lIns="0" tIns="0" rIns="0" bIns="0" rtlCol="0" anchor="ctr"/>
          <a:lstStyle/>
          <a:p>
            <a:pPr indent="0" marL="0">
              <a:buNone/>
            </a:pPr>
            <a:r>
              <a:rPr lang="en-US" sz="1300" dirty="0">
                <a:solidFill>
                  <a:schemeClr val="tx1"/>
                </a:solidFill>
              </a:rPr>
              <a:t>AI read 8 Slate exports and the packed React code: 105 features recovered, 31 gaps found</a:t>
            </a:r>
            <a:endParaRPr lang="en-US" sz="1300" dirty="0"/>
          </a:p>
        </p:txBody>
      </p:sp>
      <p:sp>
        <p:nvSpPr>
          <p:cNvPr id="12" name="flow-0-arrow2"/>
          <p:cNvSpPr/>
          <p:nvPr/>
        </p:nvSpPr>
        <p:spPr>
          <a:xfrm>
            <a:off x="7543800" y="2093976"/>
            <a:ext cx="411480" cy="0"/>
          </a:xfrm>
          <a:prstGeom prst="line">
            <a:avLst/>
          </a:prstGeom>
          <a:noFill/>
          <a:ln w="22225">
            <a:solidFill>
              <a:schemeClr val="tx2"/>
            </a:solidFill>
            <a:prstDash val="solid"/>
            <a:tailEnd type="triangle"/>
          </a:ln>
        </p:spPr>
      </p:sp>
      <p:sp>
        <p:nvSpPr>
          <p:cNvPr id="13" name="flow-0-objbox"/>
          <p:cNvSpPr/>
          <p:nvPr/>
        </p:nvSpPr>
        <p:spPr>
          <a:xfrm>
            <a:off x="8001000" y="1691640"/>
            <a:ext cx="3639312" cy="804672"/>
          </a:xfrm>
          <a:prstGeom prst="roundRect">
            <a:avLst>
              <a:gd name="adj" fmla="val 13636"/>
            </a:avLst>
          </a:prstGeom>
          <a:solidFill>
            <a:schemeClr val="tx1"/>
          </a:solidFill>
          <a:ln/>
        </p:spPr>
      </p:sp>
      <p:sp>
        <p:nvSpPr>
          <p:cNvPr id="14" name="flow-0-objtext"/>
          <p:cNvSpPr txBox="1"/>
          <p:nvPr/>
        </p:nvSpPr>
        <p:spPr>
          <a:xfrm>
            <a:off x="8183880" y="1783080"/>
            <a:ext cx="3273552" cy="621792"/>
          </a:xfrm>
          <a:prstGeom prst="rect">
            <a:avLst/>
          </a:prstGeom>
          <a:noFill/>
          <a:ln/>
        </p:spPr>
        <p:txBody>
          <a:bodyPr wrap="square" lIns="0" tIns="0" rIns="0" bIns="0" rtlCol="0" anchor="ctr"/>
          <a:lstStyle/>
          <a:p>
            <a:pPr indent="0" marL="0">
              <a:buNone/>
            </a:pPr>
            <a:r>
              <a:rPr lang="en-US" sz="1400" b="1" dirty="0">
                <a:solidFill>
                  <a:schemeClr val="bg1"/>
                </a:solidFill>
              </a:rPr>
              <a:t>Leverage AI to solve business problems</a:t>
            </a:r>
            <a:endParaRPr lang="en-US" sz="1400" dirty="0"/>
          </a:p>
          <a:p>
            <a:pPr indent="0" marL="0">
              <a:buNone/>
            </a:pPr>
            <a:r>
              <a:rPr lang="en-US" sz="1100" dirty="0">
                <a:solidFill>
                  <a:schemeClr val="accent5"/>
                </a:solidFill>
              </a:rPr>
              <a:t>India TFO · Digital: democratise AI</a:t>
            </a:r>
            <a:endParaRPr lang="en-US" sz="1400" dirty="0"/>
          </a:p>
        </p:txBody>
      </p:sp>
      <p:sp>
        <p:nvSpPr>
          <p:cNvPr id="15" name="flow-1-arrow1"/>
          <p:cNvSpPr/>
          <p:nvPr/>
        </p:nvSpPr>
        <p:spPr>
          <a:xfrm>
            <a:off x="2971800" y="3026664"/>
            <a:ext cx="411480" cy="0"/>
          </a:xfrm>
          <a:prstGeom prst="line">
            <a:avLst/>
          </a:prstGeom>
          <a:noFill/>
          <a:ln w="22225">
            <a:solidFill>
              <a:schemeClr val="tx2"/>
            </a:solidFill>
            <a:prstDash val="solid"/>
            <a:tailEnd type="triangle"/>
          </a:ln>
        </p:spPr>
      </p:sp>
      <p:sp>
        <p:nvSpPr>
          <p:cNvPr id="16" name="flow-1-evbox"/>
          <p:cNvSpPr/>
          <p:nvPr/>
        </p:nvSpPr>
        <p:spPr>
          <a:xfrm>
            <a:off x="3429000" y="2624328"/>
            <a:ext cx="4069080" cy="804672"/>
          </a:xfrm>
          <a:prstGeom prst="roundRect">
            <a:avLst>
              <a:gd name="adj" fmla="val 13636"/>
            </a:avLst>
          </a:prstGeom>
          <a:solidFill>
            <a:schemeClr val="bg2"/>
          </a:solidFill>
          <a:ln/>
        </p:spPr>
      </p:sp>
      <p:sp>
        <p:nvSpPr>
          <p:cNvPr id="17" name="flow-1-evtext"/>
          <p:cNvSpPr txBox="1"/>
          <p:nvPr/>
        </p:nvSpPr>
        <p:spPr>
          <a:xfrm>
            <a:off x="3611880" y="2715768"/>
            <a:ext cx="3703320" cy="621792"/>
          </a:xfrm>
          <a:prstGeom prst="rect">
            <a:avLst/>
          </a:prstGeom>
          <a:noFill/>
          <a:ln/>
        </p:spPr>
        <p:txBody>
          <a:bodyPr wrap="square" lIns="0" tIns="0" rIns="0" bIns="0" rtlCol="0" anchor="ctr"/>
          <a:lstStyle/>
          <a:p>
            <a:pPr indent="0" marL="0">
              <a:buNone/>
            </a:pPr>
            <a:r>
              <a:rPr lang="en-US" sz="1300" dirty="0">
                <a:solidFill>
                  <a:schemeClr val="tx1"/>
                </a:solidFill>
              </a:rPr>
              <a:t>Delivered in 1 PI by 2 developers, about 76% less effort than a manual estimate</a:t>
            </a:r>
            <a:endParaRPr lang="en-US" sz="1300" dirty="0"/>
          </a:p>
        </p:txBody>
      </p:sp>
      <p:sp>
        <p:nvSpPr>
          <p:cNvPr id="18" name="flow-1-arrow2"/>
          <p:cNvSpPr/>
          <p:nvPr/>
        </p:nvSpPr>
        <p:spPr>
          <a:xfrm>
            <a:off x="7543800" y="3026664"/>
            <a:ext cx="411480" cy="0"/>
          </a:xfrm>
          <a:prstGeom prst="line">
            <a:avLst/>
          </a:prstGeom>
          <a:noFill/>
          <a:ln w="22225">
            <a:solidFill>
              <a:schemeClr val="tx2"/>
            </a:solidFill>
            <a:prstDash val="solid"/>
            <a:tailEnd type="triangle"/>
          </a:ln>
        </p:spPr>
      </p:sp>
      <p:sp>
        <p:nvSpPr>
          <p:cNvPr id="19" name="flow-1-objbox"/>
          <p:cNvSpPr/>
          <p:nvPr/>
        </p:nvSpPr>
        <p:spPr>
          <a:xfrm>
            <a:off x="8001000" y="2624328"/>
            <a:ext cx="3639312" cy="804672"/>
          </a:xfrm>
          <a:prstGeom prst="roundRect">
            <a:avLst>
              <a:gd name="adj" fmla="val 13636"/>
            </a:avLst>
          </a:prstGeom>
          <a:solidFill>
            <a:schemeClr val="tx1"/>
          </a:solidFill>
          <a:ln/>
        </p:spPr>
      </p:sp>
      <p:sp>
        <p:nvSpPr>
          <p:cNvPr id="20" name="flow-1-objtext"/>
          <p:cNvSpPr txBox="1"/>
          <p:nvPr/>
        </p:nvSpPr>
        <p:spPr>
          <a:xfrm>
            <a:off x="8183880" y="2715768"/>
            <a:ext cx="3273552" cy="621792"/>
          </a:xfrm>
          <a:prstGeom prst="rect">
            <a:avLst/>
          </a:prstGeom>
          <a:noFill/>
          <a:ln/>
        </p:spPr>
        <p:txBody>
          <a:bodyPr wrap="square" lIns="0" tIns="0" rIns="0" bIns="0" rtlCol="0" anchor="ctr"/>
          <a:lstStyle/>
          <a:p>
            <a:pPr indent="0" marL="0">
              <a:buNone/>
            </a:pPr>
            <a:r>
              <a:rPr lang="en-US" sz="1400" b="1" dirty="0">
                <a:solidFill>
                  <a:schemeClr val="bg1"/>
                </a:solidFill>
              </a:rPr>
              <a:t>Deliver on time, on cost, on quality</a:t>
            </a:r>
            <a:endParaRPr lang="en-US" sz="1400" dirty="0"/>
          </a:p>
          <a:p>
            <a:pPr indent="0" marL="0">
              <a:buNone/>
            </a:pPr>
            <a:r>
              <a:rPr lang="en-US" sz="1100" dirty="0">
                <a:solidFill>
                  <a:schemeClr val="accent5"/>
                </a:solidFill>
              </a:rPr>
              <a:t>Digital: optimise our digital resources</a:t>
            </a:r>
            <a:endParaRPr lang="en-US" sz="1400" dirty="0"/>
          </a:p>
        </p:txBody>
      </p:sp>
      <p:sp>
        <p:nvSpPr>
          <p:cNvPr id="21" name="flow-2-arrow1"/>
          <p:cNvSpPr/>
          <p:nvPr/>
        </p:nvSpPr>
        <p:spPr>
          <a:xfrm>
            <a:off x="2971800" y="3959352"/>
            <a:ext cx="411480" cy="0"/>
          </a:xfrm>
          <a:prstGeom prst="line">
            <a:avLst/>
          </a:prstGeom>
          <a:noFill/>
          <a:ln w="22225">
            <a:solidFill>
              <a:schemeClr val="tx2"/>
            </a:solidFill>
            <a:prstDash val="solid"/>
            <a:tailEnd type="triangle"/>
          </a:ln>
        </p:spPr>
      </p:sp>
      <p:sp>
        <p:nvSpPr>
          <p:cNvPr id="22" name="flow-2-evbox"/>
          <p:cNvSpPr/>
          <p:nvPr/>
        </p:nvSpPr>
        <p:spPr>
          <a:xfrm>
            <a:off x="3429000" y="3557016"/>
            <a:ext cx="4069080" cy="804672"/>
          </a:xfrm>
          <a:prstGeom prst="roundRect">
            <a:avLst>
              <a:gd name="adj" fmla="val 13636"/>
            </a:avLst>
          </a:prstGeom>
          <a:solidFill>
            <a:schemeClr val="bg2"/>
          </a:solidFill>
          <a:ln/>
        </p:spPr>
      </p:sp>
      <p:sp>
        <p:nvSpPr>
          <p:cNvPr id="23" name="flow-2-evtext"/>
          <p:cNvSpPr txBox="1"/>
          <p:nvPr/>
        </p:nvSpPr>
        <p:spPr>
          <a:xfrm>
            <a:off x="3611880" y="3648456"/>
            <a:ext cx="3703320" cy="621792"/>
          </a:xfrm>
          <a:prstGeom prst="rect">
            <a:avLst/>
          </a:prstGeom>
          <a:noFill/>
          <a:ln/>
        </p:spPr>
        <p:txBody>
          <a:bodyPr wrap="square" lIns="0" tIns="0" rIns="0" bIns="0" rtlCol="0" anchor="ctr"/>
          <a:lstStyle/>
          <a:p>
            <a:pPr indent="0" marL="0">
              <a:buNone/>
            </a:pPr>
            <a:r>
              <a:rPr lang="en-US" sz="1300" dirty="0">
                <a:solidFill>
                  <a:schemeClr val="tx1"/>
                </a:solidFill>
              </a:rPr>
              <a:t>All 105 features tracked for parity; ERM rebuilt on a standard, maintainable stack, ready to leave Slate</a:t>
            </a:r>
            <a:endParaRPr lang="en-US" sz="1300" dirty="0"/>
          </a:p>
        </p:txBody>
      </p:sp>
      <p:sp>
        <p:nvSpPr>
          <p:cNvPr id="24" name="flow-2-arrow2"/>
          <p:cNvSpPr/>
          <p:nvPr/>
        </p:nvSpPr>
        <p:spPr>
          <a:xfrm>
            <a:off x="7543800" y="3959352"/>
            <a:ext cx="411480" cy="0"/>
          </a:xfrm>
          <a:prstGeom prst="line">
            <a:avLst/>
          </a:prstGeom>
          <a:noFill/>
          <a:ln w="22225">
            <a:solidFill>
              <a:schemeClr val="tx2"/>
            </a:solidFill>
            <a:prstDash val="solid"/>
            <a:tailEnd type="triangle"/>
          </a:ln>
        </p:spPr>
      </p:sp>
      <p:sp>
        <p:nvSpPr>
          <p:cNvPr id="25" name="flow-2-objbox"/>
          <p:cNvSpPr/>
          <p:nvPr/>
        </p:nvSpPr>
        <p:spPr>
          <a:xfrm>
            <a:off x="8001000" y="3557016"/>
            <a:ext cx="3639312" cy="804672"/>
          </a:xfrm>
          <a:prstGeom prst="roundRect">
            <a:avLst>
              <a:gd name="adj" fmla="val 13636"/>
            </a:avLst>
          </a:prstGeom>
          <a:solidFill>
            <a:schemeClr val="tx1"/>
          </a:solidFill>
          <a:ln/>
        </p:spPr>
      </p:sp>
      <p:sp>
        <p:nvSpPr>
          <p:cNvPr id="26" name="flow-2-objtext"/>
          <p:cNvSpPr txBox="1"/>
          <p:nvPr/>
        </p:nvSpPr>
        <p:spPr>
          <a:xfrm>
            <a:off x="8183880" y="3648456"/>
            <a:ext cx="3273552" cy="621792"/>
          </a:xfrm>
          <a:prstGeom prst="rect">
            <a:avLst/>
          </a:prstGeom>
          <a:noFill/>
          <a:ln/>
        </p:spPr>
        <p:txBody>
          <a:bodyPr wrap="square" lIns="0" tIns="0" rIns="0" bIns="0" rtlCol="0" anchor="ctr"/>
          <a:lstStyle/>
          <a:p>
            <a:pPr indent="0" marL="0">
              <a:buNone/>
            </a:pPr>
            <a:r>
              <a:rPr lang="en-US" sz="1400" b="1" dirty="0">
                <a:solidFill>
                  <a:schemeClr val="bg1"/>
                </a:solidFill>
              </a:rPr>
              <a:t>Ensure our operational performance</a:t>
            </a:r>
            <a:endParaRPr lang="en-US" sz="1400" dirty="0"/>
          </a:p>
          <a:p>
            <a:pPr indent="0" marL="0">
              <a:buNone/>
            </a:pPr>
            <a:r>
              <a:rPr lang="en-US" sz="1100" dirty="0">
                <a:solidFill>
                  <a:schemeClr val="accent5"/>
                </a:solidFill>
              </a:rPr>
              <a:t>Digital: availability of systems for operations</a:t>
            </a:r>
            <a:endParaRPr lang="en-US" sz="1400" dirty="0"/>
          </a:p>
        </p:txBody>
      </p:sp>
      <p:sp>
        <p:nvSpPr>
          <p:cNvPr id="27" name="flow-3-arrow1"/>
          <p:cNvSpPr/>
          <p:nvPr/>
        </p:nvSpPr>
        <p:spPr>
          <a:xfrm>
            <a:off x="2971800" y="4892040"/>
            <a:ext cx="411480" cy="0"/>
          </a:xfrm>
          <a:prstGeom prst="line">
            <a:avLst/>
          </a:prstGeom>
          <a:noFill/>
          <a:ln w="22225">
            <a:solidFill>
              <a:schemeClr val="tx2"/>
            </a:solidFill>
            <a:prstDash val="solid"/>
            <a:tailEnd type="triangle"/>
          </a:ln>
        </p:spPr>
      </p:sp>
      <p:sp>
        <p:nvSpPr>
          <p:cNvPr id="28" name="flow-3-evbox"/>
          <p:cNvSpPr/>
          <p:nvPr/>
        </p:nvSpPr>
        <p:spPr>
          <a:xfrm>
            <a:off x="3429000" y="4489704"/>
            <a:ext cx="4069080" cy="804672"/>
          </a:xfrm>
          <a:prstGeom prst="roundRect">
            <a:avLst>
              <a:gd name="adj" fmla="val 13636"/>
            </a:avLst>
          </a:prstGeom>
          <a:solidFill>
            <a:schemeClr val="bg2"/>
          </a:solidFill>
          <a:ln/>
        </p:spPr>
      </p:sp>
      <p:sp>
        <p:nvSpPr>
          <p:cNvPr id="29" name="flow-3-evtext"/>
          <p:cNvSpPr txBox="1"/>
          <p:nvPr/>
        </p:nvSpPr>
        <p:spPr>
          <a:xfrm>
            <a:off x="3611880" y="4581144"/>
            <a:ext cx="3703320" cy="621792"/>
          </a:xfrm>
          <a:prstGeom prst="rect">
            <a:avLst/>
          </a:prstGeom>
          <a:noFill/>
          <a:ln/>
        </p:spPr>
        <p:txBody>
          <a:bodyPr wrap="square" lIns="0" tIns="0" rIns="0" bIns="0" rtlCol="0" anchor="ctr"/>
          <a:lstStyle/>
          <a:p>
            <a:pPr indent="0" marL="0">
              <a:buNone/>
            </a:pPr>
            <a:r>
              <a:rPr lang="en-US" sz="1300" dirty="0">
                <a:solidFill>
                  <a:schemeClr val="tx1"/>
                </a:solidFill>
              </a:rPr>
              <a:t>pack-project.ts and the playbook let any team repeat the method</a:t>
            </a:r>
            <a:endParaRPr lang="en-US" sz="1300" dirty="0"/>
          </a:p>
        </p:txBody>
      </p:sp>
      <p:sp>
        <p:nvSpPr>
          <p:cNvPr id="30" name="flow-3-arrow2"/>
          <p:cNvSpPr/>
          <p:nvPr/>
        </p:nvSpPr>
        <p:spPr>
          <a:xfrm>
            <a:off x="7543800" y="4892040"/>
            <a:ext cx="411480" cy="0"/>
          </a:xfrm>
          <a:prstGeom prst="line">
            <a:avLst/>
          </a:prstGeom>
          <a:noFill/>
          <a:ln w="22225">
            <a:solidFill>
              <a:schemeClr val="tx2"/>
            </a:solidFill>
            <a:prstDash val="solid"/>
            <a:tailEnd type="triangle"/>
          </a:ln>
        </p:spPr>
      </p:sp>
      <p:sp>
        <p:nvSpPr>
          <p:cNvPr id="31" name="flow-3-objbox"/>
          <p:cNvSpPr/>
          <p:nvPr/>
        </p:nvSpPr>
        <p:spPr>
          <a:xfrm>
            <a:off x="8001000" y="4489704"/>
            <a:ext cx="3639312" cy="804672"/>
          </a:xfrm>
          <a:prstGeom prst="roundRect">
            <a:avLst>
              <a:gd name="adj" fmla="val 13636"/>
            </a:avLst>
          </a:prstGeom>
          <a:solidFill>
            <a:schemeClr val="tx1"/>
          </a:solidFill>
          <a:ln/>
        </p:spPr>
      </p:sp>
      <p:sp>
        <p:nvSpPr>
          <p:cNvPr id="32" name="flow-3-objtext"/>
          <p:cNvSpPr txBox="1"/>
          <p:nvPr/>
        </p:nvSpPr>
        <p:spPr>
          <a:xfrm>
            <a:off x="8183880" y="4581144"/>
            <a:ext cx="3273552" cy="621792"/>
          </a:xfrm>
          <a:prstGeom prst="rect">
            <a:avLst/>
          </a:prstGeom>
          <a:noFill/>
          <a:ln/>
        </p:spPr>
        <p:txBody>
          <a:bodyPr wrap="square" lIns="0" tIns="0" rIns="0" bIns="0" rtlCol="0" anchor="ctr"/>
          <a:lstStyle/>
          <a:p>
            <a:pPr indent="0" marL="0">
              <a:buNone/>
            </a:pPr>
            <a:r>
              <a:rPr lang="en-US" sz="1400" b="1" dirty="0">
                <a:solidFill>
                  <a:schemeClr val="bg1"/>
                </a:solidFill>
              </a:rPr>
              <a:t>Grow digital acumen and competencies</a:t>
            </a:r>
            <a:endParaRPr lang="en-US" sz="1400" dirty="0"/>
          </a:p>
          <a:p>
            <a:pPr indent="0" marL="0">
              <a:buNone/>
            </a:pPr>
            <a:r>
              <a:rPr lang="en-US" sz="1100" dirty="0">
                <a:solidFill>
                  <a:schemeClr val="accent5"/>
                </a:solidFill>
              </a:rPr>
              <a:t>Digital: develop our people · India TFO</a:t>
            </a:r>
            <a:endParaRPr lang="en-US" sz="1400" dirty="0"/>
          </a:p>
        </p:txBody>
      </p:sp>
      <p:sp>
        <p:nvSpPr>
          <p:cNvPr id="33" name="team-card"/>
          <p:cNvSpPr/>
          <p:nvPr/>
        </p:nvSpPr>
        <p:spPr>
          <a:xfrm>
            <a:off x="548640" y="5477256"/>
            <a:ext cx="11094415" cy="969264"/>
          </a:xfrm>
          <a:prstGeom prst="roundRect">
            <a:avLst>
              <a:gd name="adj" fmla="val 11321"/>
            </a:avLst>
          </a:prstGeom>
          <a:solidFill>
            <a:schemeClr val="bg1"/>
          </a:solidFill>
          <a:ln/>
        </p:spPr>
      </p:sp>
      <p:sp>
        <p:nvSpPr>
          <p:cNvPr id="34" name="team-text"/>
          <p:cNvSpPr txBox="1"/>
          <p:nvPr/>
        </p:nvSpPr>
        <p:spPr>
          <a:xfrm>
            <a:off x="822960" y="5477256"/>
            <a:ext cx="10545775" cy="969264"/>
          </a:xfrm>
          <a:prstGeom prst="rect">
            <a:avLst/>
          </a:prstGeom>
          <a:noFill/>
          <a:ln/>
        </p:spPr>
        <p:txBody>
          <a:bodyPr wrap="square" lIns="0" tIns="0" rIns="0" bIns="0" rtlCol="0" anchor="ctr"/>
          <a:lstStyle/>
          <a:p>
            <a:pPr indent="0" marL="0">
              <a:buNone/>
            </a:pPr>
            <a:r>
              <a:rPr lang="en-US" sz="1100" b="1" spc="200" kern="0" dirty="0">
                <a:solidFill>
                  <a:schemeClr val="accent3"/>
                </a:solidFill>
              </a:rPr>
              <a:t>BUILT TOGETHER  </a:t>
            </a:r>
            <a:pPr indent="0" marL="0">
              <a:buNone/>
            </a:pPr>
            <a:r>
              <a:rPr lang="en-US" sz="1300" dirty="0">
                <a:solidFill>
                  <a:schemeClr val="tx1"/>
                </a:solidFill>
              </a:rPr>
              <a:t>Business users confirmed the feature catalogue · Data and security owners kept restricted views intact · Backend and frontend fixes delivered together</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3"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7"/>
                                        </p:tgtEl>
                                        <p:attrNameLst>
                                          <p:attrName>style.visibility</p:attrName>
                                        </p:attrNameLst>
                                      </p:cBhvr>
                                      <p:to>
                                        <p:strVal val="visible"/>
                                      </p:to>
                                    </p:set>
                                    <p:animEffect transition="in" filter="fade">
                                      <p:cBhvr>
                                        <p:cTn id="5" dur="450"/>
                                        <p:tgtEl>
                                          <p:spTgt spid="7"/>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50"/>
                                        <p:tgtEl>
                                          <p:spTgt spid="8"/>
                                        </p:tgtEl>
                                      </p:cBhvr>
                                    </p:animEffect>
                                  </p:childTnLst>
                                </p:cTn>
                              </p:par>
                            </p:childTnLst>
                          </p:cTn>
                        </p:par>
                        <p:par>
                          <p:cTn id="28" fill="hold">
                            <p:stCondLst>
                              <p:cond delay="1100"/>
                            </p:stCondLst>
                            <p:childTnLst>
                              <p:par>
                                <p:cTn id="10" presetID="22" presetClass="entr" presetSubtype="8" fill="hold" grpId="0" nodeType="after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450"/>
                                        <p:tgtEl>
                                          <p:spTgt spid="9"/>
                                        </p:tgtEl>
                                      </p:cBhvr>
                                    </p:animEffect>
                                  </p:childTnLst>
                                </p:cTn>
                              </p:par>
                              <p:par>
                                <p:cTn id="13" presetID="10" presetClass="entr" presetSubtype="0" fill="hold" grpId="0" nodeType="withEffect">
                                  <p:stCondLst>
                                    <p:cond delay="25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450"/>
                                        <p:tgtEl>
                                          <p:spTgt spid="10"/>
                                        </p:tgtEl>
                                      </p:cBhvr>
                                    </p:animEffect>
                                  </p:childTnLst>
                                </p:cTn>
                              </p:par>
                              <p:par>
                                <p:cTn id="16" presetID="10" presetClass="entr" presetSubtype="0" fill="hold" grpId="0" nodeType="withEffect">
                                  <p:stCondLst>
                                    <p:cond delay="25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450"/>
                                        <p:tgtEl>
                                          <p:spTgt spid="11"/>
                                        </p:tgtEl>
                                      </p:cBhvr>
                                    </p:animEffect>
                                  </p:childTnLst>
                                </p:cTn>
                              </p:par>
                              <p:par>
                                <p:cTn id="19" presetID="22" presetClass="entr" presetSubtype="8" fill="hold" grpId="0" nodeType="withEffect">
                                  <p:stCondLst>
                                    <p:cond delay="550"/>
                                  </p:stCondLst>
                                  <p:childTnLst>
                                    <p:set>
                                      <p:cBhvr>
                                        <p:cTn id="20" dur="1" fill="hold">
                                          <p:stCondLst>
                                            <p:cond delay="0"/>
                                          </p:stCondLst>
                                        </p:cTn>
                                        <p:tgtEl>
                                          <p:spTgt spid="12"/>
                                        </p:tgtEl>
                                        <p:attrNameLst>
                                          <p:attrName>style.visibility</p:attrName>
                                        </p:attrNameLst>
                                      </p:cBhvr>
                                      <p:to>
                                        <p:strVal val="visible"/>
                                      </p:to>
                                    </p:set>
                                    <p:animEffect transition="in" filter="wipe(left)">
                                      <p:cBhvr>
                                        <p:cTn id="21" dur="450"/>
                                        <p:tgtEl>
                                          <p:spTgt spid="12"/>
                                        </p:tgtEl>
                                      </p:cBhvr>
                                    </p:animEffect>
                                  </p:childTnLst>
                                </p:cTn>
                              </p:par>
                              <p:par>
                                <p:cTn id="22" presetID="10" presetClass="entr" presetSubtype="0" fill="hold" grpId="0" nodeType="withEffect">
                                  <p:stCondLst>
                                    <p:cond delay="80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50"/>
                                        <p:tgtEl>
                                          <p:spTgt spid="13"/>
                                        </p:tgtEl>
                                      </p:cBhvr>
                                    </p:animEffect>
                                  </p:childTnLst>
                                </p:cTn>
                              </p:par>
                              <p:par>
                                <p:cTn id="25" presetID="10" presetClass="entr" presetSubtype="0" fill="hold" grpId="0" nodeType="withEffect">
                                  <p:stCondLst>
                                    <p:cond delay="800"/>
                                  </p:stCondLst>
                                  <p:childTnLst>
                                    <p:set>
                                      <p:cBhvr>
                                        <p:cTn id="26" dur="1" fill="hold">
                                          <p:stCondLst>
                                            <p:cond delay="0"/>
                                          </p:stCondLst>
                                        </p:cTn>
                                        <p:tgtEl>
                                          <p:spTgt spid="14"/>
                                        </p:tgtEl>
                                        <p:attrNameLst>
                                          <p:attrName>style.visibility</p:attrName>
                                        </p:attrNameLst>
                                      </p:cBhvr>
                                      <p:to>
                                        <p:strVal val="visible"/>
                                      </p:to>
                                    </p:set>
                                    <p:animEffect transition="in" filter="fade">
                                      <p:cBhvr>
                                        <p:cTn id="27" dur="450"/>
                                        <p:tgtEl>
                                          <p:spTgt spid="14"/>
                                        </p:tgtEl>
                                      </p:cBhvr>
                                    </p:animEffect>
                                  </p:childTnLst>
                                </p:cTn>
                              </p:par>
                            </p:childTnLst>
                          </p:cTn>
                        </p:par>
                        <p:par>
                          <p:cTn id="47" fill="hold">
                            <p:stCondLst>
                              <p:cond delay="2200"/>
                            </p:stCondLst>
                            <p:childTnLst>
                              <p:par>
                                <p:cTn id="29" presetID="22" presetClass="entr" presetSubtype="8" fill="hold" grpId="0" nodeType="after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wipe(left)">
                                      <p:cBhvr>
                                        <p:cTn id="31" dur="450"/>
                                        <p:tgtEl>
                                          <p:spTgt spid="15"/>
                                        </p:tgtEl>
                                      </p:cBhvr>
                                    </p:animEffect>
                                  </p:childTnLst>
                                </p:cTn>
                              </p:par>
                              <p:par>
                                <p:cTn id="32" presetID="10" presetClass="entr" presetSubtype="0" fill="hold" grpId="0" nodeType="withEffect">
                                  <p:stCondLst>
                                    <p:cond delay="25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450"/>
                                        <p:tgtEl>
                                          <p:spTgt spid="16"/>
                                        </p:tgtEl>
                                      </p:cBhvr>
                                    </p:animEffect>
                                  </p:childTnLst>
                                </p:cTn>
                              </p:par>
                              <p:par>
                                <p:cTn id="35" presetID="10" presetClass="entr" presetSubtype="0" fill="hold" grpId="0" nodeType="withEffect">
                                  <p:stCondLst>
                                    <p:cond delay="25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450"/>
                                        <p:tgtEl>
                                          <p:spTgt spid="17"/>
                                        </p:tgtEl>
                                      </p:cBhvr>
                                    </p:animEffect>
                                  </p:childTnLst>
                                </p:cTn>
                              </p:par>
                              <p:par>
                                <p:cTn id="38" presetID="22" presetClass="entr" presetSubtype="8" fill="hold" grpId="0" nodeType="withEffect">
                                  <p:stCondLst>
                                    <p:cond delay="550"/>
                                  </p:stCondLst>
                                  <p:childTnLst>
                                    <p:set>
                                      <p:cBhvr>
                                        <p:cTn id="39" dur="1" fill="hold">
                                          <p:stCondLst>
                                            <p:cond delay="0"/>
                                          </p:stCondLst>
                                        </p:cTn>
                                        <p:tgtEl>
                                          <p:spTgt spid="18"/>
                                        </p:tgtEl>
                                        <p:attrNameLst>
                                          <p:attrName>style.visibility</p:attrName>
                                        </p:attrNameLst>
                                      </p:cBhvr>
                                      <p:to>
                                        <p:strVal val="visible"/>
                                      </p:to>
                                    </p:set>
                                    <p:animEffect transition="in" filter="wipe(left)">
                                      <p:cBhvr>
                                        <p:cTn id="40" dur="450"/>
                                        <p:tgtEl>
                                          <p:spTgt spid="18"/>
                                        </p:tgtEl>
                                      </p:cBhvr>
                                    </p:animEffect>
                                  </p:childTnLst>
                                </p:cTn>
                              </p:par>
                              <p:par>
                                <p:cTn id="41" presetID="10" presetClass="entr" presetSubtype="0" fill="hold" grpId="0" nodeType="withEffect">
                                  <p:stCondLst>
                                    <p:cond delay="800"/>
                                  </p:stCondLst>
                                  <p:childTnLst>
                                    <p:set>
                                      <p:cBhvr>
                                        <p:cTn id="42" dur="1" fill="hold">
                                          <p:stCondLst>
                                            <p:cond delay="0"/>
                                          </p:stCondLst>
                                        </p:cTn>
                                        <p:tgtEl>
                                          <p:spTgt spid="19"/>
                                        </p:tgtEl>
                                        <p:attrNameLst>
                                          <p:attrName>style.visibility</p:attrName>
                                        </p:attrNameLst>
                                      </p:cBhvr>
                                      <p:to>
                                        <p:strVal val="visible"/>
                                      </p:to>
                                    </p:set>
                                    <p:animEffect transition="in" filter="fade">
                                      <p:cBhvr>
                                        <p:cTn id="43" dur="450"/>
                                        <p:tgtEl>
                                          <p:spTgt spid="19"/>
                                        </p:tgtEl>
                                      </p:cBhvr>
                                    </p:animEffect>
                                  </p:childTnLst>
                                </p:cTn>
                              </p:par>
                              <p:par>
                                <p:cTn id="44" presetID="10" presetClass="entr" presetSubtype="0" fill="hold" grpId="0" nodeType="withEffect">
                                  <p:stCondLst>
                                    <p:cond delay="80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450"/>
                                        <p:tgtEl>
                                          <p:spTgt spid="20"/>
                                        </p:tgtEl>
                                      </p:cBhvr>
                                    </p:animEffect>
                                  </p:childTnLst>
                                </p:cTn>
                              </p:par>
                            </p:childTnLst>
                          </p:cTn>
                        </p:par>
                        <p:par>
                          <p:cTn id="66" fill="hold">
                            <p:stCondLst>
                              <p:cond delay="3300"/>
                            </p:stCondLst>
                            <p:childTnLst>
                              <p:par>
                                <p:cTn id="48" presetID="22" presetClass="entr" presetSubtype="8" fill="hold" grpId="0" nodeType="afterEffect">
                                  <p:stCondLst>
                                    <p:cond delay="0"/>
                                  </p:stCondLst>
                                  <p:childTnLst>
                                    <p:set>
                                      <p:cBhvr>
                                        <p:cTn id="49" dur="1" fill="hold">
                                          <p:stCondLst>
                                            <p:cond delay="0"/>
                                          </p:stCondLst>
                                        </p:cTn>
                                        <p:tgtEl>
                                          <p:spTgt spid="21"/>
                                        </p:tgtEl>
                                        <p:attrNameLst>
                                          <p:attrName>style.visibility</p:attrName>
                                        </p:attrNameLst>
                                      </p:cBhvr>
                                      <p:to>
                                        <p:strVal val="visible"/>
                                      </p:to>
                                    </p:set>
                                    <p:animEffect transition="in" filter="wipe(left)">
                                      <p:cBhvr>
                                        <p:cTn id="50" dur="450"/>
                                        <p:tgtEl>
                                          <p:spTgt spid="21"/>
                                        </p:tgtEl>
                                      </p:cBhvr>
                                    </p:animEffect>
                                  </p:childTnLst>
                                </p:cTn>
                              </p:par>
                              <p:par>
                                <p:cTn id="51" presetID="10" presetClass="entr" presetSubtype="0" fill="hold" grpId="0" nodeType="withEffect">
                                  <p:stCondLst>
                                    <p:cond delay="250"/>
                                  </p:stCondLst>
                                  <p:childTnLst>
                                    <p:set>
                                      <p:cBhvr>
                                        <p:cTn id="52" dur="1" fill="hold">
                                          <p:stCondLst>
                                            <p:cond delay="0"/>
                                          </p:stCondLst>
                                        </p:cTn>
                                        <p:tgtEl>
                                          <p:spTgt spid="22"/>
                                        </p:tgtEl>
                                        <p:attrNameLst>
                                          <p:attrName>style.visibility</p:attrName>
                                        </p:attrNameLst>
                                      </p:cBhvr>
                                      <p:to>
                                        <p:strVal val="visible"/>
                                      </p:to>
                                    </p:set>
                                    <p:animEffect transition="in" filter="fade">
                                      <p:cBhvr>
                                        <p:cTn id="53" dur="450"/>
                                        <p:tgtEl>
                                          <p:spTgt spid="22"/>
                                        </p:tgtEl>
                                      </p:cBhvr>
                                    </p:animEffect>
                                  </p:childTnLst>
                                </p:cTn>
                              </p:par>
                              <p:par>
                                <p:cTn id="54" presetID="10" presetClass="entr" presetSubtype="0" fill="hold" grpId="0" nodeType="withEffect">
                                  <p:stCondLst>
                                    <p:cond delay="250"/>
                                  </p:stCondLst>
                                  <p:childTnLst>
                                    <p:set>
                                      <p:cBhvr>
                                        <p:cTn id="55" dur="1" fill="hold">
                                          <p:stCondLst>
                                            <p:cond delay="0"/>
                                          </p:stCondLst>
                                        </p:cTn>
                                        <p:tgtEl>
                                          <p:spTgt spid="23"/>
                                        </p:tgtEl>
                                        <p:attrNameLst>
                                          <p:attrName>style.visibility</p:attrName>
                                        </p:attrNameLst>
                                      </p:cBhvr>
                                      <p:to>
                                        <p:strVal val="visible"/>
                                      </p:to>
                                    </p:set>
                                    <p:animEffect transition="in" filter="fade">
                                      <p:cBhvr>
                                        <p:cTn id="56" dur="450"/>
                                        <p:tgtEl>
                                          <p:spTgt spid="23"/>
                                        </p:tgtEl>
                                      </p:cBhvr>
                                    </p:animEffect>
                                  </p:childTnLst>
                                </p:cTn>
                              </p:par>
                              <p:par>
                                <p:cTn id="57" presetID="22" presetClass="entr" presetSubtype="8" fill="hold" grpId="0" nodeType="withEffect">
                                  <p:stCondLst>
                                    <p:cond delay="550"/>
                                  </p:stCondLst>
                                  <p:childTnLst>
                                    <p:set>
                                      <p:cBhvr>
                                        <p:cTn id="58" dur="1" fill="hold">
                                          <p:stCondLst>
                                            <p:cond delay="0"/>
                                          </p:stCondLst>
                                        </p:cTn>
                                        <p:tgtEl>
                                          <p:spTgt spid="24"/>
                                        </p:tgtEl>
                                        <p:attrNameLst>
                                          <p:attrName>style.visibility</p:attrName>
                                        </p:attrNameLst>
                                      </p:cBhvr>
                                      <p:to>
                                        <p:strVal val="visible"/>
                                      </p:to>
                                    </p:set>
                                    <p:animEffect transition="in" filter="wipe(left)">
                                      <p:cBhvr>
                                        <p:cTn id="59" dur="450"/>
                                        <p:tgtEl>
                                          <p:spTgt spid="24"/>
                                        </p:tgtEl>
                                      </p:cBhvr>
                                    </p:animEffect>
                                  </p:childTnLst>
                                </p:cTn>
                              </p:par>
                              <p:par>
                                <p:cTn id="60" presetID="10" presetClass="entr" presetSubtype="0" fill="hold" grpId="0" nodeType="withEffect">
                                  <p:stCondLst>
                                    <p:cond delay="800"/>
                                  </p:stCondLst>
                                  <p:childTnLst>
                                    <p:set>
                                      <p:cBhvr>
                                        <p:cTn id="61" dur="1" fill="hold">
                                          <p:stCondLst>
                                            <p:cond delay="0"/>
                                          </p:stCondLst>
                                        </p:cTn>
                                        <p:tgtEl>
                                          <p:spTgt spid="25"/>
                                        </p:tgtEl>
                                        <p:attrNameLst>
                                          <p:attrName>style.visibility</p:attrName>
                                        </p:attrNameLst>
                                      </p:cBhvr>
                                      <p:to>
                                        <p:strVal val="visible"/>
                                      </p:to>
                                    </p:set>
                                    <p:animEffect transition="in" filter="fade">
                                      <p:cBhvr>
                                        <p:cTn id="62" dur="450"/>
                                        <p:tgtEl>
                                          <p:spTgt spid="25"/>
                                        </p:tgtEl>
                                      </p:cBhvr>
                                    </p:animEffect>
                                  </p:childTnLst>
                                </p:cTn>
                              </p:par>
                              <p:par>
                                <p:cTn id="63" presetID="10" presetClass="entr" presetSubtype="0" fill="hold" grpId="0" nodeType="withEffect">
                                  <p:stCondLst>
                                    <p:cond delay="800"/>
                                  </p:stCondLst>
                                  <p:childTnLst>
                                    <p:set>
                                      <p:cBhvr>
                                        <p:cTn id="64" dur="1" fill="hold">
                                          <p:stCondLst>
                                            <p:cond delay="0"/>
                                          </p:stCondLst>
                                        </p:cTn>
                                        <p:tgtEl>
                                          <p:spTgt spid="26"/>
                                        </p:tgtEl>
                                        <p:attrNameLst>
                                          <p:attrName>style.visibility</p:attrName>
                                        </p:attrNameLst>
                                      </p:cBhvr>
                                      <p:to>
                                        <p:strVal val="visible"/>
                                      </p:to>
                                    </p:set>
                                    <p:animEffect transition="in" filter="fade">
                                      <p:cBhvr>
                                        <p:cTn id="65" dur="450"/>
                                        <p:tgtEl>
                                          <p:spTgt spid="26"/>
                                        </p:tgtEl>
                                      </p:cBhvr>
                                    </p:animEffect>
                                  </p:childTnLst>
                                </p:cTn>
                              </p:par>
                            </p:childTnLst>
                          </p:cTn>
                        </p:par>
                        <p:par>
                          <p:cTn id="85" fill="hold">
                            <p:stCondLst>
                              <p:cond delay="4400"/>
                            </p:stCondLst>
                            <p:childTnLst>
                              <p:par>
                                <p:cTn id="67" presetID="22" presetClass="entr" presetSubtype="8" fill="hold" grpId="0" nodeType="afterEffect">
                                  <p:stCondLst>
                                    <p:cond delay="0"/>
                                  </p:stCondLst>
                                  <p:childTnLst>
                                    <p:set>
                                      <p:cBhvr>
                                        <p:cTn id="68" dur="1" fill="hold">
                                          <p:stCondLst>
                                            <p:cond delay="0"/>
                                          </p:stCondLst>
                                        </p:cTn>
                                        <p:tgtEl>
                                          <p:spTgt spid="27"/>
                                        </p:tgtEl>
                                        <p:attrNameLst>
                                          <p:attrName>style.visibility</p:attrName>
                                        </p:attrNameLst>
                                      </p:cBhvr>
                                      <p:to>
                                        <p:strVal val="visible"/>
                                      </p:to>
                                    </p:set>
                                    <p:animEffect transition="in" filter="wipe(left)">
                                      <p:cBhvr>
                                        <p:cTn id="69" dur="450"/>
                                        <p:tgtEl>
                                          <p:spTgt spid="27"/>
                                        </p:tgtEl>
                                      </p:cBhvr>
                                    </p:animEffect>
                                  </p:childTnLst>
                                </p:cTn>
                              </p:par>
                              <p:par>
                                <p:cTn id="70" presetID="10" presetClass="entr" presetSubtype="0" fill="hold" grpId="0" nodeType="withEffect">
                                  <p:stCondLst>
                                    <p:cond delay="250"/>
                                  </p:stCondLst>
                                  <p:childTnLst>
                                    <p:set>
                                      <p:cBhvr>
                                        <p:cTn id="71" dur="1" fill="hold">
                                          <p:stCondLst>
                                            <p:cond delay="0"/>
                                          </p:stCondLst>
                                        </p:cTn>
                                        <p:tgtEl>
                                          <p:spTgt spid="28"/>
                                        </p:tgtEl>
                                        <p:attrNameLst>
                                          <p:attrName>style.visibility</p:attrName>
                                        </p:attrNameLst>
                                      </p:cBhvr>
                                      <p:to>
                                        <p:strVal val="visible"/>
                                      </p:to>
                                    </p:set>
                                    <p:animEffect transition="in" filter="fade">
                                      <p:cBhvr>
                                        <p:cTn id="72" dur="450"/>
                                        <p:tgtEl>
                                          <p:spTgt spid="28"/>
                                        </p:tgtEl>
                                      </p:cBhvr>
                                    </p:animEffect>
                                  </p:childTnLst>
                                </p:cTn>
                              </p:par>
                              <p:par>
                                <p:cTn id="73" presetID="10" presetClass="entr" presetSubtype="0" fill="hold" grpId="0" nodeType="withEffect">
                                  <p:stCondLst>
                                    <p:cond delay="250"/>
                                  </p:stCondLst>
                                  <p:childTnLst>
                                    <p:set>
                                      <p:cBhvr>
                                        <p:cTn id="74" dur="1" fill="hold">
                                          <p:stCondLst>
                                            <p:cond delay="0"/>
                                          </p:stCondLst>
                                        </p:cTn>
                                        <p:tgtEl>
                                          <p:spTgt spid="29"/>
                                        </p:tgtEl>
                                        <p:attrNameLst>
                                          <p:attrName>style.visibility</p:attrName>
                                        </p:attrNameLst>
                                      </p:cBhvr>
                                      <p:to>
                                        <p:strVal val="visible"/>
                                      </p:to>
                                    </p:set>
                                    <p:animEffect transition="in" filter="fade">
                                      <p:cBhvr>
                                        <p:cTn id="75" dur="450"/>
                                        <p:tgtEl>
                                          <p:spTgt spid="29"/>
                                        </p:tgtEl>
                                      </p:cBhvr>
                                    </p:animEffect>
                                  </p:childTnLst>
                                </p:cTn>
                              </p:par>
                              <p:par>
                                <p:cTn id="76" presetID="22" presetClass="entr" presetSubtype="8" fill="hold" grpId="0" nodeType="withEffect">
                                  <p:stCondLst>
                                    <p:cond delay="550"/>
                                  </p:stCondLst>
                                  <p:childTnLst>
                                    <p:set>
                                      <p:cBhvr>
                                        <p:cTn id="77" dur="1" fill="hold">
                                          <p:stCondLst>
                                            <p:cond delay="0"/>
                                          </p:stCondLst>
                                        </p:cTn>
                                        <p:tgtEl>
                                          <p:spTgt spid="30"/>
                                        </p:tgtEl>
                                        <p:attrNameLst>
                                          <p:attrName>style.visibility</p:attrName>
                                        </p:attrNameLst>
                                      </p:cBhvr>
                                      <p:to>
                                        <p:strVal val="visible"/>
                                      </p:to>
                                    </p:set>
                                    <p:animEffect transition="in" filter="wipe(left)">
                                      <p:cBhvr>
                                        <p:cTn id="78" dur="450"/>
                                        <p:tgtEl>
                                          <p:spTgt spid="30"/>
                                        </p:tgtEl>
                                      </p:cBhvr>
                                    </p:animEffect>
                                  </p:childTnLst>
                                </p:cTn>
                              </p:par>
                              <p:par>
                                <p:cTn id="79" presetID="10" presetClass="entr" presetSubtype="0" fill="hold" grpId="0" nodeType="withEffect">
                                  <p:stCondLst>
                                    <p:cond delay="800"/>
                                  </p:stCondLst>
                                  <p:childTnLst>
                                    <p:set>
                                      <p:cBhvr>
                                        <p:cTn id="80" dur="1" fill="hold">
                                          <p:stCondLst>
                                            <p:cond delay="0"/>
                                          </p:stCondLst>
                                        </p:cTn>
                                        <p:tgtEl>
                                          <p:spTgt spid="31"/>
                                        </p:tgtEl>
                                        <p:attrNameLst>
                                          <p:attrName>style.visibility</p:attrName>
                                        </p:attrNameLst>
                                      </p:cBhvr>
                                      <p:to>
                                        <p:strVal val="visible"/>
                                      </p:to>
                                    </p:set>
                                    <p:animEffect transition="in" filter="fade">
                                      <p:cBhvr>
                                        <p:cTn id="81" dur="450"/>
                                        <p:tgtEl>
                                          <p:spTgt spid="31"/>
                                        </p:tgtEl>
                                      </p:cBhvr>
                                    </p:animEffect>
                                  </p:childTnLst>
                                </p:cTn>
                              </p:par>
                              <p:par>
                                <p:cTn id="82" presetID="10" presetClass="entr" presetSubtype="0" fill="hold" grpId="0" nodeType="withEffect">
                                  <p:stCondLst>
                                    <p:cond delay="800"/>
                                  </p:stCondLst>
                                  <p:childTnLst>
                                    <p:set>
                                      <p:cBhvr>
                                        <p:cTn id="83" dur="1" fill="hold">
                                          <p:stCondLst>
                                            <p:cond delay="0"/>
                                          </p:stCondLst>
                                        </p:cTn>
                                        <p:tgtEl>
                                          <p:spTgt spid="32"/>
                                        </p:tgtEl>
                                        <p:attrNameLst>
                                          <p:attrName>style.visibility</p:attrName>
                                        </p:attrNameLst>
                                      </p:cBhvr>
                                      <p:to>
                                        <p:strVal val="visible"/>
                                      </p:to>
                                    </p:set>
                                    <p:animEffect transition="in" filter="fade">
                                      <p:cBhvr>
                                        <p:cTn id="84" dur="450"/>
                                        <p:tgtEl>
                                          <p:spTgt spid="32"/>
                                        </p:tgtEl>
                                      </p:cBhvr>
                                    </p:animEffect>
                                  </p:childTnLst>
                                </p:cTn>
                              </p:par>
                            </p:childTnLst>
                          </p:cTn>
                        </p:par>
                        <p:par>
                          <p:cTn id="92" fill="hold">
                            <p:stCondLst>
                              <p:cond delay="5500"/>
                            </p:stCondLst>
                            <p:childTnLst>
                              <p:par>
                                <p:cTn id="86" presetID="22" presetClass="entr" presetSubtype="8" fill="hold" grpId="0" nodeType="afterEffect">
                                  <p:stCondLst>
                                    <p:cond delay="0"/>
                                  </p:stCondLst>
                                  <p:childTnLst>
                                    <p:set>
                                      <p:cBhvr>
                                        <p:cTn id="87" dur="1" fill="hold">
                                          <p:stCondLst>
                                            <p:cond delay="0"/>
                                          </p:stCondLst>
                                        </p:cTn>
                                        <p:tgtEl>
                                          <p:spTgt spid="33"/>
                                        </p:tgtEl>
                                        <p:attrNameLst>
                                          <p:attrName>style.visibility</p:attrName>
                                        </p:attrNameLst>
                                      </p:cBhvr>
                                      <p:to>
                                        <p:strVal val="visible"/>
                                      </p:to>
                                    </p:set>
                                    <p:animEffect transition="in" filter="wipe(left)">
                                      <p:cBhvr>
                                        <p:cTn id="88" dur="450"/>
                                        <p:tgtEl>
                                          <p:spTgt spid="33"/>
                                        </p:tgtEl>
                                      </p:cBhvr>
                                    </p:animEffect>
                                  </p:childTnLst>
                                </p:cTn>
                              </p:par>
                              <p:par>
                                <p:cTn id="89" presetID="22" presetClass="entr" presetSubtype="8" fill="hold" grpId="0" nodeType="withEffect">
                                  <p:stCondLst>
                                    <p:cond delay="0"/>
                                  </p:stCondLst>
                                  <p:childTnLst>
                                    <p:set>
                                      <p:cBhvr>
                                        <p:cTn id="90" dur="1" fill="hold">
                                          <p:stCondLst>
                                            <p:cond delay="0"/>
                                          </p:stCondLst>
                                        </p:cTn>
                                        <p:tgtEl>
                                          <p:spTgt spid="34"/>
                                        </p:tgtEl>
                                        <p:attrNameLst>
                                          <p:attrName>style.visibility</p:attrName>
                                        </p:attrNameLst>
                                      </p:cBhvr>
                                      <p:to>
                                        <p:strVal val="visible"/>
                                      </p:to>
                                    </p:set>
                                    <p:animEffect transition="in" filter="wipe(left)">
                                      <p:cBhvr>
                                        <p:cTn id="91" dur="45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5"/>
                </a:solidFill>
              </a:rPr>
              <a:t>SCALE · TRANSFERABILITY</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bg1"/>
                </a:solidFill>
              </a:rPr>
              <a:t>A playbook any team can run next</a:t>
            </a:r>
            <a:endParaRPr lang="en-US" sz="3600" dirty="0"/>
          </a:p>
        </p:txBody>
      </p:sp>
      <p:sp>
        <p:nvSpPr>
          <p:cNvPr id="4" name="step-0"/>
          <p:cNvSpPr/>
          <p:nvPr/>
        </p:nvSpPr>
        <p:spPr>
          <a:xfrm>
            <a:off x="548640" y="1463040"/>
            <a:ext cx="2131101" cy="777240"/>
          </a:xfrm>
          <a:prstGeom prst="chevron">
            <a:avLst/>
          </a:prstGeom>
          <a:solidFill>
            <a:schemeClr val="accent2"/>
          </a:solidFill>
          <a:ln/>
        </p:spPr>
      </p:sp>
      <p:sp>
        <p:nvSpPr>
          <p:cNvPr id="5" name="step-0-text"/>
          <p:cNvSpPr txBox="1"/>
          <p:nvPr/>
        </p:nvSpPr>
        <p:spPr>
          <a:xfrm>
            <a:off x="822960"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Pack</a:t>
            </a:r>
            <a:endParaRPr lang="en-US" sz="1800" dirty="0"/>
          </a:p>
        </p:txBody>
      </p:sp>
      <p:sp>
        <p:nvSpPr>
          <p:cNvPr id="6" name="step-1"/>
          <p:cNvSpPr/>
          <p:nvPr/>
        </p:nvSpPr>
        <p:spPr>
          <a:xfrm>
            <a:off x="2789469" y="1463040"/>
            <a:ext cx="2131101" cy="777240"/>
          </a:xfrm>
          <a:prstGeom prst="chevron">
            <a:avLst/>
          </a:prstGeom>
          <a:solidFill>
            <a:schemeClr val="accent4"/>
          </a:solidFill>
          <a:ln/>
        </p:spPr>
      </p:sp>
      <p:sp>
        <p:nvSpPr>
          <p:cNvPr id="7" name="step-1-text"/>
          <p:cNvSpPr txBox="1"/>
          <p:nvPr/>
        </p:nvSpPr>
        <p:spPr>
          <a:xfrm>
            <a:off x="3063789"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Extract</a:t>
            </a:r>
            <a:endParaRPr lang="en-US" sz="1800" dirty="0"/>
          </a:p>
        </p:txBody>
      </p:sp>
      <p:sp>
        <p:nvSpPr>
          <p:cNvPr id="8" name="step-2"/>
          <p:cNvSpPr/>
          <p:nvPr/>
        </p:nvSpPr>
        <p:spPr>
          <a:xfrm>
            <a:off x="5030297" y="1463040"/>
            <a:ext cx="2131101" cy="777240"/>
          </a:xfrm>
          <a:prstGeom prst="chevron">
            <a:avLst/>
          </a:prstGeom>
          <a:solidFill>
            <a:schemeClr val="accent4"/>
          </a:solidFill>
          <a:ln/>
        </p:spPr>
      </p:sp>
      <p:sp>
        <p:nvSpPr>
          <p:cNvPr id="9" name="step-2-text"/>
          <p:cNvSpPr txBox="1"/>
          <p:nvPr/>
        </p:nvSpPr>
        <p:spPr>
          <a:xfrm>
            <a:off x="5304617"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Compare</a:t>
            </a:r>
            <a:endParaRPr lang="en-US" sz="1800" dirty="0"/>
          </a:p>
        </p:txBody>
      </p:sp>
      <p:sp>
        <p:nvSpPr>
          <p:cNvPr id="10" name="step-3"/>
          <p:cNvSpPr/>
          <p:nvPr/>
        </p:nvSpPr>
        <p:spPr>
          <a:xfrm>
            <a:off x="7271126" y="1463040"/>
            <a:ext cx="2131101" cy="777240"/>
          </a:xfrm>
          <a:prstGeom prst="chevron">
            <a:avLst/>
          </a:prstGeom>
          <a:solidFill>
            <a:schemeClr val="accent4"/>
          </a:solidFill>
          <a:ln/>
        </p:spPr>
      </p:sp>
      <p:sp>
        <p:nvSpPr>
          <p:cNvPr id="11" name="step-3-text"/>
          <p:cNvSpPr txBox="1"/>
          <p:nvPr/>
        </p:nvSpPr>
        <p:spPr>
          <a:xfrm>
            <a:off x="7545446"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Fix</a:t>
            </a:r>
            <a:endParaRPr lang="en-US" sz="1800" dirty="0"/>
          </a:p>
        </p:txBody>
      </p:sp>
      <p:sp>
        <p:nvSpPr>
          <p:cNvPr id="12" name="step-4"/>
          <p:cNvSpPr/>
          <p:nvPr/>
        </p:nvSpPr>
        <p:spPr>
          <a:xfrm>
            <a:off x="9511955" y="1463040"/>
            <a:ext cx="2131101" cy="777240"/>
          </a:xfrm>
          <a:prstGeom prst="chevron">
            <a:avLst/>
          </a:prstGeom>
          <a:solidFill>
            <a:schemeClr val="accent4"/>
          </a:solidFill>
          <a:ln/>
        </p:spPr>
      </p:sp>
      <p:sp>
        <p:nvSpPr>
          <p:cNvPr id="13" name="step-4-text"/>
          <p:cNvSpPr txBox="1"/>
          <p:nvPr/>
        </p:nvSpPr>
        <p:spPr>
          <a:xfrm>
            <a:off x="9786275"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Document</a:t>
            </a:r>
            <a:endParaRPr lang="en-US" sz="1800" dirty="0"/>
          </a:p>
        </p:txBody>
      </p:sp>
      <p:sp>
        <p:nvSpPr>
          <p:cNvPr id="14" name="reuse-0-card"/>
          <p:cNvSpPr/>
          <p:nvPr/>
        </p:nvSpPr>
        <p:spPr>
          <a:xfrm>
            <a:off x="548640" y="2560320"/>
            <a:ext cx="3515258" cy="2743200"/>
          </a:xfrm>
          <a:prstGeom prst="roundRect">
            <a:avLst>
              <a:gd name="adj" fmla="val 4000"/>
            </a:avLst>
          </a:prstGeom>
          <a:solidFill>
            <a:schemeClr val="accent4"/>
          </a:solidFill>
          <a:ln/>
        </p:spPr>
      </p:sp>
      <p:sp>
        <p:nvSpPr>
          <p:cNvPr id="15" name="reuse-0-title"/>
          <p:cNvSpPr txBox="1"/>
          <p:nvPr/>
        </p:nvSpPr>
        <p:spPr>
          <a:xfrm>
            <a:off x="822960" y="2743200"/>
            <a:ext cx="2966618" cy="411480"/>
          </a:xfrm>
          <a:prstGeom prst="rect">
            <a:avLst/>
          </a:prstGeom>
          <a:noFill/>
          <a:ln/>
        </p:spPr>
        <p:txBody>
          <a:bodyPr wrap="square" lIns="0" tIns="0" rIns="0" bIns="0" rtlCol="0" anchor="t"/>
          <a:lstStyle/>
          <a:p>
            <a:pPr indent="0" marL="0">
              <a:buNone/>
            </a:pPr>
            <a:r>
              <a:rPr lang="en-US" sz="2000" b="1" dirty="0">
                <a:solidFill>
                  <a:schemeClr val="accent5"/>
                </a:solidFill>
              </a:rPr>
              <a:t>Ready to reuse</a:t>
            </a:r>
            <a:endParaRPr lang="en-US" sz="2000" dirty="0"/>
          </a:p>
        </p:txBody>
      </p:sp>
      <p:sp>
        <p:nvSpPr>
          <p:cNvPr id="16" name="reuse-0-list"/>
          <p:cNvSpPr txBox="1"/>
          <p:nvPr/>
        </p:nvSpPr>
        <p:spPr>
          <a:xfrm>
            <a:off x="822960" y="3246120"/>
            <a:ext cx="2966618" cy="19202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accent6"/>
                </a:solidFill>
              </a:rPr>
              <a:t>pack-project.ts: whole-app context in one command</a:t>
            </a:r>
            <a:endParaRPr lang="en-US" sz="1400" dirty="0"/>
          </a:p>
          <a:p>
            <a:pPr marL="342900" indent="-342900">
              <a:spcAft>
                <a:spcPts val="800"/>
              </a:spcAft>
              <a:buSzPct val="100000"/>
              <a:buChar char="•"/>
            </a:pPr>
            <a:r>
              <a:rPr lang="en-US" sz="1400" dirty="0">
                <a:solidFill>
                  <a:schemeClr val="accent6"/>
                </a:solidFill>
              </a:rPr>
              <a:t>Feature comparison template</a:t>
            </a:r>
            <a:endParaRPr lang="en-US" sz="1400" dirty="0"/>
          </a:p>
          <a:p>
            <a:pPr marL="342900" indent="-342900">
              <a:spcAft>
                <a:spcPts val="800"/>
              </a:spcAft>
              <a:buSzPct val="100000"/>
              <a:buChar char="•"/>
            </a:pPr>
            <a:r>
              <a:rPr lang="en-US" sz="1400" dirty="0">
                <a:solidFill>
                  <a:schemeClr val="accent6"/>
                </a:solidFill>
              </a:rPr>
              <a:t>Architecture and lifecycle diagram formats</a:t>
            </a:r>
            <a:endParaRPr lang="en-US" sz="1400" dirty="0"/>
          </a:p>
        </p:txBody>
      </p:sp>
      <p:sp>
        <p:nvSpPr>
          <p:cNvPr id="17" name="reuse-1-card"/>
          <p:cNvSpPr/>
          <p:nvPr/>
        </p:nvSpPr>
        <p:spPr>
          <a:xfrm>
            <a:off x="4338218" y="2560320"/>
            <a:ext cx="3515258" cy="2743200"/>
          </a:xfrm>
          <a:prstGeom prst="roundRect">
            <a:avLst>
              <a:gd name="adj" fmla="val 4000"/>
            </a:avLst>
          </a:prstGeom>
          <a:solidFill>
            <a:schemeClr val="accent4"/>
          </a:solidFill>
          <a:ln/>
        </p:spPr>
      </p:sp>
      <p:sp>
        <p:nvSpPr>
          <p:cNvPr id="18" name="reuse-1-title"/>
          <p:cNvSpPr txBox="1"/>
          <p:nvPr/>
        </p:nvSpPr>
        <p:spPr>
          <a:xfrm>
            <a:off x="4612538" y="2743200"/>
            <a:ext cx="2966618" cy="411480"/>
          </a:xfrm>
          <a:prstGeom prst="rect">
            <a:avLst/>
          </a:prstGeom>
          <a:noFill/>
          <a:ln/>
        </p:spPr>
        <p:txBody>
          <a:bodyPr wrap="square" lIns="0" tIns="0" rIns="0" bIns="0" rtlCol="0" anchor="t"/>
          <a:lstStyle/>
          <a:p>
            <a:pPr indent="0" marL="0">
              <a:buNone/>
            </a:pPr>
            <a:r>
              <a:rPr lang="en-US" sz="2000" b="1" dirty="0">
                <a:solidFill>
                  <a:schemeClr val="accent5"/>
                </a:solidFill>
              </a:rPr>
              <a:t>Where next</a:t>
            </a:r>
            <a:endParaRPr lang="en-US" sz="2000" dirty="0"/>
          </a:p>
        </p:txBody>
      </p:sp>
      <p:sp>
        <p:nvSpPr>
          <p:cNvPr id="19" name="reuse-1-list"/>
          <p:cNvSpPr txBox="1"/>
          <p:nvPr/>
        </p:nvSpPr>
        <p:spPr>
          <a:xfrm>
            <a:off x="4612538" y="3246120"/>
            <a:ext cx="2966618" cy="19202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accent6"/>
                </a:solidFill>
              </a:rPr>
              <a:t>Functions beyond DMS, via the architecture sync</a:t>
            </a:r>
            <a:endParaRPr lang="en-US" sz="1400" dirty="0"/>
          </a:p>
          <a:p>
            <a:pPr marL="342900" indent="-342900">
              <a:spcAft>
                <a:spcPts val="800"/>
              </a:spcAft>
              <a:buSzPct val="100000"/>
              <a:buChar char="•"/>
            </a:pPr>
            <a:r>
              <a:rPr lang="en-US" sz="1400" dirty="0">
                <a:solidFill>
                  <a:schemeClr val="accent6"/>
                </a:solidFill>
              </a:rPr>
              <a:t>Other Slate apps in [business areas]</a:t>
            </a:r>
            <a:endParaRPr lang="en-US" sz="1400" dirty="0"/>
          </a:p>
          <a:p>
            <a:pPr marL="342900" indent="-342900">
              <a:spcAft>
                <a:spcPts val="800"/>
              </a:spcAft>
              <a:buSzPct val="100000"/>
              <a:buChar char="•"/>
            </a:pPr>
            <a:r>
              <a:rPr lang="en-US" sz="1400" dirty="0">
                <a:solidFill>
                  <a:schemeClr val="accent6"/>
                </a:solidFill>
              </a:rPr>
              <a:t>Any low-code tool with little documentation</a:t>
            </a:r>
            <a:endParaRPr lang="en-US" sz="1400" dirty="0"/>
          </a:p>
          <a:p>
            <a:pPr marL="342900" indent="-342900">
              <a:spcAft>
                <a:spcPts val="800"/>
              </a:spcAft>
              <a:buSzPct val="100000"/>
              <a:buChar char="•"/>
            </a:pPr>
            <a:r>
              <a:rPr lang="en-US" sz="1400" dirty="0">
                <a:solidFill>
                  <a:schemeClr val="accent6"/>
                </a:solidFill>
              </a:rPr>
              <a:t>Any team starting an AI-assisted migration</a:t>
            </a:r>
            <a:endParaRPr lang="en-US" sz="1400" dirty="0"/>
          </a:p>
        </p:txBody>
      </p:sp>
      <p:sp>
        <p:nvSpPr>
          <p:cNvPr id="20" name="ask-card"/>
          <p:cNvSpPr/>
          <p:nvPr/>
        </p:nvSpPr>
        <p:spPr>
          <a:xfrm>
            <a:off x="8127797" y="2560320"/>
            <a:ext cx="3515258" cy="2743200"/>
          </a:xfrm>
          <a:prstGeom prst="roundRect">
            <a:avLst>
              <a:gd name="adj" fmla="val 4000"/>
            </a:avLst>
          </a:prstGeom>
          <a:solidFill>
            <a:schemeClr val="bg1"/>
          </a:solidFill>
          <a:ln/>
        </p:spPr>
      </p:sp>
      <p:sp>
        <p:nvSpPr>
          <p:cNvPr id="21" name="ask-text"/>
          <p:cNvSpPr txBox="1"/>
          <p:nvPr/>
        </p:nvSpPr>
        <p:spPr>
          <a:xfrm>
            <a:off x="8402117" y="2743200"/>
            <a:ext cx="2966618" cy="2377440"/>
          </a:xfrm>
          <a:prstGeom prst="rect">
            <a:avLst/>
          </a:prstGeom>
          <a:noFill/>
          <a:ln/>
        </p:spPr>
        <p:txBody>
          <a:bodyPr wrap="square" lIns="0" tIns="0" rIns="0" bIns="0" rtlCol="0" anchor="t"/>
          <a:lstStyle/>
          <a:p>
            <a:pPr indent="0" marL="0">
              <a:buNone/>
            </a:pPr>
            <a:r>
              <a:rPr lang="en-US" sz="2000" b="1" dirty="0">
                <a:solidFill>
                  <a:schemeClr val="accent3"/>
                </a:solidFill>
              </a:rPr>
              <a:t>Our ask</a:t>
            </a:r>
            <a:endParaRPr lang="en-US" sz="2000" dirty="0"/>
          </a:p>
          <a:p>
            <a:pPr indent="0" marL="0">
              <a:buNone/>
            </a:pPr>
            <a:r>
              <a:rPr lang="en-US" sz="800" dirty="0">
                <a:solidFill>
                  <a:srgbClr val="000000"/>
                </a:solidFill>
              </a:rPr>
              <a:t> </a:t>
            </a:r>
            <a:endParaRPr lang="en-US" sz="2000" dirty="0"/>
          </a:p>
          <a:p>
            <a:pPr indent="0" marL="0">
              <a:buNone/>
            </a:pPr>
            <a:r>
              <a:rPr lang="en-US" sz="1500" dirty="0">
                <a:solidFill>
                  <a:schemeClr val="tx1"/>
                </a:solidFill>
              </a:rPr>
              <a:t>Endorse the playbook as a DevX pattern. We have aligned with [Architect] to propose it at the architecture sync, so functions beyond DMS can use it.</a:t>
            </a:r>
            <a:endParaRPr lang="en-US" sz="2000" dirty="0"/>
          </a:p>
          <a:p>
            <a:pPr indent="0" marL="0">
              <a:buNone/>
            </a:pPr>
            <a:r>
              <a:rPr lang="en-US" sz="800" dirty="0">
                <a:solidFill>
                  <a:srgbClr val="000000"/>
                </a:solidFill>
              </a:rPr>
              <a:t> </a:t>
            </a:r>
            <a:endParaRPr lang="en-US" sz="2000" dirty="0"/>
          </a:p>
          <a:p>
            <a:pPr indent="0" marL="0">
              <a:buNone/>
            </a:pPr>
            <a:r>
              <a:rPr lang="en-US" sz="1400" dirty="0">
                <a:solidFill>
                  <a:schemeClr val="tx2"/>
                </a:solidFill>
              </a:rPr>
              <a:t>[Next: a first team outside DMS]</a:t>
            </a:r>
            <a:endParaRPr lang="en-US" sz="2000" dirty="0"/>
          </a:p>
        </p:txBody>
      </p:sp>
      <p:sp>
        <p:nvSpPr>
          <p:cNvPr id="22" name="closing"/>
          <p:cNvSpPr txBox="1"/>
          <p:nvPr/>
        </p:nvSpPr>
        <p:spPr>
          <a:xfrm>
            <a:off x="548640" y="5623560"/>
            <a:ext cx="11094415" cy="502920"/>
          </a:xfrm>
          <a:prstGeom prst="rect">
            <a:avLst/>
          </a:prstGeom>
          <a:noFill/>
          <a:ln/>
        </p:spPr>
        <p:txBody>
          <a:bodyPr wrap="square" lIns="0" tIns="0" rIns="0" bIns="0" rtlCol="0" anchor="t"/>
          <a:lstStyle/>
          <a:p>
            <a:pPr indent="0" marL="0">
              <a:buNone/>
            </a:pPr>
            <a:r>
              <a:rPr lang="en-US" sz="2200" b="1" dirty="0">
                <a:solidFill>
                  <a:schemeClr val="bg1"/>
                </a:solidFill>
              </a:rPr>
              <a:t>105 features, one PI, two developers. Ready to leave Slate, and for the next app.</a:t>
            </a:r>
            <a:endParaRPr lang="en-US" sz="2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9" fill="hold">
                      <p:stCondLst>
                        <p:cond delay="indefinite"/>
                        <p:cond evt="onBegin" delay="0">
                          <p:tn val="2"/>
                        </p:cond>
                      </p:stCondLst>
                      <p:childTnLst>
                        <p:par>
                          <p:cTn id="9" fill="hold">
                            <p:stCondLst>
                              <p:cond delay="0"/>
                            </p:stCondLst>
                            <p:childTnLst>
                              <p:par>
                                <p:cTn id="3" presetID="22" presetClass="entr" presetSubtype="8"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wipe(left)">
                                      <p:cBhvr>
                                        <p:cTn id="5" dur="450"/>
                                        <p:tgtEl>
                                          <p:spTgt spid="4"/>
                                        </p:tgtEl>
                                      </p:cBhvr>
                                    </p:animEffect>
                                  </p:childTnLst>
                                </p:cTn>
                              </p:par>
                              <p:par>
                                <p:cTn id="6" presetID="22" presetClass="entr" presetSubtype="8"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wipe(left)">
                                      <p:cBhvr>
                                        <p:cTn id="8" dur="450"/>
                                        <p:tgtEl>
                                          <p:spTgt spid="5"/>
                                        </p:tgtEl>
                                      </p:cBhvr>
                                    </p:animEffect>
                                  </p:childTnLst>
                                </p:cTn>
                              </p:par>
                            </p:childTnLst>
                          </p:cTn>
                        </p:par>
                        <p:par>
                          <p:cTn id="16" fill="hold">
                            <p:stCondLst>
                              <p:cond delay="350"/>
                            </p:stCondLst>
                            <p:childTnLst>
                              <p:par>
                                <p:cTn id="10" presetID="22" presetClass="entr" presetSubtype="8" fill="hold" grpId="0" nodeType="after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450"/>
                                        <p:tgtEl>
                                          <p:spTgt spid="6"/>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wipe(left)">
                                      <p:cBhvr>
                                        <p:cTn id="15" dur="450"/>
                                        <p:tgtEl>
                                          <p:spTgt spid="7"/>
                                        </p:tgtEl>
                                      </p:cBhvr>
                                    </p:animEffect>
                                  </p:childTnLst>
                                </p:cTn>
                              </p:par>
                            </p:childTnLst>
                          </p:cTn>
                        </p:par>
                        <p:par>
                          <p:cTn id="23" fill="hold">
                            <p:stCondLst>
                              <p:cond delay="700"/>
                            </p:stCondLst>
                            <p:childTnLst>
                              <p:par>
                                <p:cTn id="17" presetID="22" presetClass="entr" presetSubtype="8" fill="hold" grpId="0" nodeType="after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wipe(left)">
                                      <p:cBhvr>
                                        <p:cTn id="19" dur="450"/>
                                        <p:tgtEl>
                                          <p:spTgt spid="8"/>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wipe(left)">
                                      <p:cBhvr>
                                        <p:cTn id="22" dur="450"/>
                                        <p:tgtEl>
                                          <p:spTgt spid="9"/>
                                        </p:tgtEl>
                                      </p:cBhvr>
                                    </p:animEffect>
                                  </p:childTnLst>
                                </p:cTn>
                              </p:par>
                            </p:childTnLst>
                          </p:cTn>
                        </p:par>
                        <p:par>
                          <p:cTn id="30" fill="hold">
                            <p:stCondLst>
                              <p:cond delay="1050"/>
                            </p:stCondLst>
                            <p:childTnLst>
                              <p:par>
                                <p:cTn id="24" presetID="22" presetClass="entr" presetSubtype="8" fill="hold" grpId="0" nodeType="after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wipe(left)">
                                      <p:cBhvr>
                                        <p:cTn id="26" dur="450"/>
                                        <p:tgtEl>
                                          <p:spTgt spid="10"/>
                                        </p:tgtEl>
                                      </p:cBhvr>
                                    </p:animEffect>
                                  </p:childTnLst>
                                </p:cTn>
                              </p:par>
                              <p:par>
                                <p:cTn id="27" presetID="22" presetClass="entr" presetSubtype="8"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wipe(left)">
                                      <p:cBhvr>
                                        <p:cTn id="29" dur="450"/>
                                        <p:tgtEl>
                                          <p:spTgt spid="11"/>
                                        </p:tgtEl>
                                      </p:cBhvr>
                                    </p:animEffect>
                                  </p:childTnLst>
                                </p:cTn>
                              </p:par>
                            </p:childTnLst>
                          </p:cTn>
                        </p:par>
                        <p:par>
                          <p:cTn id="37" fill="hold">
                            <p:stCondLst>
                              <p:cond delay="1400"/>
                            </p:stCondLst>
                            <p:childTnLst>
                              <p:par>
                                <p:cTn id="31" presetID="22" presetClass="entr" presetSubtype="8" fill="hold" grpId="0" nodeType="after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wipe(left)">
                                      <p:cBhvr>
                                        <p:cTn id="33" dur="450"/>
                                        <p:tgtEl>
                                          <p:spTgt spid="12"/>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wipe(left)">
                                      <p:cBhvr>
                                        <p:cTn id="36" dur="450"/>
                                        <p:tgtEl>
                                          <p:spTgt spid="13"/>
                                        </p:tgtEl>
                                      </p:cBhvr>
                                    </p:animEffect>
                                  </p:childTnLst>
                                </p:cTn>
                              </p:par>
                            </p:childTnLst>
                          </p:cTn>
                        </p:par>
                        <p:par>
                          <p:cTn id="47" fill="hold">
                            <p:stCondLst>
                              <p:cond delay="1750"/>
                            </p:stCondLst>
                            <p:childTnLst>
                              <p:par>
                                <p:cTn id="38" presetID="10"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50"/>
                                        <p:tgtEl>
                                          <p:spTgt spid="14"/>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450"/>
                                        <p:tgtEl>
                                          <p:spTgt spid="15"/>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50"/>
                                        <p:tgtEl>
                                          <p:spTgt spid="16"/>
                                        </p:tgtEl>
                                      </p:cBhvr>
                                    </p:animEffect>
                                  </p:childTnLst>
                                </p:cTn>
                              </p:par>
                            </p:childTnLst>
                          </p:cTn>
                        </p:par>
                        <p:par>
                          <p:cTn id="57" fill="hold">
                            <p:stCondLst>
                              <p:cond delay="2100"/>
                            </p:stCondLst>
                            <p:childTnLst>
                              <p:par>
                                <p:cTn id="48" presetID="10" presetClass="entr" presetSubtype="0" fill="hold" grpId="0" nodeType="after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45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450"/>
                                        <p:tgtEl>
                                          <p:spTgt spid="1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450"/>
                                        <p:tgtEl>
                                          <p:spTgt spid="19"/>
                                        </p:tgtEl>
                                      </p:cBhvr>
                                    </p:animEffect>
                                  </p:childTnLst>
                                </p:cTn>
                              </p:par>
                            </p:childTnLst>
                          </p:cTn>
                        </p:par>
                        <p:par>
                          <p:cTn id="64" fill="hold">
                            <p:stCondLst>
                              <p:cond delay="2450"/>
                            </p:stCondLst>
                            <p:childTnLst>
                              <p:par>
                                <p:cTn id="58" presetID="10" presetClass="entr" presetSubtype="0" fill="hold" grpId="0" nodeType="after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5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50"/>
                                        <p:tgtEl>
                                          <p:spTgt spid="21"/>
                                        </p:tgtEl>
                                      </p:cBhvr>
                                    </p:animEffect>
                                  </p:childTnLst>
                                </p:cTn>
                              </p:par>
                            </p:childTnLst>
                          </p:cTn>
                        </p:par>
                        <p:par>
                          <p:cTn id="68" fill="hold">
                            <p:stCondLst>
                              <p:cond delay="2800"/>
                            </p:stCondLst>
                            <p:childTnLst>
                              <p:par>
                                <p:cTn id="65" presetID="22" presetClass="entr" presetSubtype="8" fill="hold" grpId="0" nodeType="after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wipe(left)">
                                      <p:cBhvr>
                                        <p:cTn id="67" dur="45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theme/theme1.xml><?xml version="1.0" encoding="utf-8"?>
<a:theme xmlns:a="http://schemas.openxmlformats.org/drawingml/2006/main" name="ERM Migration Airbus">
  <a:themeElements>
    <a:clrScheme name="ERM Migration Airbus">
      <a:dk1>
        <a:srgbClr val="00205B"/>
      </a:dk1>
      <a:lt1>
        <a:srgbClr val="FFFFFF"/>
      </a:lt1>
      <a:dk2>
        <a:srgbClr val="4A5568"/>
      </a:dk2>
      <a:lt2>
        <a:srgbClr val="EEF1F7"/>
      </a:lt2>
      <a:accent1>
        <a:srgbClr val="C8326C"/>
      </a:accent1>
      <a:accent2>
        <a:srgbClr val="0085CA"/>
      </a:accent2>
      <a:accent3>
        <a:srgbClr val="B0245A"/>
      </a:accent3>
      <a:accent4>
        <a:srgbClr val="5F3A8F"/>
      </a:accent4>
      <a:accent5>
        <a:srgbClr val="C9D6EA"/>
      </a:accent5>
      <a:accent6>
        <a:srgbClr val="DCE3EE"/>
      </a:accent6>
      <a:hlink>
        <a:srgbClr val="0085CA"/>
      </a:hlink>
      <a:folHlink>
        <a:srgbClr val="5F3A8F"/>
      </a:folHlink>
    </a:clrScheme>
    <a:fontScheme name="ERM Migration Airbu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ERM Migration Jury Pitch</dc:title>
  <dc:subject>PptxGenJS Presentation</dc:subject>
  <dc:creator>PptxGenJS</dc:creator>
  <cp:lastModifiedBy>PptxGenJS</cp:lastModifiedBy>
  <cp:revision>1</cp:revision>
  <dcterms:created xsi:type="dcterms:W3CDTF">2026-10-04T19:07:47Z</dcterms:created>
  <dcterms:modified xsi:type="dcterms:W3CDTF">2026-10-04T19:07:47Z</dcterms:modified>
</cp:coreProperties>
</file>