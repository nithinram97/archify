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83b1d746-5b28-bed1-c464-566bdc46c5ea}">
          <p14:sldIdLst>
            <p14:sldId id="256"/>
          </p14:sldIdLst>
        </p14:section>
        <p14:section name="Context" id="{53bd2f11-1b3a-425f-dfa3-638970568ff5}">
          <p14:sldIdLst>
            <p14:sldId id="257"/>
            <p14:sldId id="258"/>
            <p14:sldId id="259"/>
          </p14:sldIdLst>
        </p14:section>
        <p14:section name="Problem and method" id="{81d264ee-4375-f104-7b5e-94509d06cdfc}">
          <p14:sldIdLst>
            <p14:sldId id="260"/>
            <p14:sldId id="261"/>
          </p14:sldIdLst>
        </p14:section>
        <p14:section name="Impact" id="{5a036a39-1e8b-97f6-a7f4-333f28002c40}">
          <p14:sldIdLst>
            <p14:sldId id="262"/>
            <p14:sldId id="263"/>
            <p14:sldId id="264"/>
            <p14:sldId id="265"/>
            <p14:sldId id="266"/>
          </p14:sldIdLst>
        </p14:section>
        <p14:section name="Reuse" id="{e309fc29-39cd-325d-1291-d37e4b108333}">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multiLvlStrRef>
              <c:f>Sheet1!$A$2:$A$8</c:f>
              <c:multiLvlStrCache>
                <c:ptCount val="7"/>
                <c:lvl>
                  <c:pt idx="0">
                    <c:v>B</c:v>
                  </c:pt>
                  <c:pt idx="1">
                    <c:v>O</c:v>
                  </c:pt>
                  <c:pt idx="2">
                    <c:v>P</c:v>
                  </c:pt>
                  <c:pt idx="3">
                    <c:v>A</c:v>
                  </c:pt>
                  <c:pt idx="4">
                    <c:v>L</c:v>
                  </c:pt>
                  <c:pt idx="5">
                    <c:v>S</c:v>
                  </c:pt>
                  <c:pt idx="6">
                    <c:v>K</c:v>
                  </c:pt>
                </c:lvl>
              </c:multiLvlStrCache>
            </c:multiLvl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moved it to Airbus DevX with React and OSDK in one PI,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across engineering, programmes and operations, with a monthly peak above 320 active risk managers. More than 1,600 dashboards have been created and more than 10 are updated every day. The trend shows monthly unique users growing from launch in summer 2024 to around 300 a month in 2026.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11 features the old app did not have, from a searchable dashboard switcher and a web address per tab to a report slideshow; the next slides show them.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At $38.50 per developer hour, that is roughly $105,000 of manual effort against about $25,000 actual: around $80,000 saved.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shipped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or ~$80K</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about 76% less effort: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2567864" cy="1554480"/>
          </a:xfrm>
          <a:prstGeom prst="roundRect">
            <a:avLst>
              <a:gd name="adj" fmla="val 7059"/>
            </a:avLst>
          </a:prstGeom>
          <a:solidFill>
            <a:schemeClr val="bg1"/>
          </a:solidFill>
          <a:ln/>
        </p:spPr>
      </p:sp>
      <p:sp>
        <p:nvSpPr>
          <p:cNvPr id="4"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shipped in the same PI</a:t>
            </a:r>
            <a:endParaRPr lang="en-US" sz="1300" dirty="0"/>
          </a:p>
        </p:txBody>
      </p:sp>
      <p:sp>
        <p:nvSpPr>
          <p:cNvPr id="6" name="ease-1-card"/>
          <p:cNvSpPr/>
          <p:nvPr/>
        </p:nvSpPr>
        <p:spPr>
          <a:xfrm>
            <a:off x="3390824" y="1371600"/>
            <a:ext cx="2567864" cy="1554480"/>
          </a:xfrm>
          <a:prstGeom prst="roundRect">
            <a:avLst>
              <a:gd name="adj" fmla="val 7059"/>
            </a:avLst>
          </a:prstGeom>
          <a:solidFill>
            <a:schemeClr val="bg1"/>
          </a:solidFill>
          <a:ln/>
        </p:spPr>
      </p:sp>
      <p:sp>
        <p:nvSpPr>
          <p:cNvPr id="7"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8"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9" name="ease-2-card"/>
          <p:cNvSpPr/>
          <p:nvPr/>
        </p:nvSpPr>
        <p:spPr>
          <a:xfrm>
            <a:off x="6233008" y="1371600"/>
            <a:ext cx="2567864" cy="1554480"/>
          </a:xfrm>
          <a:prstGeom prst="roundRect">
            <a:avLst>
              <a:gd name="adj" fmla="val 7059"/>
            </a:avLst>
          </a:prstGeom>
          <a:solidFill>
            <a:schemeClr val="bg1"/>
          </a:solidFill>
          <a:ln/>
        </p:spPr>
      </p:sp>
      <p:sp>
        <p:nvSpPr>
          <p:cNvPr id="10"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1"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2" name="ease-3-card"/>
          <p:cNvSpPr/>
          <p:nvPr/>
        </p:nvSpPr>
        <p:spPr>
          <a:xfrm>
            <a:off x="9075191" y="1371600"/>
            <a:ext cx="2567864" cy="1554480"/>
          </a:xfrm>
          <a:prstGeom prst="roundRect">
            <a:avLst>
              <a:gd name="adj" fmla="val 7059"/>
            </a:avLst>
          </a:prstGeom>
          <a:solidFill>
            <a:schemeClr val="tx1"/>
          </a:solidFill>
          <a:ln/>
        </p:spPr>
      </p:sp>
      <p:sp>
        <p:nvSpPr>
          <p:cNvPr id="13"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4"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5" name="ease-old"/>
          <p:cNvSpPr/>
          <p:nvPr/>
        </p:nvSpPr>
        <p:spPr>
          <a:xfrm>
            <a:off x="548640" y="3154680"/>
            <a:ext cx="5410048" cy="2423160"/>
          </a:xfrm>
          <a:prstGeom prst="roundRect">
            <a:avLst>
              <a:gd name="adj" fmla="val 4528"/>
            </a:avLst>
          </a:prstGeom>
          <a:solidFill>
            <a:schemeClr val="bg1"/>
          </a:solidFill>
          <a:ln/>
        </p:spPr>
      </p:sp>
      <p:sp>
        <p:nvSpPr>
          <p:cNvPr id="16"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7" name="ease-new"/>
          <p:cNvSpPr/>
          <p:nvPr/>
        </p:nvSpPr>
        <p:spPr>
          <a:xfrm>
            <a:off x="6233008" y="3154680"/>
            <a:ext cx="5410048" cy="2423160"/>
          </a:xfrm>
          <a:prstGeom prst="roundRect">
            <a:avLst>
              <a:gd name="adj" fmla="val 4528"/>
            </a:avLst>
          </a:prstGeom>
          <a:solidFill>
            <a:schemeClr val="tx1"/>
          </a:solidFill>
          <a:ln/>
        </p:spPr>
      </p:sp>
      <p:sp>
        <p:nvSpPr>
          <p:cNvPr id="18"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9"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left)">
                                      <p:cBhvr>
                                        <p:cTn id="52" dur="450"/>
                                        <p:tgtEl>
                                          <p:spTgt spid="17"/>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5" dur="450"/>
                                        <p:tgtEl>
                                          <p:spTgt spid="18"/>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2026-10-04T12:14:17Z</dcterms:created>
  <dcterms:modified xsi:type="dcterms:W3CDTF">2026-10-04T12:14:17Z</dcterms:modified>
</cp:coreProperties>
</file>