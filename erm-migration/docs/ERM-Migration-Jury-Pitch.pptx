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d66adf37-90da-ffe9-0608-3233144e66db}">
          <p14:sldIdLst>
            <p14:sldId id="256"/>
          </p14:sldIdLst>
        </p14:section>
        <p14:section name="Context" id="{19d3d027-b5c9-92d8-fa80-398978cbb2c1}">
          <p14:sldIdLst>
            <p14:sldId id="257"/>
            <p14:sldId id="258"/>
            <p14:sldId id="259"/>
          </p14:sldIdLst>
        </p14:section>
        <p14:section name="Problem and method" id="{15fe09a9-89d9-6f50-b66d-6db86a531b12}">
          <p14:sldIdLst>
            <p14:sldId id="260"/>
            <p14:sldId id="261"/>
          </p14:sldIdLst>
        </p14:section>
        <p14:section name="Impact" id="{fda0c153-961f-fd4e-0f21-b743f97aea0d}">
          <p14:sldIdLst>
            <p14:sldId id="262"/>
            <p14:sldId id="263"/>
            <p14:sldId id="264"/>
            <p14:sldId id="265"/>
            <p14:sldId id="266"/>
          </p14:sldIdLst>
        </p14:section>
        <p14:section name="Reuse" id="{ef3c2977-9028-26f9-9386-e1af9395dfe8}">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next few minutes I'd like to tell you how two of us rebuilt a business-critical application in a single PI, and why the way we did it matters for more than this one app.
The application is ERM, Enterprise Risk Management. It wasn't ours to begin with. It started as a Business Owned Tool, built in Slate by another team, and it grew quickly because people needed it. When it came to us, our job was to standardise it and enhance it, and to move it onto Airbus DevX, without breaking anything for the people who use it every day.
And we did it with an AI-assisted method that any other team can pick up.
So let me start with what ERM actually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helps people understand their risks, what decisions rest on them, and what needs to happen next.
The data starts in Active Risk Manager, ARM. It flows through a restricted view into the Foundry ontology, so people only see what they're allowed to see, and ERM sits on top of that.
In practice, a risk manager builds a dashboard for their area and groups the risks and opportunities they care about. They update criticality, status and key messages live, and follow the trend over time. Every quarter the dashboards go through a formal review and release, so management sees a governed picture. And risks can be shared and co-managed across divisions.
At the end of that path are the reports people take into their reviews.
So ERM isn't a side tool, it's part of how risk is reported. And a lot of people rely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a few highlights here, because the point is simple.
Close to nine hundred people have used ERM. In a busy reporting month, more than three hundred are active. They've built over sixteen hundred dashboards, and more than ten are updated every single day.
The trend at the bottom tells the more interesting story. Since launch, usage has grown steadily, with the usual ups and downs from month to month. This year it's settled at around three hundred users a month. That's not a tool people try once; it's one they come back to every month.
What this means for a migration is in the subtitle: if we broke one feature, we wouldn't inconvenience a single team, we'd disrupt risk reporting for hundreds of risk managers.
And it isn't concentrated in one place.
— — —
Reference if asked: 892 lifetime unique users; 320+ active in a peak month; 1,600+ dashboards; 10+ updated every day. Chart values are read from the ERM usage chart, so they are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than half of ERM's users work outside its largest organisation. You can see one big group on the left, and then a long tail: half a dozen more organisations of fifty to a hundred and twenty users each, and about a dozen smaller ones.
Geographically, the picture is the same. It's mostly France and Germany, with Blagnac and Hamburg as the two biggest sites, but there are users in the UK, Spain, Canada and India too.
So it's used across organisations, sites and countries, by people with very different ways of working, different review rhythms and different reporting needs. Every one of them expects their dashboards and reports to work exactly as before.
That's why we couldn't afford to break it. And under the surface, the app was fragile.
— — —
Reference if asked: largest organisation B (~345), then O (~120), P (~95), A (~60), L, S (~55 each), K (~50). Sites: Blagnac 271, Saint-Martin 43, Hamburg 205, Broughton 32, Filton 26, Getafe 25, Mirabel 12, Bangalore 7. Approximate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how it was built. The old app is one Slate shell, the board menu, with seven modules running inside it as separate frames: search, heat map, one-pager, waterfall, action tracker, report table and print. The shell alone holds forty-four functions, ninety-six events and fourteen actions, and it pushes data into every module by passing messages.
For users that showed up as problems. One click sets off a chain of widgets, events and variables, so a small change could break a dashboard somewhere else. And every tab switch recalculated large variable trees, so it felt slow.
For a migration it was even harder, because nothing was documented. Eight Slate exports, about twenty-five megabytes of configuration, and no list of what the app really did.
The target was clear: React and OSDK on DevX. The question was how to get there.
— — —
Reference if asked: behind the shell sit Foundry Functions for versions, sharing and search, 18 Foundry action types for board, risk, key-message and settings writes, and the ERM ontology. Roles were read from a user-profile object and only enforced in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Done the usual way, this is a long project. You interview users and click through every screen just to find out what the app does. Then you read the configuration piece by piece, rebuild feature by feature, and only discover the gaps in testing, near the end. Documentation comes last, if at all.
We turned it around, in the five steps on screen. First, pack: our own script, pack-project.ts, puts the whole React app into one file, so the AI sees every component at once instead of fragments. Then extract: the AI read all eight Slate exports and wrote the feature catalogue for us. Compare: it checked every feature against the packed code and listed the gaps. Fix: we fixed them, re-packed and checked again. And document: the diagrams were produced along the way, not afterwards.
One rule throughout: the AI drafts, we check, fix and decide. So what came out of it? Let me show you first, then give you the numbers.
— — —
Play the trailer here: 1 min 34 s, full screen, sound on. Let it run without talking over it. It shows sample data only and ends on "Coming soon", which matches where we are: the app isn't live yet.
Before you start: have the video open and cued (docs/trailer-storyboard/animatic.mp4 for now; swap in the final Blender render when it's ready), or embed it on this slide. Add about 1 min 40 s to your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was ERM 2.0: everything people rely on, carried over, every tab rebuilt, and faster. Now, here's how we got there, in numbers.
The whole migration fit into one PI. The AI recovered a hundred and five features from an app with no documentation, by reading eight Slate exports. And every time we checked our work, the whole React app, seventy-five files, went into a single context for the AI, so nothing was reviewed in isolation.
That review found thirty-one gaps, which we prioritised and worked through one by one, before users ever saw them, including seven security and data issues the old app had been living with.
We didn't just copy the old app either. We built eleven new features it never had, like a searchable dashboard switcher, slideshow mode and a web address for every tab.
And documentation went from nothing to ten documents: eight diagrams and two guides.
The obvious next question is what all this saved.
— — —
Reference if asked.
The 11 new features: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showing risks by ID or title.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children edits in the risk drawer silently discarded. The dashboard sharing-access fix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I'd like you to remember from today is this one: about seventy-six percent less effort.
If we'd done this by hand, a fair estimate is around seventeen sprints for two developers. We did it in four. In money, at our hourly rate, that's around eighty thousand dollars saved.
To be upfront, this is a generic estimate, not a measured baseline, and the basis is in the footnote. But it's a conservative one.
Where did the time go? Mostly in three places. Discovery: the AI catalogued a hundred and five features from the exports, where we'd otherwise have spent weeks clicking and asking. Gap analysis: every feature was checked against the code, not by hand. And documentation: the diagrams came out alongside the work instead of at the end.
And the savings don't stop when the migration ends.
— — —
Reference if asked: 105 features × (0.5 day discovery + 2 days build + 0.5 day parity testing) + 25 days documentation ≈ 340 person-days ≈ 17 sprints for two developers; 4 sprints ≈ 80 person-days used. At $38.50 per developer hour, 8 hours a day: ≈ $105K against ≈ $25K.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app is faster to build on and cheaper to run.
In the same PI we built those eleven features Slate never had. And twenty-five megabytes of Slate configuration became less than one megabyte of typed code.
The difference is easiest to see when you add a feature. In Slate, you wire widgets, events, variables and functions across eight exports, and any change can break a dashboard somewhere else, with no documentation to tell you what depends on what. In React, it's one isolated, typed component and one data call. pack-project.ts gives the AI the whole app as context, and the diagrams show what a change will touch.
Over time that adds up to around ten thousand dollars a year less maintenance effort, again as an estimate.
But numbers are only half the story. Here's what the users say.
— — —
Reference if asked: maintenance rule of thumb of ~20% of build effort a year (340 person-days → 68 a year, ≈ $21K), assumed halved by modular, typed, documented code (≈ $10K a year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rather the business said this than us. These came from ERM stakeholders in September, and they talk about the team and the tool as a whole.
The ERM Centre of Competence says that regular teamwork with the business, together with strong IT skills, turned an idea into a user-friendly industrial solution, and that the interface and performance have clearly improved.
Another stakeholder calls it a tremendous addition to the ERM toolset, and says more and more people now prepare and run their risk reviews with it.
And a Risk and Opportunity Manager in Hamburg says the new features make navigation easier and give a much clearer view of their data, and that whenever something went wrong, it was fixed quickly.
That's the part we're proudest of, because it was teamwork from start to finish. Which brings me to how this fits where Airbus is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do this for its own sake. It lines up with four of our 2026 objectives, and I'll take them one at a time as they appear.
First, leverage AI to solve business problems: the AI recovered a hundred and five features from an app nobody had documented, and found thirty-one gaps.
Second, deliver on time, on cost, on quality: one PI, two developers, about seventy-six percent less effort.
Third, operational performance: ERM is a business system, so every feature was tracked for parity, and it's now rebuilt on standard, maintainable code, ready to leave Slate.
Fourth, digital acumen: pack-project.ts and the playbook let other teams do the same, so the skill spreads beyond the two of us.
So the last question is: what happens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none of this happened alone. Business users confirmed the feature catalogue, data and security owners made sure restricted views stayed restricted, and backend and frontend fixes went out together. (Name the people and teams here if you can.)
What we'd like to leave behind isn't only a new ERM, it's a method. Pack, extract, compare, fix, document. The pieces are ready to reuse as they are: the packing script, the comparison template and the diagram formats.
It fits any Slate app, and really any low-code tool where the knowledge lives in configuration and nobody wrote it down.
And we've taken the first step: together with [Architect], we're proposing it at the architecture sync, so functions beyond DMS can use it. We'd welcome your support for that.
Pack, extract, compare, fix, document, and repeat for the next app. Thank you. I'm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adoption and user metrics</a:t>
            </a:r>
            <a:endParaRPr lang="en-US" sz="3600" dirty="0"/>
          </a:p>
        </p:txBody>
      </p:sp>
      <p:sp>
        <p:nvSpPr>
          <p:cNvPr id="3" name="adopt-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A migration that broke a feature would disrupt risk reporting for hundreds of risk managers in 6 countries</a:t>
            </a:r>
            <a:endParaRPr lang="en-US" sz="1400" dirty="0"/>
          </a:p>
        </p:txBody>
      </p:sp>
      <p:sp>
        <p:nvSpPr>
          <p:cNvPr id="4" name="adopt-0-card"/>
          <p:cNvSpPr/>
          <p:nvPr/>
        </p:nvSpPr>
        <p:spPr>
          <a:xfrm>
            <a:off x="548640" y="1554480"/>
            <a:ext cx="2567864" cy="1417320"/>
          </a:xfrm>
          <a:prstGeom prst="roundRect">
            <a:avLst>
              <a:gd name="adj" fmla="val 7742"/>
            </a:avLst>
          </a:prstGeom>
          <a:solidFill>
            <a:schemeClr val="tx1"/>
          </a:solidFill>
          <a:ln/>
        </p:spPr>
      </p:sp>
      <p:sp>
        <p:nvSpPr>
          <p:cNvPr id="5" name="adopt-0-label"/>
          <p:cNvSpPr txBox="1"/>
          <p:nvPr/>
        </p:nvSpPr>
        <p:spPr>
          <a:xfrm>
            <a:off x="749808" y="166420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adopt-0-value"/>
          <p:cNvSpPr txBox="1"/>
          <p:nvPr/>
        </p:nvSpPr>
        <p:spPr>
          <a:xfrm>
            <a:off x="749808" y="192024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adopt-0-desc"/>
          <p:cNvSpPr txBox="1"/>
          <p:nvPr/>
        </p:nvSpPr>
        <p:spPr>
          <a:xfrm>
            <a:off x="749808" y="251460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adopt-1-card"/>
          <p:cNvSpPr/>
          <p:nvPr/>
        </p:nvSpPr>
        <p:spPr>
          <a:xfrm>
            <a:off x="3390824" y="1554480"/>
            <a:ext cx="2567864" cy="1417320"/>
          </a:xfrm>
          <a:prstGeom prst="roundRect">
            <a:avLst>
              <a:gd name="adj" fmla="val 7742"/>
            </a:avLst>
          </a:prstGeom>
          <a:solidFill>
            <a:schemeClr val="bg1"/>
          </a:solidFill>
          <a:ln/>
        </p:spPr>
      </p:sp>
      <p:sp>
        <p:nvSpPr>
          <p:cNvPr id="9" name="adopt-1-label"/>
          <p:cNvSpPr txBox="1"/>
          <p:nvPr/>
        </p:nvSpPr>
        <p:spPr>
          <a:xfrm>
            <a:off x="3591992"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adopt-1-value"/>
          <p:cNvSpPr txBox="1"/>
          <p:nvPr/>
        </p:nvSpPr>
        <p:spPr>
          <a:xfrm>
            <a:off x="3591992"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adopt-1-desc"/>
          <p:cNvSpPr txBox="1"/>
          <p:nvPr/>
        </p:nvSpPr>
        <p:spPr>
          <a:xfrm>
            <a:off x="3591992"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adopt-2-card"/>
          <p:cNvSpPr/>
          <p:nvPr/>
        </p:nvSpPr>
        <p:spPr>
          <a:xfrm>
            <a:off x="6233008" y="1554480"/>
            <a:ext cx="2567864" cy="1417320"/>
          </a:xfrm>
          <a:prstGeom prst="roundRect">
            <a:avLst>
              <a:gd name="adj" fmla="val 7742"/>
            </a:avLst>
          </a:prstGeom>
          <a:solidFill>
            <a:schemeClr val="bg1"/>
          </a:solidFill>
          <a:ln/>
        </p:spPr>
      </p:sp>
      <p:sp>
        <p:nvSpPr>
          <p:cNvPr id="13" name="adopt-2-label"/>
          <p:cNvSpPr txBox="1"/>
          <p:nvPr/>
        </p:nvSpPr>
        <p:spPr>
          <a:xfrm>
            <a:off x="6434176"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adopt-2-value"/>
          <p:cNvSpPr txBox="1"/>
          <p:nvPr/>
        </p:nvSpPr>
        <p:spPr>
          <a:xfrm>
            <a:off x="6434176"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adopt-2-desc"/>
          <p:cNvSpPr txBox="1"/>
          <p:nvPr/>
        </p:nvSpPr>
        <p:spPr>
          <a:xfrm>
            <a:off x="6434176"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adopt-3-card"/>
          <p:cNvSpPr/>
          <p:nvPr/>
        </p:nvSpPr>
        <p:spPr>
          <a:xfrm>
            <a:off x="9075191" y="1554480"/>
            <a:ext cx="2567864" cy="1417320"/>
          </a:xfrm>
          <a:prstGeom prst="roundRect">
            <a:avLst>
              <a:gd name="adj" fmla="val 7742"/>
            </a:avLst>
          </a:prstGeom>
          <a:solidFill>
            <a:schemeClr val="bg1"/>
          </a:solidFill>
          <a:ln/>
        </p:spPr>
      </p:sp>
      <p:sp>
        <p:nvSpPr>
          <p:cNvPr id="17" name="adopt-3-label"/>
          <p:cNvSpPr txBox="1"/>
          <p:nvPr/>
        </p:nvSpPr>
        <p:spPr>
          <a:xfrm>
            <a:off x="9276359" y="166420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adopt-3-value"/>
          <p:cNvSpPr txBox="1"/>
          <p:nvPr/>
        </p:nvSpPr>
        <p:spPr>
          <a:xfrm>
            <a:off x="9276359" y="192024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adopt-3-desc"/>
          <p:cNvSpPr txBox="1"/>
          <p:nvPr/>
        </p:nvSpPr>
        <p:spPr>
          <a:xfrm>
            <a:off x="9276359" y="251460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200400"/>
            <a:ext cx="11094415" cy="3246120"/>
          </a:xfrm>
          <a:prstGeom prst="roundRect">
            <a:avLst>
              <a:gd name="adj" fmla="val 3380"/>
            </a:avLst>
          </a:prstGeom>
          <a:solidFill>
            <a:schemeClr val="bg1"/>
          </a:solidFill>
          <a:ln/>
        </p:spPr>
      </p:sp>
      <p:sp>
        <p:nvSpPr>
          <p:cNvPr id="21" name="trend-title"/>
          <p:cNvSpPr txBox="1"/>
          <p:nvPr/>
        </p:nvSpPr>
        <p:spPr>
          <a:xfrm>
            <a:off x="777240" y="3310128"/>
            <a:ext cx="10637215"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611880"/>
          <a:ext cx="10911535" cy="256032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72200"/>
            <a:ext cx="10637215"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2"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4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8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par>
                          <p:cTn id="58" fill="hold">
                            <p:stCondLst>
                              <p:cond delay="1600"/>
                            </p:stCondLst>
                            <p:childTnLst>
                              <p:par>
                                <p:cTn id="46" presetID="10" presetClass="entr" presetSubtype="0" fill="hold" grpId="0"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45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450"/>
                                        <p:tgtEl>
                                          <p:spTgt spid="19"/>
                                        </p:tgtEl>
                                      </p:cBhvr>
                                    </p:animEffect>
                                  </p:childTnLst>
                                </p:cTn>
                              </p:par>
                            </p:childTnLst>
                          </p:cTn>
                        </p:par>
                        <p:par>
                          <p:cTn id="71" fill="hold">
                            <p:stCondLst>
                              <p:cond delay="2000"/>
                            </p:stCondLst>
                            <p:childTnLst>
                              <p:par>
                                <p:cTn id="59" presetID="10" presetClass="entr" presetSubtype="0" fill="hold" grpId="0" nodeType="after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45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50"/>
                                        <p:tgtEl>
                                          <p:spTgt spid="23"/>
                                        </p:tgtEl>
                                      </p:cBhvr>
                                    </p:animEffect>
                                  </p:childTnLst>
                                </p:cTn>
                              </p:par>
                              <p:par>
                                <p:cTn id="68" presetID="22" presetClass="entr" presetSubtype="8" fill="hold" grpId="0" nodeType="withEffect">
                                  <p:stCondLst>
                                    <p:cond delay="200"/>
                                  </p:stCondLst>
                                  <p:childTnLst>
                                    <p:set>
                                      <p:cBhvr>
                                        <p:cTn id="69" dur="1" fill="hold">
                                          <p:stCondLst>
                                            <p:cond delay="0"/>
                                          </p:stCondLst>
                                        </p:cTn>
                                        <p:tgtEl>
                                          <p:spTgt spid="22"/>
                                        </p:tgtEl>
                                        <p:attrNameLst>
                                          <p:attrName>style.visibility</p:attrName>
                                        </p:attrNameLst>
                                      </p:cBhvr>
                                      <p:to>
                                        <p:strVal val="visible"/>
                                      </p:to>
                                    </p:set>
                                    <p:animEffect transition="in" filter="wipe(left)">
                                      <p:cBhvr>
                                        <p:cTn id="70"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3"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4" name="org-card"/>
          <p:cNvSpPr/>
          <p:nvPr/>
        </p:nvSpPr>
        <p:spPr>
          <a:xfrm>
            <a:off x="548640" y="1600200"/>
            <a:ext cx="6766560" cy="4846320"/>
          </a:xfrm>
          <a:prstGeom prst="roundRect">
            <a:avLst>
              <a:gd name="adj" fmla="val 2264"/>
            </a:avLst>
          </a:prstGeom>
          <a:solidFill>
            <a:schemeClr val="bg2"/>
          </a:solidFill>
          <a:ln/>
        </p:spPr>
      </p:sp>
      <p:sp>
        <p:nvSpPr>
          <p:cNvPr id="5"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6"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7"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8" name="loc-card"/>
          <p:cNvSpPr/>
          <p:nvPr/>
        </p:nvSpPr>
        <p:spPr>
          <a:xfrm>
            <a:off x="7589520" y="1600200"/>
            <a:ext cx="4050792" cy="4846320"/>
          </a:xfrm>
          <a:prstGeom prst="roundRect">
            <a:avLst>
              <a:gd name="adj" fmla="val 2709"/>
            </a:avLst>
          </a:prstGeom>
          <a:solidFill>
            <a:schemeClr val="tx1"/>
          </a:solidFill>
          <a:ln/>
        </p:spPr>
      </p:sp>
      <p:sp>
        <p:nvSpPr>
          <p:cNvPr id="9"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0"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6"/>
                                        </p:tgtEl>
                                        <p:attrNameLst>
                                          <p:attrName>style.visibility</p:attrName>
                                        </p:attrNameLst>
                                      </p:cBhvr>
                                      <p:to>
                                        <p:strVal val="visible"/>
                                      </p:to>
                                    </p:set>
                                    <p:animEffect transition="in" filter="wipe(left)">
                                      <p:cBhvr>
                                        <p:cTn id="15" dur="450"/>
                                        <p:tgtEl>
                                          <p:spTgt spid="6"/>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built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11</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new features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3000" b="1" dirty="0">
                <a:solidFill>
                  <a:schemeClr val="tx2"/>
                </a:solidFill>
              </a:rPr>
              <a:t>~17 sprints</a:t>
            </a:r>
            <a:endParaRPr lang="en-US" sz="30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 340 person-days ≈ $105K</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3000" b="1" dirty="0">
                <a:solidFill>
                  <a:schemeClr val="tx2"/>
                </a:solidFill>
              </a:rPr>
              <a:t>4 sprints</a:t>
            </a:r>
            <a:endParaRPr lang="en-US" sz="30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 80 person-days ≈ $25K</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6000" b="1" dirty="0">
                <a:solidFill>
                  <a:schemeClr val="accent5"/>
                </a:solidFill>
              </a:rPr>
              <a:t>~76%</a:t>
            </a:r>
            <a:endParaRPr lang="en-US" sz="60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Less effort</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 $80K saved: (17 − 4) ÷ 17</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2 developers, 2-week sprints = 20 person-days per sprint; 1 PI = 4 sprints; $38.50 per hour, 8 hours a day.</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3" name="ease-0-card"/>
          <p:cNvSpPr/>
          <p:nvPr/>
        </p:nvSpPr>
        <p:spPr>
          <a:xfrm>
            <a:off x="548640" y="1371600"/>
            <a:ext cx="3515258" cy="1554480"/>
          </a:xfrm>
          <a:prstGeom prst="roundRect">
            <a:avLst>
              <a:gd name="adj" fmla="val 7059"/>
            </a:avLst>
          </a:prstGeom>
          <a:solidFill>
            <a:schemeClr val="bg1"/>
          </a:solidFill>
          <a:ln/>
        </p:spPr>
      </p:sp>
      <p:sp>
        <p:nvSpPr>
          <p:cNvPr id="4" name="ease-0-value"/>
          <p:cNvSpPr txBox="1"/>
          <p:nvPr/>
        </p:nvSpPr>
        <p:spPr>
          <a:xfrm>
            <a:off x="749808" y="1481328"/>
            <a:ext cx="3112922"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5" name="ease-0-label"/>
          <p:cNvSpPr txBox="1"/>
          <p:nvPr/>
        </p:nvSpPr>
        <p:spPr>
          <a:xfrm>
            <a:off x="749808" y="2148840"/>
            <a:ext cx="3112922"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built in the same PI</a:t>
            </a:r>
            <a:endParaRPr lang="en-US" sz="1300" dirty="0"/>
          </a:p>
        </p:txBody>
      </p:sp>
      <p:sp>
        <p:nvSpPr>
          <p:cNvPr id="6" name="ease-1-card"/>
          <p:cNvSpPr/>
          <p:nvPr/>
        </p:nvSpPr>
        <p:spPr>
          <a:xfrm>
            <a:off x="4338218" y="1371600"/>
            <a:ext cx="3515258" cy="1554480"/>
          </a:xfrm>
          <a:prstGeom prst="roundRect">
            <a:avLst>
              <a:gd name="adj" fmla="val 7059"/>
            </a:avLst>
          </a:prstGeom>
          <a:solidFill>
            <a:schemeClr val="bg1"/>
          </a:solidFill>
          <a:ln/>
        </p:spPr>
      </p:sp>
      <p:sp>
        <p:nvSpPr>
          <p:cNvPr id="7" name="ease-1-value"/>
          <p:cNvSpPr txBox="1"/>
          <p:nvPr/>
        </p:nvSpPr>
        <p:spPr>
          <a:xfrm>
            <a:off x="4539386" y="1481328"/>
            <a:ext cx="3112922"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8" name="ease-1-label"/>
          <p:cNvSpPr txBox="1"/>
          <p:nvPr/>
        </p:nvSpPr>
        <p:spPr>
          <a:xfrm>
            <a:off x="4539386" y="2148840"/>
            <a:ext cx="3112922"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9" name="ease-2-card"/>
          <p:cNvSpPr/>
          <p:nvPr/>
        </p:nvSpPr>
        <p:spPr>
          <a:xfrm>
            <a:off x="8127797" y="1371600"/>
            <a:ext cx="3515258" cy="1554480"/>
          </a:xfrm>
          <a:prstGeom prst="roundRect">
            <a:avLst>
              <a:gd name="adj" fmla="val 7059"/>
            </a:avLst>
          </a:prstGeom>
          <a:solidFill>
            <a:schemeClr val="tx1"/>
          </a:solidFill>
          <a:ln/>
        </p:spPr>
      </p:sp>
      <p:sp>
        <p:nvSpPr>
          <p:cNvPr id="10" name="ease-2-value"/>
          <p:cNvSpPr txBox="1"/>
          <p:nvPr/>
        </p:nvSpPr>
        <p:spPr>
          <a:xfrm>
            <a:off x="8328965" y="1481328"/>
            <a:ext cx="3112922"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1" name="ease-2-label"/>
          <p:cNvSpPr txBox="1"/>
          <p:nvPr/>
        </p:nvSpPr>
        <p:spPr>
          <a:xfrm>
            <a:off x="8328965" y="2148840"/>
            <a:ext cx="3112922"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2" name="ease-old"/>
          <p:cNvSpPr/>
          <p:nvPr/>
        </p:nvSpPr>
        <p:spPr>
          <a:xfrm>
            <a:off x="548640" y="3154680"/>
            <a:ext cx="5410048" cy="2423160"/>
          </a:xfrm>
          <a:prstGeom prst="roundRect">
            <a:avLst>
              <a:gd name="adj" fmla="val 4528"/>
            </a:avLst>
          </a:prstGeom>
          <a:solidFill>
            <a:schemeClr val="bg1"/>
          </a:solidFill>
          <a:ln/>
        </p:spPr>
      </p:sp>
      <p:sp>
        <p:nvSpPr>
          <p:cNvPr id="13"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4" name="ease-new"/>
          <p:cNvSpPr/>
          <p:nvPr/>
        </p:nvSpPr>
        <p:spPr>
          <a:xfrm>
            <a:off x="6233008" y="3154680"/>
            <a:ext cx="5410048" cy="2423160"/>
          </a:xfrm>
          <a:prstGeom prst="roundRect">
            <a:avLst>
              <a:gd name="adj" fmla="val 4528"/>
            </a:avLst>
          </a:prstGeom>
          <a:solidFill>
            <a:schemeClr val="tx1"/>
          </a:solidFill>
          <a:ln/>
        </p:spPr>
      </p:sp>
      <p:sp>
        <p:nvSpPr>
          <p:cNvPr id="15"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16"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39"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childTnLst>
                          </p:cTn>
                        </p:par>
                        <p:par>
                          <p:cTn id="46" fill="hold">
                            <p:stCondLst>
                              <p:cond delay="1600"/>
                            </p:stCondLst>
                            <p:childTnLst>
                              <p:par>
                                <p:cTn id="40" presetID="22" presetClass="entr" presetSubtype="8" fill="hold" grpId="0" nodeType="after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wipe(left)">
                                      <p:cBhvr>
                                        <p:cTn id="42" dur="450"/>
                                        <p:tgtEl>
                                          <p:spTgt spid="14"/>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wipe(left)">
                                      <p:cBhvr>
                                        <p:cTn id="45" dur="450"/>
                                        <p:tgtEl>
                                          <p:spTgt spid="15"/>
                                        </p:tgtEl>
                                      </p:cBhvr>
                                    </p:animEffect>
                                  </p:childTnLst>
                                </p:cTn>
                              </p:par>
                            </p:childTnLst>
                          </p:cTn>
                        </p:par>
                        <p:par>
                          <p:cTn id="50" fill="hold">
                            <p:stCondLst>
                              <p:cond delay="2000"/>
                            </p:stCondLst>
                            <p:childTnLst>
                              <p:par>
                                <p:cTn id="47" presetID="10" presetClass="entr" presetSubtype="0" fill="hold" grpId="0" nodeType="after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3"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4" name="quote-0-card"/>
          <p:cNvSpPr/>
          <p:nvPr/>
        </p:nvSpPr>
        <p:spPr>
          <a:xfrm>
            <a:off x="548640" y="1645920"/>
            <a:ext cx="3515258" cy="4480560"/>
          </a:xfrm>
          <a:prstGeom prst="roundRect">
            <a:avLst>
              <a:gd name="adj" fmla="val 3121"/>
            </a:avLst>
          </a:prstGeom>
          <a:solidFill>
            <a:schemeClr val="tx1"/>
          </a:solidFill>
          <a:ln/>
        </p:spPr>
      </p:sp>
      <p:sp>
        <p:nvSpPr>
          <p:cNvPr id="5"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6"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7"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8" name="quote-1-card"/>
          <p:cNvSpPr/>
          <p:nvPr/>
        </p:nvSpPr>
        <p:spPr>
          <a:xfrm>
            <a:off x="4338218" y="1645920"/>
            <a:ext cx="3515258" cy="4480560"/>
          </a:xfrm>
          <a:prstGeom prst="roundRect">
            <a:avLst>
              <a:gd name="adj" fmla="val 3121"/>
            </a:avLst>
          </a:prstGeom>
          <a:solidFill>
            <a:schemeClr val="bg1"/>
          </a:solidFill>
          <a:ln/>
        </p:spPr>
      </p:sp>
      <p:sp>
        <p:nvSpPr>
          <p:cNvPr id="9"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0"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1"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2" name="quote-2-card"/>
          <p:cNvSpPr/>
          <p:nvPr/>
        </p:nvSpPr>
        <p:spPr>
          <a:xfrm>
            <a:off x="8127797" y="1645920"/>
            <a:ext cx="3515258" cy="4480560"/>
          </a:xfrm>
          <a:prstGeom prst="roundRect">
            <a:avLst>
              <a:gd name="adj" fmla="val 3121"/>
            </a:avLst>
          </a:prstGeom>
          <a:solidFill>
            <a:schemeClr val="bg1"/>
          </a:solidFill>
          <a:ln/>
        </p:spPr>
      </p:sp>
      <p:sp>
        <p:nvSpPr>
          <p:cNvPr id="13"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4"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5"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450"/>
                                        <p:tgtEl>
                                          <p:spTgt spid="4"/>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rebuilt on a standard, maintainable stack, ready to leave Slate</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delivered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Proposed at the architecture sync, aligned with [Architect], for functions beyond DMS</a:t>
            </a:r>
            <a:endParaRPr lang="en-US" sz="1600" dirty="0"/>
          </a:p>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2026-10-04T19:07:32Z</dcterms:created>
  <dcterms:modified xsi:type="dcterms:W3CDTF">2026-10-04T19:07:32Z</dcterms:modified>
</cp:coreProperties>
</file>