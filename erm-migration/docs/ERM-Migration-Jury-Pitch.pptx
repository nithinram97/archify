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853be82f-37cb-3071-5236-597c13728fa0}">
          <p14:sldIdLst>
            <p14:sldId id="256"/>
          </p14:sldIdLst>
        </p14:section>
        <p14:section name="Context" id="{17addc18-8c97-9952-eb95-4cafef74b56f}">
          <p14:sldIdLst>
            <p14:sldId id="257"/>
            <p14:sldId id="258"/>
          </p14:sldIdLst>
        </p14:section>
        <p14:section name="Problem and method" id="{74955835-f259-be5e-e61d-57f972d936e9}">
          <p14:sldIdLst>
            <p14:sldId id="259"/>
            <p14:sldId id="260"/>
          </p14:sldIdLst>
        </p14:section>
        <p14:section name="Impact" id="{0b2bab05-3513-06d5-6bd2-9eae1b80eb52}">
          <p14:sldIdLst>
            <p14:sldId id="261"/>
            <p14:sldId id="262"/>
            <p14:sldId id="263"/>
          </p14:sldIdLst>
        </p14:section>
        <p14:section name="Reuse" id="{fc2a2f20-659d-d93f-2168-1df443d0d753}">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multiLvlStrRef>
              <c:f>Sheet1!$A$2:$A$24</c:f>
              <c:multiLvlStrCache>
                <c:ptCount val="23"/>
                <c:lvl>
                  <c:pt idx="0">
                    <c:v>Aug 24</c:v>
                  </c:pt>
                  <c:pt idx="1">
                    <c:v>Sep 24</c:v>
                  </c:pt>
                  <c:pt idx="2">
                    <c:v>Oct 24</c:v>
                  </c:pt>
                  <c:pt idx="3">
                    <c:v>Nov 24</c:v>
                  </c:pt>
                  <c:pt idx="4">
                    <c:v>Dec 24</c:v>
                  </c:pt>
                  <c:pt idx="5">
                    <c:v>Jan 25</c:v>
                  </c:pt>
                  <c:pt idx="6">
                    <c:v>Feb 25</c:v>
                  </c:pt>
                  <c:pt idx="7">
                    <c:v>Mar 25</c:v>
                  </c:pt>
                  <c:pt idx="8">
                    <c:v>Apr 25</c:v>
                  </c:pt>
                  <c:pt idx="9">
                    <c:v>May 25</c:v>
                  </c:pt>
                  <c:pt idx="10">
                    <c:v>Jun 25</c:v>
                  </c:pt>
                  <c:pt idx="11">
                    <c:v>Jul 25</c:v>
                  </c:pt>
                  <c:pt idx="12">
                    <c:v>Aug 25</c:v>
                  </c:pt>
                  <c:pt idx="13">
                    <c:v>Sep 25</c:v>
                  </c:pt>
                  <c:pt idx="14">
                    <c:v>Oct 25</c:v>
                  </c:pt>
                  <c:pt idx="15">
                    <c:v>Nov 25</c:v>
                  </c:pt>
                  <c:pt idx="16">
                    <c:v>Dec 25</c:v>
                  </c:pt>
                  <c:pt idx="17">
                    <c:v>Jan 26</c:v>
                  </c:pt>
                  <c:pt idx="18">
                    <c:v>Feb 26</c:v>
                  </c:pt>
                  <c:pt idx="19">
                    <c:v>Mar 26</c:v>
                  </c:pt>
                  <c:pt idx="20">
                    <c:v>Apr 26</c:v>
                  </c:pt>
                  <c:pt idx="21">
                    <c:v>May 26</c:v>
                  </c:pt>
                  <c:pt idx="22">
                    <c:v>Jun 26</c:v>
                  </c:pt>
                </c:lvl>
              </c:multiLvlStrCache>
            </c:multiLvl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moved it to Airbus DevX with React and OSDK in one PI,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across engineering, programmes and operations, with a monthly peak above 320 active risk managers. More than 1,600 dashboards have been created and more than 10 are updated every day. The trend shows monthly unique users growing from launch in summer 2024 to around 300 a month in 2026. Usage spans France, Germany, the UK, Spain, Canada and India, led by Blagnac and Hamburg.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now runs on standard, maintainable React and OSDK code instead of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6583680" cy="3246120"/>
          </a:xfrm>
          <a:prstGeom prst="roundRect">
            <a:avLst>
              <a:gd name="adj" fmla="val 3380"/>
            </a:avLst>
          </a:prstGeom>
          <a:solidFill>
            <a:schemeClr val="bg1"/>
          </a:solidFill>
          <a:ln/>
        </p:spPr>
      </p:sp>
      <p:sp>
        <p:nvSpPr>
          <p:cNvPr id="21" name="trend-title"/>
          <p:cNvSpPr txBox="1"/>
          <p:nvPr/>
        </p:nvSpPr>
        <p:spPr>
          <a:xfrm>
            <a:off x="777240" y="331012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loc-card"/>
          <p:cNvSpPr/>
          <p:nvPr/>
        </p:nvSpPr>
        <p:spPr>
          <a:xfrm>
            <a:off x="7406640" y="3200400"/>
            <a:ext cx="4233672" cy="3246120"/>
          </a:xfrm>
          <a:prstGeom prst="roundRect">
            <a:avLst>
              <a:gd name="adj" fmla="val 3380"/>
            </a:avLst>
          </a:prstGeom>
          <a:solidFill>
            <a:schemeClr val="bg1"/>
          </a:solidFill>
          <a:ln/>
        </p:spPr>
      </p:sp>
      <p:sp>
        <p:nvSpPr>
          <p:cNvPr id="25" name="loc-title"/>
          <p:cNvSpPr txBox="1"/>
          <p:nvPr/>
        </p:nvSpPr>
        <p:spPr>
          <a:xfrm>
            <a:off x="7635240" y="3310128"/>
            <a:ext cx="3840480" cy="274320"/>
          </a:xfrm>
          <a:prstGeom prst="rect">
            <a:avLst/>
          </a:prstGeom>
          <a:noFill/>
          <a:ln/>
        </p:spPr>
        <p:txBody>
          <a:bodyPr wrap="square" lIns="0" tIns="0" rIns="0" bIns="0" rtlCol="0" anchor="t"/>
          <a:lstStyle/>
          <a:p>
            <a:pPr indent="0" marL="0">
              <a:buNone/>
            </a:pPr>
            <a:r>
              <a:rPr lang="en-US" sz="1100" b="1" spc="100" kern="0" dirty="0">
                <a:solidFill>
                  <a:schemeClr val="tx1"/>
                </a:solidFill>
              </a:rPr>
              <a:t>LOCATION PROFILE: GLOBAL MULTI-SITE USE</a:t>
            </a:r>
            <a:endParaRPr lang="en-US" sz="1100" dirty="0"/>
          </a:p>
        </p:txBody>
      </p:sp>
      <p:sp>
        <p:nvSpPr>
          <p:cNvPr id="26" name="loc-intro"/>
          <p:cNvSpPr txBox="1"/>
          <p:nvPr/>
        </p:nvSpPr>
        <p:spPr>
          <a:xfrm>
            <a:off x="7635240" y="3657600"/>
            <a:ext cx="3840480" cy="320040"/>
          </a:xfrm>
          <a:prstGeom prst="rect">
            <a:avLst/>
          </a:prstGeom>
          <a:noFill/>
          <a:ln/>
        </p:spPr>
        <p:txBody>
          <a:bodyPr wrap="square" lIns="0" tIns="0" rIns="0" bIns="0" rtlCol="0" anchor="t"/>
          <a:lstStyle/>
          <a:p>
            <a:pPr indent="0" marL="0">
              <a:buNone/>
            </a:pPr>
            <a:r>
              <a:rPr lang="en-US" sz="1300" dirty="0">
                <a:solidFill>
                  <a:schemeClr val="tx2"/>
                </a:solidFill>
              </a:rPr>
              <a:t>Usage spans countries and engineering campuses:</a:t>
            </a:r>
            <a:endParaRPr lang="en-US" sz="1300" dirty="0"/>
          </a:p>
        </p:txBody>
      </p:sp>
      <p:sp>
        <p:nvSpPr>
          <p:cNvPr id="27" name="loc-list"/>
          <p:cNvSpPr txBox="1"/>
          <p:nvPr/>
        </p:nvSpPr>
        <p:spPr>
          <a:xfrm>
            <a:off x="7635240" y="4069080"/>
            <a:ext cx="3840480" cy="2240280"/>
          </a:xfrm>
          <a:prstGeom prst="rect">
            <a:avLst/>
          </a:prstGeom>
          <a:noFill/>
          <a:ln/>
        </p:spPr>
        <p:txBody>
          <a:bodyPr wrap="square" lIns="0" tIns="0" rIns="0" bIns="0" rtlCol="0" anchor="t"/>
          <a:lstStyle/>
          <a:p>
            <a:pPr indent="0" marL="0">
              <a:buNone/>
            </a:pPr>
            <a:r>
              <a:rPr lang="en-US" sz="1300" b="1" dirty="0">
                <a:solidFill>
                  <a:schemeClr val="tx1"/>
                </a:solidFill>
              </a:rPr>
              <a:t>France</a:t>
            </a:r>
            <a:endParaRPr lang="en-US" sz="1300" dirty="0"/>
          </a:p>
          <a:p>
            <a:pPr indent="0" marL="0">
              <a:spcAft>
                <a:spcPts val="800"/>
              </a:spcAft>
              <a:buNone/>
            </a:pPr>
            <a:r>
              <a:rPr lang="en-US" sz="1300" dirty="0">
                <a:solidFill>
                  <a:schemeClr val="tx2"/>
                </a:solidFill>
              </a:rPr>
              <a:t>Blagnac Wings Campus (271 users), Saint-Martin (43)</a:t>
            </a:r>
            <a:endParaRPr lang="en-US" sz="1300" dirty="0"/>
          </a:p>
          <a:p>
            <a:pPr indent="0" marL="0">
              <a:buNone/>
            </a:pPr>
            <a:r>
              <a:rPr lang="en-US" sz="1300" b="1" dirty="0">
                <a:solidFill>
                  <a:schemeClr val="tx1"/>
                </a:solidFill>
              </a:rPr>
              <a:t>Germany</a:t>
            </a:r>
            <a:endParaRPr lang="en-US" sz="1300" dirty="0"/>
          </a:p>
          <a:p>
            <a:pPr indent="0" marL="0">
              <a:spcAft>
                <a:spcPts val="800"/>
              </a:spcAft>
              <a:buNone/>
            </a:pPr>
            <a:r>
              <a:rPr lang="en-US" sz="1300" dirty="0">
                <a:solidFill>
                  <a:schemeClr val="tx2"/>
                </a:solidFill>
              </a:rPr>
              <a:t>Hamburg Finkenwerder (205 users)</a:t>
            </a:r>
            <a:endParaRPr lang="en-US" sz="1300" dirty="0"/>
          </a:p>
          <a:p>
            <a:pPr indent="0" marL="0">
              <a:buNone/>
            </a:pPr>
            <a:r>
              <a:rPr lang="en-US" sz="1300" b="1" dirty="0">
                <a:solidFill>
                  <a:schemeClr val="tx1"/>
                </a:solidFill>
              </a:rPr>
              <a:t>United Kingdom</a:t>
            </a:r>
            <a:endParaRPr lang="en-US" sz="1300" dirty="0"/>
          </a:p>
          <a:p>
            <a:pPr indent="0" marL="0">
              <a:spcAft>
                <a:spcPts val="800"/>
              </a:spcAft>
              <a:buNone/>
            </a:pPr>
            <a:r>
              <a:rPr lang="en-US" sz="1300" dirty="0">
                <a:solidFill>
                  <a:schemeClr val="tx2"/>
                </a:solidFill>
              </a:rPr>
              <a:t>Broughton (32 users), Filton (26)</a:t>
            </a:r>
            <a:endParaRPr lang="en-US" sz="1300" dirty="0"/>
          </a:p>
          <a:p>
            <a:pPr indent="0" marL="0">
              <a:buNone/>
            </a:pPr>
            <a:r>
              <a:rPr lang="en-US" sz="1300" b="1" dirty="0">
                <a:solidFill>
                  <a:schemeClr val="tx1"/>
                </a:solidFill>
              </a:rPr>
              <a:t>Spain and international</a:t>
            </a:r>
            <a:endParaRPr lang="en-US" sz="1300" dirty="0"/>
          </a:p>
          <a:p>
            <a:pPr indent="0" marL="0">
              <a:spcAft>
                <a:spcPts val="800"/>
              </a:spcAft>
              <a:buNone/>
            </a:pPr>
            <a:r>
              <a:rPr lang="en-US" sz="1300" dirty="0">
                <a:solidFill>
                  <a:schemeClr val="tx2"/>
                </a:solidFill>
              </a:rPr>
              <a:t>Getafe (25 users), Mirabel Canada (12), Bangalore India (7)</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par>
                          <p:cTn id="81" fill="hold">
                            <p:stCondLst>
                              <p:cond delay="2400"/>
                            </p:stCondLst>
                            <p:childTnLst>
                              <p:par>
                                <p:cTn id="72" presetID="10" presetClass="entr" presetSubtype="0" fill="hold" grpId="0" nodeType="after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5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5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50"/>
                                        <p:tgtEl>
                                          <p:spTgt spid="26"/>
                                        </p:tgtEl>
                                      </p:cBhvr>
                                    </p:animEffect>
                                  </p:childTnLst>
                                </p:cTn>
                              </p:par>
                            </p:childTnLst>
                          </p:cTn>
                        </p:par>
                        <p:par>
                          <p:cTn id="85" fill="hold">
                            <p:stCondLst>
                              <p:cond delay="2800"/>
                            </p:stCondLst>
                            <p:childTnLst>
                              <p:par>
                                <p:cTn id="82" presetID="10" presetClass="entr" presetSubtype="0" fill="hold" grpId="0" nodeType="after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versus manual</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in one PI</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5"/>
                </a:solidFill>
              </a:rPr>
              <a:t>~76%</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Effort 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(17 − 4) ÷ 17 sprints</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Team of 2 developers, 2-week sprints = 20 person-days per sprint; 1 PI = 4 development sprints.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moved off legacy Slate onto a standard, maintainable stack</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2026-10-03T15:14:48Z</dcterms:created>
  <dcterms:modified xsi:type="dcterms:W3CDTF">2026-10-03T15:14:48Z</dcterms:modified>
</cp:coreProperties>
</file>