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33ca7ca2-bc01-2ed2-fb6a-97406a12c4f4}">
          <p14:sldIdLst>
            <p14:sldId id="256"/>
          </p14:sldIdLst>
        </p14:section>
        <p14:section name="Problem and method" id="{de6ffe95-0ce3-e50b-5752-1e7c262878da}">
          <p14:sldIdLst>
            <p14:sldId id="257"/>
            <p14:sldId id="258"/>
          </p14:sldIdLst>
        </p14:section>
        <p14:section name="Impact" id="{42ae12a4-0680-d832-7970-7c67feddbf72}">
          <p14:sldIdLst>
            <p14:sldId id="259"/>
            <p14:sldId id="260"/>
            <p14:sldId id="261"/>
            <p14:sldId id="262"/>
          </p14:sldIdLst>
        </p14:section>
        <p14:section name="Reuse" id="{e8beae28-e3cb-39fb-e193-be7fb727433d}">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we took a complex legacy Slate application with no documentation and moved it to React and OSDK using an AI-assisted method we designed ourselves. We worked to a short timeline we set ourselves and still added new features. Then say: in the next slides you will see the problem, the method, the numbers, the results and why any team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animation play. The ERM dashboard was one Slate shell plus seven modules: print preview, action tracker, full search, heatmap, one-pager, report table and waterfall. About 25 MB of widgets, variables, events, queries and embedded code, and no specs, diagrams or feature list. Step one was to break it into its parts; step two was to have AI read each export and pull out every feature. Business users then checked the list. Result: 105 features we knew we had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reviewed and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5 enhancements the old app did not have: a fourth one-pager layout with custom slots, resizable table columns, report classification and cover toggle, a report slideshow, and an explicit new-iteration step.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generic industry-style estimates, not our measured baseline; say so if asked. A manual migration of 105 features typically needs about half a day per feature to reverse-engineer it, two days to rebuild it and half a day to test parity, plus about 25 days to document the app: roughly 340 person-days, or about 17 sprints for our team of 2 developers, more than 4 PIs. We did it in one PI, 4 development sprints, which is about 76% less effort.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results. One: every one of the 105 features is tracked in the comparison document. Two: real gaps were fixed, for example how board members get access to risks when a dashboard is created or edited; that fix is deployed. Three: the React app does more than the old one; show the new features here. Four: the app now has architecture and lifecycle diagrams, for dashboards and for risks. Switch to the live app for the demo here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the work to the 2026 objectives; each row appears in turn. Leverage AI to solve business problems: this is an AI-assisted migration of a complex, undocumented app, and the method is now a playbook. Deliver on time, cost and quality: two developers did it in one PI, about 76% less effort than a generic manual estimate. Manage our risks: the AI review caught 7 security and data-integrity issues, the restricted-view access model was kept, and we removed a dependency on Slate configuration by moving to standard React and OSDK code. Digital Design Authority: the app now has 8 architecture and lifecycle diagrams and a documented feature catalogue. Digital acumen and competencies: pack-project.ts and the playbook let other teams repeat this. Customer satisfaction: ERM users get 5 enhancements the old app did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1554480"/>
            <a:ext cx="11094415"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QUARTERLY AWARDS · INNOVATION</a:t>
            </a:r>
            <a:endParaRPr lang="en-US" sz="1400" dirty="0"/>
          </a:p>
        </p:txBody>
      </p:sp>
      <p:sp>
        <p:nvSpPr>
          <p:cNvPr id="3" name="cover-title"/>
          <p:cNvSpPr txBox="1"/>
          <p:nvPr/>
        </p:nvSpPr>
        <p:spPr>
          <a:xfrm>
            <a:off x="548640" y="2011680"/>
            <a:ext cx="9601200" cy="1828800"/>
          </a:xfrm>
          <a:prstGeom prst="rect">
            <a:avLst/>
          </a:prstGeom>
          <a:noFill/>
          <a:ln/>
        </p:spPr>
        <p:txBody>
          <a:bodyPr wrap="square" lIns="0" tIns="0" rIns="0" bIns="0" rtlCol="0" anchor="t"/>
          <a:lstStyle/>
          <a:p>
            <a:pPr indent="0" marL="0">
              <a:buNone/>
            </a:pPr>
            <a:r>
              <a:rPr lang="en-US" sz="5400" b="1" dirty="0">
                <a:solidFill>
                  <a:schemeClr val="bg1"/>
                </a:solidFill>
              </a:rPr>
              <a:t>From undocumented Slate to React, with AI</a:t>
            </a:r>
            <a:endParaRPr lang="en-US" sz="5400" dirty="0"/>
          </a:p>
        </p:txBody>
      </p:sp>
      <p:sp>
        <p:nvSpPr>
          <p:cNvPr id="4" name="cover-sub"/>
          <p:cNvSpPr txBox="1"/>
          <p:nvPr/>
        </p:nvSpPr>
        <p:spPr>
          <a:xfrm>
            <a:off x="548640" y="3977640"/>
            <a:ext cx="9144000" cy="914400"/>
          </a:xfrm>
          <a:prstGeom prst="rect">
            <a:avLst/>
          </a:prstGeom>
          <a:noFill/>
          <a:ln/>
        </p:spPr>
        <p:txBody>
          <a:bodyPr wrap="square" lIns="0" tIns="0" rIns="0" bIns="0" rtlCol="0" anchor="t"/>
          <a:lstStyle/>
          <a:p>
            <a:pPr indent="0" marL="0">
              <a:buNone/>
            </a:pPr>
            <a:r>
              <a:rPr lang="en-US" sz="2000" dirty="0">
                <a:solidFill>
                  <a:schemeClr val="accent5"/>
                </a:solidFill>
              </a:rPr>
              <a:t>How we rebuilt the ERM Risk &amp; Opportunity Dashboard on a tight timeline we set ourselves, and added new features on the way</a:t>
            </a:r>
            <a:endParaRPr lang="en-US" sz="2000" dirty="0"/>
          </a:p>
        </p:txBody>
      </p:sp>
      <p:sp>
        <p:nvSpPr>
          <p:cNvPr id="5" name="presenters"/>
          <p:cNvSpPr txBox="1"/>
          <p:nvPr/>
        </p:nvSpPr>
        <p:spPr>
          <a:xfrm>
            <a:off x="548640" y="5943600"/>
            <a:ext cx="7315200" cy="365760"/>
          </a:xfrm>
          <a:prstGeom prst="rect">
            <a:avLst/>
          </a:prstGeom>
          <a:noFill/>
          <a:ln/>
        </p:spPr>
        <p:txBody>
          <a:bodyPr wrap="square" lIns="0" tIns="0" rIns="0" bIns="0" rtlCol="0" anchor="t"/>
          <a:lstStyle/>
          <a:p>
            <a:pPr indent="0" marL="0">
              <a:buNone/>
            </a:pPr>
            <a:r>
              <a:rPr lang="en-US" sz="1400" dirty="0">
                <a:solidFill>
                  <a:schemeClr val="accent5"/>
                </a:solidFill>
              </a:rPr>
              <a:t>[Team name] · [Presenter names]</a:t>
            </a:r>
            <a:endParaRPr lang="en-US" sz="1400" dirty="0"/>
          </a:p>
        </p:txBody>
      </p:sp>
      <p:sp>
        <p:nvSpPr>
          <p:cNvPr id="7"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A large app that nobody had documented</a:t>
            </a:r>
            <a:endParaRPr lang="en-US" sz="3600" dirty="0"/>
          </a:p>
        </p:txBody>
      </p:sp>
      <p:pic>
        <p:nvPicPr>
          <p:cNvPr id="3"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48640" y="1600200"/>
            <a:ext cx="6858000" cy="4114800"/>
          </a:xfrm>
          <a:prstGeom prst="rect">
            <a:avLst/>
          </a:prstGeom>
        </p:spPr>
      </p:pic>
      <p:sp>
        <p:nvSpPr>
          <p:cNvPr id="4" name="stat-0-value"/>
          <p:cNvSpPr txBox="1"/>
          <p:nvPr/>
        </p:nvSpPr>
        <p:spPr>
          <a:xfrm>
            <a:off x="7863840" y="1600200"/>
            <a:ext cx="3749040" cy="777240"/>
          </a:xfrm>
          <a:prstGeom prst="rect">
            <a:avLst/>
          </a:prstGeom>
          <a:noFill/>
          <a:ln/>
        </p:spPr>
        <p:txBody>
          <a:bodyPr wrap="square" lIns="0" tIns="0" rIns="0" bIns="0" rtlCol="0" anchor="t"/>
          <a:lstStyle/>
          <a:p>
            <a:pPr indent="0" marL="0">
              <a:buNone/>
            </a:pPr>
            <a:r>
              <a:rPr lang="en-US" sz="5600" b="1" dirty="0">
                <a:solidFill>
                  <a:schemeClr val="tx1"/>
                </a:solidFill>
              </a:rPr>
              <a:t>8</a:t>
            </a:r>
            <a:endParaRPr lang="en-US" sz="5600" dirty="0"/>
          </a:p>
        </p:txBody>
      </p:sp>
      <p:sp>
        <p:nvSpPr>
          <p:cNvPr id="5" name="stat-0-label"/>
          <p:cNvSpPr txBox="1"/>
          <p:nvPr/>
        </p:nvSpPr>
        <p:spPr>
          <a:xfrm>
            <a:off x="7863840" y="2377440"/>
            <a:ext cx="3749040" cy="502920"/>
          </a:xfrm>
          <a:prstGeom prst="rect">
            <a:avLst/>
          </a:prstGeom>
          <a:noFill/>
          <a:ln/>
        </p:spPr>
        <p:txBody>
          <a:bodyPr wrap="square" lIns="0" tIns="0" rIns="0" bIns="0" rtlCol="0" anchor="t"/>
          <a:lstStyle/>
          <a:p>
            <a:pPr indent="0" marL="0">
              <a:buNone/>
            </a:pPr>
            <a:r>
              <a:rPr lang="en-US" sz="1500" dirty="0">
                <a:solidFill>
                  <a:schemeClr val="tx2"/>
                </a:solidFill>
              </a:rPr>
              <a:t>Slate exports: 1 shell app and 7 modules</a:t>
            </a:r>
            <a:endParaRPr lang="en-US" sz="1500" dirty="0"/>
          </a:p>
        </p:txBody>
      </p:sp>
      <p:sp>
        <p:nvSpPr>
          <p:cNvPr id="6" name="stat-1-value"/>
          <p:cNvSpPr txBox="1"/>
          <p:nvPr/>
        </p:nvSpPr>
        <p:spPr>
          <a:xfrm>
            <a:off x="7863840" y="3017520"/>
            <a:ext cx="3749040" cy="777240"/>
          </a:xfrm>
          <a:prstGeom prst="rect">
            <a:avLst/>
          </a:prstGeom>
          <a:noFill/>
          <a:ln/>
        </p:spPr>
        <p:txBody>
          <a:bodyPr wrap="square" lIns="0" tIns="0" rIns="0" bIns="0" rtlCol="0" anchor="t"/>
          <a:lstStyle/>
          <a:p>
            <a:pPr indent="0" marL="0">
              <a:buNone/>
            </a:pPr>
            <a:r>
              <a:rPr lang="en-US" sz="5600" b="1" dirty="0">
                <a:solidFill>
                  <a:schemeClr val="tx1"/>
                </a:solidFill>
              </a:rPr>
              <a:t>0</a:t>
            </a:r>
            <a:endParaRPr lang="en-US" sz="5600" dirty="0"/>
          </a:p>
        </p:txBody>
      </p:sp>
      <p:sp>
        <p:nvSpPr>
          <p:cNvPr id="7" name="stat-1-label"/>
          <p:cNvSpPr txBox="1"/>
          <p:nvPr/>
        </p:nvSpPr>
        <p:spPr>
          <a:xfrm>
            <a:off x="7863840" y="3794760"/>
            <a:ext cx="3749040" cy="502920"/>
          </a:xfrm>
          <a:prstGeom prst="rect">
            <a:avLst/>
          </a:prstGeom>
          <a:noFill/>
          <a:ln/>
        </p:spPr>
        <p:txBody>
          <a:bodyPr wrap="square" lIns="0" tIns="0" rIns="0" bIns="0" rtlCol="0" anchor="t"/>
          <a:lstStyle/>
          <a:p>
            <a:pPr indent="0" marL="0">
              <a:buNone/>
            </a:pPr>
            <a:r>
              <a:rPr lang="en-US" sz="1500" dirty="0">
                <a:solidFill>
                  <a:schemeClr val="tx2"/>
                </a:solidFill>
              </a:rPr>
              <a:t>pages of documentation, about 25 MB of configuration</a:t>
            </a:r>
            <a:endParaRPr lang="en-US" sz="1500" dirty="0"/>
          </a:p>
        </p:txBody>
      </p:sp>
      <p:sp>
        <p:nvSpPr>
          <p:cNvPr id="8" name="stat-2-value"/>
          <p:cNvSpPr txBox="1"/>
          <p:nvPr/>
        </p:nvSpPr>
        <p:spPr>
          <a:xfrm>
            <a:off x="7863840" y="4434840"/>
            <a:ext cx="3749040" cy="777240"/>
          </a:xfrm>
          <a:prstGeom prst="rect">
            <a:avLst/>
          </a:prstGeom>
          <a:noFill/>
          <a:ln/>
        </p:spPr>
        <p:txBody>
          <a:bodyPr wrap="square" lIns="0" tIns="0" rIns="0" bIns="0" rtlCol="0" anchor="t"/>
          <a:lstStyle/>
          <a:p>
            <a:pPr indent="0" marL="0">
              <a:buNone/>
            </a:pPr>
            <a:r>
              <a:rPr lang="en-US" sz="5600" b="1" dirty="0">
                <a:solidFill>
                  <a:schemeClr val="accent3"/>
                </a:solidFill>
              </a:rPr>
              <a:t>105</a:t>
            </a:r>
            <a:endParaRPr lang="en-US" sz="5600" dirty="0"/>
          </a:p>
        </p:txBody>
      </p:sp>
      <p:sp>
        <p:nvSpPr>
          <p:cNvPr id="9" name="stat-2-label"/>
          <p:cNvSpPr txBox="1"/>
          <p:nvPr/>
        </p:nvSpPr>
        <p:spPr>
          <a:xfrm>
            <a:off x="7863840" y="5212080"/>
            <a:ext cx="3749040" cy="502920"/>
          </a:xfrm>
          <a:prstGeom prst="rect">
            <a:avLst/>
          </a:prstGeom>
          <a:noFill/>
          <a:ln/>
        </p:spPr>
        <p:txBody>
          <a:bodyPr wrap="square" lIns="0" tIns="0" rIns="0" bIns="0" rtlCol="0" anchor="t"/>
          <a:lstStyle/>
          <a:p>
            <a:pPr indent="0" marL="0">
              <a:buNone/>
            </a:pPr>
            <a:r>
              <a:rPr lang="en-US" sz="1500" dirty="0">
                <a:solidFill>
                  <a:schemeClr val="tx2"/>
                </a:solidFill>
              </a:rPr>
              <a:t>features recovered by AI and confirmed by users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done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5</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enhancements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 versus manual</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~17</a:t>
            </a:r>
            <a:endParaRPr lang="en-US" sz="48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340 person-days</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4</a:t>
            </a:r>
            <a:endParaRPr lang="en-US" sz="48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in one PI</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4800" b="1" dirty="0">
                <a:solidFill>
                  <a:schemeClr val="accent1"/>
                </a:solidFill>
              </a:rPr>
              <a:t>~76%</a:t>
            </a:r>
            <a:endParaRPr lang="en-US" sz="48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Effort saved</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(17 − 4) ÷ 17 sprints</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Team of 2 developers, 2-week sprints = 20 person-days per sprint; 1 PI = 4 development sprints.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we delivered in one SAFe PI</a:t>
            </a:r>
            <a:endParaRPr lang="en-US" sz="3600" dirty="0"/>
          </a:p>
        </p:txBody>
      </p:sp>
      <p:sp>
        <p:nvSpPr>
          <p:cNvPr id="3" name="result-0-card"/>
          <p:cNvSpPr/>
          <p:nvPr/>
        </p:nvSpPr>
        <p:spPr>
          <a:xfrm>
            <a:off x="548640" y="1600200"/>
            <a:ext cx="5410048" cy="2057400"/>
          </a:xfrm>
          <a:prstGeom prst="roundRect">
            <a:avLst>
              <a:gd name="adj" fmla="val 5333"/>
            </a:avLst>
          </a:prstGeom>
          <a:solidFill>
            <a:schemeClr val="bg1"/>
          </a:solidFill>
          <a:ln/>
        </p:spPr>
      </p:sp>
      <p:sp>
        <p:nvSpPr>
          <p:cNvPr id="4" name="result-0-title"/>
          <p:cNvSpPr txBox="1"/>
          <p:nvPr/>
        </p:nvSpPr>
        <p:spPr>
          <a:xfrm>
            <a:off x="868680" y="1920240"/>
            <a:ext cx="4769968" cy="685800"/>
          </a:xfrm>
          <a:prstGeom prst="rect">
            <a:avLst/>
          </a:prstGeom>
          <a:noFill/>
          <a:ln/>
        </p:spPr>
        <p:txBody>
          <a:bodyPr wrap="square" lIns="0" tIns="0" rIns="0" bIns="0" rtlCol="0" anchor="t"/>
          <a:lstStyle/>
          <a:p>
            <a:pPr indent="0" marL="0">
              <a:buNone/>
            </a:pPr>
            <a:r>
              <a:rPr lang="en-US" sz="3200" b="1" dirty="0">
                <a:solidFill>
                  <a:schemeClr val="accent3"/>
                </a:solidFill>
              </a:rPr>
              <a:t>105 features</a:t>
            </a:r>
            <a:endParaRPr lang="en-US" sz="3200" dirty="0"/>
          </a:p>
        </p:txBody>
      </p:sp>
      <p:sp>
        <p:nvSpPr>
          <p:cNvPr id="5" name="result-0-body"/>
          <p:cNvSpPr txBox="1"/>
          <p:nvPr/>
        </p:nvSpPr>
        <p:spPr>
          <a:xfrm>
            <a:off x="868680" y="2651760"/>
            <a:ext cx="4769968" cy="731520"/>
          </a:xfrm>
          <a:prstGeom prst="rect">
            <a:avLst/>
          </a:prstGeom>
          <a:noFill/>
          <a:ln/>
        </p:spPr>
        <p:txBody>
          <a:bodyPr wrap="square" lIns="0" tIns="0" rIns="0" bIns="0" rtlCol="0" anchor="t"/>
          <a:lstStyle/>
          <a:p>
            <a:pPr indent="0" marL="0">
              <a:buNone/>
            </a:pPr>
            <a:r>
              <a:rPr lang="en-US" sz="1600" dirty="0">
                <a:solidFill>
                  <a:schemeClr val="tx2"/>
                </a:solidFill>
              </a:rPr>
              <a:t>Catalogued and compared one by one, so nothing was lost by accident</a:t>
            </a:r>
            <a:endParaRPr lang="en-US" sz="1600" dirty="0"/>
          </a:p>
        </p:txBody>
      </p:sp>
      <p:sp>
        <p:nvSpPr>
          <p:cNvPr id="6" name="result-1-card"/>
          <p:cNvSpPr/>
          <p:nvPr/>
        </p:nvSpPr>
        <p:spPr>
          <a:xfrm>
            <a:off x="6233008" y="1600200"/>
            <a:ext cx="5410048" cy="2057400"/>
          </a:xfrm>
          <a:prstGeom prst="roundRect">
            <a:avLst>
              <a:gd name="adj" fmla="val 5333"/>
            </a:avLst>
          </a:prstGeom>
          <a:solidFill>
            <a:schemeClr val="bg1"/>
          </a:solidFill>
          <a:ln/>
        </p:spPr>
      </p:sp>
      <p:sp>
        <p:nvSpPr>
          <p:cNvPr id="7" name="result-1-title"/>
          <p:cNvSpPr txBox="1"/>
          <p:nvPr/>
        </p:nvSpPr>
        <p:spPr>
          <a:xfrm>
            <a:off x="6553048" y="1920240"/>
            <a:ext cx="4769968" cy="685800"/>
          </a:xfrm>
          <a:prstGeom prst="rect">
            <a:avLst/>
          </a:prstGeom>
          <a:noFill/>
          <a:ln/>
        </p:spPr>
        <p:txBody>
          <a:bodyPr wrap="square" lIns="0" tIns="0" rIns="0" bIns="0" rtlCol="0" anchor="t"/>
          <a:lstStyle/>
          <a:p>
            <a:pPr indent="0" marL="0">
              <a:buNone/>
            </a:pPr>
            <a:r>
              <a:rPr lang="en-US" sz="3200" b="1" dirty="0">
                <a:solidFill>
                  <a:schemeClr val="tx1"/>
                </a:solidFill>
              </a:rPr>
              <a:t>Gaps fixed</a:t>
            </a:r>
            <a:endParaRPr lang="en-US" sz="3200" dirty="0"/>
          </a:p>
        </p:txBody>
      </p:sp>
      <p:sp>
        <p:nvSpPr>
          <p:cNvPr id="8" name="result-1-body"/>
          <p:cNvSpPr txBox="1"/>
          <p:nvPr/>
        </p:nvSpPr>
        <p:spPr>
          <a:xfrm>
            <a:off x="6553048" y="2651760"/>
            <a:ext cx="4769968" cy="731520"/>
          </a:xfrm>
          <a:prstGeom prst="rect">
            <a:avLst/>
          </a:prstGeom>
          <a:noFill/>
          <a:ln/>
        </p:spPr>
        <p:txBody>
          <a:bodyPr wrap="square" lIns="0" tIns="0" rIns="0" bIns="0" rtlCol="0" anchor="t"/>
          <a:lstStyle/>
          <a:p>
            <a:pPr indent="0" marL="0">
              <a:buNone/>
            </a:pPr>
            <a:r>
              <a:rPr lang="en-US" sz="1600" dirty="0">
                <a:solidFill>
                  <a:schemeClr val="tx2"/>
                </a:solidFill>
              </a:rPr>
              <a:t>Including dashboard sharing access in the backend workflow, now deployed</a:t>
            </a:r>
            <a:endParaRPr lang="en-US" sz="1600" dirty="0"/>
          </a:p>
        </p:txBody>
      </p:sp>
      <p:sp>
        <p:nvSpPr>
          <p:cNvPr id="9" name="result-2-card"/>
          <p:cNvSpPr/>
          <p:nvPr/>
        </p:nvSpPr>
        <p:spPr>
          <a:xfrm>
            <a:off x="548640" y="3931920"/>
            <a:ext cx="5410048" cy="2057400"/>
          </a:xfrm>
          <a:prstGeom prst="roundRect">
            <a:avLst>
              <a:gd name="adj" fmla="val 5333"/>
            </a:avLst>
          </a:prstGeom>
          <a:solidFill>
            <a:schemeClr val="bg1"/>
          </a:solidFill>
          <a:ln/>
        </p:spPr>
      </p:sp>
      <p:sp>
        <p:nvSpPr>
          <p:cNvPr id="10" name="result-2-title"/>
          <p:cNvSpPr txBox="1"/>
          <p:nvPr/>
        </p:nvSpPr>
        <p:spPr>
          <a:xfrm>
            <a:off x="868680" y="4251960"/>
            <a:ext cx="4769968" cy="685800"/>
          </a:xfrm>
          <a:prstGeom prst="rect">
            <a:avLst/>
          </a:prstGeom>
          <a:noFill/>
          <a:ln/>
        </p:spPr>
        <p:txBody>
          <a:bodyPr wrap="square" lIns="0" tIns="0" rIns="0" bIns="0" rtlCol="0" anchor="t"/>
          <a:lstStyle/>
          <a:p>
            <a:pPr indent="0" marL="0">
              <a:buNone/>
            </a:pPr>
            <a:r>
              <a:rPr lang="en-US" sz="3200" b="1" dirty="0">
                <a:solidFill>
                  <a:schemeClr val="tx1"/>
                </a:solidFill>
              </a:rPr>
              <a:t>New features</a:t>
            </a:r>
            <a:endParaRPr lang="en-US" sz="3200" dirty="0"/>
          </a:p>
        </p:txBody>
      </p:sp>
      <p:sp>
        <p:nvSpPr>
          <p:cNvPr id="11" name="result-2-body"/>
          <p:cNvSpPr txBox="1"/>
          <p:nvPr/>
        </p:nvSpPr>
        <p:spPr>
          <a:xfrm>
            <a:off x="868680" y="4983480"/>
            <a:ext cx="4769968" cy="731520"/>
          </a:xfrm>
          <a:prstGeom prst="rect">
            <a:avLst/>
          </a:prstGeom>
          <a:noFill/>
          <a:ln/>
        </p:spPr>
        <p:txBody>
          <a:bodyPr wrap="square" lIns="0" tIns="0" rIns="0" bIns="0" rtlCol="0" anchor="t"/>
          <a:lstStyle/>
          <a:p>
            <a:pPr indent="0" marL="0">
              <a:buNone/>
            </a:pPr>
            <a:r>
              <a:rPr lang="en-US" sz="1600" dirty="0">
                <a:solidFill>
                  <a:schemeClr val="tx2"/>
                </a:solidFill>
              </a:rPr>
              <a:t>[List the new React features you will demo]</a:t>
            </a:r>
            <a:endParaRPr lang="en-US" sz="1600" dirty="0"/>
          </a:p>
        </p:txBody>
      </p:sp>
      <p:sp>
        <p:nvSpPr>
          <p:cNvPr id="12" name="result-3-card"/>
          <p:cNvSpPr/>
          <p:nvPr/>
        </p:nvSpPr>
        <p:spPr>
          <a:xfrm>
            <a:off x="6233008" y="3931920"/>
            <a:ext cx="5410048" cy="2057400"/>
          </a:xfrm>
          <a:prstGeom prst="roundRect">
            <a:avLst>
              <a:gd name="adj" fmla="val 5333"/>
            </a:avLst>
          </a:prstGeom>
          <a:solidFill>
            <a:schemeClr val="bg1"/>
          </a:solidFill>
          <a:ln/>
        </p:spPr>
      </p:sp>
      <p:sp>
        <p:nvSpPr>
          <p:cNvPr id="13" name="result-3-title"/>
          <p:cNvSpPr txBox="1"/>
          <p:nvPr/>
        </p:nvSpPr>
        <p:spPr>
          <a:xfrm>
            <a:off x="6553048" y="4251960"/>
            <a:ext cx="4769968" cy="685800"/>
          </a:xfrm>
          <a:prstGeom prst="rect">
            <a:avLst/>
          </a:prstGeom>
          <a:noFill/>
          <a:ln/>
        </p:spPr>
        <p:txBody>
          <a:bodyPr wrap="square" lIns="0" tIns="0" rIns="0" bIns="0" rtlCol="0" anchor="t"/>
          <a:lstStyle/>
          <a:p>
            <a:pPr indent="0" marL="0">
              <a:buNone/>
            </a:pPr>
            <a:r>
              <a:rPr lang="en-US" sz="3200" b="1" dirty="0">
                <a:solidFill>
                  <a:schemeClr val="tx1"/>
                </a:solidFill>
              </a:rPr>
              <a:t>Documented</a:t>
            </a:r>
            <a:endParaRPr lang="en-US" sz="3200" dirty="0"/>
          </a:p>
        </p:txBody>
      </p:sp>
      <p:sp>
        <p:nvSpPr>
          <p:cNvPr id="14" name="result-3-body"/>
          <p:cNvSpPr txBox="1"/>
          <p:nvPr/>
        </p:nvSpPr>
        <p:spPr>
          <a:xfrm>
            <a:off x="6553048" y="4983480"/>
            <a:ext cx="4769968" cy="731520"/>
          </a:xfrm>
          <a:prstGeom prst="rect">
            <a:avLst/>
          </a:prstGeom>
          <a:noFill/>
          <a:ln/>
        </p:spPr>
        <p:txBody>
          <a:bodyPr wrap="square" lIns="0" tIns="0" rIns="0" bIns="0" rtlCol="0" anchor="t"/>
          <a:lstStyle/>
          <a:p>
            <a:pPr indent="0" marL="0">
              <a:buNone/>
            </a:pPr>
            <a:r>
              <a:rPr lang="en-US" sz="1600" dirty="0">
                <a:solidFill>
                  <a:schemeClr val="tx2"/>
                </a:solidFill>
              </a:rPr>
              <a:t>Architecture and lifecycle diagrams for both apps, where none existed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objhead-left"/>
          <p:cNvSpPr txBox="1"/>
          <p:nvPr/>
        </p:nvSpPr>
        <p:spPr>
          <a:xfrm>
            <a:off x="548640" y="1280160"/>
            <a:ext cx="4617720"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4" name="objhead-right"/>
          <p:cNvSpPr txBox="1"/>
          <p:nvPr/>
        </p:nvSpPr>
        <p:spPr>
          <a:xfrm>
            <a:off x="5577840" y="1280160"/>
            <a:ext cx="6062472" cy="274320"/>
          </a:xfrm>
          <a:prstGeom prst="rect">
            <a:avLst/>
          </a:prstGeom>
          <a:noFill/>
          <a:ln/>
        </p:spPr>
        <p:txBody>
          <a:bodyPr wrap="square" lIns="0" tIns="0" rIns="0" bIns="0" rtlCol="0" anchor="t"/>
          <a:lstStyle/>
          <a:p>
            <a:pPr indent="0" marL="0">
              <a:buNone/>
            </a:pPr>
            <a:r>
              <a:rPr lang="en-US" sz="1100" b="1" spc="100" kern="0" dirty="0">
                <a:solidFill>
                  <a:schemeClr val="tx2"/>
                </a:solidFill>
              </a:rPr>
              <a:t>WHAT WE CONTRIBUTED</a:t>
            </a:r>
            <a:endParaRPr lang="en-US" sz="1100" dirty="0"/>
          </a:p>
        </p:txBody>
      </p:sp>
      <p:sp>
        <p:nvSpPr>
          <p:cNvPr id="5" name="objrow-0-objbox"/>
          <p:cNvSpPr/>
          <p:nvPr/>
        </p:nvSpPr>
        <p:spPr>
          <a:xfrm>
            <a:off x="548640" y="1645920"/>
            <a:ext cx="4617720" cy="676656"/>
          </a:xfrm>
          <a:prstGeom prst="roundRect">
            <a:avLst>
              <a:gd name="adj" fmla="val 16216"/>
            </a:avLst>
          </a:prstGeom>
          <a:solidFill>
            <a:schemeClr val="tx1"/>
          </a:solidFill>
          <a:ln/>
        </p:spPr>
      </p:sp>
      <p:sp>
        <p:nvSpPr>
          <p:cNvPr id="6" name="objrow-0-objtext"/>
          <p:cNvSpPr txBox="1"/>
          <p:nvPr/>
        </p:nvSpPr>
        <p:spPr>
          <a:xfrm>
            <a:off x="731520" y="1719072"/>
            <a:ext cx="4297680" cy="530352"/>
          </a:xfrm>
          <a:prstGeom prst="rect">
            <a:avLst/>
          </a:prstGeom>
          <a:noFill/>
          <a:ln/>
        </p:spPr>
        <p:txBody>
          <a:bodyPr wrap="square" lIns="0" tIns="0" rIns="0" bIns="0" rtlCol="0" anchor="ctr"/>
          <a:lstStyle/>
          <a:p>
            <a:pPr indent="0" marL="0">
              <a:buNone/>
            </a:pPr>
            <a:r>
              <a:rPr lang="en-US" sz="1300" b="1" dirty="0">
                <a:solidFill>
                  <a:schemeClr val="bg1"/>
                </a:solidFill>
              </a:rPr>
              <a:t>Leverage AI to solve business problems</a:t>
            </a:r>
            <a:endParaRPr lang="en-US" sz="1300" dirty="0"/>
          </a:p>
          <a:p>
            <a:pPr indent="0" marL="0">
              <a:buNone/>
            </a:pPr>
            <a:r>
              <a:rPr lang="en-US" sz="1100" dirty="0">
                <a:solidFill>
                  <a:schemeClr val="accent5"/>
                </a:solidFill>
              </a:rPr>
              <a:t>Digital: democratise AI · India TFO</a:t>
            </a:r>
            <a:endParaRPr lang="en-US" sz="1300" dirty="0"/>
          </a:p>
        </p:txBody>
      </p:sp>
      <p:sp>
        <p:nvSpPr>
          <p:cNvPr id="7" name="objrow-0-arrow"/>
          <p:cNvSpPr/>
          <p:nvPr/>
        </p:nvSpPr>
        <p:spPr>
          <a:xfrm>
            <a:off x="5248656" y="1856232"/>
            <a:ext cx="237744" cy="256032"/>
          </a:xfrm>
          <a:prstGeom prst="rightArrow">
            <a:avLst/>
          </a:prstGeom>
          <a:solidFill>
            <a:schemeClr val="accent1"/>
          </a:solidFill>
          <a:ln w="12700">
            <a:solidFill>
              <a:schemeClr val="accent1"/>
            </a:solidFill>
            <a:prstDash val="solid"/>
          </a:ln>
        </p:spPr>
      </p:sp>
      <p:sp>
        <p:nvSpPr>
          <p:cNvPr id="8" name="objrow-0-contribbox"/>
          <p:cNvSpPr/>
          <p:nvPr/>
        </p:nvSpPr>
        <p:spPr>
          <a:xfrm>
            <a:off x="5577840" y="1645920"/>
            <a:ext cx="6062472" cy="676656"/>
          </a:xfrm>
          <a:prstGeom prst="roundRect">
            <a:avLst>
              <a:gd name="adj" fmla="val 16216"/>
            </a:avLst>
          </a:prstGeom>
          <a:solidFill>
            <a:schemeClr val="bg2"/>
          </a:solidFill>
          <a:ln/>
        </p:spPr>
      </p:sp>
      <p:sp>
        <p:nvSpPr>
          <p:cNvPr id="9" name="objrow-0-contribtext"/>
          <p:cNvSpPr txBox="1"/>
          <p:nvPr/>
        </p:nvSpPr>
        <p:spPr>
          <a:xfrm>
            <a:off x="5760720" y="1719072"/>
            <a:ext cx="5696712" cy="530352"/>
          </a:xfrm>
          <a:prstGeom prst="rect">
            <a:avLst/>
          </a:prstGeom>
          <a:noFill/>
          <a:ln/>
        </p:spPr>
        <p:txBody>
          <a:bodyPr wrap="square" lIns="0" tIns="0" rIns="0" bIns="0" rtlCol="0" anchor="ctr"/>
          <a:lstStyle/>
          <a:p>
            <a:pPr indent="0" marL="0">
              <a:buNone/>
            </a:pPr>
            <a:r>
              <a:rPr lang="en-US" sz="1400" dirty="0">
                <a:solidFill>
                  <a:schemeClr val="tx1"/>
                </a:solidFill>
              </a:rPr>
              <a:t>AI-assisted migration of an undocumented, multi-module app, packaged as a reusable playbook</a:t>
            </a:r>
            <a:endParaRPr lang="en-US" sz="1400" dirty="0"/>
          </a:p>
        </p:txBody>
      </p:sp>
      <p:sp>
        <p:nvSpPr>
          <p:cNvPr id="10" name="objrow-1-objbox"/>
          <p:cNvSpPr/>
          <p:nvPr/>
        </p:nvSpPr>
        <p:spPr>
          <a:xfrm>
            <a:off x="548640" y="2432304"/>
            <a:ext cx="4617720" cy="676656"/>
          </a:xfrm>
          <a:prstGeom prst="roundRect">
            <a:avLst>
              <a:gd name="adj" fmla="val 16216"/>
            </a:avLst>
          </a:prstGeom>
          <a:solidFill>
            <a:schemeClr val="tx1"/>
          </a:solidFill>
          <a:ln/>
        </p:spPr>
      </p:sp>
      <p:sp>
        <p:nvSpPr>
          <p:cNvPr id="11" name="objrow-1-objtext"/>
          <p:cNvSpPr txBox="1"/>
          <p:nvPr/>
        </p:nvSpPr>
        <p:spPr>
          <a:xfrm>
            <a:off x="731520" y="2505456"/>
            <a:ext cx="4297680" cy="530352"/>
          </a:xfrm>
          <a:prstGeom prst="rect">
            <a:avLst/>
          </a:prstGeom>
          <a:noFill/>
          <a:ln/>
        </p:spPr>
        <p:txBody>
          <a:bodyPr wrap="square" lIns="0" tIns="0" rIns="0" bIns="0" rtlCol="0" anchor="ctr"/>
          <a:lstStyle/>
          <a:p>
            <a:pPr indent="0" marL="0">
              <a:buNone/>
            </a:pPr>
            <a:r>
              <a:rPr lang="en-US" sz="1300" b="1" dirty="0">
                <a:solidFill>
                  <a:schemeClr val="bg1"/>
                </a:solidFill>
              </a:rPr>
              <a:t>Deliver on time, on cost, on quality</a:t>
            </a:r>
            <a:endParaRPr lang="en-US" sz="1300" dirty="0"/>
          </a:p>
          <a:p>
            <a:pPr indent="0" marL="0">
              <a:buNone/>
            </a:pPr>
            <a:r>
              <a:rPr lang="en-US" sz="1100" dirty="0">
                <a:solidFill>
                  <a:schemeClr val="accent5"/>
                </a:solidFill>
              </a:rPr>
              <a:t>Digital: optimise our resources · Company: financial</a:t>
            </a:r>
            <a:endParaRPr lang="en-US" sz="1300" dirty="0"/>
          </a:p>
        </p:txBody>
      </p:sp>
      <p:sp>
        <p:nvSpPr>
          <p:cNvPr id="12" name="objrow-1-arrow"/>
          <p:cNvSpPr/>
          <p:nvPr/>
        </p:nvSpPr>
        <p:spPr>
          <a:xfrm>
            <a:off x="5248656" y="2642616"/>
            <a:ext cx="237744" cy="256032"/>
          </a:xfrm>
          <a:prstGeom prst="rightArrow">
            <a:avLst/>
          </a:prstGeom>
          <a:solidFill>
            <a:schemeClr val="accent1"/>
          </a:solidFill>
          <a:ln w="12700">
            <a:solidFill>
              <a:schemeClr val="accent1"/>
            </a:solidFill>
            <a:prstDash val="solid"/>
          </a:ln>
        </p:spPr>
      </p:sp>
      <p:sp>
        <p:nvSpPr>
          <p:cNvPr id="13" name="objrow-1-contribbox"/>
          <p:cNvSpPr/>
          <p:nvPr/>
        </p:nvSpPr>
        <p:spPr>
          <a:xfrm>
            <a:off x="5577840" y="2432304"/>
            <a:ext cx="6062472" cy="676656"/>
          </a:xfrm>
          <a:prstGeom prst="roundRect">
            <a:avLst>
              <a:gd name="adj" fmla="val 16216"/>
            </a:avLst>
          </a:prstGeom>
          <a:solidFill>
            <a:schemeClr val="bg2"/>
          </a:solidFill>
          <a:ln/>
        </p:spPr>
      </p:sp>
      <p:sp>
        <p:nvSpPr>
          <p:cNvPr id="14" name="objrow-1-contribtext"/>
          <p:cNvSpPr txBox="1"/>
          <p:nvPr/>
        </p:nvSpPr>
        <p:spPr>
          <a:xfrm>
            <a:off x="5760720" y="2505456"/>
            <a:ext cx="5696712" cy="530352"/>
          </a:xfrm>
          <a:prstGeom prst="rect">
            <a:avLst/>
          </a:prstGeom>
          <a:noFill/>
          <a:ln/>
        </p:spPr>
        <p:txBody>
          <a:bodyPr wrap="square" lIns="0" tIns="0" rIns="0" bIns="0" rtlCol="0" anchor="ctr"/>
          <a:lstStyle/>
          <a:p>
            <a:pPr indent="0" marL="0">
              <a:buNone/>
            </a:pPr>
            <a:r>
              <a:rPr lang="en-US" sz="1400" dirty="0">
                <a:solidFill>
                  <a:schemeClr val="tx1"/>
                </a:solidFill>
              </a:rPr>
              <a:t>2 developers, 1 PI, about 76% less effort than a manual estimate</a:t>
            </a:r>
            <a:endParaRPr lang="en-US" sz="1400" dirty="0"/>
          </a:p>
        </p:txBody>
      </p:sp>
      <p:sp>
        <p:nvSpPr>
          <p:cNvPr id="15" name="objrow-2-objbox"/>
          <p:cNvSpPr/>
          <p:nvPr/>
        </p:nvSpPr>
        <p:spPr>
          <a:xfrm>
            <a:off x="548640" y="3218688"/>
            <a:ext cx="4617720" cy="676656"/>
          </a:xfrm>
          <a:prstGeom prst="roundRect">
            <a:avLst>
              <a:gd name="adj" fmla="val 16216"/>
            </a:avLst>
          </a:prstGeom>
          <a:solidFill>
            <a:schemeClr val="tx1"/>
          </a:solidFill>
          <a:ln/>
        </p:spPr>
      </p:sp>
      <p:sp>
        <p:nvSpPr>
          <p:cNvPr id="16" name="objrow-2-objtext"/>
          <p:cNvSpPr txBox="1"/>
          <p:nvPr/>
        </p:nvSpPr>
        <p:spPr>
          <a:xfrm>
            <a:off x="731520" y="3291840"/>
            <a:ext cx="4297680" cy="530352"/>
          </a:xfrm>
          <a:prstGeom prst="rect">
            <a:avLst/>
          </a:prstGeom>
          <a:noFill/>
          <a:ln/>
        </p:spPr>
        <p:txBody>
          <a:bodyPr wrap="square" lIns="0" tIns="0" rIns="0" bIns="0" rtlCol="0" anchor="ctr"/>
          <a:lstStyle/>
          <a:p>
            <a:pPr indent="0" marL="0">
              <a:buNone/>
            </a:pPr>
            <a:r>
              <a:rPr lang="en-US" sz="1300" b="1" dirty="0">
                <a:solidFill>
                  <a:schemeClr val="bg1"/>
                </a:solidFill>
              </a:rPr>
              <a:t>Manage our risks</a:t>
            </a:r>
            <a:endParaRPr lang="en-US" sz="1300" dirty="0"/>
          </a:p>
          <a:p>
            <a:pPr indent="0" marL="0">
              <a:buNone/>
            </a:pPr>
            <a:r>
              <a:rPr lang="en-US" sz="1100" dirty="0">
                <a:solidFill>
                  <a:schemeClr val="accent5"/>
                </a:solidFill>
              </a:rPr>
              <a:t>Digital: cybersecurity, compliance, dependencies</a:t>
            </a:r>
            <a:endParaRPr lang="en-US" sz="1300" dirty="0"/>
          </a:p>
        </p:txBody>
      </p:sp>
      <p:sp>
        <p:nvSpPr>
          <p:cNvPr id="17" name="objrow-2-arrow"/>
          <p:cNvSpPr/>
          <p:nvPr/>
        </p:nvSpPr>
        <p:spPr>
          <a:xfrm>
            <a:off x="5248656" y="3429000"/>
            <a:ext cx="237744" cy="256032"/>
          </a:xfrm>
          <a:prstGeom prst="rightArrow">
            <a:avLst/>
          </a:prstGeom>
          <a:solidFill>
            <a:schemeClr val="accent1"/>
          </a:solidFill>
          <a:ln w="12700">
            <a:solidFill>
              <a:schemeClr val="accent1"/>
            </a:solidFill>
            <a:prstDash val="solid"/>
          </a:ln>
        </p:spPr>
      </p:sp>
      <p:sp>
        <p:nvSpPr>
          <p:cNvPr id="18" name="objrow-2-contribbox"/>
          <p:cNvSpPr/>
          <p:nvPr/>
        </p:nvSpPr>
        <p:spPr>
          <a:xfrm>
            <a:off x="5577840" y="3218688"/>
            <a:ext cx="6062472" cy="676656"/>
          </a:xfrm>
          <a:prstGeom prst="roundRect">
            <a:avLst>
              <a:gd name="adj" fmla="val 16216"/>
            </a:avLst>
          </a:prstGeom>
          <a:solidFill>
            <a:schemeClr val="bg2"/>
          </a:solidFill>
          <a:ln/>
        </p:spPr>
      </p:sp>
      <p:sp>
        <p:nvSpPr>
          <p:cNvPr id="19" name="objrow-2-contribtext"/>
          <p:cNvSpPr txBox="1"/>
          <p:nvPr/>
        </p:nvSpPr>
        <p:spPr>
          <a:xfrm>
            <a:off x="5760720" y="3291840"/>
            <a:ext cx="5696712" cy="530352"/>
          </a:xfrm>
          <a:prstGeom prst="rect">
            <a:avLst/>
          </a:prstGeom>
          <a:noFill/>
          <a:ln/>
        </p:spPr>
        <p:txBody>
          <a:bodyPr wrap="square" lIns="0" tIns="0" rIns="0" bIns="0" rtlCol="0" anchor="ctr"/>
          <a:lstStyle/>
          <a:p>
            <a:pPr indent="0" marL="0">
              <a:buNone/>
            </a:pPr>
            <a:r>
              <a:rPr lang="en-US" sz="1400" dirty="0">
                <a:solidFill>
                  <a:schemeClr val="tx1"/>
                </a:solidFill>
              </a:rPr>
              <a:t>7 security and data-integrity issues caught in review; restricted views kept; off Slate onto standard React + OSDK</a:t>
            </a:r>
            <a:endParaRPr lang="en-US" sz="1400" dirty="0"/>
          </a:p>
        </p:txBody>
      </p:sp>
      <p:sp>
        <p:nvSpPr>
          <p:cNvPr id="20" name="objrow-3-objbox"/>
          <p:cNvSpPr/>
          <p:nvPr/>
        </p:nvSpPr>
        <p:spPr>
          <a:xfrm>
            <a:off x="548640" y="4005072"/>
            <a:ext cx="4617720" cy="676656"/>
          </a:xfrm>
          <a:prstGeom prst="roundRect">
            <a:avLst>
              <a:gd name="adj" fmla="val 16216"/>
            </a:avLst>
          </a:prstGeom>
          <a:solidFill>
            <a:schemeClr val="tx1"/>
          </a:solidFill>
          <a:ln/>
        </p:spPr>
      </p:sp>
      <p:sp>
        <p:nvSpPr>
          <p:cNvPr id="21" name="objrow-3-objtext"/>
          <p:cNvSpPr txBox="1"/>
          <p:nvPr/>
        </p:nvSpPr>
        <p:spPr>
          <a:xfrm>
            <a:off x="731520" y="4078224"/>
            <a:ext cx="4297680" cy="530352"/>
          </a:xfrm>
          <a:prstGeom prst="rect">
            <a:avLst/>
          </a:prstGeom>
          <a:noFill/>
          <a:ln/>
        </p:spPr>
        <p:txBody>
          <a:bodyPr wrap="square" lIns="0" tIns="0" rIns="0" bIns="0" rtlCol="0" anchor="ctr"/>
          <a:lstStyle/>
          <a:p>
            <a:pPr indent="0" marL="0">
              <a:buNone/>
            </a:pPr>
            <a:r>
              <a:rPr lang="en-US" sz="1300" b="1" dirty="0">
                <a:solidFill>
                  <a:schemeClr val="bg1"/>
                </a:solidFill>
              </a:rPr>
              <a:t>Reinforce the Digital Design Authority</a:t>
            </a:r>
            <a:endParaRPr lang="en-US" sz="1300" dirty="0"/>
          </a:p>
          <a:p>
            <a:pPr indent="0" marL="0">
              <a:buNone/>
            </a:pPr>
            <a:r>
              <a:rPr lang="en-US" sz="1100" dirty="0">
                <a:solidFill>
                  <a:schemeClr val="accent5"/>
                </a:solidFill>
              </a:rPr>
              <a:t>Digital: enable our future</a:t>
            </a:r>
            <a:endParaRPr lang="en-US" sz="1300" dirty="0"/>
          </a:p>
        </p:txBody>
      </p:sp>
      <p:sp>
        <p:nvSpPr>
          <p:cNvPr id="22" name="objrow-3-arrow"/>
          <p:cNvSpPr/>
          <p:nvPr/>
        </p:nvSpPr>
        <p:spPr>
          <a:xfrm>
            <a:off x="5248656" y="4215384"/>
            <a:ext cx="237744" cy="256032"/>
          </a:xfrm>
          <a:prstGeom prst="rightArrow">
            <a:avLst/>
          </a:prstGeom>
          <a:solidFill>
            <a:schemeClr val="accent1"/>
          </a:solidFill>
          <a:ln w="12700">
            <a:solidFill>
              <a:schemeClr val="accent1"/>
            </a:solidFill>
            <a:prstDash val="solid"/>
          </a:ln>
        </p:spPr>
      </p:sp>
      <p:sp>
        <p:nvSpPr>
          <p:cNvPr id="23" name="objrow-3-contribbox"/>
          <p:cNvSpPr/>
          <p:nvPr/>
        </p:nvSpPr>
        <p:spPr>
          <a:xfrm>
            <a:off x="5577840" y="4005072"/>
            <a:ext cx="6062472" cy="676656"/>
          </a:xfrm>
          <a:prstGeom prst="roundRect">
            <a:avLst>
              <a:gd name="adj" fmla="val 16216"/>
            </a:avLst>
          </a:prstGeom>
          <a:solidFill>
            <a:schemeClr val="bg2"/>
          </a:solidFill>
          <a:ln/>
        </p:spPr>
      </p:sp>
      <p:sp>
        <p:nvSpPr>
          <p:cNvPr id="24" name="objrow-3-contribtext"/>
          <p:cNvSpPr txBox="1"/>
          <p:nvPr/>
        </p:nvSpPr>
        <p:spPr>
          <a:xfrm>
            <a:off x="5760720" y="4078224"/>
            <a:ext cx="5696712" cy="530352"/>
          </a:xfrm>
          <a:prstGeom prst="rect">
            <a:avLst/>
          </a:prstGeom>
          <a:noFill/>
          <a:ln/>
        </p:spPr>
        <p:txBody>
          <a:bodyPr wrap="square" lIns="0" tIns="0" rIns="0" bIns="0" rtlCol="0" anchor="ctr"/>
          <a:lstStyle/>
          <a:p>
            <a:pPr indent="0" marL="0">
              <a:buNone/>
            </a:pPr>
            <a:r>
              <a:rPr lang="en-US" sz="1400" dirty="0">
                <a:solidFill>
                  <a:schemeClr val="tx1"/>
                </a:solidFill>
              </a:rPr>
              <a:t>8 architecture and lifecycle diagrams; 105 features documented where nothing existed</a:t>
            </a:r>
            <a:endParaRPr lang="en-US" sz="1400" dirty="0"/>
          </a:p>
        </p:txBody>
      </p:sp>
      <p:sp>
        <p:nvSpPr>
          <p:cNvPr id="25" name="objrow-4-objbox"/>
          <p:cNvSpPr/>
          <p:nvPr/>
        </p:nvSpPr>
        <p:spPr>
          <a:xfrm>
            <a:off x="548640" y="4791456"/>
            <a:ext cx="4617720" cy="676656"/>
          </a:xfrm>
          <a:prstGeom prst="roundRect">
            <a:avLst>
              <a:gd name="adj" fmla="val 16216"/>
            </a:avLst>
          </a:prstGeom>
          <a:solidFill>
            <a:schemeClr val="tx1"/>
          </a:solidFill>
          <a:ln/>
        </p:spPr>
      </p:sp>
      <p:sp>
        <p:nvSpPr>
          <p:cNvPr id="26" name="objrow-4-objtext"/>
          <p:cNvSpPr txBox="1"/>
          <p:nvPr/>
        </p:nvSpPr>
        <p:spPr>
          <a:xfrm>
            <a:off x="731520" y="4864608"/>
            <a:ext cx="4297680" cy="530352"/>
          </a:xfrm>
          <a:prstGeom prst="rect">
            <a:avLst/>
          </a:prstGeom>
          <a:noFill/>
          <a:ln/>
        </p:spPr>
        <p:txBody>
          <a:bodyPr wrap="square" lIns="0" tIns="0" rIns="0" bIns="0" rtlCol="0" anchor="ctr"/>
          <a:lstStyle/>
          <a:p>
            <a:pPr indent="0" marL="0">
              <a:buNone/>
            </a:pPr>
            <a:r>
              <a:rPr lang="en-US" sz="1300" b="1" dirty="0">
                <a:solidFill>
                  <a:schemeClr val="bg1"/>
                </a:solidFill>
              </a:rPr>
              <a:t>Grow digital acumen and competencies</a:t>
            </a:r>
            <a:endParaRPr lang="en-US" sz="1300" dirty="0"/>
          </a:p>
          <a:p>
            <a:pPr indent="0" marL="0">
              <a:buNone/>
            </a:pPr>
            <a:r>
              <a:rPr lang="en-US" sz="1100" dirty="0">
                <a:solidFill>
                  <a:schemeClr val="accent5"/>
                </a:solidFill>
              </a:rPr>
              <a:t>Digital: develop our people · India TFO</a:t>
            </a:r>
            <a:endParaRPr lang="en-US" sz="1300" dirty="0"/>
          </a:p>
        </p:txBody>
      </p:sp>
      <p:sp>
        <p:nvSpPr>
          <p:cNvPr id="27" name="objrow-4-arrow"/>
          <p:cNvSpPr/>
          <p:nvPr/>
        </p:nvSpPr>
        <p:spPr>
          <a:xfrm>
            <a:off x="5248656" y="5001768"/>
            <a:ext cx="237744" cy="256032"/>
          </a:xfrm>
          <a:prstGeom prst="rightArrow">
            <a:avLst/>
          </a:prstGeom>
          <a:solidFill>
            <a:schemeClr val="accent1"/>
          </a:solidFill>
          <a:ln w="12700">
            <a:solidFill>
              <a:schemeClr val="accent1"/>
            </a:solidFill>
            <a:prstDash val="solid"/>
          </a:ln>
        </p:spPr>
      </p:sp>
      <p:sp>
        <p:nvSpPr>
          <p:cNvPr id="28" name="objrow-4-contribbox"/>
          <p:cNvSpPr/>
          <p:nvPr/>
        </p:nvSpPr>
        <p:spPr>
          <a:xfrm>
            <a:off x="5577840" y="4791456"/>
            <a:ext cx="6062472" cy="676656"/>
          </a:xfrm>
          <a:prstGeom prst="roundRect">
            <a:avLst>
              <a:gd name="adj" fmla="val 16216"/>
            </a:avLst>
          </a:prstGeom>
          <a:solidFill>
            <a:schemeClr val="bg2"/>
          </a:solidFill>
          <a:ln/>
        </p:spPr>
      </p:sp>
      <p:sp>
        <p:nvSpPr>
          <p:cNvPr id="29" name="objrow-4-contribtext"/>
          <p:cNvSpPr txBox="1"/>
          <p:nvPr/>
        </p:nvSpPr>
        <p:spPr>
          <a:xfrm>
            <a:off x="5760720" y="4864608"/>
            <a:ext cx="5696712" cy="53035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other teams repeat the method</a:t>
            </a:r>
            <a:endParaRPr lang="en-US" sz="1400" dirty="0"/>
          </a:p>
        </p:txBody>
      </p:sp>
      <p:sp>
        <p:nvSpPr>
          <p:cNvPr id="30" name="objrow-5-objbox"/>
          <p:cNvSpPr/>
          <p:nvPr/>
        </p:nvSpPr>
        <p:spPr>
          <a:xfrm>
            <a:off x="548640" y="5577840"/>
            <a:ext cx="4617720" cy="676656"/>
          </a:xfrm>
          <a:prstGeom prst="roundRect">
            <a:avLst>
              <a:gd name="adj" fmla="val 16216"/>
            </a:avLst>
          </a:prstGeom>
          <a:solidFill>
            <a:schemeClr val="tx1"/>
          </a:solidFill>
          <a:ln/>
        </p:spPr>
      </p:sp>
      <p:sp>
        <p:nvSpPr>
          <p:cNvPr id="31" name="objrow-5-objtext"/>
          <p:cNvSpPr txBox="1"/>
          <p:nvPr/>
        </p:nvSpPr>
        <p:spPr>
          <a:xfrm>
            <a:off x="731520" y="5650992"/>
            <a:ext cx="4297680" cy="530352"/>
          </a:xfrm>
          <a:prstGeom prst="rect">
            <a:avLst/>
          </a:prstGeom>
          <a:noFill/>
          <a:ln/>
        </p:spPr>
        <p:txBody>
          <a:bodyPr wrap="square" lIns="0" tIns="0" rIns="0" bIns="0" rtlCol="0" anchor="ctr"/>
          <a:lstStyle/>
          <a:p>
            <a:pPr indent="0" marL="0">
              <a:buNone/>
            </a:pPr>
            <a:r>
              <a:rPr lang="en-US" sz="1300" b="1" dirty="0">
                <a:solidFill>
                  <a:schemeClr val="bg1"/>
                </a:solidFill>
              </a:rPr>
              <a:t>Increase customer satisfaction</a:t>
            </a:r>
            <a:endParaRPr lang="en-US" sz="1300" dirty="0"/>
          </a:p>
          <a:p>
            <a:pPr indent="0" marL="0">
              <a:buNone/>
            </a:pPr>
            <a:r>
              <a:rPr lang="en-US" sz="1100" dirty="0">
                <a:solidFill>
                  <a:schemeClr val="accent5"/>
                </a:solidFill>
              </a:rPr>
              <a:t>Company: customer</a:t>
            </a:r>
            <a:endParaRPr lang="en-US" sz="1300" dirty="0"/>
          </a:p>
        </p:txBody>
      </p:sp>
      <p:sp>
        <p:nvSpPr>
          <p:cNvPr id="32" name="objrow-5-arrow"/>
          <p:cNvSpPr/>
          <p:nvPr/>
        </p:nvSpPr>
        <p:spPr>
          <a:xfrm>
            <a:off x="5248656" y="5788152"/>
            <a:ext cx="237744" cy="256032"/>
          </a:xfrm>
          <a:prstGeom prst="rightArrow">
            <a:avLst/>
          </a:prstGeom>
          <a:solidFill>
            <a:schemeClr val="accent1"/>
          </a:solidFill>
          <a:ln w="12700">
            <a:solidFill>
              <a:schemeClr val="accent1"/>
            </a:solidFill>
            <a:prstDash val="solid"/>
          </a:ln>
        </p:spPr>
      </p:sp>
      <p:sp>
        <p:nvSpPr>
          <p:cNvPr id="33" name="objrow-5-contribbox"/>
          <p:cNvSpPr/>
          <p:nvPr/>
        </p:nvSpPr>
        <p:spPr>
          <a:xfrm>
            <a:off x="5577840" y="5577840"/>
            <a:ext cx="6062472" cy="676656"/>
          </a:xfrm>
          <a:prstGeom prst="roundRect">
            <a:avLst>
              <a:gd name="adj" fmla="val 16216"/>
            </a:avLst>
          </a:prstGeom>
          <a:solidFill>
            <a:schemeClr val="bg2"/>
          </a:solidFill>
          <a:ln/>
        </p:spPr>
      </p:sp>
      <p:sp>
        <p:nvSpPr>
          <p:cNvPr id="34" name="objrow-5-contribtext"/>
          <p:cNvSpPr txBox="1"/>
          <p:nvPr/>
        </p:nvSpPr>
        <p:spPr>
          <a:xfrm>
            <a:off x="5760720" y="5650992"/>
            <a:ext cx="5696712" cy="530352"/>
          </a:xfrm>
          <a:prstGeom prst="rect">
            <a:avLst/>
          </a:prstGeom>
          <a:noFill/>
          <a:ln/>
        </p:spPr>
        <p:txBody>
          <a:bodyPr wrap="square" lIns="0" tIns="0" rIns="0" bIns="0" rtlCol="0" anchor="ctr"/>
          <a:lstStyle/>
          <a:p>
            <a:pPr indent="0" marL="0">
              <a:buNone/>
            </a:pPr>
            <a:r>
              <a:rPr lang="en-US" sz="1400" dirty="0">
                <a:solidFill>
                  <a:schemeClr val="tx1"/>
                </a:solidFill>
              </a:rPr>
              <a:t>5 enhancements for ERM users, such as the report slideshow and resizable tables</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9"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5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50"/>
                                        <p:tgtEl>
                                          <p:spTgt spid="6"/>
                                        </p:tgtEl>
                                      </p:cBhvr>
                                    </p:animEffect>
                                  </p:childTnLst>
                                </p:cTn>
                              </p:par>
                              <p:par>
                                <p:cTn id="9" presetID="22" presetClass="entr" presetSubtype="8" fill="hold" grpId="0" nodeType="withEffect">
                                  <p:stCondLst>
                                    <p:cond delay="200"/>
                                  </p:stCondLst>
                                  <p:childTnLst>
                                    <p:set>
                                      <p:cBhvr>
                                        <p:cTn id="10" dur="1" fill="hold">
                                          <p:stCondLst>
                                            <p:cond delay="0"/>
                                          </p:stCondLst>
                                        </p:cTn>
                                        <p:tgtEl>
                                          <p:spTgt spid="7"/>
                                        </p:tgtEl>
                                        <p:attrNameLst>
                                          <p:attrName>style.visibility</p:attrName>
                                        </p:attrNameLst>
                                      </p:cBhvr>
                                      <p:to>
                                        <p:strVal val="visible"/>
                                      </p:to>
                                    </p:set>
                                    <p:animEffect transition="in" filter="wipe(left)">
                                      <p:cBhvr>
                                        <p:cTn id="11" dur="450"/>
                                        <p:tgtEl>
                                          <p:spTgt spid="7"/>
                                        </p:tgtEl>
                                      </p:cBhvr>
                                    </p:animEffect>
                                  </p:childTnLst>
                                </p:cTn>
                              </p:par>
                              <p:par>
                                <p:cTn id="12" presetID="22" presetClass="entr" presetSubtype="8" fill="hold" grpId="0" nodeType="withEffect">
                                  <p:stCondLst>
                                    <p:cond delay="300"/>
                                  </p:stCondLst>
                                  <p:childTnLst>
                                    <p:set>
                                      <p:cBhvr>
                                        <p:cTn id="13" dur="1" fill="hold">
                                          <p:stCondLst>
                                            <p:cond delay="0"/>
                                          </p:stCondLst>
                                        </p:cTn>
                                        <p:tgtEl>
                                          <p:spTgt spid="8"/>
                                        </p:tgtEl>
                                        <p:attrNameLst>
                                          <p:attrName>style.visibility</p:attrName>
                                        </p:attrNameLst>
                                      </p:cBhvr>
                                      <p:to>
                                        <p:strVal val="visible"/>
                                      </p:to>
                                    </p:set>
                                    <p:animEffect transition="in" filter="wipe(left)">
                                      <p:cBhvr>
                                        <p:cTn id="14" dur="450"/>
                                        <p:tgtEl>
                                          <p:spTgt spid="8"/>
                                        </p:tgtEl>
                                      </p:cBhvr>
                                    </p:animEffect>
                                  </p:childTnLst>
                                </p:cTn>
                              </p:par>
                              <p:par>
                                <p:cTn id="15" presetID="22" presetClass="entr" presetSubtype="8" fill="hold" grpId="0" nodeType="withEffect">
                                  <p:stCondLst>
                                    <p:cond delay="30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450"/>
                                        <p:tgtEl>
                                          <p:spTgt spid="9"/>
                                        </p:tgtEl>
                                      </p:cBhvr>
                                    </p:animEffect>
                                  </p:childTnLst>
                                </p:cTn>
                              </p:par>
                            </p:childTnLst>
                          </p:cTn>
                        </p:par>
                        <p:par>
                          <p:cTn id="34" fill="hold">
                            <p:stCondLst>
                              <p:cond delay="650"/>
                            </p:stCondLst>
                            <p:childTnLst>
                              <p:par>
                                <p:cTn id="19" presetID="10" presetClass="entr" presetSubtype="0"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5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50"/>
                                        <p:tgtEl>
                                          <p:spTgt spid="11"/>
                                        </p:tgtEl>
                                      </p:cBhvr>
                                    </p:animEffect>
                                  </p:childTnLst>
                                </p:cTn>
                              </p:par>
                              <p:par>
                                <p:cTn id="25" presetID="22" presetClass="entr" presetSubtype="8" fill="hold" grpId="0" nodeType="withEffect">
                                  <p:stCondLst>
                                    <p:cond delay="20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450"/>
                                        <p:tgtEl>
                                          <p:spTgt spid="12"/>
                                        </p:tgtEl>
                                      </p:cBhvr>
                                    </p:animEffect>
                                  </p:childTnLst>
                                </p:cTn>
                              </p:par>
                              <p:par>
                                <p:cTn id="28" presetID="22" presetClass="entr" presetSubtype="8" fill="hold" grpId="0" nodeType="withEffect">
                                  <p:stCondLst>
                                    <p:cond delay="30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450"/>
                                        <p:tgtEl>
                                          <p:spTgt spid="13"/>
                                        </p:tgtEl>
                                      </p:cBhvr>
                                    </p:animEffect>
                                  </p:childTnLst>
                                </p:cTn>
                              </p:par>
                              <p:par>
                                <p:cTn id="31" presetID="22" presetClass="entr" presetSubtype="8" fill="hold" grpId="0" nodeType="withEffect">
                                  <p:stCondLst>
                                    <p:cond delay="30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450"/>
                                        <p:tgtEl>
                                          <p:spTgt spid="14"/>
                                        </p:tgtEl>
                                      </p:cBhvr>
                                    </p:animEffect>
                                  </p:childTnLst>
                                </p:cTn>
                              </p:par>
                            </p:childTnLst>
                          </p:cTn>
                        </p:par>
                        <p:par>
                          <p:cTn id="50" fill="hold">
                            <p:stCondLst>
                              <p:cond delay="1300"/>
                            </p:stCondLst>
                            <p:childTnLst>
                              <p:par>
                                <p:cTn id="35" presetID="10" presetClass="entr" presetSubtype="0" fill="hold" grpId="0" nodeType="after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par>
                                <p:cTn id="41" presetID="22" presetClass="entr" presetSubtype="8" fill="hold" grpId="0" nodeType="withEffect">
                                  <p:stCondLst>
                                    <p:cond delay="200"/>
                                  </p:stCondLst>
                                  <p:childTnLst>
                                    <p:set>
                                      <p:cBhvr>
                                        <p:cTn id="42" dur="1" fill="hold">
                                          <p:stCondLst>
                                            <p:cond delay="0"/>
                                          </p:stCondLst>
                                        </p:cTn>
                                        <p:tgtEl>
                                          <p:spTgt spid="17"/>
                                        </p:tgtEl>
                                        <p:attrNameLst>
                                          <p:attrName>style.visibility</p:attrName>
                                        </p:attrNameLst>
                                      </p:cBhvr>
                                      <p:to>
                                        <p:strVal val="visible"/>
                                      </p:to>
                                    </p:set>
                                    <p:animEffect transition="in" filter="wipe(left)">
                                      <p:cBhvr>
                                        <p:cTn id="43" dur="450"/>
                                        <p:tgtEl>
                                          <p:spTgt spid="17"/>
                                        </p:tgtEl>
                                      </p:cBhvr>
                                    </p:animEffect>
                                  </p:childTnLst>
                                </p:cTn>
                              </p:par>
                              <p:par>
                                <p:cTn id="44" presetID="22" presetClass="entr" presetSubtype="8" fill="hold" grpId="0" nodeType="withEffect">
                                  <p:stCondLst>
                                    <p:cond delay="300"/>
                                  </p:stCondLst>
                                  <p:childTnLst>
                                    <p:set>
                                      <p:cBhvr>
                                        <p:cTn id="45" dur="1" fill="hold">
                                          <p:stCondLst>
                                            <p:cond delay="0"/>
                                          </p:stCondLst>
                                        </p:cTn>
                                        <p:tgtEl>
                                          <p:spTgt spid="18"/>
                                        </p:tgtEl>
                                        <p:attrNameLst>
                                          <p:attrName>style.visibility</p:attrName>
                                        </p:attrNameLst>
                                      </p:cBhvr>
                                      <p:to>
                                        <p:strVal val="visible"/>
                                      </p:to>
                                    </p:set>
                                    <p:animEffect transition="in" filter="wipe(left)">
                                      <p:cBhvr>
                                        <p:cTn id="46" dur="450"/>
                                        <p:tgtEl>
                                          <p:spTgt spid="18"/>
                                        </p:tgtEl>
                                      </p:cBhvr>
                                    </p:animEffect>
                                  </p:childTnLst>
                                </p:cTn>
                              </p:par>
                              <p:par>
                                <p:cTn id="47" presetID="22" presetClass="entr" presetSubtype="8" fill="hold" grpId="0" nodeType="withEffect">
                                  <p:stCondLst>
                                    <p:cond delay="300"/>
                                  </p:stCondLst>
                                  <p:childTnLst>
                                    <p:set>
                                      <p:cBhvr>
                                        <p:cTn id="48" dur="1" fill="hold">
                                          <p:stCondLst>
                                            <p:cond delay="0"/>
                                          </p:stCondLst>
                                        </p:cTn>
                                        <p:tgtEl>
                                          <p:spTgt spid="19"/>
                                        </p:tgtEl>
                                        <p:attrNameLst>
                                          <p:attrName>style.visibility</p:attrName>
                                        </p:attrNameLst>
                                      </p:cBhvr>
                                      <p:to>
                                        <p:strVal val="visible"/>
                                      </p:to>
                                    </p:set>
                                    <p:animEffect transition="in" filter="wipe(left)">
                                      <p:cBhvr>
                                        <p:cTn id="49" dur="450"/>
                                        <p:tgtEl>
                                          <p:spTgt spid="19"/>
                                        </p:tgtEl>
                                      </p:cBhvr>
                                    </p:animEffect>
                                  </p:childTnLst>
                                </p:cTn>
                              </p:par>
                            </p:childTnLst>
                          </p:cTn>
                        </p:par>
                        <p:par>
                          <p:cTn id="66" fill="hold">
                            <p:stCondLst>
                              <p:cond delay="1950"/>
                            </p:stCondLst>
                            <p:childTnLst>
                              <p:par>
                                <p:cTn id="51" presetID="10" presetClass="entr" presetSubtype="0" fill="hold" grpId="0" nodeType="after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450"/>
                                        <p:tgtEl>
                                          <p:spTgt spid="21"/>
                                        </p:tgtEl>
                                      </p:cBhvr>
                                    </p:animEffect>
                                  </p:childTnLst>
                                </p:cTn>
                              </p:par>
                              <p:par>
                                <p:cTn id="57" presetID="22" presetClass="entr" presetSubtype="8" fill="hold" grpId="0" nodeType="withEffect">
                                  <p:stCondLst>
                                    <p:cond delay="20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450"/>
                                        <p:tgtEl>
                                          <p:spTgt spid="22"/>
                                        </p:tgtEl>
                                      </p:cBhvr>
                                    </p:animEffect>
                                  </p:childTnLst>
                                </p:cTn>
                              </p:par>
                              <p:par>
                                <p:cTn id="60" presetID="22" presetClass="entr" presetSubtype="8" fill="hold" grpId="0" nodeType="withEffect">
                                  <p:stCondLst>
                                    <p:cond delay="30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450"/>
                                        <p:tgtEl>
                                          <p:spTgt spid="23"/>
                                        </p:tgtEl>
                                      </p:cBhvr>
                                    </p:animEffect>
                                  </p:childTnLst>
                                </p:cTn>
                              </p:par>
                              <p:par>
                                <p:cTn id="63" presetID="22" presetClass="entr" presetSubtype="8" fill="hold" grpId="0" nodeType="withEffect">
                                  <p:stCondLst>
                                    <p:cond delay="300"/>
                                  </p:stCondLst>
                                  <p:childTnLst>
                                    <p:set>
                                      <p:cBhvr>
                                        <p:cTn id="64" dur="1" fill="hold">
                                          <p:stCondLst>
                                            <p:cond delay="0"/>
                                          </p:stCondLst>
                                        </p:cTn>
                                        <p:tgtEl>
                                          <p:spTgt spid="24"/>
                                        </p:tgtEl>
                                        <p:attrNameLst>
                                          <p:attrName>style.visibility</p:attrName>
                                        </p:attrNameLst>
                                      </p:cBhvr>
                                      <p:to>
                                        <p:strVal val="visible"/>
                                      </p:to>
                                    </p:set>
                                    <p:animEffect transition="in" filter="wipe(left)">
                                      <p:cBhvr>
                                        <p:cTn id="65" dur="450"/>
                                        <p:tgtEl>
                                          <p:spTgt spid="24"/>
                                        </p:tgtEl>
                                      </p:cBhvr>
                                    </p:animEffect>
                                  </p:childTnLst>
                                </p:cTn>
                              </p:par>
                            </p:childTnLst>
                          </p:cTn>
                        </p:par>
                        <p:par>
                          <p:cTn id="82" fill="hold">
                            <p:stCondLst>
                              <p:cond delay="2600"/>
                            </p:stCondLst>
                            <p:childTnLst>
                              <p:par>
                                <p:cTn id="67" presetID="10" presetClass="entr" presetSubtype="0" fill="hold" grpId="0" nodeType="afterEffect">
                                  <p:stCondLst>
                                    <p:cond delay="0"/>
                                  </p:stCondLst>
                                  <p:childTnLst>
                                    <p:set>
                                      <p:cBhvr>
                                        <p:cTn id="68" dur="1" fill="hold">
                                          <p:stCondLst>
                                            <p:cond delay="0"/>
                                          </p:stCondLst>
                                        </p:cTn>
                                        <p:tgtEl>
                                          <p:spTgt spid="25"/>
                                        </p:tgtEl>
                                        <p:attrNameLst>
                                          <p:attrName>style.visibility</p:attrName>
                                        </p:attrNameLst>
                                      </p:cBhvr>
                                      <p:to>
                                        <p:strVal val="visible"/>
                                      </p:to>
                                    </p:set>
                                    <p:animEffect transition="in" filter="fade">
                                      <p:cBhvr>
                                        <p:cTn id="69" dur="450"/>
                                        <p:tgtEl>
                                          <p:spTgt spid="25"/>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6"/>
                                        </p:tgtEl>
                                        <p:attrNameLst>
                                          <p:attrName>style.visibility</p:attrName>
                                        </p:attrNameLst>
                                      </p:cBhvr>
                                      <p:to>
                                        <p:strVal val="visible"/>
                                      </p:to>
                                    </p:set>
                                    <p:animEffect transition="in" filter="fade">
                                      <p:cBhvr>
                                        <p:cTn id="72" dur="450"/>
                                        <p:tgtEl>
                                          <p:spTgt spid="26"/>
                                        </p:tgtEl>
                                      </p:cBhvr>
                                    </p:animEffect>
                                  </p:childTnLst>
                                </p:cTn>
                              </p:par>
                              <p:par>
                                <p:cTn id="73" presetID="22" presetClass="entr" presetSubtype="8" fill="hold" grpId="0" nodeType="withEffect">
                                  <p:stCondLst>
                                    <p:cond delay="200"/>
                                  </p:stCondLst>
                                  <p:childTnLst>
                                    <p:set>
                                      <p:cBhvr>
                                        <p:cTn id="74" dur="1" fill="hold">
                                          <p:stCondLst>
                                            <p:cond delay="0"/>
                                          </p:stCondLst>
                                        </p:cTn>
                                        <p:tgtEl>
                                          <p:spTgt spid="27"/>
                                        </p:tgtEl>
                                        <p:attrNameLst>
                                          <p:attrName>style.visibility</p:attrName>
                                        </p:attrNameLst>
                                      </p:cBhvr>
                                      <p:to>
                                        <p:strVal val="visible"/>
                                      </p:to>
                                    </p:set>
                                    <p:animEffect transition="in" filter="wipe(left)">
                                      <p:cBhvr>
                                        <p:cTn id="75" dur="450"/>
                                        <p:tgtEl>
                                          <p:spTgt spid="27"/>
                                        </p:tgtEl>
                                      </p:cBhvr>
                                    </p:animEffect>
                                  </p:childTnLst>
                                </p:cTn>
                              </p:par>
                              <p:par>
                                <p:cTn id="76" presetID="22" presetClass="entr" presetSubtype="8" fill="hold" grpId="0" nodeType="withEffect">
                                  <p:stCondLst>
                                    <p:cond delay="300"/>
                                  </p:stCondLst>
                                  <p:childTnLst>
                                    <p:set>
                                      <p:cBhvr>
                                        <p:cTn id="77" dur="1" fill="hold">
                                          <p:stCondLst>
                                            <p:cond delay="0"/>
                                          </p:stCondLst>
                                        </p:cTn>
                                        <p:tgtEl>
                                          <p:spTgt spid="28"/>
                                        </p:tgtEl>
                                        <p:attrNameLst>
                                          <p:attrName>style.visibility</p:attrName>
                                        </p:attrNameLst>
                                      </p:cBhvr>
                                      <p:to>
                                        <p:strVal val="visible"/>
                                      </p:to>
                                    </p:set>
                                    <p:animEffect transition="in" filter="wipe(left)">
                                      <p:cBhvr>
                                        <p:cTn id="78" dur="450"/>
                                        <p:tgtEl>
                                          <p:spTgt spid="28"/>
                                        </p:tgtEl>
                                      </p:cBhvr>
                                    </p:animEffect>
                                  </p:childTnLst>
                                </p:cTn>
                              </p:par>
                              <p:par>
                                <p:cTn id="79" presetID="22" presetClass="entr" presetSubtype="8" fill="hold" grpId="0" nodeType="withEffect">
                                  <p:stCondLst>
                                    <p:cond delay="300"/>
                                  </p:stCondLst>
                                  <p:childTnLst>
                                    <p:set>
                                      <p:cBhvr>
                                        <p:cTn id="80" dur="1" fill="hold">
                                          <p:stCondLst>
                                            <p:cond delay="0"/>
                                          </p:stCondLst>
                                        </p:cTn>
                                        <p:tgtEl>
                                          <p:spTgt spid="29"/>
                                        </p:tgtEl>
                                        <p:attrNameLst>
                                          <p:attrName>style.visibility</p:attrName>
                                        </p:attrNameLst>
                                      </p:cBhvr>
                                      <p:to>
                                        <p:strVal val="visible"/>
                                      </p:to>
                                    </p:set>
                                    <p:animEffect transition="in" filter="wipe(left)">
                                      <p:cBhvr>
                                        <p:cTn id="81" dur="450"/>
                                        <p:tgtEl>
                                          <p:spTgt spid="29"/>
                                        </p:tgtEl>
                                      </p:cBhvr>
                                    </p:animEffect>
                                  </p:childTnLst>
                                </p:cTn>
                              </p:par>
                            </p:childTnLst>
                          </p:cTn>
                        </p:par>
                        <p:par>
                          <p:cTn id="98" fill="hold">
                            <p:stCondLst>
                              <p:cond delay="3250"/>
                            </p:stCondLst>
                            <p:childTnLst>
                              <p:par>
                                <p:cTn id="83" presetID="10" presetClass="entr" presetSubtype="0" fill="hold" grpId="0" nodeType="afterEffect">
                                  <p:stCondLst>
                                    <p:cond delay="0"/>
                                  </p:stCondLst>
                                  <p:childTnLst>
                                    <p:set>
                                      <p:cBhvr>
                                        <p:cTn id="84" dur="1" fill="hold">
                                          <p:stCondLst>
                                            <p:cond delay="0"/>
                                          </p:stCondLst>
                                        </p:cTn>
                                        <p:tgtEl>
                                          <p:spTgt spid="30"/>
                                        </p:tgtEl>
                                        <p:attrNameLst>
                                          <p:attrName>style.visibility</p:attrName>
                                        </p:attrNameLst>
                                      </p:cBhvr>
                                      <p:to>
                                        <p:strVal val="visible"/>
                                      </p:to>
                                    </p:set>
                                    <p:animEffect transition="in" filter="fade">
                                      <p:cBhvr>
                                        <p:cTn id="85" dur="450"/>
                                        <p:tgtEl>
                                          <p:spTgt spid="3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1"/>
                                        </p:tgtEl>
                                        <p:attrNameLst>
                                          <p:attrName>style.visibility</p:attrName>
                                        </p:attrNameLst>
                                      </p:cBhvr>
                                      <p:to>
                                        <p:strVal val="visible"/>
                                      </p:to>
                                    </p:set>
                                    <p:animEffect transition="in" filter="fade">
                                      <p:cBhvr>
                                        <p:cTn id="88" dur="450"/>
                                        <p:tgtEl>
                                          <p:spTgt spid="31"/>
                                        </p:tgtEl>
                                      </p:cBhvr>
                                    </p:animEffect>
                                  </p:childTnLst>
                                </p:cTn>
                              </p:par>
                              <p:par>
                                <p:cTn id="89" presetID="22" presetClass="entr" presetSubtype="8" fill="hold" grpId="0" nodeType="withEffect">
                                  <p:stCondLst>
                                    <p:cond delay="20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450"/>
                                        <p:tgtEl>
                                          <p:spTgt spid="32"/>
                                        </p:tgtEl>
                                      </p:cBhvr>
                                    </p:animEffect>
                                  </p:childTnLst>
                                </p:cTn>
                              </p:par>
                              <p:par>
                                <p:cTn id="92" presetID="22" presetClass="entr" presetSubtype="8" fill="hold" grpId="0" nodeType="withEffect">
                                  <p:stCondLst>
                                    <p:cond delay="300"/>
                                  </p:stCondLst>
                                  <p:childTnLst>
                                    <p:set>
                                      <p:cBhvr>
                                        <p:cTn id="93" dur="1" fill="hold">
                                          <p:stCondLst>
                                            <p:cond delay="0"/>
                                          </p:stCondLst>
                                        </p:cTn>
                                        <p:tgtEl>
                                          <p:spTgt spid="33"/>
                                        </p:tgtEl>
                                        <p:attrNameLst>
                                          <p:attrName>style.visibility</p:attrName>
                                        </p:attrNameLst>
                                      </p:cBhvr>
                                      <p:to>
                                        <p:strVal val="visible"/>
                                      </p:to>
                                    </p:set>
                                    <p:animEffect transition="in" filter="wipe(left)">
                                      <p:cBhvr>
                                        <p:cTn id="94" dur="450"/>
                                        <p:tgtEl>
                                          <p:spTgt spid="33"/>
                                        </p:tgtEl>
                                      </p:cBhvr>
                                    </p:animEffect>
                                  </p:childTnLst>
                                </p:cTn>
                              </p:par>
                              <p:par>
                                <p:cTn id="95" presetID="22" presetClass="entr" presetSubtype="8" fill="hold" grpId="0" nodeType="withEffect">
                                  <p:stCondLst>
                                    <p:cond delay="300"/>
                                  </p:stCondLst>
                                  <p:childTnLst>
                                    <p:set>
                                      <p:cBhvr>
                                        <p:cTn id="96" dur="1" fill="hold">
                                          <p:stCondLst>
                                            <p:cond delay="0"/>
                                          </p:stCondLst>
                                        </p:cTn>
                                        <p:tgtEl>
                                          <p:spTgt spid="34"/>
                                        </p:tgtEl>
                                        <p:attrNameLst>
                                          <p:attrName>style.visibility</p:attrName>
                                        </p:attrNameLst>
                                      </p:cBhvr>
                                      <p:to>
                                        <p:strVal val="visible"/>
                                      </p:to>
                                    </p:set>
                                    <p:animEffect transition="in" filter="wipe(left)">
                                      <p:cBhvr>
                                        <p:cTn id="97"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1"/>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shipped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1"/>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sld>
</file>

<file path=ppt/theme/theme1.xml><?xml version="1.0" encoding="utf-8"?>
<a:theme xmlns:a="http://schemas.openxmlformats.org/drawingml/2006/main" name="ERM Migration">
  <a:themeElements>
    <a:clrScheme name="ERM Migration">
      <a:dk1>
        <a:srgbClr val="14213D"/>
      </a:dk1>
      <a:lt1>
        <a:srgbClr val="FFFFFF"/>
      </a:lt1>
      <a:dk2>
        <a:srgbClr val="4A5568"/>
      </a:dk2>
      <a:lt2>
        <a:srgbClr val="EEF2F7"/>
      </a:lt2>
      <a:accent1>
        <a:srgbClr val="E07A2F"/>
      </a:accent1>
      <a:accent2>
        <a:srgbClr val="2F6FD0"/>
      </a:accent2>
      <a:accent3>
        <a:srgbClr val="C2601C"/>
      </a:accent3>
      <a:accent4>
        <a:srgbClr val="1F2E4F"/>
      </a:accent4>
      <a:accent5>
        <a:srgbClr val="BFD8D5"/>
      </a:accent5>
      <a:accent6>
        <a:srgbClr val="D5DCE6"/>
      </a:accent6>
      <a:hlink>
        <a:srgbClr val="2F6FD0"/>
      </a:hlink>
      <a:folHlink>
        <a:srgbClr val="1F2E4F"/>
      </a:folHlink>
    </a:clrScheme>
    <a:fontScheme name="ERM Migrat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2026-10-03T13:55:13Z</dcterms:created>
  <dcterms:modified xsi:type="dcterms:W3CDTF">2026-10-03T13:55:13Z</dcterms:modified>
</cp:coreProperties>
</file>