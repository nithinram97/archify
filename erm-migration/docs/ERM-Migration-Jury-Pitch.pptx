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39d5b421-b7c5-776b-9880-1fb9a7d5555d}">
          <p14:sldIdLst>
            <p14:sldId id="256"/>
          </p14:sldIdLst>
        </p14:section>
        <p14:section name="Context" id="{3e9bfaa9-cb89-78cd-c9fc-d15db49999f6}">
          <p14:sldIdLst>
            <p14:sldId id="257"/>
            <p14:sldId id="258"/>
            <p14:sldId id="259"/>
          </p14:sldIdLst>
        </p14:section>
        <p14:section name="Problem and method" id="{6515b38d-5baa-0eb1-8306-2ef8415a0834}">
          <p14:sldIdLst>
            <p14:sldId id="260"/>
            <p14:sldId id="261"/>
          </p14:sldIdLst>
        </p14:section>
        <p14:section name="Impact" id="{faddd1e6-c95b-53cc-9af7-ccd2c2d39f87}">
          <p14:sldIdLst>
            <p14:sldId id="262"/>
            <p14:sldId id="263"/>
            <p14:sldId id="264"/>
            <p14:sldId id="265"/>
            <p14:sldId id="266"/>
          </p14:sldIdLst>
        </p14:section>
        <p14:section name="Reuse" id="{58499a7c-bb27-cb5d-6f2f-07703843f999}">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two developers took ERM, a business-critical Slate application with no documentation, and rebuilt it for Airbus DevX with React and OSDK in one PI, ready for go-live, using an AI-assisted method we designed ourselves. The story: what ERM is and who relies on it, why it had to move, how we did it with AI, what it saved, how it serves our 2026 objectives, and why other teams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ERM is, so the jury knows why this app matters. ERM helps stakeholders understand risks and the actions they need. The dashboard turns Active Risk Manager data in Skywise into ERM reports. Five capabilities: one place for ARM data with role-based views; custom dashboards; live editing and trend following; a governed quarterly release workflow; and sharing risks across divisions. On the right: risks and opportunities from ARM are grouped into dashboards, which produce reports and the criticality, key messages, trend and status views. Data flows from ARM through a restricted view and the Ontology into the app, so users only see the risks they have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clear. 892 people have used ERM across engineering, programmes and operations, with a monthly peak above 320 active risk managers. More than 1,600 dashboards have been created and more than 10 are updated every day. The trend shows monthly unique users growing from launch in summer 2024 to around 300 a month in 2026. That is why the migration could not be a rewrite from memory: every feature had to be found and carried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migrate at all. In Slate, even a simple action triggers a cascade of widgets, events, actions and variables, so one change can break unrelated features, and every tab switch recalculates large variable trees. On top of that, nothing was documented: 8 exports, about 25 MB of configuration. Let the animation play: we first broke the app into its shell and 7 modules, then had AI extract every feature, 105 in total. The target is Airbus DevX with React and OSDK: modular components that can change safely and navigate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and reviewed, and the backend sharing fix is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11 features the old app did not have, from a searchable dashboard switcher and a web address per tab to a report slideshow; the next slides show them.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At $38.50 per developer hour, that is roughly $105,000 of manual effort against about $25,000 actual: around $80,000 saved.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new features is now easy, and that keeps paying back. During the same PI we built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25 MB of Slate configuration became about 0.8 MB of typed source in 75 files. In Slate, a feature meant wiring widgets, events, variables and functions across 8 exports, with no documentation; in React it is one typed component and one OSDK call, and pack-project.ts gives AI the whole app as context. On recurring cost: using a common rule of thumb that maintenance costs about 20% of build effort a year, a Slate-equivalent app would need about 68 person-days a year, around $21,000 at $38.50 an hour. Assuming modular, typed, documented code halves that, we save around $10,000 a year. Say clearly these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11094415" cy="3246120"/>
          </a:xfrm>
          <a:prstGeom prst="roundRect">
            <a:avLst>
              <a:gd name="adj" fmla="val 3380"/>
            </a:avLst>
          </a:prstGeom>
          <a:solidFill>
            <a:schemeClr val="bg1"/>
          </a:solidFill>
          <a:ln/>
        </p:spPr>
      </p:sp>
      <p:sp>
        <p:nvSpPr>
          <p:cNvPr id="21" name="trend-title"/>
          <p:cNvSpPr txBox="1"/>
          <p:nvPr/>
        </p:nvSpPr>
        <p:spPr>
          <a:xfrm>
            <a:off x="777240" y="3310128"/>
            <a:ext cx="10637215"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10911535"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10637215"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3"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4" name="org-card"/>
          <p:cNvSpPr/>
          <p:nvPr/>
        </p:nvSpPr>
        <p:spPr>
          <a:xfrm>
            <a:off x="548640" y="1600200"/>
            <a:ext cx="6766560" cy="4846320"/>
          </a:xfrm>
          <a:prstGeom prst="roundRect">
            <a:avLst>
              <a:gd name="adj" fmla="val 2264"/>
            </a:avLst>
          </a:prstGeom>
          <a:solidFill>
            <a:schemeClr val="bg2"/>
          </a:solidFill>
          <a:ln/>
        </p:spPr>
      </p:sp>
      <p:sp>
        <p:nvSpPr>
          <p:cNvPr id="5"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6"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7"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8" name="loc-card"/>
          <p:cNvSpPr/>
          <p:nvPr/>
        </p:nvSpPr>
        <p:spPr>
          <a:xfrm>
            <a:off x="7589520" y="1600200"/>
            <a:ext cx="4050792" cy="4846320"/>
          </a:xfrm>
          <a:prstGeom prst="roundRect">
            <a:avLst>
              <a:gd name="adj" fmla="val 2709"/>
            </a:avLst>
          </a:prstGeom>
          <a:solidFill>
            <a:schemeClr val="tx1"/>
          </a:solidFill>
          <a:ln/>
        </p:spPr>
      </p:sp>
      <p:sp>
        <p:nvSpPr>
          <p:cNvPr id="9"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0"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built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11</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new features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or ~$80K</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 ≈ $105K</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80 person-days ≈ $25K</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5"/>
                </a:solidFill>
              </a:rPr>
              <a:t>~$80K</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about 76% less effort: (17 − 4) ÷ 17</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2 developers, 2-week sprints = 20 person-days per sprint; 1 PI = 4 sprints; $38.50 per hour, 8 hours a day.</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3" name="ease-0-card"/>
          <p:cNvSpPr/>
          <p:nvPr/>
        </p:nvSpPr>
        <p:spPr>
          <a:xfrm>
            <a:off x="548640" y="1371600"/>
            <a:ext cx="3515258" cy="1554480"/>
          </a:xfrm>
          <a:prstGeom prst="roundRect">
            <a:avLst>
              <a:gd name="adj" fmla="val 7059"/>
            </a:avLst>
          </a:prstGeom>
          <a:solidFill>
            <a:schemeClr val="bg1"/>
          </a:solidFill>
          <a:ln/>
        </p:spPr>
      </p:sp>
      <p:sp>
        <p:nvSpPr>
          <p:cNvPr id="4" name="ease-0-value"/>
          <p:cNvSpPr txBox="1"/>
          <p:nvPr/>
        </p:nvSpPr>
        <p:spPr>
          <a:xfrm>
            <a:off x="749808" y="1481328"/>
            <a:ext cx="3112922"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5" name="ease-0-label"/>
          <p:cNvSpPr txBox="1"/>
          <p:nvPr/>
        </p:nvSpPr>
        <p:spPr>
          <a:xfrm>
            <a:off x="749808" y="2148840"/>
            <a:ext cx="3112922"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built in the same PI</a:t>
            </a:r>
            <a:endParaRPr lang="en-US" sz="1300" dirty="0"/>
          </a:p>
        </p:txBody>
      </p:sp>
      <p:sp>
        <p:nvSpPr>
          <p:cNvPr id="6" name="ease-1-card"/>
          <p:cNvSpPr/>
          <p:nvPr/>
        </p:nvSpPr>
        <p:spPr>
          <a:xfrm>
            <a:off x="4338218" y="1371600"/>
            <a:ext cx="3515258" cy="1554480"/>
          </a:xfrm>
          <a:prstGeom prst="roundRect">
            <a:avLst>
              <a:gd name="adj" fmla="val 7059"/>
            </a:avLst>
          </a:prstGeom>
          <a:solidFill>
            <a:schemeClr val="bg1"/>
          </a:solidFill>
          <a:ln/>
        </p:spPr>
      </p:sp>
      <p:sp>
        <p:nvSpPr>
          <p:cNvPr id="7" name="ease-1-value"/>
          <p:cNvSpPr txBox="1"/>
          <p:nvPr/>
        </p:nvSpPr>
        <p:spPr>
          <a:xfrm>
            <a:off x="4539386" y="1481328"/>
            <a:ext cx="3112922"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8" name="ease-1-label"/>
          <p:cNvSpPr txBox="1"/>
          <p:nvPr/>
        </p:nvSpPr>
        <p:spPr>
          <a:xfrm>
            <a:off x="4539386" y="2148840"/>
            <a:ext cx="3112922"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9" name="ease-2-card"/>
          <p:cNvSpPr/>
          <p:nvPr/>
        </p:nvSpPr>
        <p:spPr>
          <a:xfrm>
            <a:off x="8127797" y="1371600"/>
            <a:ext cx="3515258" cy="1554480"/>
          </a:xfrm>
          <a:prstGeom prst="roundRect">
            <a:avLst>
              <a:gd name="adj" fmla="val 7059"/>
            </a:avLst>
          </a:prstGeom>
          <a:solidFill>
            <a:schemeClr val="tx1"/>
          </a:solidFill>
          <a:ln/>
        </p:spPr>
      </p:sp>
      <p:sp>
        <p:nvSpPr>
          <p:cNvPr id="10" name="ease-2-value"/>
          <p:cNvSpPr txBox="1"/>
          <p:nvPr/>
        </p:nvSpPr>
        <p:spPr>
          <a:xfrm>
            <a:off x="8328965" y="1481328"/>
            <a:ext cx="3112922"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1" name="ease-2-label"/>
          <p:cNvSpPr txBox="1"/>
          <p:nvPr/>
        </p:nvSpPr>
        <p:spPr>
          <a:xfrm>
            <a:off x="8328965" y="2148840"/>
            <a:ext cx="3112922"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2" name="ease-old"/>
          <p:cNvSpPr/>
          <p:nvPr/>
        </p:nvSpPr>
        <p:spPr>
          <a:xfrm>
            <a:off x="548640" y="3154680"/>
            <a:ext cx="5410048" cy="2423160"/>
          </a:xfrm>
          <a:prstGeom prst="roundRect">
            <a:avLst>
              <a:gd name="adj" fmla="val 4528"/>
            </a:avLst>
          </a:prstGeom>
          <a:solidFill>
            <a:schemeClr val="bg1"/>
          </a:solidFill>
          <a:ln/>
        </p:spPr>
      </p:sp>
      <p:sp>
        <p:nvSpPr>
          <p:cNvPr id="13"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4" name="ease-new"/>
          <p:cNvSpPr/>
          <p:nvPr/>
        </p:nvSpPr>
        <p:spPr>
          <a:xfrm>
            <a:off x="6233008" y="3154680"/>
            <a:ext cx="5410048" cy="2423160"/>
          </a:xfrm>
          <a:prstGeom prst="roundRect">
            <a:avLst>
              <a:gd name="adj" fmla="val 4528"/>
            </a:avLst>
          </a:prstGeom>
          <a:solidFill>
            <a:schemeClr val="tx1"/>
          </a:solidFill>
          <a:ln/>
        </p:spPr>
      </p:sp>
      <p:sp>
        <p:nvSpPr>
          <p:cNvPr id="15"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16"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39"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childTnLst>
                          </p:cTn>
                        </p:par>
                        <p:par>
                          <p:cTn id="46" fill="hold">
                            <p:stCondLst>
                              <p:cond delay="1600"/>
                            </p:stCondLst>
                            <p:childTnLst>
                              <p:par>
                                <p:cTn id="40" presetID="22" presetClass="entr" presetSubtype="8"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wipe(left)">
                                      <p:cBhvr>
                                        <p:cTn id="42" dur="450"/>
                                        <p:tgtEl>
                                          <p:spTgt spid="14"/>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left)">
                                      <p:cBhvr>
                                        <p:cTn id="45" dur="450"/>
                                        <p:tgtEl>
                                          <p:spTgt spid="15"/>
                                        </p:tgtEl>
                                      </p:cBhvr>
                                    </p:animEffect>
                                  </p:childTnLst>
                                </p:cTn>
                              </p:par>
                            </p:childTnLst>
                          </p:cTn>
                        </p:par>
                        <p:par>
                          <p:cTn id="50"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3"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4" name="quote-0-card"/>
          <p:cNvSpPr/>
          <p:nvPr/>
        </p:nvSpPr>
        <p:spPr>
          <a:xfrm>
            <a:off x="548640" y="1645920"/>
            <a:ext cx="3515258" cy="4480560"/>
          </a:xfrm>
          <a:prstGeom prst="roundRect">
            <a:avLst>
              <a:gd name="adj" fmla="val 3121"/>
            </a:avLst>
          </a:prstGeom>
          <a:solidFill>
            <a:schemeClr val="tx1"/>
          </a:solidFill>
          <a:ln/>
        </p:spPr>
      </p:sp>
      <p:sp>
        <p:nvSpPr>
          <p:cNvPr id="5"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6"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7"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8" name="quote-1-card"/>
          <p:cNvSpPr/>
          <p:nvPr/>
        </p:nvSpPr>
        <p:spPr>
          <a:xfrm>
            <a:off x="4338218" y="1645920"/>
            <a:ext cx="3515258" cy="4480560"/>
          </a:xfrm>
          <a:prstGeom prst="roundRect">
            <a:avLst>
              <a:gd name="adj" fmla="val 3121"/>
            </a:avLst>
          </a:prstGeom>
          <a:solidFill>
            <a:schemeClr val="bg1"/>
          </a:solidFill>
          <a:ln/>
        </p:spPr>
      </p:sp>
      <p:sp>
        <p:nvSpPr>
          <p:cNvPr id="9"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0"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1"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2" name="quote-2-card"/>
          <p:cNvSpPr/>
          <p:nvPr/>
        </p:nvSpPr>
        <p:spPr>
          <a:xfrm>
            <a:off x="8127797" y="1645920"/>
            <a:ext cx="3515258" cy="4480560"/>
          </a:xfrm>
          <a:prstGeom prst="roundRect">
            <a:avLst>
              <a:gd name="adj" fmla="val 3121"/>
            </a:avLst>
          </a:prstGeom>
          <a:solidFill>
            <a:schemeClr val="bg1"/>
          </a:solidFill>
          <a:ln/>
        </p:spPr>
      </p:sp>
      <p:sp>
        <p:nvSpPr>
          <p:cNvPr id="13"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4"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5"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rebuilt on a standard, maintainable stack, ready to leave Slate</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delivered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Proposed at the architecture sync, aligned with [Architect], for functions beyond DMS</a:t>
            </a:r>
            <a:endParaRPr lang="en-US" sz="1600" dirty="0"/>
          </a:p>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2026-10-04T12:52:59Z</dcterms:created>
  <dcterms:modified xsi:type="dcterms:W3CDTF">2026-10-04T12:52:59Z</dcterms:modified>
</cp:coreProperties>
</file>