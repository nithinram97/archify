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f9d7b542-1bb9-af64-8da4-219e9bdf59af}">
          <p14:sldIdLst>
            <p14:sldId id="256"/>
          </p14:sldIdLst>
        </p14:section>
        <p14:section name="Problem and method" id="{e840d901-d90f-1a05-676e-e0f15e83fea3}">
          <p14:sldIdLst>
            <p14:sldId id="257"/>
            <p14:sldId id="258"/>
          </p14:sldIdLst>
        </p14:section>
        <p14:section name="Impact" id="{28961b5f-3114-2e9c-40db-c9292b2ea9fd}">
          <p14:sldIdLst>
            <p14:sldId id="259"/>
            <p14:sldId id="260"/>
            <p14:sldId id="261"/>
          </p14:sldIdLst>
        </p14:section>
        <p14:section name="Reuse" id="{0078f65d-e0ff-5fdd-4c8b-1a5aa75b703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we took a complex legacy Slate application with no documentation and moved it to React and OSDK using an AI-assisted method we designed ourselves. We worked to a short timeline we set ourselves and still added new features. Then say: in the next slides you will see the problem, the method, the numbers, the results and why any team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animation play. The ERM dashboard was one Slate shell plus seven modules: print preview, action tracker, full search, heatmap, one-pager, report table and waterfall. About 25 MB of widgets, variables, events, queries and embedded code, and no specs, diagrams or feature list. Step one was to break it into its parts; step two was to have AI read each export and pull out every feature. Business users then checked the list. Result: 105 features we knew we had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7 sprints for a team of 5. We did it in one PI, 4 development sprints, which is about 40%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results. One: every one of the 105 features is tracked in the comparison document. Two: real gaps were fixed, for example how board members get access to risks when a dashboard is created or edited; that fix is deployed. Three: the React app does more than the old one; show the new features here. Four: the app now has architecture and lifecycle diagrams, for dashboards and for risks. Switch to the live app for the demo here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554480"/>
            <a:ext cx="11094415"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QUARTERLY AWARDS · INNOVATION</a:t>
            </a:r>
            <a:endParaRPr lang="en-US" sz="1400" dirty="0"/>
          </a:p>
        </p:txBody>
      </p:sp>
      <p:sp>
        <p:nvSpPr>
          <p:cNvPr id="3" name="cover-title"/>
          <p:cNvSpPr txBox="1"/>
          <p:nvPr/>
        </p:nvSpPr>
        <p:spPr>
          <a:xfrm>
            <a:off x="548640" y="2011680"/>
            <a:ext cx="9601200" cy="1828800"/>
          </a:xfrm>
          <a:prstGeom prst="rect">
            <a:avLst/>
          </a:prstGeom>
          <a:noFill/>
          <a:ln/>
        </p:spPr>
        <p:txBody>
          <a:bodyPr wrap="square" lIns="0" tIns="0" rIns="0" bIns="0" rtlCol="0" anchor="t"/>
          <a:lstStyle/>
          <a:p>
            <a:pPr indent="0" marL="0">
              <a:buNone/>
            </a:pPr>
            <a:r>
              <a:rPr lang="en-US" sz="5400" b="1" dirty="0">
                <a:solidFill>
                  <a:schemeClr val="bg1"/>
                </a:solidFill>
              </a:rPr>
              <a:t>From undocumented Slate to React, with AI</a:t>
            </a:r>
            <a:endParaRPr lang="en-US" sz="5400" dirty="0"/>
          </a:p>
        </p:txBody>
      </p:sp>
      <p:sp>
        <p:nvSpPr>
          <p:cNvPr id="4" name="cover-sub"/>
          <p:cNvSpPr txBox="1"/>
          <p:nvPr/>
        </p:nvSpPr>
        <p:spPr>
          <a:xfrm>
            <a:off x="548640" y="3977640"/>
            <a:ext cx="9144000" cy="914400"/>
          </a:xfrm>
          <a:prstGeom prst="rect">
            <a:avLst/>
          </a:prstGeom>
          <a:noFill/>
          <a:ln/>
        </p:spPr>
        <p:txBody>
          <a:bodyPr wrap="square" lIns="0" tIns="0" rIns="0" bIns="0" rtlCol="0" anchor="t"/>
          <a:lstStyle/>
          <a:p>
            <a:pPr indent="0" marL="0">
              <a:buNone/>
            </a:pPr>
            <a:r>
              <a:rPr lang="en-US" sz="2000" dirty="0">
                <a:solidFill>
                  <a:schemeClr val="accent5"/>
                </a:solidFill>
              </a:rPr>
              <a:t>How we rebuilt the ERM Risk &amp; Opportunity Dashboard on a tight timeline we set ourselves, and added new features on the way</a:t>
            </a:r>
            <a:endParaRPr lang="en-US" sz="2000" dirty="0"/>
          </a:p>
        </p:txBody>
      </p:sp>
      <p:sp>
        <p:nvSpPr>
          <p:cNvPr id="5" name="presenters"/>
          <p:cNvSpPr txBox="1"/>
          <p:nvPr/>
        </p:nvSpPr>
        <p:spPr>
          <a:xfrm>
            <a:off x="548640" y="5943600"/>
            <a:ext cx="7315200" cy="365760"/>
          </a:xfrm>
          <a:prstGeom prst="rect">
            <a:avLst/>
          </a:prstGeom>
          <a:noFill/>
          <a:ln/>
        </p:spPr>
        <p:txBody>
          <a:bodyPr wrap="square" lIns="0" tIns="0" rIns="0" bIns="0" rtlCol="0" anchor="t"/>
          <a:lstStyle/>
          <a:p>
            <a:pPr indent="0" marL="0">
              <a:buNone/>
            </a:pPr>
            <a:r>
              <a:rPr lang="en-US" sz="1400" dirty="0">
                <a:solidFill>
                  <a:schemeClr val="accent5"/>
                </a:solidFill>
              </a:rPr>
              <a:t>[Team name] · [Presenter names]</a:t>
            </a:r>
            <a:endParaRPr lang="en-US" sz="1400" dirty="0"/>
          </a:p>
        </p:txBody>
      </p:sp>
      <p:sp>
        <p:nvSpPr>
          <p:cNvPr id="7"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A large app that nobody had documented</a:t>
            </a:r>
            <a:endParaRPr lang="en-US" sz="3600" dirty="0"/>
          </a:p>
        </p:txBody>
      </p:sp>
      <p:pic>
        <p:nvPicPr>
          <p:cNvPr id="3"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48640" y="1600200"/>
            <a:ext cx="6858000" cy="4114800"/>
          </a:xfrm>
          <a:prstGeom prst="rect">
            <a:avLst/>
          </a:prstGeom>
        </p:spPr>
      </p:pic>
      <p:sp>
        <p:nvSpPr>
          <p:cNvPr id="4" name="stat-0-value"/>
          <p:cNvSpPr txBox="1"/>
          <p:nvPr/>
        </p:nvSpPr>
        <p:spPr>
          <a:xfrm>
            <a:off x="7863840" y="1600200"/>
            <a:ext cx="3749040" cy="777240"/>
          </a:xfrm>
          <a:prstGeom prst="rect">
            <a:avLst/>
          </a:prstGeom>
          <a:noFill/>
          <a:ln/>
        </p:spPr>
        <p:txBody>
          <a:bodyPr wrap="square" lIns="0" tIns="0" rIns="0" bIns="0" rtlCol="0" anchor="t"/>
          <a:lstStyle/>
          <a:p>
            <a:pPr indent="0" marL="0">
              <a:buNone/>
            </a:pPr>
            <a:r>
              <a:rPr lang="en-US" sz="5600" b="1" dirty="0">
                <a:solidFill>
                  <a:schemeClr val="tx1"/>
                </a:solidFill>
              </a:rPr>
              <a:t>8</a:t>
            </a:r>
            <a:endParaRPr lang="en-US" sz="5600" dirty="0"/>
          </a:p>
        </p:txBody>
      </p:sp>
      <p:sp>
        <p:nvSpPr>
          <p:cNvPr id="5" name="stat-0-label"/>
          <p:cNvSpPr txBox="1"/>
          <p:nvPr/>
        </p:nvSpPr>
        <p:spPr>
          <a:xfrm>
            <a:off x="7863840" y="2377440"/>
            <a:ext cx="3749040" cy="502920"/>
          </a:xfrm>
          <a:prstGeom prst="rect">
            <a:avLst/>
          </a:prstGeom>
          <a:noFill/>
          <a:ln/>
        </p:spPr>
        <p:txBody>
          <a:bodyPr wrap="square" lIns="0" tIns="0" rIns="0" bIns="0" rtlCol="0" anchor="t"/>
          <a:lstStyle/>
          <a:p>
            <a:pPr indent="0" marL="0">
              <a:buNone/>
            </a:pPr>
            <a:r>
              <a:rPr lang="en-US" sz="1500" dirty="0">
                <a:solidFill>
                  <a:schemeClr val="tx2"/>
                </a:solidFill>
              </a:rPr>
              <a:t>Slate exports: 1 shell app and 7 modules</a:t>
            </a:r>
            <a:endParaRPr lang="en-US" sz="1500" dirty="0"/>
          </a:p>
        </p:txBody>
      </p:sp>
      <p:sp>
        <p:nvSpPr>
          <p:cNvPr id="6" name="stat-1-value"/>
          <p:cNvSpPr txBox="1"/>
          <p:nvPr/>
        </p:nvSpPr>
        <p:spPr>
          <a:xfrm>
            <a:off x="7863840" y="3017520"/>
            <a:ext cx="3749040" cy="777240"/>
          </a:xfrm>
          <a:prstGeom prst="rect">
            <a:avLst/>
          </a:prstGeom>
          <a:noFill/>
          <a:ln/>
        </p:spPr>
        <p:txBody>
          <a:bodyPr wrap="square" lIns="0" tIns="0" rIns="0" bIns="0" rtlCol="0" anchor="t"/>
          <a:lstStyle/>
          <a:p>
            <a:pPr indent="0" marL="0">
              <a:buNone/>
            </a:pPr>
            <a:r>
              <a:rPr lang="en-US" sz="5600" b="1" dirty="0">
                <a:solidFill>
                  <a:schemeClr val="tx1"/>
                </a:solidFill>
              </a:rPr>
              <a:t>0</a:t>
            </a:r>
            <a:endParaRPr lang="en-US" sz="5600" dirty="0"/>
          </a:p>
        </p:txBody>
      </p:sp>
      <p:sp>
        <p:nvSpPr>
          <p:cNvPr id="7" name="stat-1-label"/>
          <p:cNvSpPr txBox="1"/>
          <p:nvPr/>
        </p:nvSpPr>
        <p:spPr>
          <a:xfrm>
            <a:off x="7863840" y="3794760"/>
            <a:ext cx="3749040" cy="502920"/>
          </a:xfrm>
          <a:prstGeom prst="rect">
            <a:avLst/>
          </a:prstGeom>
          <a:noFill/>
          <a:ln/>
        </p:spPr>
        <p:txBody>
          <a:bodyPr wrap="square" lIns="0" tIns="0" rIns="0" bIns="0" rtlCol="0" anchor="t"/>
          <a:lstStyle/>
          <a:p>
            <a:pPr indent="0" marL="0">
              <a:buNone/>
            </a:pPr>
            <a:r>
              <a:rPr lang="en-US" sz="1500" dirty="0">
                <a:solidFill>
                  <a:schemeClr val="tx2"/>
                </a:solidFill>
              </a:rPr>
              <a:t>pages of documentation, about 25 MB of configuration</a:t>
            </a:r>
            <a:endParaRPr lang="en-US" sz="1500" dirty="0"/>
          </a:p>
        </p:txBody>
      </p:sp>
      <p:sp>
        <p:nvSpPr>
          <p:cNvPr id="8" name="stat-2-value"/>
          <p:cNvSpPr txBox="1"/>
          <p:nvPr/>
        </p:nvSpPr>
        <p:spPr>
          <a:xfrm>
            <a:off x="7863840" y="4434840"/>
            <a:ext cx="3749040" cy="777240"/>
          </a:xfrm>
          <a:prstGeom prst="rect">
            <a:avLst/>
          </a:prstGeom>
          <a:noFill/>
          <a:ln/>
        </p:spPr>
        <p:txBody>
          <a:bodyPr wrap="square" lIns="0" tIns="0" rIns="0" bIns="0" rtlCol="0" anchor="t"/>
          <a:lstStyle/>
          <a:p>
            <a:pPr indent="0" marL="0">
              <a:buNone/>
            </a:pPr>
            <a:r>
              <a:rPr lang="en-US" sz="5600" b="1" dirty="0">
                <a:solidFill>
                  <a:schemeClr val="accent3"/>
                </a:solidFill>
              </a:rPr>
              <a:t>105</a:t>
            </a:r>
            <a:endParaRPr lang="en-US" sz="5600" dirty="0"/>
          </a:p>
        </p:txBody>
      </p:sp>
      <p:sp>
        <p:nvSpPr>
          <p:cNvPr id="9" name="stat-2-label"/>
          <p:cNvSpPr txBox="1"/>
          <p:nvPr/>
        </p:nvSpPr>
        <p:spPr>
          <a:xfrm>
            <a:off x="7863840" y="5212080"/>
            <a:ext cx="3749040" cy="502920"/>
          </a:xfrm>
          <a:prstGeom prst="rect">
            <a:avLst/>
          </a:prstGeom>
          <a:noFill/>
          <a:ln/>
        </p:spPr>
        <p:txBody>
          <a:bodyPr wrap="square" lIns="0" tIns="0" rIns="0" bIns="0" rtlCol="0" anchor="t"/>
          <a:lstStyle/>
          <a:p>
            <a:pPr indent="0" marL="0">
              <a:buNone/>
            </a:pPr>
            <a:r>
              <a:rPr lang="en-US" sz="1500" dirty="0">
                <a:solidFill>
                  <a:schemeClr val="tx2"/>
                </a:solidFill>
              </a:rPr>
              <a:t>features recovered by AI and confirmed by users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1"/>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40%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1"/>
                </a:solidFill>
              </a:rPr>
              <a:t>~40%</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(7 − 4) ÷ 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5, 2-week sprints = 50 person-days per sprint; 1 PI = 4 development sprints.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we delivered in one SAFe PI</a:t>
            </a:r>
            <a:endParaRPr lang="en-US" sz="3600" dirty="0"/>
          </a:p>
        </p:txBody>
      </p:sp>
      <p:sp>
        <p:nvSpPr>
          <p:cNvPr id="3" name="result-0-card"/>
          <p:cNvSpPr/>
          <p:nvPr/>
        </p:nvSpPr>
        <p:spPr>
          <a:xfrm>
            <a:off x="548640" y="1600200"/>
            <a:ext cx="5410048" cy="2057400"/>
          </a:xfrm>
          <a:prstGeom prst="roundRect">
            <a:avLst>
              <a:gd name="adj" fmla="val 5333"/>
            </a:avLst>
          </a:prstGeom>
          <a:solidFill>
            <a:schemeClr val="bg1"/>
          </a:solidFill>
          <a:ln/>
        </p:spPr>
      </p:sp>
      <p:sp>
        <p:nvSpPr>
          <p:cNvPr id="4" name="result-0-title"/>
          <p:cNvSpPr txBox="1"/>
          <p:nvPr/>
        </p:nvSpPr>
        <p:spPr>
          <a:xfrm>
            <a:off x="868680" y="1920240"/>
            <a:ext cx="4769968" cy="685800"/>
          </a:xfrm>
          <a:prstGeom prst="rect">
            <a:avLst/>
          </a:prstGeom>
          <a:noFill/>
          <a:ln/>
        </p:spPr>
        <p:txBody>
          <a:bodyPr wrap="square" lIns="0" tIns="0" rIns="0" bIns="0" rtlCol="0" anchor="t"/>
          <a:lstStyle/>
          <a:p>
            <a:pPr indent="0" marL="0">
              <a:buNone/>
            </a:pPr>
            <a:r>
              <a:rPr lang="en-US" sz="3200" b="1" dirty="0">
                <a:solidFill>
                  <a:schemeClr val="accent3"/>
                </a:solidFill>
              </a:rPr>
              <a:t>105 features</a:t>
            </a:r>
            <a:endParaRPr lang="en-US" sz="3200" dirty="0"/>
          </a:p>
        </p:txBody>
      </p:sp>
      <p:sp>
        <p:nvSpPr>
          <p:cNvPr id="5" name="result-0-body"/>
          <p:cNvSpPr txBox="1"/>
          <p:nvPr/>
        </p:nvSpPr>
        <p:spPr>
          <a:xfrm>
            <a:off x="868680"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Catalogued and compared one by one, so nothing was lost by accident</a:t>
            </a:r>
            <a:endParaRPr lang="en-US" sz="1600" dirty="0"/>
          </a:p>
        </p:txBody>
      </p:sp>
      <p:sp>
        <p:nvSpPr>
          <p:cNvPr id="6" name="result-1-card"/>
          <p:cNvSpPr/>
          <p:nvPr/>
        </p:nvSpPr>
        <p:spPr>
          <a:xfrm>
            <a:off x="6233008" y="1600200"/>
            <a:ext cx="5410048" cy="2057400"/>
          </a:xfrm>
          <a:prstGeom prst="roundRect">
            <a:avLst>
              <a:gd name="adj" fmla="val 5333"/>
            </a:avLst>
          </a:prstGeom>
          <a:solidFill>
            <a:schemeClr val="bg1"/>
          </a:solidFill>
          <a:ln/>
        </p:spPr>
      </p:sp>
      <p:sp>
        <p:nvSpPr>
          <p:cNvPr id="7" name="result-1-title"/>
          <p:cNvSpPr txBox="1"/>
          <p:nvPr/>
        </p:nvSpPr>
        <p:spPr>
          <a:xfrm>
            <a:off x="6553048" y="1920240"/>
            <a:ext cx="4769968" cy="685800"/>
          </a:xfrm>
          <a:prstGeom prst="rect">
            <a:avLst/>
          </a:prstGeom>
          <a:noFill/>
          <a:ln/>
        </p:spPr>
        <p:txBody>
          <a:bodyPr wrap="square" lIns="0" tIns="0" rIns="0" bIns="0" rtlCol="0" anchor="t"/>
          <a:lstStyle/>
          <a:p>
            <a:pPr indent="0" marL="0">
              <a:buNone/>
            </a:pPr>
            <a:r>
              <a:rPr lang="en-US" sz="3200" b="1" dirty="0">
                <a:solidFill>
                  <a:schemeClr val="tx1"/>
                </a:solidFill>
              </a:rPr>
              <a:t>Gaps fixed</a:t>
            </a:r>
            <a:endParaRPr lang="en-US" sz="3200" dirty="0"/>
          </a:p>
        </p:txBody>
      </p:sp>
      <p:sp>
        <p:nvSpPr>
          <p:cNvPr id="8" name="result-1-body"/>
          <p:cNvSpPr txBox="1"/>
          <p:nvPr/>
        </p:nvSpPr>
        <p:spPr>
          <a:xfrm>
            <a:off x="6553048" y="2651760"/>
            <a:ext cx="4769968" cy="731520"/>
          </a:xfrm>
          <a:prstGeom prst="rect">
            <a:avLst/>
          </a:prstGeom>
          <a:noFill/>
          <a:ln/>
        </p:spPr>
        <p:txBody>
          <a:bodyPr wrap="square" lIns="0" tIns="0" rIns="0" bIns="0" rtlCol="0" anchor="t"/>
          <a:lstStyle/>
          <a:p>
            <a:pPr indent="0" marL="0">
              <a:buNone/>
            </a:pPr>
            <a:r>
              <a:rPr lang="en-US" sz="1600" dirty="0">
                <a:solidFill>
                  <a:schemeClr val="tx2"/>
                </a:solidFill>
              </a:rPr>
              <a:t>Including dashboard sharing access in the backend workflow, now deployed</a:t>
            </a:r>
            <a:endParaRPr lang="en-US" sz="1600" dirty="0"/>
          </a:p>
        </p:txBody>
      </p:sp>
      <p:sp>
        <p:nvSpPr>
          <p:cNvPr id="9" name="result-2-card"/>
          <p:cNvSpPr/>
          <p:nvPr/>
        </p:nvSpPr>
        <p:spPr>
          <a:xfrm>
            <a:off x="548640" y="3931920"/>
            <a:ext cx="5410048" cy="2057400"/>
          </a:xfrm>
          <a:prstGeom prst="roundRect">
            <a:avLst>
              <a:gd name="adj" fmla="val 5333"/>
            </a:avLst>
          </a:prstGeom>
          <a:solidFill>
            <a:schemeClr val="bg1"/>
          </a:solidFill>
          <a:ln/>
        </p:spPr>
      </p:sp>
      <p:sp>
        <p:nvSpPr>
          <p:cNvPr id="10" name="result-2-title"/>
          <p:cNvSpPr txBox="1"/>
          <p:nvPr/>
        </p:nvSpPr>
        <p:spPr>
          <a:xfrm>
            <a:off x="868680"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New features</a:t>
            </a:r>
            <a:endParaRPr lang="en-US" sz="3200" dirty="0"/>
          </a:p>
        </p:txBody>
      </p:sp>
      <p:sp>
        <p:nvSpPr>
          <p:cNvPr id="11" name="result-2-body"/>
          <p:cNvSpPr txBox="1"/>
          <p:nvPr/>
        </p:nvSpPr>
        <p:spPr>
          <a:xfrm>
            <a:off x="868680"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[List the new React features you will demo]</a:t>
            </a:r>
            <a:endParaRPr lang="en-US" sz="1600" dirty="0"/>
          </a:p>
        </p:txBody>
      </p:sp>
      <p:sp>
        <p:nvSpPr>
          <p:cNvPr id="12" name="result-3-card"/>
          <p:cNvSpPr/>
          <p:nvPr/>
        </p:nvSpPr>
        <p:spPr>
          <a:xfrm>
            <a:off x="6233008" y="3931920"/>
            <a:ext cx="5410048" cy="2057400"/>
          </a:xfrm>
          <a:prstGeom prst="roundRect">
            <a:avLst>
              <a:gd name="adj" fmla="val 5333"/>
            </a:avLst>
          </a:prstGeom>
          <a:solidFill>
            <a:schemeClr val="bg1"/>
          </a:solidFill>
          <a:ln/>
        </p:spPr>
      </p:sp>
      <p:sp>
        <p:nvSpPr>
          <p:cNvPr id="13" name="result-3-title"/>
          <p:cNvSpPr txBox="1"/>
          <p:nvPr/>
        </p:nvSpPr>
        <p:spPr>
          <a:xfrm>
            <a:off x="6553048" y="4251960"/>
            <a:ext cx="4769968" cy="685800"/>
          </a:xfrm>
          <a:prstGeom prst="rect">
            <a:avLst/>
          </a:prstGeom>
          <a:noFill/>
          <a:ln/>
        </p:spPr>
        <p:txBody>
          <a:bodyPr wrap="square" lIns="0" tIns="0" rIns="0" bIns="0" rtlCol="0" anchor="t"/>
          <a:lstStyle/>
          <a:p>
            <a:pPr indent="0" marL="0">
              <a:buNone/>
            </a:pPr>
            <a:r>
              <a:rPr lang="en-US" sz="3200" b="1" dirty="0">
                <a:solidFill>
                  <a:schemeClr val="tx1"/>
                </a:solidFill>
              </a:rPr>
              <a:t>Documented</a:t>
            </a:r>
            <a:endParaRPr lang="en-US" sz="3200" dirty="0"/>
          </a:p>
        </p:txBody>
      </p:sp>
      <p:sp>
        <p:nvSpPr>
          <p:cNvPr id="14" name="result-3-body"/>
          <p:cNvSpPr txBox="1"/>
          <p:nvPr/>
        </p:nvSpPr>
        <p:spPr>
          <a:xfrm>
            <a:off x="6553048" y="4983480"/>
            <a:ext cx="4769968" cy="731520"/>
          </a:xfrm>
          <a:prstGeom prst="rect">
            <a:avLst/>
          </a:prstGeom>
          <a:noFill/>
          <a:ln/>
        </p:spPr>
        <p:txBody>
          <a:bodyPr wrap="square" lIns="0" tIns="0" rIns="0" bIns="0" rtlCol="0" anchor="t"/>
          <a:lstStyle/>
          <a:p>
            <a:pPr indent="0" marL="0">
              <a:buNone/>
            </a:pPr>
            <a:r>
              <a:rPr lang="en-US" sz="1600" dirty="0">
                <a:solidFill>
                  <a:schemeClr val="tx2"/>
                </a:solidFill>
              </a:rPr>
              <a:t>Architecture and lifecycle diagrams for both apps, where none existed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1"/>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sld>
</file>

<file path=ppt/theme/theme1.xml><?xml version="1.0" encoding="utf-8"?>
<a:theme xmlns:a="http://schemas.openxmlformats.org/drawingml/2006/main" name="ERM Migration">
  <a:themeElements>
    <a:clrScheme name="ERM Migration">
      <a:dk1>
        <a:srgbClr val="14213D"/>
      </a:dk1>
      <a:lt1>
        <a:srgbClr val="FFFFFF"/>
      </a:lt1>
      <a:dk2>
        <a:srgbClr val="4A5568"/>
      </a:dk2>
      <a:lt2>
        <a:srgbClr val="EEF2F7"/>
      </a:lt2>
      <a:accent1>
        <a:srgbClr val="E07A2F"/>
      </a:accent1>
      <a:accent2>
        <a:srgbClr val="2F6FD0"/>
      </a:accent2>
      <a:accent3>
        <a:srgbClr val="C2601C"/>
      </a:accent3>
      <a:accent4>
        <a:srgbClr val="1F2E4F"/>
      </a:accent4>
      <a:accent5>
        <a:srgbClr val="BFD8D5"/>
      </a:accent5>
      <a:accent6>
        <a:srgbClr val="D5DCE6"/>
      </a:accent6>
      <a:hlink>
        <a:srgbClr val="2F6FD0"/>
      </a:hlink>
      <a:folHlink>
        <a:srgbClr val="1F2E4F"/>
      </a:folHlink>
    </a:clrScheme>
    <a:fontScheme name="ERM Migrat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2026-10-03T13:46:23Z</dcterms:created>
  <dcterms:modified xsi:type="dcterms:W3CDTF">2026-10-03T13:46:23Z</dcterms:modified>
</cp:coreProperties>
</file>