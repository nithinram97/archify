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e0f2fcc6-89af-e2eb-375a-5ede0328d660}">
          <p14:sldIdLst>
            <p14:sldId id="256"/>
          </p14:sldIdLst>
        </p14:section>
        <p14:section name="Context" id="{03b0231a-67f0-1f49-718c-1444f20813a5}">
          <p14:sldIdLst>
            <p14:sldId id="257"/>
            <p14:sldId id="258"/>
            <p14:sldId id="259"/>
          </p14:sldIdLst>
        </p14:section>
        <p14:section name="Problem and method" id="{1b95ffdb-cb19-5e0a-2249-c1e9c01984a1}">
          <p14:sldIdLst>
            <p14:sldId id="260"/>
            <p14:sldId id="261"/>
          </p14:sldIdLst>
        </p14:section>
        <p14:section name="Impact" id="{81b118b7-f9ff-fe9e-bf0e-507f826d454a}">
          <p14:sldIdLst>
            <p14:sldId id="262"/>
            <p14:sldId id="263"/>
            <p14:sldId id="264"/>
            <p14:sldId id="265"/>
            <p14:sldId id="266"/>
          </p14:sldIdLst>
        </p14:section>
        <p14:section name="Reuse" id="{eac49c80-bfc6-0c22-b3e7-011deeec077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rebuilt it for Airbus DevX with React and OSDK in one PI, ready for go-live,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across engineering, programmes and operations, with a monthly peak above 320 active risk managers. More than 1,600 dashboards have been created and more than 10 are updated every day. The trend shows monthly unique users growing from launch in summer 2024 to around 300 a month in 2026.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and reviewed, and the backend sharing fix is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11 features the old app did not have, from a searchable dashboard switcher and a web address per tab to a report slideshow; the next slides show them.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At $38.50 per developer hour, that is roughly $105,000 of manual effort against about $25,000 actual: around $80,000 saved.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11094415" cy="3246120"/>
          </a:xfrm>
          <a:prstGeom prst="roundRect">
            <a:avLst>
              <a:gd name="adj" fmla="val 3380"/>
            </a:avLst>
          </a:prstGeom>
          <a:solidFill>
            <a:schemeClr val="bg1"/>
          </a:solidFill>
          <a:ln/>
        </p:spPr>
      </p:sp>
      <p:sp>
        <p:nvSpPr>
          <p:cNvPr id="21" name="trend-title"/>
          <p:cNvSpPr txBox="1"/>
          <p:nvPr/>
        </p:nvSpPr>
        <p:spPr>
          <a:xfrm>
            <a:off x="777240" y="3310128"/>
            <a:ext cx="10637215"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10911535"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10637215"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3"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4" name="org-card"/>
          <p:cNvSpPr/>
          <p:nvPr/>
        </p:nvSpPr>
        <p:spPr>
          <a:xfrm>
            <a:off x="548640" y="1600200"/>
            <a:ext cx="6766560" cy="4846320"/>
          </a:xfrm>
          <a:prstGeom prst="roundRect">
            <a:avLst>
              <a:gd name="adj" fmla="val 2264"/>
            </a:avLst>
          </a:prstGeom>
          <a:solidFill>
            <a:schemeClr val="bg2"/>
          </a:solidFill>
          <a:ln/>
        </p:spPr>
      </p:sp>
      <p:sp>
        <p:nvSpPr>
          <p:cNvPr id="5"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6"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7"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8" name="loc-card"/>
          <p:cNvSpPr/>
          <p:nvPr/>
        </p:nvSpPr>
        <p:spPr>
          <a:xfrm>
            <a:off x="7589520" y="1600200"/>
            <a:ext cx="4050792" cy="4846320"/>
          </a:xfrm>
          <a:prstGeom prst="roundRect">
            <a:avLst>
              <a:gd name="adj" fmla="val 2709"/>
            </a:avLst>
          </a:prstGeom>
          <a:solidFill>
            <a:schemeClr val="tx1"/>
          </a:solidFill>
          <a:ln/>
        </p:spPr>
      </p:sp>
      <p:sp>
        <p:nvSpPr>
          <p:cNvPr id="9"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0"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built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11</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new features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3000" b="1" dirty="0">
                <a:solidFill>
                  <a:schemeClr val="tx2"/>
                </a:solidFill>
              </a:rPr>
              <a:t>~17 sprints</a:t>
            </a:r>
            <a:endParaRPr lang="en-US" sz="30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 340 person-days ≈ $105K</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3000" b="1" dirty="0">
                <a:solidFill>
                  <a:schemeClr val="tx2"/>
                </a:solidFill>
              </a:rPr>
              <a:t>4 sprints</a:t>
            </a:r>
            <a:endParaRPr lang="en-US" sz="30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 80 person-days ≈ $25K</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6000" b="1" dirty="0">
                <a:solidFill>
                  <a:schemeClr val="accent5"/>
                </a:solidFill>
              </a:rPr>
              <a:t>~76%</a:t>
            </a:r>
            <a:endParaRPr lang="en-US" sz="60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Less effort</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 $80K saved: (17 − 4) ÷ 17</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2 developers, 2-week sprints = 20 person-days per sprint; 1 PI = 4 sprints; $38.50 per hour, 8 hours a day.</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3" name="ease-0-card"/>
          <p:cNvSpPr/>
          <p:nvPr/>
        </p:nvSpPr>
        <p:spPr>
          <a:xfrm>
            <a:off x="548640" y="1371600"/>
            <a:ext cx="3515258" cy="1554480"/>
          </a:xfrm>
          <a:prstGeom prst="roundRect">
            <a:avLst>
              <a:gd name="adj" fmla="val 7059"/>
            </a:avLst>
          </a:prstGeom>
          <a:solidFill>
            <a:schemeClr val="bg1"/>
          </a:solidFill>
          <a:ln/>
        </p:spPr>
      </p:sp>
      <p:sp>
        <p:nvSpPr>
          <p:cNvPr id="4" name="ease-0-value"/>
          <p:cNvSpPr txBox="1"/>
          <p:nvPr/>
        </p:nvSpPr>
        <p:spPr>
          <a:xfrm>
            <a:off x="749808" y="1481328"/>
            <a:ext cx="3112922"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5" name="ease-0-label"/>
          <p:cNvSpPr txBox="1"/>
          <p:nvPr/>
        </p:nvSpPr>
        <p:spPr>
          <a:xfrm>
            <a:off x="749808"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built in the same PI</a:t>
            </a:r>
            <a:endParaRPr lang="en-US" sz="1300" dirty="0"/>
          </a:p>
        </p:txBody>
      </p:sp>
      <p:sp>
        <p:nvSpPr>
          <p:cNvPr id="6" name="ease-1-card"/>
          <p:cNvSpPr/>
          <p:nvPr/>
        </p:nvSpPr>
        <p:spPr>
          <a:xfrm>
            <a:off x="4338218" y="1371600"/>
            <a:ext cx="3515258" cy="1554480"/>
          </a:xfrm>
          <a:prstGeom prst="roundRect">
            <a:avLst>
              <a:gd name="adj" fmla="val 7059"/>
            </a:avLst>
          </a:prstGeom>
          <a:solidFill>
            <a:schemeClr val="bg1"/>
          </a:solidFill>
          <a:ln/>
        </p:spPr>
      </p:sp>
      <p:sp>
        <p:nvSpPr>
          <p:cNvPr id="7" name="ease-1-value"/>
          <p:cNvSpPr txBox="1"/>
          <p:nvPr/>
        </p:nvSpPr>
        <p:spPr>
          <a:xfrm>
            <a:off x="4539386" y="1481328"/>
            <a:ext cx="3112922"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8" name="ease-1-label"/>
          <p:cNvSpPr txBox="1"/>
          <p:nvPr/>
        </p:nvSpPr>
        <p:spPr>
          <a:xfrm>
            <a:off x="4539386"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9" name="ease-2-card"/>
          <p:cNvSpPr/>
          <p:nvPr/>
        </p:nvSpPr>
        <p:spPr>
          <a:xfrm>
            <a:off x="8127797" y="1371600"/>
            <a:ext cx="3515258" cy="1554480"/>
          </a:xfrm>
          <a:prstGeom prst="roundRect">
            <a:avLst>
              <a:gd name="adj" fmla="val 7059"/>
            </a:avLst>
          </a:prstGeom>
          <a:solidFill>
            <a:schemeClr val="tx1"/>
          </a:solidFill>
          <a:ln/>
        </p:spPr>
      </p:sp>
      <p:sp>
        <p:nvSpPr>
          <p:cNvPr id="10" name="ease-2-value"/>
          <p:cNvSpPr txBox="1"/>
          <p:nvPr/>
        </p:nvSpPr>
        <p:spPr>
          <a:xfrm>
            <a:off x="8328965" y="1481328"/>
            <a:ext cx="3112922"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1" name="ease-2-label"/>
          <p:cNvSpPr txBox="1"/>
          <p:nvPr/>
        </p:nvSpPr>
        <p:spPr>
          <a:xfrm>
            <a:off x="8328965" y="2148840"/>
            <a:ext cx="3112922"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2" name="ease-old"/>
          <p:cNvSpPr/>
          <p:nvPr/>
        </p:nvSpPr>
        <p:spPr>
          <a:xfrm>
            <a:off x="548640" y="3154680"/>
            <a:ext cx="5410048" cy="2423160"/>
          </a:xfrm>
          <a:prstGeom prst="roundRect">
            <a:avLst>
              <a:gd name="adj" fmla="val 4528"/>
            </a:avLst>
          </a:prstGeom>
          <a:solidFill>
            <a:schemeClr val="bg1"/>
          </a:solidFill>
          <a:ln/>
        </p:spPr>
      </p:sp>
      <p:sp>
        <p:nvSpPr>
          <p:cNvPr id="13"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4" name="ease-new"/>
          <p:cNvSpPr/>
          <p:nvPr/>
        </p:nvSpPr>
        <p:spPr>
          <a:xfrm>
            <a:off x="6233008" y="3154680"/>
            <a:ext cx="5410048" cy="2423160"/>
          </a:xfrm>
          <a:prstGeom prst="roundRect">
            <a:avLst>
              <a:gd name="adj" fmla="val 4528"/>
            </a:avLst>
          </a:prstGeom>
          <a:solidFill>
            <a:schemeClr val="tx1"/>
          </a:solidFill>
          <a:ln/>
        </p:spPr>
      </p:sp>
      <p:sp>
        <p:nvSpPr>
          <p:cNvPr id="15"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16"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39"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childTnLst>
                          </p:cTn>
                        </p:par>
                        <p:par>
                          <p:cTn id="46" fill="hold">
                            <p:stCondLst>
                              <p:cond delay="1600"/>
                            </p:stCondLst>
                            <p:childTnLst>
                              <p:par>
                                <p:cTn id="40" presetID="22" presetClass="entr" presetSubtype="8"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wipe(left)">
                                      <p:cBhvr>
                                        <p:cTn id="42" dur="450"/>
                                        <p:tgtEl>
                                          <p:spTgt spid="14"/>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left)">
                                      <p:cBhvr>
                                        <p:cTn id="45" dur="450"/>
                                        <p:tgtEl>
                                          <p:spTgt spid="15"/>
                                        </p:tgtEl>
                                      </p:cBhvr>
                                    </p:animEffect>
                                  </p:childTnLst>
                                </p:cTn>
                              </p:par>
                            </p:childTnLst>
                          </p:cTn>
                        </p:par>
                        <p:par>
                          <p:cTn id="50"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rebuilt on a standard, maintainable stack, ready to leave Slate</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delivered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Proposed at the architecture sync, aligned with [Architect], for functions beyond DMS</a:t>
            </a:r>
            <a:endParaRPr lang="en-US" sz="1600" dirty="0"/>
          </a:p>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2026-10-04T15:18:41Z</dcterms:created>
  <dcterms:modified xsi:type="dcterms:W3CDTF">2026-10-04T15:18:41Z</dcterms:modified>
</cp:coreProperties>
</file>