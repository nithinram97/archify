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Lst>
  <p:notesMasterIdLst>
    <p:notesMasterId r:id="rId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itch" id="{86083955-bdef-98c2-40e8-3a933b03741f}">
          <p14:sldIdLst>
            <p14:sldId id="256"/>
          </p14:sldIdLst>
        </p14:section>
        <p14:section name="Problem and method" id="{ddd2c1b2-85ac-b277-c521-2b01fd1dc946}">
          <p14:sldIdLst>
            <p14:sldId id="257"/>
            <p14:sldId id="258"/>
          </p14:sldIdLst>
        </p14:section>
        <p14:section name="Impact" id="{1047cabb-0ab7-f3e9-a1fb-e7ecdc95b7bb}">
          <p14:sldIdLst>
            <p14:sldId id="259"/>
            <p14:sldId id="260"/>
          </p14:sldIdLst>
        </p14:section>
        <p14:section name="Reuse" id="{e95f85d1-b111-5f68-21bc-546e72b5e859}">
          <p14:sldIdLst>
            <p14:sldId id="26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with the one-line pitch: we took a complex legacy Slate application with no documentation and moved it to React and OSDK using an AI-assisted method we designed ourselves. We worked to a short timeline we set ourselves and still added new features. Then say: in the next slides you will see the problem, the method, the numbers, the results and why any team can reuse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 animation play. The ERM dashboard was one Slate shell plus seven modules: print preview, action tracker, full search, heatmap, one-pager, report table and waterfall. About 25 MB of widgets, variables, events, queries and embedded code, and no specs, diagrams or feature list. Step one was to break it into its parts; step two was to have AI read each export and pull out every feature. Business users then checked the list. Result: 105 features we knew we had to keep.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key idea is context. AI only knows what you give it, so we wrote pack-project.ts: one command walks the React project and writes every source file, under its path, into a single dated dump. The AI sees components, hooks, OSDK calls and types together. The Slate side is already one JSON file per module. With both, the AI compares each of the 105 features to the React code. The animation shows each Slate module landing in its React tab. Gaps get fixed, reviewed and deployed; then we re-pack and re-check until nothing unplanned is left. Features we dropped on purpose, like the heatmap slider and report KPIs, are marked as choices, not gaps.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numbers left to right. One PI for the whole migration. 105 features recovered from an app with no documentation, out of 8 Slate exports totalling about 25 MB. pack-project.ts turned 75 React files into one context file. The AI review found and prioritised 31 gaps, 7 of them security or data-integrity issues such as unsanitised rich text and permission checks, all caught in review. The React app adds 5 enhancements the old app did not have: a fourth one-pager layout with custom slots, resizable table columns, report classification and cover toggle, a report slideshow, and an explicit new-iteration step. Documentation went from nothing to 10 documents: 8 architecture and lifecycle diagrams, the feature comparison and the playbook.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results. One: every one of the 105 features is tracked in the comparison document. Two: real gaps were fixed, for example how board members get access to risks when a dashboard is created or edited; that fix is deployed. Three: the React app does more than the old one; show the new features here. Four: the app now has architecture and lifecycle diagrams, for dashboards and for risks. Switch to the live app for the demo here if time allows.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reuse. This was a team effort across business, data and security, backend and frontend; name the teams. The method needs only the legacy export, the new codebase and an AI model, so it carries over to other Slate apps and to other legacy tools. The pieces are ready: pack-project.ts, the comparison document layout and the diagram formats. End with the five-word playbook and invite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502920"/>
            <a:ext cx="11094415" cy="82296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LIGH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502920"/>
            <a:ext cx="11094415" cy="822960"/>
          </a:xfrm>
          <a:prstGeom prst="rect">
            <a:avLst/>
          </a:prstGeom>
          <a:noFill/>
          <a:ln/>
        </p:spPr>
        <p:txBody>
          <a:bodyPr wrap="square" rtlCol="0"/>
          <a:lstStyle>
            <a:lvl1pPr algn="l" indent="0" marL="0">
              <a:buNone/>
              <a:defRPr lang="en-US" sz="3600" b="1" dirty="0">
                <a:solidFill>
                  <a:schemeClr val="tx1"/>
                </a:solidFill>
              </a:defRPr>
            </a:lvl1pPr>
          </a:lstStyle>
          <a:p>
            <a:pPr algn="l" indent="0" marL="0">
              <a:buNone/>
            </a:pPr>
            <a:endParaRPr lang="en-US" sz="36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LIGHT_ALT">
    <p:bg>
      <p:bgPr>
        <a:solidFill>
          <a:schemeClr val="bg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502920"/>
            <a:ext cx="11094415" cy="822960"/>
          </a:xfrm>
          <a:prstGeom prst="rect">
            <a:avLst/>
          </a:prstGeom>
          <a:noFill/>
          <a:ln/>
        </p:spPr>
        <p:txBody>
          <a:bodyPr wrap="square" rtlCol="0"/>
          <a:lstStyle>
            <a:lvl1pPr algn="l" indent="0" marL="0">
              <a:buNone/>
              <a:defRPr lang="en-US" sz="3600" b="1" dirty="0">
                <a:solidFill>
                  <a:schemeClr val="tx1"/>
                </a:solidFill>
              </a:defRPr>
            </a:lvl1pPr>
          </a:lstStyle>
          <a:p>
            <a:pPr algn="l" indent="0" marL="0">
              <a:buNone/>
            </a:pPr>
            <a:endParaRPr lang="en-US" sz="3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gif"/><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gif"/><Relationship Id="rId2" Type="http://schemas.openxmlformats.org/officeDocument/2006/relationships/slideLayout" Target="../slideLayouts/slideLayout4.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eyebrow"/>
          <p:cNvSpPr txBox="1"/>
          <p:nvPr/>
        </p:nvSpPr>
        <p:spPr>
          <a:xfrm>
            <a:off x="548640" y="1554480"/>
            <a:ext cx="11094415" cy="365760"/>
          </a:xfrm>
          <a:prstGeom prst="rect">
            <a:avLst/>
          </a:prstGeom>
          <a:noFill/>
          <a:ln/>
        </p:spPr>
        <p:txBody>
          <a:bodyPr wrap="square" lIns="0" tIns="0" rIns="0" bIns="0" rtlCol="0" anchor="t"/>
          <a:lstStyle/>
          <a:p>
            <a:pPr indent="0" marL="0">
              <a:buNone/>
            </a:pPr>
            <a:r>
              <a:rPr lang="en-US" sz="1400" b="1" spc="200" kern="0" dirty="0">
                <a:solidFill>
                  <a:schemeClr val="accent1"/>
                </a:solidFill>
              </a:rPr>
              <a:t>QUARTERLY AWARDS · INNOVATION</a:t>
            </a:r>
            <a:endParaRPr lang="en-US" sz="1400" dirty="0"/>
          </a:p>
        </p:txBody>
      </p:sp>
      <p:sp>
        <p:nvSpPr>
          <p:cNvPr id="3" name="cover-title"/>
          <p:cNvSpPr txBox="1"/>
          <p:nvPr/>
        </p:nvSpPr>
        <p:spPr>
          <a:xfrm>
            <a:off x="548640" y="2011680"/>
            <a:ext cx="9601200" cy="1828800"/>
          </a:xfrm>
          <a:prstGeom prst="rect">
            <a:avLst/>
          </a:prstGeom>
          <a:noFill/>
          <a:ln/>
        </p:spPr>
        <p:txBody>
          <a:bodyPr wrap="square" lIns="0" tIns="0" rIns="0" bIns="0" rtlCol="0" anchor="t"/>
          <a:lstStyle/>
          <a:p>
            <a:pPr indent="0" marL="0">
              <a:buNone/>
            </a:pPr>
            <a:r>
              <a:rPr lang="en-US" sz="5400" b="1" dirty="0">
                <a:solidFill>
                  <a:schemeClr val="bg1"/>
                </a:solidFill>
              </a:rPr>
              <a:t>From undocumented Slate to React, with AI</a:t>
            </a:r>
            <a:endParaRPr lang="en-US" sz="5400" dirty="0"/>
          </a:p>
        </p:txBody>
      </p:sp>
      <p:sp>
        <p:nvSpPr>
          <p:cNvPr id="4" name="cover-sub"/>
          <p:cNvSpPr txBox="1"/>
          <p:nvPr/>
        </p:nvSpPr>
        <p:spPr>
          <a:xfrm>
            <a:off x="548640" y="3977640"/>
            <a:ext cx="9144000" cy="914400"/>
          </a:xfrm>
          <a:prstGeom prst="rect">
            <a:avLst/>
          </a:prstGeom>
          <a:noFill/>
          <a:ln/>
        </p:spPr>
        <p:txBody>
          <a:bodyPr wrap="square" lIns="0" tIns="0" rIns="0" bIns="0" rtlCol="0" anchor="t"/>
          <a:lstStyle/>
          <a:p>
            <a:pPr indent="0" marL="0">
              <a:buNone/>
            </a:pPr>
            <a:r>
              <a:rPr lang="en-US" sz="2000" dirty="0">
                <a:solidFill>
                  <a:schemeClr val="accent5"/>
                </a:solidFill>
              </a:rPr>
              <a:t>How we rebuilt the ERM Risk &amp; Opportunity Dashboard on a tight timeline we set ourselves, and added new features on the way</a:t>
            </a:r>
            <a:endParaRPr lang="en-US" sz="2000" dirty="0"/>
          </a:p>
        </p:txBody>
      </p:sp>
      <p:sp>
        <p:nvSpPr>
          <p:cNvPr id="5" name="presenters"/>
          <p:cNvSpPr txBox="1"/>
          <p:nvPr/>
        </p:nvSpPr>
        <p:spPr>
          <a:xfrm>
            <a:off x="548640" y="5943600"/>
            <a:ext cx="7315200" cy="365760"/>
          </a:xfrm>
          <a:prstGeom prst="rect">
            <a:avLst/>
          </a:prstGeom>
          <a:noFill/>
          <a:ln/>
        </p:spPr>
        <p:txBody>
          <a:bodyPr wrap="square" lIns="0" tIns="0" rIns="0" bIns="0" rtlCol="0" anchor="t"/>
          <a:lstStyle/>
          <a:p>
            <a:pPr indent="0" marL="0">
              <a:buNone/>
            </a:pPr>
            <a:r>
              <a:rPr lang="en-US" sz="1400" dirty="0">
                <a:solidFill>
                  <a:schemeClr val="accent5"/>
                </a:solidFill>
              </a:rPr>
              <a:t>[Team name] · [Presenter names]</a:t>
            </a:r>
            <a:endParaRPr lang="en-US" sz="1400" dirty="0"/>
          </a:p>
        </p:txBody>
      </p:sp>
      <p:sp>
        <p:nvSpPr>
          <p:cNvPr id="7" name="Text 0"/>
          <p:cNvSpPr/>
          <p:nvPr>
            <p:ph idx="100" type="title" hasCustomPrompt="1"/>
          </p:nvPr>
        </p:nvSpPr>
        <p:spPr>
          <a:xfrm>
            <a:off x="548640" y="502920"/>
            <a:ext cx="11094415" cy="822960"/>
          </a:xfrm>
          <a:prstGeom prst="rect">
            <a:avLst/>
          </a:prstGeom>
          <a:noFill/>
          <a:ln/>
        </p:spPr>
        <p:txBody>
          <a:bodyPr wrap="square" lIns="0" tIns="0" rIns="0" bIns="0" rtlCol="0" anchor="t"/>
          <a:lstStyle/>
          <a:p>
            <a:pPr algn="l" indent="0" marL="0">
              <a:buNone/>
            </a:pPr>
            <a:endParaRPr lang="en-US" sz="3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502920"/>
            <a:ext cx="11094415" cy="822960"/>
          </a:xfrm>
          <a:prstGeom prst="rect">
            <a:avLst/>
          </a:prstGeom>
          <a:noFill/>
          <a:ln/>
        </p:spPr>
        <p:txBody>
          <a:bodyPr wrap="square" lIns="0" tIns="0" rIns="0" bIns="0" rtlCol="0" anchor="t"/>
          <a:lstStyle/>
          <a:p>
            <a:pPr algn="l" indent="0" marL="0">
              <a:buNone/>
            </a:pPr>
            <a:r>
              <a:rPr lang="en-US" sz="3600" b="1" dirty="0">
                <a:solidFill>
                  <a:schemeClr val="tx1"/>
                </a:solidFill>
              </a:rPr>
              <a:t>A large app that nobody had documented</a:t>
            </a:r>
            <a:endParaRPr lang="en-US" sz="3600" dirty="0"/>
          </a:p>
        </p:txBody>
      </p:sp>
      <p:pic>
        <p:nvPicPr>
          <p:cNvPr id="3" name="gif-legacy-breakdown" descr="Animation: the ERM Slate app splits into a shell and 7 modules, then AI extracts 105 features from them">    </p:cNvPr>
          <p:cNvPicPr>
            <a:picLocks noChangeAspect="1"/>
          </p:cNvPicPr>
          <p:nvPr/>
        </p:nvPicPr>
        <p:blipFill>
          <a:blip r:embed="rId1"/>
          <a:stretch>
            <a:fillRect/>
          </a:stretch>
        </p:blipFill>
        <p:spPr>
          <a:xfrm>
            <a:off x="548640" y="1600200"/>
            <a:ext cx="6858000" cy="4114800"/>
          </a:xfrm>
          <a:prstGeom prst="rect">
            <a:avLst/>
          </a:prstGeom>
        </p:spPr>
      </p:pic>
      <p:sp>
        <p:nvSpPr>
          <p:cNvPr id="4" name="stat-0-value"/>
          <p:cNvSpPr txBox="1"/>
          <p:nvPr/>
        </p:nvSpPr>
        <p:spPr>
          <a:xfrm>
            <a:off x="7863840" y="1600200"/>
            <a:ext cx="3749040" cy="777240"/>
          </a:xfrm>
          <a:prstGeom prst="rect">
            <a:avLst/>
          </a:prstGeom>
          <a:noFill/>
          <a:ln/>
        </p:spPr>
        <p:txBody>
          <a:bodyPr wrap="square" lIns="0" tIns="0" rIns="0" bIns="0" rtlCol="0" anchor="t"/>
          <a:lstStyle/>
          <a:p>
            <a:pPr indent="0" marL="0">
              <a:buNone/>
            </a:pPr>
            <a:r>
              <a:rPr lang="en-US" sz="5600" b="1" dirty="0">
                <a:solidFill>
                  <a:schemeClr val="tx1"/>
                </a:solidFill>
              </a:rPr>
              <a:t>8</a:t>
            </a:r>
            <a:endParaRPr lang="en-US" sz="5600" dirty="0"/>
          </a:p>
        </p:txBody>
      </p:sp>
      <p:sp>
        <p:nvSpPr>
          <p:cNvPr id="5" name="stat-0-label"/>
          <p:cNvSpPr txBox="1"/>
          <p:nvPr/>
        </p:nvSpPr>
        <p:spPr>
          <a:xfrm>
            <a:off x="7863840" y="2377440"/>
            <a:ext cx="3749040" cy="502920"/>
          </a:xfrm>
          <a:prstGeom prst="rect">
            <a:avLst/>
          </a:prstGeom>
          <a:noFill/>
          <a:ln/>
        </p:spPr>
        <p:txBody>
          <a:bodyPr wrap="square" lIns="0" tIns="0" rIns="0" bIns="0" rtlCol="0" anchor="t"/>
          <a:lstStyle/>
          <a:p>
            <a:pPr indent="0" marL="0">
              <a:buNone/>
            </a:pPr>
            <a:r>
              <a:rPr lang="en-US" sz="1500" dirty="0">
                <a:solidFill>
                  <a:schemeClr val="tx2"/>
                </a:solidFill>
              </a:rPr>
              <a:t>Slate exports: 1 shell app and 7 modules</a:t>
            </a:r>
            <a:endParaRPr lang="en-US" sz="1500" dirty="0"/>
          </a:p>
        </p:txBody>
      </p:sp>
      <p:sp>
        <p:nvSpPr>
          <p:cNvPr id="6" name="stat-1-value"/>
          <p:cNvSpPr txBox="1"/>
          <p:nvPr/>
        </p:nvSpPr>
        <p:spPr>
          <a:xfrm>
            <a:off x="7863840" y="3017520"/>
            <a:ext cx="3749040" cy="777240"/>
          </a:xfrm>
          <a:prstGeom prst="rect">
            <a:avLst/>
          </a:prstGeom>
          <a:noFill/>
          <a:ln/>
        </p:spPr>
        <p:txBody>
          <a:bodyPr wrap="square" lIns="0" tIns="0" rIns="0" bIns="0" rtlCol="0" anchor="t"/>
          <a:lstStyle/>
          <a:p>
            <a:pPr indent="0" marL="0">
              <a:buNone/>
            </a:pPr>
            <a:r>
              <a:rPr lang="en-US" sz="5600" b="1" dirty="0">
                <a:solidFill>
                  <a:schemeClr val="tx1"/>
                </a:solidFill>
              </a:rPr>
              <a:t>0</a:t>
            </a:r>
            <a:endParaRPr lang="en-US" sz="5600" dirty="0"/>
          </a:p>
        </p:txBody>
      </p:sp>
      <p:sp>
        <p:nvSpPr>
          <p:cNvPr id="7" name="stat-1-label"/>
          <p:cNvSpPr txBox="1"/>
          <p:nvPr/>
        </p:nvSpPr>
        <p:spPr>
          <a:xfrm>
            <a:off x="7863840" y="3794760"/>
            <a:ext cx="3749040" cy="502920"/>
          </a:xfrm>
          <a:prstGeom prst="rect">
            <a:avLst/>
          </a:prstGeom>
          <a:noFill/>
          <a:ln/>
        </p:spPr>
        <p:txBody>
          <a:bodyPr wrap="square" lIns="0" tIns="0" rIns="0" bIns="0" rtlCol="0" anchor="t"/>
          <a:lstStyle/>
          <a:p>
            <a:pPr indent="0" marL="0">
              <a:buNone/>
            </a:pPr>
            <a:r>
              <a:rPr lang="en-US" sz="1500" dirty="0">
                <a:solidFill>
                  <a:schemeClr val="tx2"/>
                </a:solidFill>
              </a:rPr>
              <a:t>pages of documentation, about 25 MB of configuration</a:t>
            </a:r>
            <a:endParaRPr lang="en-US" sz="1500" dirty="0"/>
          </a:p>
        </p:txBody>
      </p:sp>
      <p:sp>
        <p:nvSpPr>
          <p:cNvPr id="8" name="stat-2-value"/>
          <p:cNvSpPr txBox="1"/>
          <p:nvPr/>
        </p:nvSpPr>
        <p:spPr>
          <a:xfrm>
            <a:off x="7863840" y="4434840"/>
            <a:ext cx="3749040" cy="777240"/>
          </a:xfrm>
          <a:prstGeom prst="rect">
            <a:avLst/>
          </a:prstGeom>
          <a:noFill/>
          <a:ln/>
        </p:spPr>
        <p:txBody>
          <a:bodyPr wrap="square" lIns="0" tIns="0" rIns="0" bIns="0" rtlCol="0" anchor="t"/>
          <a:lstStyle/>
          <a:p>
            <a:pPr indent="0" marL="0">
              <a:buNone/>
            </a:pPr>
            <a:r>
              <a:rPr lang="en-US" sz="5600" b="1" dirty="0">
                <a:solidFill>
                  <a:schemeClr val="accent3"/>
                </a:solidFill>
              </a:rPr>
              <a:t>105</a:t>
            </a:r>
            <a:endParaRPr lang="en-US" sz="5600" dirty="0"/>
          </a:p>
        </p:txBody>
      </p:sp>
      <p:sp>
        <p:nvSpPr>
          <p:cNvPr id="9" name="stat-2-label"/>
          <p:cNvSpPr txBox="1"/>
          <p:nvPr/>
        </p:nvSpPr>
        <p:spPr>
          <a:xfrm>
            <a:off x="7863840" y="5212080"/>
            <a:ext cx="3749040" cy="502920"/>
          </a:xfrm>
          <a:prstGeom prst="rect">
            <a:avLst/>
          </a:prstGeom>
          <a:noFill/>
          <a:ln/>
        </p:spPr>
        <p:txBody>
          <a:bodyPr wrap="square" lIns="0" tIns="0" rIns="0" bIns="0" rtlCol="0" anchor="t"/>
          <a:lstStyle/>
          <a:p>
            <a:pPr indent="0" marL="0">
              <a:buNone/>
            </a:pPr>
            <a:r>
              <a:rPr lang="en-US" sz="1500" dirty="0">
                <a:solidFill>
                  <a:schemeClr val="tx2"/>
                </a:solidFill>
              </a:rPr>
              <a:t>features recovered by AI and confirmed by users</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502920"/>
            <a:ext cx="11094415" cy="822960"/>
          </a:xfrm>
          <a:prstGeom prst="rect">
            <a:avLst/>
          </a:prstGeom>
          <a:noFill/>
          <a:ln/>
        </p:spPr>
        <p:txBody>
          <a:bodyPr wrap="square" lIns="0" tIns="0" rIns="0" bIns="0" rtlCol="0" anchor="t"/>
          <a:lstStyle/>
          <a:p>
            <a:pPr algn="l" indent="0" marL="0">
              <a:buNone/>
            </a:pPr>
            <a:r>
              <a:rPr lang="en-US" sz="3600" b="1" dirty="0">
                <a:solidFill>
                  <a:schemeClr val="tx1"/>
                </a:solidFill>
              </a:rPr>
              <a:t>Our method: AI drafts, people check</a:t>
            </a:r>
            <a:endParaRPr lang="en-US" sz="3600" dirty="0"/>
          </a:p>
        </p:txBody>
      </p:sp>
      <p:pic>
        <p:nvPicPr>
          <p:cNvPr id="3" name="gif-migration" descr="Animation: features flow from each Slate module through the 105-feature catalogue into the matching React tab, then new features appear">    </p:cNvPr>
          <p:cNvPicPr>
            <a:picLocks noChangeAspect="1"/>
          </p:cNvPicPr>
          <p:nvPr/>
        </p:nvPicPr>
        <p:blipFill>
          <a:blip r:embed="rId1"/>
          <a:stretch>
            <a:fillRect/>
          </a:stretch>
        </p:blipFill>
        <p:spPr>
          <a:xfrm>
            <a:off x="548640" y="1600200"/>
            <a:ext cx="6858000" cy="4114800"/>
          </a:xfrm>
          <a:prstGeom prst="rect">
            <a:avLst/>
          </a:prstGeom>
        </p:spPr>
      </p:pic>
      <p:sp>
        <p:nvSpPr>
          <p:cNvPr id="4" name="pack-card"/>
          <p:cNvSpPr/>
          <p:nvPr/>
        </p:nvSpPr>
        <p:spPr>
          <a:xfrm>
            <a:off x="7863840" y="1600200"/>
            <a:ext cx="3776472" cy="1737360"/>
          </a:xfrm>
          <a:prstGeom prst="roundRect">
            <a:avLst>
              <a:gd name="adj" fmla="val 6316"/>
            </a:avLst>
          </a:prstGeom>
          <a:solidFill>
            <a:schemeClr val="tx1"/>
          </a:solidFill>
          <a:ln/>
        </p:spPr>
      </p:sp>
      <p:sp>
        <p:nvSpPr>
          <p:cNvPr id="5" name="pack-title"/>
          <p:cNvSpPr txBox="1"/>
          <p:nvPr/>
        </p:nvSpPr>
        <p:spPr>
          <a:xfrm>
            <a:off x="8092440" y="1783080"/>
            <a:ext cx="3383280" cy="457200"/>
          </a:xfrm>
          <a:prstGeom prst="rect">
            <a:avLst/>
          </a:prstGeom>
          <a:noFill/>
          <a:ln/>
        </p:spPr>
        <p:txBody>
          <a:bodyPr wrap="square" lIns="0" tIns="0" rIns="0" bIns="0" rtlCol="0" anchor="t"/>
          <a:lstStyle/>
          <a:p>
            <a:pPr indent="0" marL="0">
              <a:buNone/>
            </a:pPr>
            <a:r>
              <a:rPr lang="en-US" sz="2200" b="1" dirty="0">
                <a:solidFill>
                  <a:schemeClr val="bg1"/>
                </a:solidFill>
              </a:rPr>
              <a:t>pack-project.ts</a:t>
            </a:r>
            <a:endParaRPr lang="en-US" sz="2200" dirty="0"/>
          </a:p>
        </p:txBody>
      </p:sp>
      <p:sp>
        <p:nvSpPr>
          <p:cNvPr id="6" name="pack-body"/>
          <p:cNvSpPr txBox="1"/>
          <p:nvPr/>
        </p:nvSpPr>
        <p:spPr>
          <a:xfrm>
            <a:off x="8092440" y="2286000"/>
            <a:ext cx="3383280" cy="914400"/>
          </a:xfrm>
          <a:prstGeom prst="rect">
            <a:avLst/>
          </a:prstGeom>
          <a:noFill/>
          <a:ln/>
        </p:spPr>
        <p:txBody>
          <a:bodyPr wrap="square" lIns="0" tIns="0" rIns="0" bIns="0" rtlCol="0" anchor="t"/>
          <a:lstStyle/>
          <a:p>
            <a:pPr indent="0" marL="0">
              <a:buNone/>
            </a:pPr>
            <a:r>
              <a:rPr lang="en-US" sz="1500" dirty="0">
                <a:solidFill>
                  <a:schemeClr val="accent5"/>
                </a:solidFill>
              </a:rPr>
              <a:t>Our script packs the whole React app, 75 files, into one dated file the AI reads in one go</a:t>
            </a:r>
            <a:endParaRPr lang="en-US" sz="1500" dirty="0"/>
          </a:p>
        </p:txBody>
      </p:sp>
      <p:sp>
        <p:nvSpPr>
          <p:cNvPr id="7" name="steps"/>
          <p:cNvSpPr txBox="1"/>
          <p:nvPr/>
        </p:nvSpPr>
        <p:spPr>
          <a:xfrm>
            <a:off x="7863840" y="3611880"/>
            <a:ext cx="3776472" cy="2103120"/>
          </a:xfrm>
          <a:prstGeom prst="rect">
            <a:avLst/>
          </a:prstGeom>
          <a:noFill/>
          <a:ln/>
        </p:spPr>
        <p:txBody>
          <a:bodyPr wrap="square" lIns="0" tIns="0" rIns="0" bIns="0" rtlCol="0" anchor="t"/>
          <a:lstStyle/>
          <a:p>
            <a:pPr marL="342900" indent="-342900">
              <a:spcAft>
                <a:spcPts val="600"/>
              </a:spcAft>
              <a:buSzPct val="100000"/>
              <a:buFont typeface="+mj-lt"/>
              <a:buAutoNum type="arabicPeriod" startAt="1"/>
            </a:pPr>
            <a:r>
              <a:rPr lang="en-US" sz="1600" dirty="0">
                <a:solidFill>
                  <a:schemeClr val="tx1"/>
                </a:solidFill>
              </a:rPr>
              <a:t>Pack the context</a:t>
            </a:r>
            <a:endParaRPr lang="en-US" sz="1600" dirty="0"/>
          </a:p>
          <a:p>
            <a:pPr marL="342900" indent="-342900">
              <a:spcAft>
                <a:spcPts val="600"/>
              </a:spcAft>
              <a:buSzPct val="100000"/>
              <a:buFont typeface="+mj-lt"/>
              <a:buAutoNum type="arabicPeriod" startAt="1"/>
            </a:pPr>
            <a:r>
              <a:rPr lang="en-US" sz="1600" dirty="0">
                <a:solidFill>
                  <a:schemeClr val="tx1"/>
                </a:solidFill>
              </a:rPr>
              <a:t>Extract legacy features</a:t>
            </a:r>
            <a:endParaRPr lang="en-US" sz="1600" dirty="0"/>
          </a:p>
          <a:p>
            <a:pPr marL="342900" indent="-342900">
              <a:spcAft>
                <a:spcPts val="600"/>
              </a:spcAft>
              <a:buSzPct val="100000"/>
              <a:buFont typeface="+mj-lt"/>
              <a:buAutoNum type="arabicPeriod" startAt="1"/>
            </a:pPr>
            <a:r>
              <a:rPr lang="en-US" sz="1600" dirty="0">
                <a:solidFill>
                  <a:schemeClr val="tx1"/>
                </a:solidFill>
              </a:rPr>
              <a:t>Compare with the React code</a:t>
            </a:r>
            <a:endParaRPr lang="en-US" sz="1600" dirty="0"/>
          </a:p>
          <a:p>
            <a:pPr marL="342900" indent="-342900">
              <a:spcAft>
                <a:spcPts val="600"/>
              </a:spcAft>
              <a:buSzPct val="100000"/>
              <a:buFont typeface="+mj-lt"/>
              <a:buAutoNum type="arabicPeriod" startAt="1"/>
            </a:pPr>
            <a:r>
              <a:rPr lang="en-US" sz="1600" dirty="0">
                <a:solidFill>
                  <a:schemeClr val="tx1"/>
                </a:solidFill>
              </a:rPr>
              <a:t>Fix gaps, re-pack, re-check</a:t>
            </a:r>
            <a:endParaRPr lang="en-US" sz="1600" dirty="0"/>
          </a:p>
          <a:p>
            <a:pPr marL="342900" indent="-342900">
              <a:spcAft>
                <a:spcPts val="600"/>
              </a:spcAft>
              <a:buSzPct val="100000"/>
              <a:buFont typeface="+mj-lt"/>
              <a:buAutoNum type="arabicPeriod" startAt="1"/>
            </a:pPr>
            <a:r>
              <a:rPr lang="en-US" sz="1600" dirty="0">
                <a:solidFill>
                  <a:schemeClr val="tx1"/>
                </a:solidFill>
              </a:rPr>
              <a:t>Document the new app</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502920"/>
            <a:ext cx="11094415" cy="822960"/>
          </a:xfrm>
          <a:prstGeom prst="rect">
            <a:avLst/>
          </a:prstGeom>
          <a:noFill/>
          <a:ln/>
        </p:spPr>
        <p:txBody>
          <a:bodyPr wrap="square" lIns="0" tIns="0" rIns="0" bIns="0" rtlCol="0" anchor="t"/>
          <a:lstStyle/>
          <a:p>
            <a:pPr algn="l" indent="0" marL="0">
              <a:buNone/>
            </a:pPr>
            <a:r>
              <a:rPr lang="en-US" sz="3600" b="1" dirty="0">
                <a:solidFill>
                  <a:schemeClr val="tx1"/>
                </a:solidFill>
              </a:rPr>
              <a:t>The process in numbers</a:t>
            </a:r>
            <a:endParaRPr lang="en-US" sz="3600" dirty="0"/>
          </a:p>
        </p:txBody>
      </p:sp>
      <p:sp>
        <p:nvSpPr>
          <p:cNvPr id="3" name="kpi-0-card"/>
          <p:cNvSpPr/>
          <p:nvPr/>
        </p:nvSpPr>
        <p:spPr>
          <a:xfrm>
            <a:off x="548640" y="1600200"/>
            <a:ext cx="2567864" cy="2057400"/>
          </a:xfrm>
          <a:prstGeom prst="roundRect">
            <a:avLst>
              <a:gd name="adj" fmla="val 5333"/>
            </a:avLst>
          </a:prstGeom>
          <a:solidFill>
            <a:schemeClr val="tx1"/>
          </a:solidFill>
          <a:ln/>
        </p:spPr>
      </p:sp>
      <p:sp>
        <p:nvSpPr>
          <p:cNvPr id="4" name="kpi-0-value"/>
          <p:cNvSpPr txBox="1"/>
          <p:nvPr/>
        </p:nvSpPr>
        <p:spPr>
          <a:xfrm>
            <a:off x="777240" y="1828800"/>
            <a:ext cx="2110664" cy="822960"/>
          </a:xfrm>
          <a:prstGeom prst="rect">
            <a:avLst/>
          </a:prstGeom>
          <a:noFill/>
          <a:ln/>
        </p:spPr>
        <p:txBody>
          <a:bodyPr wrap="square" lIns="0" tIns="0" rIns="0" bIns="0" rtlCol="0" anchor="t"/>
          <a:lstStyle/>
          <a:p>
            <a:pPr indent="0" marL="0">
              <a:buNone/>
            </a:pPr>
            <a:r>
              <a:rPr lang="en-US" sz="4800" b="1" dirty="0">
                <a:solidFill>
                  <a:schemeClr val="accent1"/>
                </a:solidFill>
              </a:rPr>
              <a:t>1 PI</a:t>
            </a:r>
            <a:endParaRPr lang="en-US" sz="4800" dirty="0"/>
          </a:p>
        </p:txBody>
      </p:sp>
      <p:sp>
        <p:nvSpPr>
          <p:cNvPr id="5" name="kpi-0-label"/>
          <p:cNvSpPr txBox="1"/>
          <p:nvPr/>
        </p:nvSpPr>
        <p:spPr>
          <a:xfrm>
            <a:off x="777240" y="2697480"/>
            <a:ext cx="2110664" cy="777240"/>
          </a:xfrm>
          <a:prstGeom prst="rect">
            <a:avLst/>
          </a:prstGeom>
          <a:noFill/>
          <a:ln/>
        </p:spPr>
        <p:txBody>
          <a:bodyPr wrap="square" lIns="0" tIns="0" rIns="0" bIns="0" rtlCol="0" anchor="t"/>
          <a:lstStyle/>
          <a:p>
            <a:pPr indent="0" marL="0">
              <a:buNone/>
            </a:pPr>
            <a:r>
              <a:rPr lang="en-US" sz="1500" dirty="0">
                <a:solidFill>
                  <a:schemeClr val="accent5"/>
                </a:solidFill>
              </a:rPr>
              <a:t>Whole migration done in one SAFe Program Increment</a:t>
            </a:r>
            <a:endParaRPr lang="en-US" sz="1500" dirty="0"/>
          </a:p>
        </p:txBody>
      </p:sp>
      <p:sp>
        <p:nvSpPr>
          <p:cNvPr id="6" name="kpi-1-card"/>
          <p:cNvSpPr/>
          <p:nvPr/>
        </p:nvSpPr>
        <p:spPr>
          <a:xfrm>
            <a:off x="3390824" y="1600200"/>
            <a:ext cx="2567864" cy="2057400"/>
          </a:xfrm>
          <a:prstGeom prst="roundRect">
            <a:avLst>
              <a:gd name="adj" fmla="val 5333"/>
            </a:avLst>
          </a:prstGeom>
          <a:solidFill>
            <a:schemeClr val="bg2"/>
          </a:solidFill>
          <a:ln/>
        </p:spPr>
      </p:sp>
      <p:sp>
        <p:nvSpPr>
          <p:cNvPr id="7" name="kpi-1-value"/>
          <p:cNvSpPr txBox="1"/>
          <p:nvPr/>
        </p:nvSpPr>
        <p:spPr>
          <a:xfrm>
            <a:off x="3619424" y="1828800"/>
            <a:ext cx="2110664" cy="822960"/>
          </a:xfrm>
          <a:prstGeom prst="rect">
            <a:avLst/>
          </a:prstGeom>
          <a:noFill/>
          <a:ln/>
        </p:spPr>
        <p:txBody>
          <a:bodyPr wrap="square" lIns="0" tIns="0" rIns="0" bIns="0" rtlCol="0" anchor="t"/>
          <a:lstStyle/>
          <a:p>
            <a:pPr indent="0" marL="0">
              <a:buNone/>
            </a:pPr>
            <a:r>
              <a:rPr lang="en-US" sz="4800" b="1" dirty="0">
                <a:solidFill>
                  <a:schemeClr val="accent1"/>
                </a:solidFill>
              </a:rPr>
              <a:t>105</a:t>
            </a:r>
            <a:endParaRPr lang="en-US" sz="4800" dirty="0"/>
          </a:p>
        </p:txBody>
      </p:sp>
      <p:sp>
        <p:nvSpPr>
          <p:cNvPr id="8" name="kpi-1-label"/>
          <p:cNvSpPr txBox="1"/>
          <p:nvPr/>
        </p:nvSpPr>
        <p:spPr>
          <a:xfrm>
            <a:off x="3619424" y="2697480"/>
            <a:ext cx="2110664" cy="777240"/>
          </a:xfrm>
          <a:prstGeom prst="rect">
            <a:avLst/>
          </a:prstGeom>
          <a:noFill/>
          <a:ln/>
        </p:spPr>
        <p:txBody>
          <a:bodyPr wrap="square" lIns="0" tIns="0" rIns="0" bIns="0" rtlCol="0" anchor="t"/>
          <a:lstStyle/>
          <a:p>
            <a:pPr indent="0" marL="0">
              <a:buNone/>
            </a:pPr>
            <a:r>
              <a:rPr lang="en-US" sz="1500" dirty="0">
                <a:solidFill>
                  <a:schemeClr val="tx2"/>
                </a:solidFill>
              </a:rPr>
              <a:t>legacy features recovered, with no docs</a:t>
            </a:r>
            <a:endParaRPr lang="en-US" sz="1500" dirty="0"/>
          </a:p>
        </p:txBody>
      </p:sp>
      <p:sp>
        <p:nvSpPr>
          <p:cNvPr id="9" name="kpi-2-card"/>
          <p:cNvSpPr/>
          <p:nvPr/>
        </p:nvSpPr>
        <p:spPr>
          <a:xfrm>
            <a:off x="6233008" y="1600200"/>
            <a:ext cx="2567864" cy="2057400"/>
          </a:xfrm>
          <a:prstGeom prst="roundRect">
            <a:avLst>
              <a:gd name="adj" fmla="val 5333"/>
            </a:avLst>
          </a:prstGeom>
          <a:solidFill>
            <a:schemeClr val="bg2"/>
          </a:solidFill>
          <a:ln/>
        </p:spPr>
      </p:sp>
      <p:sp>
        <p:nvSpPr>
          <p:cNvPr id="10" name="kpi-2-value"/>
          <p:cNvSpPr txBox="1"/>
          <p:nvPr/>
        </p:nvSpPr>
        <p:spPr>
          <a:xfrm>
            <a:off x="6461608" y="1828800"/>
            <a:ext cx="2110664" cy="822960"/>
          </a:xfrm>
          <a:prstGeom prst="rect">
            <a:avLst/>
          </a:prstGeom>
          <a:noFill/>
          <a:ln/>
        </p:spPr>
        <p:txBody>
          <a:bodyPr wrap="square" lIns="0" tIns="0" rIns="0" bIns="0" rtlCol="0" anchor="t"/>
          <a:lstStyle/>
          <a:p>
            <a:pPr indent="0" marL="0">
              <a:buNone/>
            </a:pPr>
            <a:r>
              <a:rPr lang="en-US" sz="4800" b="1" dirty="0">
                <a:solidFill>
                  <a:schemeClr val="tx1"/>
                </a:solidFill>
              </a:rPr>
              <a:t>8</a:t>
            </a:r>
            <a:endParaRPr lang="en-US" sz="4800" dirty="0"/>
          </a:p>
        </p:txBody>
      </p:sp>
      <p:sp>
        <p:nvSpPr>
          <p:cNvPr id="11" name="kpi-2-label"/>
          <p:cNvSpPr txBox="1"/>
          <p:nvPr/>
        </p:nvSpPr>
        <p:spPr>
          <a:xfrm>
            <a:off x="6461608" y="2697480"/>
            <a:ext cx="2110664" cy="777240"/>
          </a:xfrm>
          <a:prstGeom prst="rect">
            <a:avLst/>
          </a:prstGeom>
          <a:noFill/>
          <a:ln/>
        </p:spPr>
        <p:txBody>
          <a:bodyPr wrap="square" lIns="0" tIns="0" rIns="0" bIns="0" rtlCol="0" anchor="t"/>
          <a:lstStyle/>
          <a:p>
            <a:pPr indent="0" marL="0">
              <a:buNone/>
            </a:pPr>
            <a:r>
              <a:rPr lang="en-US" sz="1500" dirty="0">
                <a:solidFill>
                  <a:schemeClr val="tx2"/>
                </a:solidFill>
              </a:rPr>
              <a:t>Slate exports analysed, about 25 MB</a:t>
            </a:r>
            <a:endParaRPr lang="en-US" sz="1500" dirty="0"/>
          </a:p>
        </p:txBody>
      </p:sp>
      <p:sp>
        <p:nvSpPr>
          <p:cNvPr id="12" name="kpi-3-card"/>
          <p:cNvSpPr/>
          <p:nvPr/>
        </p:nvSpPr>
        <p:spPr>
          <a:xfrm>
            <a:off x="9075191" y="1600200"/>
            <a:ext cx="2567864" cy="2057400"/>
          </a:xfrm>
          <a:prstGeom prst="roundRect">
            <a:avLst>
              <a:gd name="adj" fmla="val 5333"/>
            </a:avLst>
          </a:prstGeom>
          <a:solidFill>
            <a:schemeClr val="bg2"/>
          </a:solidFill>
          <a:ln/>
        </p:spPr>
      </p:sp>
      <p:sp>
        <p:nvSpPr>
          <p:cNvPr id="13" name="kpi-3-value"/>
          <p:cNvSpPr txBox="1"/>
          <p:nvPr/>
        </p:nvSpPr>
        <p:spPr>
          <a:xfrm>
            <a:off x="9303791" y="1828800"/>
            <a:ext cx="2110664" cy="822960"/>
          </a:xfrm>
          <a:prstGeom prst="rect">
            <a:avLst/>
          </a:prstGeom>
          <a:noFill/>
          <a:ln/>
        </p:spPr>
        <p:txBody>
          <a:bodyPr wrap="square" lIns="0" tIns="0" rIns="0" bIns="0" rtlCol="0" anchor="t"/>
          <a:lstStyle/>
          <a:p>
            <a:pPr indent="0" marL="0">
              <a:buNone/>
            </a:pPr>
            <a:r>
              <a:rPr lang="en-US" sz="4800" b="1" dirty="0">
                <a:solidFill>
                  <a:schemeClr val="tx1"/>
                </a:solidFill>
              </a:rPr>
              <a:t>75→1</a:t>
            </a:r>
            <a:endParaRPr lang="en-US" sz="4800" dirty="0"/>
          </a:p>
        </p:txBody>
      </p:sp>
      <p:sp>
        <p:nvSpPr>
          <p:cNvPr id="14" name="kpi-3-label"/>
          <p:cNvSpPr txBox="1"/>
          <p:nvPr/>
        </p:nvSpPr>
        <p:spPr>
          <a:xfrm>
            <a:off x="9303791" y="2697480"/>
            <a:ext cx="2110664" cy="777240"/>
          </a:xfrm>
          <a:prstGeom prst="rect">
            <a:avLst/>
          </a:prstGeom>
          <a:noFill/>
          <a:ln/>
        </p:spPr>
        <p:txBody>
          <a:bodyPr wrap="square" lIns="0" tIns="0" rIns="0" bIns="0" rtlCol="0" anchor="t"/>
          <a:lstStyle/>
          <a:p>
            <a:pPr indent="0" marL="0">
              <a:buNone/>
            </a:pPr>
            <a:r>
              <a:rPr lang="en-US" sz="1500" dirty="0">
                <a:solidFill>
                  <a:schemeClr val="tx2"/>
                </a:solidFill>
              </a:rPr>
              <a:t>React files packed into one AI context</a:t>
            </a:r>
            <a:endParaRPr lang="en-US" sz="1500" dirty="0"/>
          </a:p>
        </p:txBody>
      </p:sp>
      <p:sp>
        <p:nvSpPr>
          <p:cNvPr id="15" name="kpi-4-card"/>
          <p:cNvSpPr/>
          <p:nvPr/>
        </p:nvSpPr>
        <p:spPr>
          <a:xfrm>
            <a:off x="548640" y="3931920"/>
            <a:ext cx="2567864" cy="2057400"/>
          </a:xfrm>
          <a:prstGeom prst="roundRect">
            <a:avLst>
              <a:gd name="adj" fmla="val 5333"/>
            </a:avLst>
          </a:prstGeom>
          <a:solidFill>
            <a:schemeClr val="bg2"/>
          </a:solidFill>
          <a:ln/>
        </p:spPr>
      </p:sp>
      <p:sp>
        <p:nvSpPr>
          <p:cNvPr id="16" name="kpi-4-value"/>
          <p:cNvSpPr txBox="1"/>
          <p:nvPr/>
        </p:nvSpPr>
        <p:spPr>
          <a:xfrm>
            <a:off x="777240" y="4160520"/>
            <a:ext cx="2110664" cy="822960"/>
          </a:xfrm>
          <a:prstGeom prst="rect">
            <a:avLst/>
          </a:prstGeom>
          <a:noFill/>
          <a:ln/>
        </p:spPr>
        <p:txBody>
          <a:bodyPr wrap="square" lIns="0" tIns="0" rIns="0" bIns="0" rtlCol="0" anchor="t"/>
          <a:lstStyle/>
          <a:p>
            <a:pPr indent="0" marL="0">
              <a:buNone/>
            </a:pPr>
            <a:r>
              <a:rPr lang="en-US" sz="4800" b="1" dirty="0">
                <a:solidFill>
                  <a:schemeClr val="tx1"/>
                </a:solidFill>
              </a:rPr>
              <a:t>31</a:t>
            </a:r>
            <a:endParaRPr lang="en-US" sz="4800" dirty="0"/>
          </a:p>
        </p:txBody>
      </p:sp>
      <p:sp>
        <p:nvSpPr>
          <p:cNvPr id="17" name="kpi-4-label"/>
          <p:cNvSpPr txBox="1"/>
          <p:nvPr/>
        </p:nvSpPr>
        <p:spPr>
          <a:xfrm>
            <a:off x="777240" y="5029200"/>
            <a:ext cx="2110664" cy="777240"/>
          </a:xfrm>
          <a:prstGeom prst="rect">
            <a:avLst/>
          </a:prstGeom>
          <a:noFill/>
          <a:ln/>
        </p:spPr>
        <p:txBody>
          <a:bodyPr wrap="square" lIns="0" tIns="0" rIns="0" bIns="0" rtlCol="0" anchor="t"/>
          <a:lstStyle/>
          <a:p>
            <a:pPr indent="0" marL="0">
              <a:buNone/>
            </a:pPr>
            <a:r>
              <a:rPr lang="en-US" sz="1500" dirty="0">
                <a:solidFill>
                  <a:schemeClr val="tx2"/>
                </a:solidFill>
              </a:rPr>
              <a:t>gaps found and prioritised by AI review</a:t>
            </a:r>
            <a:endParaRPr lang="en-US" sz="1500" dirty="0"/>
          </a:p>
        </p:txBody>
      </p:sp>
      <p:sp>
        <p:nvSpPr>
          <p:cNvPr id="18" name="kpi-5-card"/>
          <p:cNvSpPr/>
          <p:nvPr/>
        </p:nvSpPr>
        <p:spPr>
          <a:xfrm>
            <a:off x="3390824" y="3931920"/>
            <a:ext cx="2567864" cy="2057400"/>
          </a:xfrm>
          <a:prstGeom prst="roundRect">
            <a:avLst>
              <a:gd name="adj" fmla="val 5333"/>
            </a:avLst>
          </a:prstGeom>
          <a:solidFill>
            <a:schemeClr val="bg2"/>
          </a:solidFill>
          <a:ln/>
        </p:spPr>
      </p:sp>
      <p:sp>
        <p:nvSpPr>
          <p:cNvPr id="19" name="kpi-5-value"/>
          <p:cNvSpPr txBox="1"/>
          <p:nvPr/>
        </p:nvSpPr>
        <p:spPr>
          <a:xfrm>
            <a:off x="3619424" y="4160520"/>
            <a:ext cx="2110664" cy="822960"/>
          </a:xfrm>
          <a:prstGeom prst="rect">
            <a:avLst/>
          </a:prstGeom>
          <a:noFill/>
          <a:ln/>
        </p:spPr>
        <p:txBody>
          <a:bodyPr wrap="square" lIns="0" tIns="0" rIns="0" bIns="0" rtlCol="0" anchor="t"/>
          <a:lstStyle/>
          <a:p>
            <a:pPr indent="0" marL="0">
              <a:buNone/>
            </a:pPr>
            <a:r>
              <a:rPr lang="en-US" sz="4800" b="1" dirty="0">
                <a:solidFill>
                  <a:schemeClr val="accent1"/>
                </a:solidFill>
              </a:rPr>
              <a:t>7</a:t>
            </a:r>
            <a:endParaRPr lang="en-US" sz="4800" dirty="0"/>
          </a:p>
        </p:txBody>
      </p:sp>
      <p:sp>
        <p:nvSpPr>
          <p:cNvPr id="20" name="kpi-5-label"/>
          <p:cNvSpPr txBox="1"/>
          <p:nvPr/>
        </p:nvSpPr>
        <p:spPr>
          <a:xfrm>
            <a:off x="3619424" y="5029200"/>
            <a:ext cx="2110664" cy="777240"/>
          </a:xfrm>
          <a:prstGeom prst="rect">
            <a:avLst/>
          </a:prstGeom>
          <a:noFill/>
          <a:ln/>
        </p:spPr>
        <p:txBody>
          <a:bodyPr wrap="square" lIns="0" tIns="0" rIns="0" bIns="0" rtlCol="0" anchor="t"/>
          <a:lstStyle/>
          <a:p>
            <a:pPr indent="0" marL="0">
              <a:buNone/>
            </a:pPr>
            <a:r>
              <a:rPr lang="en-US" sz="1500" dirty="0">
                <a:solidFill>
                  <a:schemeClr val="tx2"/>
                </a:solidFill>
              </a:rPr>
              <a:t>security and data issues caught in review</a:t>
            </a:r>
            <a:endParaRPr lang="en-US" sz="1500" dirty="0"/>
          </a:p>
        </p:txBody>
      </p:sp>
      <p:sp>
        <p:nvSpPr>
          <p:cNvPr id="21" name="kpi-6-card"/>
          <p:cNvSpPr/>
          <p:nvPr/>
        </p:nvSpPr>
        <p:spPr>
          <a:xfrm>
            <a:off x="6233008" y="3931920"/>
            <a:ext cx="2567864" cy="2057400"/>
          </a:xfrm>
          <a:prstGeom prst="roundRect">
            <a:avLst>
              <a:gd name="adj" fmla="val 5333"/>
            </a:avLst>
          </a:prstGeom>
          <a:solidFill>
            <a:schemeClr val="bg2"/>
          </a:solidFill>
          <a:ln/>
        </p:spPr>
      </p:sp>
      <p:sp>
        <p:nvSpPr>
          <p:cNvPr id="22" name="kpi-6-value"/>
          <p:cNvSpPr txBox="1"/>
          <p:nvPr/>
        </p:nvSpPr>
        <p:spPr>
          <a:xfrm>
            <a:off x="6461608" y="4160520"/>
            <a:ext cx="2110664" cy="822960"/>
          </a:xfrm>
          <a:prstGeom prst="rect">
            <a:avLst/>
          </a:prstGeom>
          <a:noFill/>
          <a:ln/>
        </p:spPr>
        <p:txBody>
          <a:bodyPr wrap="square" lIns="0" tIns="0" rIns="0" bIns="0" rtlCol="0" anchor="t"/>
          <a:lstStyle/>
          <a:p>
            <a:pPr indent="0" marL="0">
              <a:buNone/>
            </a:pPr>
            <a:r>
              <a:rPr lang="en-US" sz="4800" b="1" dirty="0">
                <a:solidFill>
                  <a:schemeClr val="tx1"/>
                </a:solidFill>
              </a:rPr>
              <a:t>5</a:t>
            </a:r>
            <a:endParaRPr lang="en-US" sz="4800" dirty="0"/>
          </a:p>
        </p:txBody>
      </p:sp>
      <p:sp>
        <p:nvSpPr>
          <p:cNvPr id="23" name="kpi-6-label"/>
          <p:cNvSpPr txBox="1"/>
          <p:nvPr/>
        </p:nvSpPr>
        <p:spPr>
          <a:xfrm>
            <a:off x="6461608" y="5029200"/>
            <a:ext cx="2110664" cy="777240"/>
          </a:xfrm>
          <a:prstGeom prst="rect">
            <a:avLst/>
          </a:prstGeom>
          <a:noFill/>
          <a:ln/>
        </p:spPr>
        <p:txBody>
          <a:bodyPr wrap="square" lIns="0" tIns="0" rIns="0" bIns="0" rtlCol="0" anchor="t"/>
          <a:lstStyle/>
          <a:p>
            <a:pPr indent="0" marL="0">
              <a:buNone/>
            </a:pPr>
            <a:r>
              <a:rPr lang="en-US" sz="1500" dirty="0">
                <a:solidFill>
                  <a:schemeClr val="tx2"/>
                </a:solidFill>
              </a:rPr>
              <a:t>enhancements beyond the old app</a:t>
            </a:r>
            <a:endParaRPr lang="en-US" sz="1500" dirty="0"/>
          </a:p>
        </p:txBody>
      </p:sp>
      <p:sp>
        <p:nvSpPr>
          <p:cNvPr id="24" name="kpi-7-card"/>
          <p:cNvSpPr/>
          <p:nvPr/>
        </p:nvSpPr>
        <p:spPr>
          <a:xfrm>
            <a:off x="9075191" y="3931920"/>
            <a:ext cx="2567864" cy="2057400"/>
          </a:xfrm>
          <a:prstGeom prst="roundRect">
            <a:avLst>
              <a:gd name="adj" fmla="val 5333"/>
            </a:avLst>
          </a:prstGeom>
          <a:solidFill>
            <a:schemeClr val="bg2"/>
          </a:solidFill>
          <a:ln/>
        </p:spPr>
      </p:sp>
      <p:sp>
        <p:nvSpPr>
          <p:cNvPr id="25" name="kpi-7-value"/>
          <p:cNvSpPr txBox="1"/>
          <p:nvPr/>
        </p:nvSpPr>
        <p:spPr>
          <a:xfrm>
            <a:off x="9303791" y="4160520"/>
            <a:ext cx="2110664" cy="822960"/>
          </a:xfrm>
          <a:prstGeom prst="rect">
            <a:avLst/>
          </a:prstGeom>
          <a:noFill/>
          <a:ln/>
        </p:spPr>
        <p:txBody>
          <a:bodyPr wrap="square" lIns="0" tIns="0" rIns="0" bIns="0" rtlCol="0" anchor="t"/>
          <a:lstStyle/>
          <a:p>
            <a:pPr indent="0" marL="0">
              <a:buNone/>
            </a:pPr>
            <a:r>
              <a:rPr lang="en-US" sz="4800" b="1" dirty="0">
                <a:solidFill>
                  <a:schemeClr val="tx1"/>
                </a:solidFill>
              </a:rPr>
              <a:t>0→10</a:t>
            </a:r>
            <a:endParaRPr lang="en-US" sz="4800" dirty="0"/>
          </a:p>
        </p:txBody>
      </p:sp>
      <p:sp>
        <p:nvSpPr>
          <p:cNvPr id="26" name="kpi-7-label"/>
          <p:cNvSpPr txBox="1"/>
          <p:nvPr/>
        </p:nvSpPr>
        <p:spPr>
          <a:xfrm>
            <a:off x="9303791" y="5029200"/>
            <a:ext cx="2110664" cy="777240"/>
          </a:xfrm>
          <a:prstGeom prst="rect">
            <a:avLst/>
          </a:prstGeom>
          <a:noFill/>
          <a:ln/>
        </p:spPr>
        <p:txBody>
          <a:bodyPr wrap="square" lIns="0" tIns="0" rIns="0" bIns="0" rtlCol="0" anchor="t"/>
          <a:lstStyle/>
          <a:p>
            <a:pPr indent="0" marL="0">
              <a:buNone/>
            </a:pPr>
            <a:r>
              <a:rPr lang="en-US" sz="1500" dirty="0">
                <a:solidFill>
                  <a:schemeClr val="tx2"/>
                </a:solidFill>
              </a:rPr>
              <a:t>documents: 8 diagrams and 2 guides</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502920"/>
            <a:ext cx="11094415" cy="822960"/>
          </a:xfrm>
          <a:prstGeom prst="rect">
            <a:avLst/>
          </a:prstGeom>
          <a:noFill/>
          <a:ln/>
        </p:spPr>
        <p:txBody>
          <a:bodyPr wrap="square" lIns="0" tIns="0" rIns="0" bIns="0" rtlCol="0" anchor="t"/>
          <a:lstStyle/>
          <a:p>
            <a:pPr algn="l" indent="0" marL="0">
              <a:buNone/>
            </a:pPr>
            <a:r>
              <a:rPr lang="en-US" sz="3600" b="1" dirty="0">
                <a:solidFill>
                  <a:schemeClr val="tx1"/>
                </a:solidFill>
              </a:rPr>
              <a:t>What we delivered in one SAFe PI</a:t>
            </a:r>
            <a:endParaRPr lang="en-US" sz="3600" dirty="0"/>
          </a:p>
        </p:txBody>
      </p:sp>
      <p:sp>
        <p:nvSpPr>
          <p:cNvPr id="3" name="result-0-card"/>
          <p:cNvSpPr/>
          <p:nvPr/>
        </p:nvSpPr>
        <p:spPr>
          <a:xfrm>
            <a:off x="548640" y="1600200"/>
            <a:ext cx="5410048" cy="2057400"/>
          </a:xfrm>
          <a:prstGeom prst="roundRect">
            <a:avLst>
              <a:gd name="adj" fmla="val 5333"/>
            </a:avLst>
          </a:prstGeom>
          <a:solidFill>
            <a:schemeClr val="bg1"/>
          </a:solidFill>
          <a:ln/>
        </p:spPr>
      </p:sp>
      <p:sp>
        <p:nvSpPr>
          <p:cNvPr id="4" name="result-0-title"/>
          <p:cNvSpPr txBox="1"/>
          <p:nvPr/>
        </p:nvSpPr>
        <p:spPr>
          <a:xfrm>
            <a:off x="868680" y="1920240"/>
            <a:ext cx="4769968" cy="685800"/>
          </a:xfrm>
          <a:prstGeom prst="rect">
            <a:avLst/>
          </a:prstGeom>
          <a:noFill/>
          <a:ln/>
        </p:spPr>
        <p:txBody>
          <a:bodyPr wrap="square" lIns="0" tIns="0" rIns="0" bIns="0" rtlCol="0" anchor="t"/>
          <a:lstStyle/>
          <a:p>
            <a:pPr indent="0" marL="0">
              <a:buNone/>
            </a:pPr>
            <a:r>
              <a:rPr lang="en-US" sz="3200" b="1" dirty="0">
                <a:solidFill>
                  <a:schemeClr val="accent3"/>
                </a:solidFill>
              </a:rPr>
              <a:t>105 features</a:t>
            </a:r>
            <a:endParaRPr lang="en-US" sz="3200" dirty="0"/>
          </a:p>
        </p:txBody>
      </p:sp>
      <p:sp>
        <p:nvSpPr>
          <p:cNvPr id="5" name="result-0-body"/>
          <p:cNvSpPr txBox="1"/>
          <p:nvPr/>
        </p:nvSpPr>
        <p:spPr>
          <a:xfrm>
            <a:off x="868680" y="2651760"/>
            <a:ext cx="4769968" cy="731520"/>
          </a:xfrm>
          <a:prstGeom prst="rect">
            <a:avLst/>
          </a:prstGeom>
          <a:noFill/>
          <a:ln/>
        </p:spPr>
        <p:txBody>
          <a:bodyPr wrap="square" lIns="0" tIns="0" rIns="0" bIns="0" rtlCol="0" anchor="t"/>
          <a:lstStyle/>
          <a:p>
            <a:pPr indent="0" marL="0">
              <a:buNone/>
            </a:pPr>
            <a:r>
              <a:rPr lang="en-US" sz="1600" dirty="0">
                <a:solidFill>
                  <a:schemeClr val="tx2"/>
                </a:solidFill>
              </a:rPr>
              <a:t>Catalogued and compared one by one, so nothing was lost by accident</a:t>
            </a:r>
            <a:endParaRPr lang="en-US" sz="1600" dirty="0"/>
          </a:p>
        </p:txBody>
      </p:sp>
      <p:sp>
        <p:nvSpPr>
          <p:cNvPr id="6" name="result-1-card"/>
          <p:cNvSpPr/>
          <p:nvPr/>
        </p:nvSpPr>
        <p:spPr>
          <a:xfrm>
            <a:off x="6233008" y="1600200"/>
            <a:ext cx="5410048" cy="2057400"/>
          </a:xfrm>
          <a:prstGeom prst="roundRect">
            <a:avLst>
              <a:gd name="adj" fmla="val 5333"/>
            </a:avLst>
          </a:prstGeom>
          <a:solidFill>
            <a:schemeClr val="bg1"/>
          </a:solidFill>
          <a:ln/>
        </p:spPr>
      </p:sp>
      <p:sp>
        <p:nvSpPr>
          <p:cNvPr id="7" name="result-1-title"/>
          <p:cNvSpPr txBox="1"/>
          <p:nvPr/>
        </p:nvSpPr>
        <p:spPr>
          <a:xfrm>
            <a:off x="6553048" y="1920240"/>
            <a:ext cx="4769968" cy="685800"/>
          </a:xfrm>
          <a:prstGeom prst="rect">
            <a:avLst/>
          </a:prstGeom>
          <a:noFill/>
          <a:ln/>
        </p:spPr>
        <p:txBody>
          <a:bodyPr wrap="square" lIns="0" tIns="0" rIns="0" bIns="0" rtlCol="0" anchor="t"/>
          <a:lstStyle/>
          <a:p>
            <a:pPr indent="0" marL="0">
              <a:buNone/>
            </a:pPr>
            <a:r>
              <a:rPr lang="en-US" sz="3200" b="1" dirty="0">
                <a:solidFill>
                  <a:schemeClr val="tx1"/>
                </a:solidFill>
              </a:rPr>
              <a:t>Gaps fixed</a:t>
            </a:r>
            <a:endParaRPr lang="en-US" sz="3200" dirty="0"/>
          </a:p>
        </p:txBody>
      </p:sp>
      <p:sp>
        <p:nvSpPr>
          <p:cNvPr id="8" name="result-1-body"/>
          <p:cNvSpPr txBox="1"/>
          <p:nvPr/>
        </p:nvSpPr>
        <p:spPr>
          <a:xfrm>
            <a:off x="6553048" y="2651760"/>
            <a:ext cx="4769968" cy="731520"/>
          </a:xfrm>
          <a:prstGeom prst="rect">
            <a:avLst/>
          </a:prstGeom>
          <a:noFill/>
          <a:ln/>
        </p:spPr>
        <p:txBody>
          <a:bodyPr wrap="square" lIns="0" tIns="0" rIns="0" bIns="0" rtlCol="0" anchor="t"/>
          <a:lstStyle/>
          <a:p>
            <a:pPr indent="0" marL="0">
              <a:buNone/>
            </a:pPr>
            <a:r>
              <a:rPr lang="en-US" sz="1600" dirty="0">
                <a:solidFill>
                  <a:schemeClr val="tx2"/>
                </a:solidFill>
              </a:rPr>
              <a:t>Including dashboard sharing access in the backend workflow, now deployed</a:t>
            </a:r>
            <a:endParaRPr lang="en-US" sz="1600" dirty="0"/>
          </a:p>
        </p:txBody>
      </p:sp>
      <p:sp>
        <p:nvSpPr>
          <p:cNvPr id="9" name="result-2-card"/>
          <p:cNvSpPr/>
          <p:nvPr/>
        </p:nvSpPr>
        <p:spPr>
          <a:xfrm>
            <a:off x="548640" y="3931920"/>
            <a:ext cx="5410048" cy="2057400"/>
          </a:xfrm>
          <a:prstGeom prst="roundRect">
            <a:avLst>
              <a:gd name="adj" fmla="val 5333"/>
            </a:avLst>
          </a:prstGeom>
          <a:solidFill>
            <a:schemeClr val="bg1"/>
          </a:solidFill>
          <a:ln/>
        </p:spPr>
      </p:sp>
      <p:sp>
        <p:nvSpPr>
          <p:cNvPr id="10" name="result-2-title"/>
          <p:cNvSpPr txBox="1"/>
          <p:nvPr/>
        </p:nvSpPr>
        <p:spPr>
          <a:xfrm>
            <a:off x="868680" y="4251960"/>
            <a:ext cx="4769968" cy="685800"/>
          </a:xfrm>
          <a:prstGeom prst="rect">
            <a:avLst/>
          </a:prstGeom>
          <a:noFill/>
          <a:ln/>
        </p:spPr>
        <p:txBody>
          <a:bodyPr wrap="square" lIns="0" tIns="0" rIns="0" bIns="0" rtlCol="0" anchor="t"/>
          <a:lstStyle/>
          <a:p>
            <a:pPr indent="0" marL="0">
              <a:buNone/>
            </a:pPr>
            <a:r>
              <a:rPr lang="en-US" sz="3200" b="1" dirty="0">
                <a:solidFill>
                  <a:schemeClr val="tx1"/>
                </a:solidFill>
              </a:rPr>
              <a:t>New features</a:t>
            </a:r>
            <a:endParaRPr lang="en-US" sz="3200" dirty="0"/>
          </a:p>
        </p:txBody>
      </p:sp>
      <p:sp>
        <p:nvSpPr>
          <p:cNvPr id="11" name="result-2-body"/>
          <p:cNvSpPr txBox="1"/>
          <p:nvPr/>
        </p:nvSpPr>
        <p:spPr>
          <a:xfrm>
            <a:off x="868680" y="4983480"/>
            <a:ext cx="4769968" cy="731520"/>
          </a:xfrm>
          <a:prstGeom prst="rect">
            <a:avLst/>
          </a:prstGeom>
          <a:noFill/>
          <a:ln/>
        </p:spPr>
        <p:txBody>
          <a:bodyPr wrap="square" lIns="0" tIns="0" rIns="0" bIns="0" rtlCol="0" anchor="t"/>
          <a:lstStyle/>
          <a:p>
            <a:pPr indent="0" marL="0">
              <a:buNone/>
            </a:pPr>
            <a:r>
              <a:rPr lang="en-US" sz="1600" dirty="0">
                <a:solidFill>
                  <a:schemeClr val="tx2"/>
                </a:solidFill>
              </a:rPr>
              <a:t>[List the new React features you will demo]</a:t>
            </a:r>
            <a:endParaRPr lang="en-US" sz="1600" dirty="0"/>
          </a:p>
        </p:txBody>
      </p:sp>
      <p:sp>
        <p:nvSpPr>
          <p:cNvPr id="12" name="result-3-card"/>
          <p:cNvSpPr/>
          <p:nvPr/>
        </p:nvSpPr>
        <p:spPr>
          <a:xfrm>
            <a:off x="6233008" y="3931920"/>
            <a:ext cx="5410048" cy="2057400"/>
          </a:xfrm>
          <a:prstGeom prst="roundRect">
            <a:avLst>
              <a:gd name="adj" fmla="val 5333"/>
            </a:avLst>
          </a:prstGeom>
          <a:solidFill>
            <a:schemeClr val="bg1"/>
          </a:solidFill>
          <a:ln/>
        </p:spPr>
      </p:sp>
      <p:sp>
        <p:nvSpPr>
          <p:cNvPr id="13" name="result-3-title"/>
          <p:cNvSpPr txBox="1"/>
          <p:nvPr/>
        </p:nvSpPr>
        <p:spPr>
          <a:xfrm>
            <a:off x="6553048" y="4251960"/>
            <a:ext cx="4769968" cy="685800"/>
          </a:xfrm>
          <a:prstGeom prst="rect">
            <a:avLst/>
          </a:prstGeom>
          <a:noFill/>
          <a:ln/>
        </p:spPr>
        <p:txBody>
          <a:bodyPr wrap="square" lIns="0" tIns="0" rIns="0" bIns="0" rtlCol="0" anchor="t"/>
          <a:lstStyle/>
          <a:p>
            <a:pPr indent="0" marL="0">
              <a:buNone/>
            </a:pPr>
            <a:r>
              <a:rPr lang="en-US" sz="3200" b="1" dirty="0">
                <a:solidFill>
                  <a:schemeClr val="tx1"/>
                </a:solidFill>
              </a:rPr>
              <a:t>Documented</a:t>
            </a:r>
            <a:endParaRPr lang="en-US" sz="3200" dirty="0"/>
          </a:p>
        </p:txBody>
      </p:sp>
      <p:sp>
        <p:nvSpPr>
          <p:cNvPr id="14" name="result-3-body"/>
          <p:cNvSpPr txBox="1"/>
          <p:nvPr/>
        </p:nvSpPr>
        <p:spPr>
          <a:xfrm>
            <a:off x="6553048" y="4983480"/>
            <a:ext cx="4769968" cy="731520"/>
          </a:xfrm>
          <a:prstGeom prst="rect">
            <a:avLst/>
          </a:prstGeom>
          <a:noFill/>
          <a:ln/>
        </p:spPr>
        <p:txBody>
          <a:bodyPr wrap="square" lIns="0" tIns="0" rIns="0" bIns="0" rtlCol="0" anchor="t"/>
          <a:lstStyle/>
          <a:p>
            <a:pPr indent="0" marL="0">
              <a:buNone/>
            </a:pPr>
            <a:r>
              <a:rPr lang="en-US" sz="1600" dirty="0">
                <a:solidFill>
                  <a:schemeClr val="tx2"/>
                </a:solidFill>
              </a:rPr>
              <a:t>Architecture and lifecycle diagrams for both apps, where none existed</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502920"/>
            <a:ext cx="11094415" cy="822960"/>
          </a:xfrm>
          <a:prstGeom prst="rect">
            <a:avLst/>
          </a:prstGeom>
          <a:noFill/>
          <a:ln/>
        </p:spPr>
        <p:txBody>
          <a:bodyPr wrap="square" lIns="0" tIns="0" rIns="0" bIns="0" rtlCol="0" anchor="t"/>
          <a:lstStyle/>
          <a:p>
            <a:pPr algn="l" indent="0" marL="0">
              <a:buNone/>
            </a:pPr>
            <a:r>
              <a:rPr lang="en-US" sz="3600" b="1" dirty="0">
                <a:solidFill>
                  <a:schemeClr val="bg1"/>
                </a:solidFill>
              </a:rPr>
              <a:t>A playbook any team can reuse</a:t>
            </a:r>
            <a:endParaRPr lang="en-US" sz="3600" dirty="0"/>
          </a:p>
        </p:txBody>
      </p:sp>
      <p:sp>
        <p:nvSpPr>
          <p:cNvPr id="3" name="reuse-0-card"/>
          <p:cNvSpPr/>
          <p:nvPr/>
        </p:nvSpPr>
        <p:spPr>
          <a:xfrm>
            <a:off x="548640" y="1600200"/>
            <a:ext cx="5410048" cy="3017520"/>
          </a:xfrm>
          <a:prstGeom prst="roundRect">
            <a:avLst>
              <a:gd name="adj" fmla="val 3636"/>
            </a:avLst>
          </a:prstGeom>
          <a:solidFill>
            <a:schemeClr val="accent4"/>
          </a:solidFill>
          <a:ln/>
        </p:spPr>
      </p:sp>
      <p:sp>
        <p:nvSpPr>
          <p:cNvPr id="4" name="reuse-0-title"/>
          <p:cNvSpPr txBox="1"/>
          <p:nvPr/>
        </p:nvSpPr>
        <p:spPr>
          <a:xfrm>
            <a:off x="868680" y="1874520"/>
            <a:ext cx="4769968" cy="502920"/>
          </a:xfrm>
          <a:prstGeom prst="rect">
            <a:avLst/>
          </a:prstGeom>
          <a:noFill/>
          <a:ln/>
        </p:spPr>
        <p:txBody>
          <a:bodyPr wrap="square" lIns="0" tIns="0" rIns="0" bIns="0" rtlCol="0" anchor="t"/>
          <a:lstStyle/>
          <a:p>
            <a:pPr indent="0" marL="0">
              <a:buNone/>
            </a:pPr>
            <a:r>
              <a:rPr lang="en-US" sz="2400" b="1" dirty="0">
                <a:solidFill>
                  <a:schemeClr val="accent1"/>
                </a:solidFill>
              </a:rPr>
              <a:t>Built together</a:t>
            </a:r>
            <a:endParaRPr lang="en-US" sz="2400" dirty="0"/>
          </a:p>
        </p:txBody>
      </p:sp>
      <p:sp>
        <p:nvSpPr>
          <p:cNvPr id="5" name="reuse-0-list"/>
          <p:cNvSpPr txBox="1"/>
          <p:nvPr/>
        </p:nvSpPr>
        <p:spPr>
          <a:xfrm>
            <a:off x="868680" y="2514600"/>
            <a:ext cx="4769968" cy="192024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chemeClr val="accent6"/>
                </a:solidFill>
              </a:rPr>
              <a:t>Business users confirmed the feature catalogue</a:t>
            </a:r>
            <a:endParaRPr lang="en-US" sz="1600" dirty="0"/>
          </a:p>
          <a:p>
            <a:pPr marL="342900" indent="-342900">
              <a:spcAft>
                <a:spcPts val="800"/>
              </a:spcAft>
              <a:buSzPct val="100000"/>
              <a:buChar char="•"/>
            </a:pPr>
            <a:r>
              <a:rPr lang="en-US" sz="1600" dirty="0">
                <a:solidFill>
                  <a:schemeClr val="accent6"/>
                </a:solidFill>
              </a:rPr>
              <a:t>Data and security owners kept restricted views intact</a:t>
            </a:r>
            <a:endParaRPr lang="en-US" sz="1600" dirty="0"/>
          </a:p>
          <a:p>
            <a:pPr marL="342900" indent="-342900">
              <a:spcAft>
                <a:spcPts val="800"/>
              </a:spcAft>
              <a:buSzPct val="100000"/>
              <a:buChar char="•"/>
            </a:pPr>
            <a:r>
              <a:rPr lang="en-US" sz="1600" dirty="0">
                <a:solidFill>
                  <a:schemeClr val="accent6"/>
                </a:solidFill>
              </a:rPr>
              <a:t>Backend and frontend fixes shipped together</a:t>
            </a:r>
            <a:endParaRPr lang="en-US" sz="1600" dirty="0"/>
          </a:p>
        </p:txBody>
      </p:sp>
      <p:sp>
        <p:nvSpPr>
          <p:cNvPr id="6" name="reuse-1-card"/>
          <p:cNvSpPr/>
          <p:nvPr/>
        </p:nvSpPr>
        <p:spPr>
          <a:xfrm>
            <a:off x="6233008" y="1600200"/>
            <a:ext cx="5410048" cy="3017520"/>
          </a:xfrm>
          <a:prstGeom prst="roundRect">
            <a:avLst>
              <a:gd name="adj" fmla="val 3636"/>
            </a:avLst>
          </a:prstGeom>
          <a:solidFill>
            <a:schemeClr val="accent4"/>
          </a:solidFill>
          <a:ln/>
        </p:spPr>
      </p:sp>
      <p:sp>
        <p:nvSpPr>
          <p:cNvPr id="7" name="reuse-1-title"/>
          <p:cNvSpPr txBox="1"/>
          <p:nvPr/>
        </p:nvSpPr>
        <p:spPr>
          <a:xfrm>
            <a:off x="6553048" y="1874520"/>
            <a:ext cx="4769968" cy="502920"/>
          </a:xfrm>
          <a:prstGeom prst="rect">
            <a:avLst/>
          </a:prstGeom>
          <a:noFill/>
          <a:ln/>
        </p:spPr>
        <p:txBody>
          <a:bodyPr wrap="square" lIns="0" tIns="0" rIns="0" bIns="0" rtlCol="0" anchor="t"/>
          <a:lstStyle/>
          <a:p>
            <a:pPr indent="0" marL="0">
              <a:buNone/>
            </a:pPr>
            <a:r>
              <a:rPr lang="en-US" sz="2400" b="1" dirty="0">
                <a:solidFill>
                  <a:schemeClr val="accent1"/>
                </a:solidFill>
              </a:rPr>
              <a:t>Ready to transfer</a:t>
            </a:r>
            <a:endParaRPr lang="en-US" sz="2400" dirty="0"/>
          </a:p>
        </p:txBody>
      </p:sp>
      <p:sp>
        <p:nvSpPr>
          <p:cNvPr id="8" name="reuse-1-list"/>
          <p:cNvSpPr txBox="1"/>
          <p:nvPr/>
        </p:nvSpPr>
        <p:spPr>
          <a:xfrm>
            <a:off x="6553048" y="2514600"/>
            <a:ext cx="4769968" cy="192024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chemeClr val="accent6"/>
                </a:solidFill>
              </a:rPr>
              <a:t>Other Slate apps in [business areas]</a:t>
            </a:r>
            <a:endParaRPr lang="en-US" sz="1600" dirty="0"/>
          </a:p>
          <a:p>
            <a:pPr marL="342900" indent="-342900">
              <a:spcAft>
                <a:spcPts val="800"/>
              </a:spcAft>
              <a:buSzPct val="100000"/>
              <a:buChar char="•"/>
            </a:pPr>
            <a:r>
              <a:rPr lang="en-US" sz="1600" dirty="0">
                <a:solidFill>
                  <a:schemeClr val="accent6"/>
                </a:solidFill>
              </a:rPr>
              <a:t>Any low-code tool with little documentation</a:t>
            </a:r>
            <a:endParaRPr lang="en-US" sz="1600" dirty="0"/>
          </a:p>
          <a:p>
            <a:pPr marL="342900" indent="-342900">
              <a:spcAft>
                <a:spcPts val="800"/>
              </a:spcAft>
              <a:buSzPct val="100000"/>
              <a:buChar char="•"/>
            </a:pPr>
            <a:r>
              <a:rPr lang="en-US" sz="1600" dirty="0">
                <a:solidFill>
                  <a:schemeClr val="accent6"/>
                </a:solidFill>
              </a:rPr>
              <a:t>Reusable as is: pack-project.ts, comparison template, diagrams</a:t>
            </a:r>
            <a:endParaRPr lang="en-US" sz="1600" dirty="0"/>
          </a:p>
        </p:txBody>
      </p:sp>
      <p:sp>
        <p:nvSpPr>
          <p:cNvPr id="9" name="closing"/>
          <p:cNvSpPr txBox="1"/>
          <p:nvPr/>
        </p:nvSpPr>
        <p:spPr>
          <a:xfrm>
            <a:off x="548640" y="5120640"/>
            <a:ext cx="11094415" cy="548640"/>
          </a:xfrm>
          <a:prstGeom prst="rect">
            <a:avLst/>
          </a:prstGeom>
          <a:noFill/>
          <a:ln/>
        </p:spPr>
        <p:txBody>
          <a:bodyPr wrap="square" lIns="0" tIns="0" rIns="0" bIns="0" rtlCol="0" anchor="t"/>
          <a:lstStyle/>
          <a:p>
            <a:pPr indent="0" marL="0">
              <a:buNone/>
            </a:pPr>
            <a:r>
              <a:rPr lang="en-US" sz="2200" b="1" dirty="0">
                <a:solidFill>
                  <a:schemeClr val="bg1"/>
                </a:solidFill>
              </a:rPr>
              <a:t>Pack. Extract. Compare. Fix. Document. Repeat for the next app.</a:t>
            </a:r>
            <a:endParaRPr lang="en-US" sz="2200" dirty="0"/>
          </a:p>
        </p:txBody>
      </p:sp>
    </p:spTree>
  </p:cSld>
  <p:clrMapOvr>
    <a:masterClrMapping/>
  </p:clrMapOvr>
</p:sld>
</file>

<file path=ppt/theme/theme1.xml><?xml version="1.0" encoding="utf-8"?>
<a:theme xmlns:a="http://schemas.openxmlformats.org/drawingml/2006/main" name="ERM Migration">
  <a:themeElements>
    <a:clrScheme name="ERM Migration">
      <a:dk1>
        <a:srgbClr val="14213D"/>
      </a:dk1>
      <a:lt1>
        <a:srgbClr val="FFFFFF"/>
      </a:lt1>
      <a:dk2>
        <a:srgbClr val="4A5568"/>
      </a:dk2>
      <a:lt2>
        <a:srgbClr val="EEF2F7"/>
      </a:lt2>
      <a:accent1>
        <a:srgbClr val="E07A2F"/>
      </a:accent1>
      <a:accent2>
        <a:srgbClr val="2F6FD0"/>
      </a:accent2>
      <a:accent3>
        <a:srgbClr val="C2601C"/>
      </a:accent3>
      <a:accent4>
        <a:srgbClr val="1F2E4F"/>
      </a:accent4>
      <a:accent5>
        <a:srgbClr val="BFD8D5"/>
      </a:accent5>
      <a:accent6>
        <a:srgbClr val="D5DCE6"/>
      </a:accent6>
      <a:hlink>
        <a:srgbClr val="2F6FD0"/>
      </a:hlink>
      <a:folHlink>
        <a:srgbClr val="1F2E4F"/>
      </a:folHlink>
    </a:clrScheme>
    <a:fontScheme name="ERM Migration">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Slides>
  <Notes>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vt:i4>
      </vt:variant>
    </vt:vector>
  </HeadingPairs>
  <TitlesOfParts>
    <vt:vector size="9" baseType="lpstr">
      <vt:lpstr>Arial</vt:lpstr>
      <vt:lpstr>Calibri</vt:lpstr>
      <vt:lpstr>Office Theme</vt:lpstr>
      <vt:lpstr>Slide 1</vt:lpstr>
      <vt:lpstr>Slide 2</vt:lpstr>
      <vt:lpstr>Slide 3</vt:lpstr>
      <vt:lpstr>Slide 4</vt:lpstr>
      <vt:lpstr>Slide 5</vt:lpstr>
      <vt:lpstr>Slide 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ERM Migration Jury Pitch</dc:title>
  <dc:subject>PptxGenJS Presentation</dc:subject>
  <dc:creator>PptxGenJS</dc:creator>
  <cp:lastModifiedBy>PptxGenJS</cp:lastModifiedBy>
  <cp:revision>1</cp:revision>
  <dcterms:created xsi:type="dcterms:W3CDTF">2026-10-03T13:29:09Z</dcterms:created>
  <dcterms:modified xsi:type="dcterms:W3CDTF">2026-10-03T13:29:09Z</dcterms:modified>
</cp:coreProperties>
</file>