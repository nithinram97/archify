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7071248d-7807-7429-82b8-ece5f28c3e4e}">
          <p14:sldIdLst>
            <p14:sldId id="256"/>
          </p14:sldIdLst>
        </p14:section>
        <p14:section name="Context" id="{df148892-2f9e-ef1e-4176-612012b12e68}">
          <p14:sldIdLst>
            <p14:sldId id="257"/>
            <p14:sldId id="258"/>
            <p14:sldId id="259"/>
          </p14:sldIdLst>
        </p14:section>
        <p14:section name="Problem and method" id="{33e91224-0154-467b-2d42-c71ae8d47523}">
          <p14:sldIdLst>
            <p14:sldId id="260"/>
            <p14:sldId id="261"/>
          </p14:sldIdLst>
        </p14:section>
        <p14:section name="Impact" id="{1bbd2fa5-2e46-6654-7dda-f41341f8316b}">
          <p14:sldIdLst>
            <p14:sldId id="262"/>
            <p14:sldId id="263"/>
            <p14:sldId id="264"/>
            <p14:sldId id="265"/>
            <p14:sldId id="266"/>
          </p14:sldIdLst>
        </p14:section>
        <p14:section name="Reuse" id="{7fb5def7-deae-0d13-563f-280c922fe70d}">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Unique users</c:v>
                </c:pt>
              </c:strCache>
            </c:strRef>
          </c:tx>
          <c:spPr>
            <a:solidFill>
              <a:srgbClr val="0085CA"/>
            </a:solidFill>
            <a:ln w="25400" cap="flat">
              <a:solidFill>
                <a:srgbClr val="0085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085CA"/>
              </a:solidFill>
              <a:ln w="9525" cap="flat">
                <a:solidFill>
                  <a:srgbClr val="0085CA"/>
                </a:solidFill>
                <a:prstDash val="solid"/>
                <a:round/>
              </a:ln>
              <a:effectLst/>
            </c:spPr>
          </c:marker>
          <c:cat>
            <c:strRef>
              <c:f>Sheet1!$A$2:$A$24</c:f>
              <c:strCache>
                <c:ptCount val="23"/>
                <c:pt idx="0">
                  <c:v>Aug 2024</c:v>
                </c:pt>
                <c:pt idx="1">
                  <c:v>Sep 2024</c:v>
                </c:pt>
                <c:pt idx="2">
                  <c:v>Oct 2024</c:v>
                </c:pt>
                <c:pt idx="3">
                  <c:v>Nov 2024</c:v>
                </c:pt>
                <c:pt idx="4">
                  <c:v>Dec 2024</c:v>
                </c:pt>
                <c:pt idx="5">
                  <c:v>Jan 2025</c:v>
                </c:pt>
                <c:pt idx="6">
                  <c:v>Feb 2025</c:v>
                </c:pt>
                <c:pt idx="7">
                  <c:v>Mar 2025</c:v>
                </c:pt>
                <c:pt idx="8">
                  <c:v>Apr 2025</c:v>
                </c:pt>
                <c:pt idx="9">
                  <c:v>May 2025</c:v>
                </c:pt>
                <c:pt idx="10">
                  <c:v>Jun 2025</c:v>
                </c:pt>
                <c:pt idx="11">
                  <c:v>Jul 2025</c:v>
                </c:pt>
                <c:pt idx="12">
                  <c:v>Aug 2025</c:v>
                </c:pt>
                <c:pt idx="13">
                  <c:v>Sep 2025</c:v>
                </c:pt>
                <c:pt idx="14">
                  <c:v>Oct 2025</c:v>
                </c:pt>
                <c:pt idx="15">
                  <c:v>Nov 2025</c:v>
                </c:pt>
                <c:pt idx="16">
                  <c:v>Dec 2025</c:v>
                </c:pt>
                <c:pt idx="17">
                  <c:v>Jan 2026</c:v>
                </c:pt>
                <c:pt idx="18">
                  <c:v>Feb 2026</c:v>
                </c:pt>
                <c:pt idx="19">
                  <c:v>Mar 2026</c:v>
                </c:pt>
                <c:pt idx="20">
                  <c:v>Apr 2026</c:v>
                </c:pt>
                <c:pt idx="21">
                  <c:v>May 2026</c:v>
                </c:pt>
                <c:pt idx="22">
                  <c:v>Jun 2026</c:v>
                </c:pt>
              </c:strCache>
            </c:strRef>
          </c:cat>
          <c:val>
            <c:numRef>
              <c:f>Sheet1!$B$2:$B$24</c:f>
              <c:numCache>
                <c:formatCode>General</c:formatCode>
                <c:ptCount val="23"/>
                <c:pt idx="0">
                  <c:v>0</c:v>
                </c:pt>
                <c:pt idx="1">
                  <c:v>50</c:v>
                </c:pt>
                <c:pt idx="2">
                  <c:v>95</c:v>
                </c:pt>
                <c:pt idx="3">
                  <c:v>105</c:v>
                </c:pt>
                <c:pt idx="4">
                  <c:v>65</c:v>
                </c:pt>
                <c:pt idx="5">
                  <c:v>110</c:v>
                </c:pt>
                <c:pt idx="6">
                  <c:v>135</c:v>
                </c:pt>
                <c:pt idx="7">
                  <c:v>125</c:v>
                </c:pt>
                <c:pt idx="8">
                  <c:v>150</c:v>
                </c:pt>
                <c:pt idx="9">
                  <c:v>245</c:v>
                </c:pt>
                <c:pt idx="10">
                  <c:v>220</c:v>
                </c:pt>
                <c:pt idx="11">
                  <c:v>230</c:v>
                </c:pt>
                <c:pt idx="12">
                  <c:v>240</c:v>
                </c:pt>
                <c:pt idx="13">
                  <c:v>265</c:v>
                </c:pt>
                <c:pt idx="14">
                  <c:v>230</c:v>
                </c:pt>
                <c:pt idx="15">
                  <c:v>300</c:v>
                </c:pt>
                <c:pt idx="16">
                  <c:v>190</c:v>
                </c:pt>
                <c:pt idx="17">
                  <c:v>210</c:v>
                </c:pt>
                <c:pt idx="18">
                  <c:v>340</c:v>
                </c:pt>
                <c:pt idx="19">
                  <c:v>280</c:v>
                </c:pt>
                <c:pt idx="20">
                  <c:v>220</c:v>
                </c:pt>
                <c:pt idx="21">
                  <c:v>305</c:v>
                </c:pt>
                <c:pt idx="22">
                  <c:v>310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568"/>
                </a:solidFill>
                <a:latin typeface="+mn-lt"/>
              </a:defRPr>
            </a:pPr>
            <a:endParaRPr lang="en-US"/>
          </a:p>
        </c:txPr>
        <c:crossAx val="2094734552"/>
        <c:crosses val="autoZero"/>
        <c:auto val="1"/>
        <c:lblAlgn val="ctr"/>
        <c:noMultiLvlLbl val="0"/>
        <c:tickLblSkip val="2"/>
      </c:catAx>
      <c:valAx>
        <c:axId val="2094734552"/>
        <c:scaling>
          <c:orientation val="minMax"/>
          <c:max val="350"/>
          <c:min val="0"/>
        </c:scaling>
        <c:delete val="0"/>
        <c:axPos val="l"/>
        <c:majorGridlines>
          <c:spPr>
            <a:ln w="9525" cap="flat">
              <a:solidFill>
                <a:srgbClr val="DCE3EE"/>
              </a:solidFill>
              <a:prstDash val="solid"/>
              <a:round/>
            </a:ln>
          </c:spPr>
        </c:majorGridlines>
        <c:title>
          <c:tx>
            <c:rich>
              <a:bodyPr/>
              <a:lstStyle/>
              <a:p>
                <a:pPr>
                  <a:defRPr sz="1000" b="0" i="0" u="none" strike="noStrike">
                    <a:solidFill>
                      <a:srgbClr val="4A5568"/>
                    </a:solidFill>
                    <a:latin typeface="Arial"/>
                  </a:defRPr>
                </a:pPr>
                <a:r>
                  <a:rPr sz="1000" b="0" i="0" u="none" strike="noStrike">
                    <a:solidFill>
                      <a:srgbClr val="4A5568"/>
                    </a:solidFill>
                    <a:latin typeface="Arial"/>
                  </a:rPr>
                  <a:t>Unique users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568"/>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Unique users</c:v>
                </c:pt>
              </c:strCache>
            </c:strRef>
          </c:tx>
          <c:spPr>
            <a:solidFill>
              <a:srgbClr val="0085CA"/>
            </a:solidFill>
            <a:effectLst/>
          </c:spPr>
          <c:invertIfNegative val="0"/>
          <c:dLbls>
            <c:numFmt formatCode="#,##0" sourceLinked="0"/>
            <c:txPr>
              <a:bodyPr/>
              <a:lstStyle/>
              <a:p>
                <a:pPr>
                  <a:defRPr b="0" i="0" strike="noStrike" sz="1100" u="none">
                    <a:solidFill>
                      <a:srgbClr val="00205B"/>
                    </a:solidFill>
                    <a:latin typeface="+mn-lt"/>
                  </a:defRPr>
                </a:pPr>
              </a:p>
            </c:txPr>
            <c:showLegendKey val="0"/>
            <c:showVal val="1"/>
            <c:showCatName val="0"/>
            <c:showSerName val="0"/>
            <c:showPercent val="0"/>
            <c:showBubbleSize val="0"/>
            <c:showLeaderLines val="0"/>
          </c:dLbls>
          <c:cat>
            <c:strRef>
              <c:f>Sheet1!$A$2:$A$8</c:f>
              <c:strCache>
                <c:ptCount val="7"/>
                <c:pt idx="0">
                  <c:v>B</c:v>
                </c:pt>
                <c:pt idx="1">
                  <c:v>O</c:v>
                </c:pt>
                <c:pt idx="2">
                  <c:v>P</c:v>
                </c:pt>
                <c:pt idx="3">
                  <c:v>A</c:v>
                </c:pt>
                <c:pt idx="4">
                  <c:v>L</c:v>
                </c:pt>
                <c:pt idx="5">
                  <c:v>S</c:v>
                </c:pt>
                <c:pt idx="6">
                  <c:v>K</c:v>
                </c:pt>
              </c:strCache>
            </c:strRef>
          </c:cat>
          <c:val>
            <c:numRef>
              <c:f>Sheet1!$B$2:$B$8</c:f>
              <c:numCache>
                <c:formatCode>General</c:formatCode>
                <c:ptCount val="7"/>
                <c:pt idx="0">
                  <c:v>345</c:v>
                </c:pt>
                <c:pt idx="1">
                  <c:v>120</c:v>
                </c:pt>
                <c:pt idx="2">
                  <c:v>95</c:v>
                </c:pt>
                <c:pt idx="3">
                  <c:v>60</c:v>
                </c:pt>
                <c:pt idx="4">
                  <c:v>55</c:v>
                </c:pt>
                <c:pt idx="5">
                  <c:v>55</c:v>
                </c:pt>
                <c:pt idx="6">
                  <c:v>50</c:v>
                </c:pt>
              </c:numCache>
            </c:numRef>
          </c:val>
        </c:ser>
        <c:dLbls>
          <c:numFmt formatCode="#,##0" sourceLinked="0"/>
          <c:txPr>
            <a:bodyPr/>
            <a:lstStyle/>
            <a:p>
              <a:pPr>
                <a:defRPr b="0" i="0" strike="noStrike" sz="1100" u="none">
                  <a:solidFill>
                    <a:srgbClr val="00205B"/>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0"/>
      </c:catAx>
      <c:valAx>
        <c:axId val="2094734552"/>
        <c:scaling>
          <c:orientation val="minMax"/>
          <c:max val="400"/>
          <c:min val="0"/>
        </c:scaling>
        <c:delete val="0"/>
        <c:axPos val="l"/>
        <c:majorGridlines>
          <c:spPr>
            <a:ln w="9525" cap="flat">
              <a:solidFill>
                <a:srgbClr val="DCE3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568"/>
                </a:solidFill>
                <a:latin typeface="+mn-lt"/>
              </a:defRPr>
            </a:pPr>
            <a:endParaRPr lang="en-US"/>
          </a:p>
        </c:txPr>
        <c:crossAx val="2094734554"/>
        <c:crosses val="autoZero"/>
        <c:crossBetween val="between"/>
        <c:majorUnit val="1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pitch: two developers took ERM, a business-critical Slate application with no documentation, and rebuilt it for Airbus DevX with React and OSDK in one PI, ready for go-live, using an AI-assisted method we designed ourselves. The story: what ERM is and who relies on it, why it had to move, how we did it with AI, what it saved, how it serves our 2026 objectives, and why other teams can reuse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what ERM is, so the jury knows why this app matters. ERM helps stakeholders understand risks and the actions they need. The dashboard turns Active Risk Manager data in Skywise into ERM reports. Five capabilities: one place for ARM data with role-based views; custom dashboards; live editing and trend following; a governed quarterly release workflow; and sharing risks across divisions. On the right: risks and opportunities from ARM are grouped into dashboards, which produce reports and the criticality, key messages, trend and status views. Data flows from ARM through a restricted view and the Ontology into the app, so users only see the risks they have access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stakes clear. 892 people have used ERM across engineering, programmes and operations, with a monthly peak above 320 active risk managers. More than 1,600 dashboards have been created and more than 10 are updated every day. The trend shows monthly unique users growing from launch in summer 2024 to around 300 a month in 2026. That is why the migration could not be a rewrite from memory: every feature had to be found and carried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ERM is not one team's tool. By organisation, the largest group, siglum B, has around 345 users, followed by O, P, A, L, S and K, and about a dozen smaller organisations. By site, Blagnac and Hamburg lead, with users in the UK, Spain, Canada and India too. The values on the organisation chart are read from the usage dashboard, so treat them as approximate. A migration that broke ERM would hit risk reporting across the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migrate at all. In Slate, even a simple action triggers a cascade of widgets, events, actions and variables, so one change can break unrelated features, and every tab switch recalculates large variable trees. On top of that, nothing was documented: 8 exports, about 25 MB of configuration. Let the animation play: we first broke the app into its shell and 7 modules, then had AI extract every feature, 105 in total. The target is Airbus DevX with React and OSDK: modular components that can change safely and navigate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is context. AI only knows what you give it, so we wrote pack-project.ts: one command walks the React project and writes every source file, under its path, into a single dated dump. The AI sees components, hooks, OSDK calls and types together. The Slate side is already one JSON file per module. With both, the AI compares each of the 105 features to the React code. The animation shows each Slate module landing in its React tab. Gaps get fixed and reviewed, and the backend sharing fix is deployed; then we re-pack and re-check until nothing unplanned is left. Features we dropped on purpose, like the heatmap slider and report KPIs, are marked as choices, not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numbers left to right. One PI for the whole migration. 105 features recovered from an app with no documentation, out of 8 Slate exports totalling about 25 MB. pack-project.ts turned 75 React files into one context file. The AI review found and prioritised 31 gaps, 7 of them security or data-integrity issues such as unsanitised rich text and permission checks, all caught in review. The React app adds 11 features the old app did not have, from a searchable dashboard switcher and a web address per tab to a report slideshow; the next slides show them. Security and data-integrity findings caught in review: stored cross-site scripting from unsanitised rich HTML in 5 places; permission checks that matched e-mails by substring instead of exactly; sharing payload arrays misaligned with the wrong fields; settings JSON overwritten whole from a stale copy; reports printing shared risks the legacy app left out; no 100-risk print cap, a legacy cybersecurity limit; and children edits in the risk drawer silently discarded. Documentation went from nothing to 10 documents: 8 architecture and lifecycle diagrams, the feature comparison and the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generic industry-style estimates, not our measured baseline; say so if asked. A manual migration of 105 features typically needs about half a day per feature to reverse-engineer it, two days to rebuild it and half a day to test parity, plus about 25 days to document the app: roughly 340 person-days, or about 17 sprints for our team of 2 developers, more than 4 PIs. We did it in one PI, 4 development sprints, which is about 76% less effort. At $38.50 per developer hour, that is roughly $105,000 of manual effort against about $25,000 actual: around $80,000 saved. Then say where the time went: discovery was the biggest saving, because the AI catalogued 105 features straight from the Slate exports with no documentation to read; gap analysis, because every feature was checked against the packed React code; and documentation, because the diagrams were produced alongside the work instead of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new features is now easy, and that keeps paying back. During the same PI we built 11 features Slate never had: permissions-only edit for locked versions, a web address per tab, a searchable dashboard switcher, a criticality-differs filter, category and impact-category filters, a fourth one-pager layout with custom slots, resizable columns saved per board, report classification and cover toggle, slideshow mode, one-pager selection shortcuts, and showing risks by ID or title. One change added app-wide notifications and automatic list refresh across 11 files. 25 MB of Slate configuration became about 0.8 MB of typed source in 75 files. In Slate, a feature meant wiring widgets, events, variables and functions across 8 exports, with no documentation; in React it is one typed component and one OSDK call, and pack-project.ts gives AI the whole app as context. On recurring cost: using a common rule of thumb that maintenance costs about 20% of build effort a year, a Slate-equivalent app would need about 68 person-days a year, around $21,000 at $38.50 an hour. Assuming modular, typed, documented code halves that, we save around $10,000 a year. Say clearly these are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business speak. These are testimonials sent by ERM stakeholders in September 2026 about the team and the ERM tool. A member of the ERM centre of competence: teamwork with the business and strong IT skills turned an idea into a user-friendly industrial solution, ERM reports are now generated in a much more automated way, and the user interface and performance have significantly improved. An ERM stakeholder: the ERM dashboard is a tremendous addition to the ERM toolset, and more and more users prepare and run their risk and opportunity reviews with it. A Risk and Opportunity Manager in Hamburg: new features made navigation easier and gave a much clearer view of R&amp;O data, and issues were fixed quickly. Make clear these speak about the team and the tool overall.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ties the project to four 2026 objectives; the flow builds one branch at a time. One: Leverage AI to solve business problems. The AI read all 8 Slate exports and the packed React code, recovered 105 features from an undocumented app and found 31 gaps. Two: Deliver on time, on cost, on quality. Two developers delivered it in one PI, about 76% less effort than a generic manual estimate. Three: Ensure our operational performance. ERM is a business system; every one of its 105 features was tracked for parity, and it is rebuilt on standard, maintainable React and OSDK code, ready to replace the legacy Slate configuration. Four: Grow digital acumen and competencies. pack-project.ts and the playbook mean other teams can repeat this, which builds AI-assisted engineering skills across the 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reuse. This was a team effort across business, data and security, backend and frontend; name the teams. The method needs only the legacy export, the new codebase and an AI model, so it carries over to other Slate apps and to other legacy tools. The pieces are ready: pack-project.ts, the comparison document layout and the diagram formats. End with the five-word playbook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9811512" y="182880"/>
            <a:ext cx="2194560" cy="274320"/>
          </a:xfrm>
          <a:prstGeom prst="rect">
            <a:avLst/>
          </a:prstGeom>
          <a:noFill/>
          <a:ln/>
        </p:spPr>
        <p:txBody>
          <a:bodyPr wrap="square" lIns="0" tIns="0" rIns="0" bIns="0" rtlCol="0" anchor="ctr"/>
          <a:lstStyle/>
          <a:p>
            <a:pPr algn="r" indent="0" marL="0">
              <a:buNone/>
            </a:pPr>
            <a:r>
              <a:rPr lang="en-US" sz="1000" dirty="0">
                <a:solidFill>
                  <a:srgbClr val="D2691E"/>
                </a:solidFill>
              </a:rPr>
              <a:t>Airbus Amber</a:t>
            </a:r>
            <a:endParaRPr lang="en-US" sz="1000" dirty="0"/>
          </a:p>
        </p:txBody>
      </p:sp>
      <p:sp>
        <p:nvSpPr>
          <p:cNvPr id="3" name="Text 1"/>
          <p:cNvSpPr/>
          <p:nvPr>
            <p:ph idx="101" type="title" hasCustomPrompt="1"/>
          </p:nvPr>
        </p:nvSpPr>
        <p:spPr>
          <a:xfrm>
            <a:off x="548640" y="502920"/>
            <a:ext cx="11094415"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9811512" y="182880"/>
            <a:ext cx="2194560" cy="274320"/>
          </a:xfrm>
          <a:prstGeom prst="rect">
            <a:avLst/>
          </a:prstGeom>
          <a:noFill/>
          <a:ln/>
        </p:spPr>
        <p:txBody>
          <a:bodyPr wrap="square" lIns="0" tIns="0" rIns="0" bIns="0" rtlCol="0" anchor="ctr"/>
          <a:lstStyle/>
          <a:p>
            <a:pPr algn="r" indent="0" marL="0">
              <a:buNone/>
            </a:pPr>
            <a:r>
              <a:rPr lang="en-US" sz="1000" dirty="0">
                <a:solidFill>
                  <a:srgbClr val="D2691E"/>
                </a:solidFill>
              </a:rPr>
              <a:t>Airbus Amber</a:t>
            </a:r>
            <a:endParaRPr lang="en-US" sz="1000" dirty="0"/>
          </a:p>
        </p:txBody>
      </p:sp>
      <p:sp>
        <p:nvSpPr>
          <p:cNvPr id="3" name="Text 1"/>
          <p:cNvSpPr/>
          <p:nvPr>
            <p:ph idx="101" type="title" hasCustomPrompt="1"/>
          </p:nvPr>
        </p:nvSpPr>
        <p:spPr>
          <a:xfrm>
            <a:off x="548640" y="502920"/>
            <a:ext cx="11094415"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_AL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9811512" y="182880"/>
            <a:ext cx="2194560" cy="274320"/>
          </a:xfrm>
          <a:prstGeom prst="rect">
            <a:avLst/>
          </a:prstGeom>
          <a:noFill/>
          <a:ln/>
        </p:spPr>
        <p:txBody>
          <a:bodyPr wrap="square" lIns="0" tIns="0" rIns="0" bIns="0" rtlCol="0" anchor="ctr"/>
          <a:lstStyle/>
          <a:p>
            <a:pPr algn="r" indent="0" marL="0">
              <a:buNone/>
            </a:pPr>
            <a:r>
              <a:rPr lang="en-US" sz="1000" dirty="0">
                <a:solidFill>
                  <a:srgbClr val="D2691E"/>
                </a:solidFill>
              </a:rPr>
              <a:t>Airbus Amber</a:t>
            </a:r>
            <a:endParaRPr lang="en-US" sz="1000" dirty="0"/>
          </a:p>
        </p:txBody>
      </p:sp>
      <p:sp>
        <p:nvSpPr>
          <p:cNvPr id="3" name="Text 1"/>
          <p:cNvSpPr/>
          <p:nvPr>
            <p:ph idx="101" type="title" hasCustomPrompt="1"/>
          </p:nvPr>
        </p:nvSpPr>
        <p:spPr>
          <a:xfrm>
            <a:off x="548640" y="502920"/>
            <a:ext cx="11094415"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gif"/><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gif"/><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3383280" y="3154680"/>
            <a:ext cx="8229600" cy="320040"/>
          </a:xfrm>
          <a:prstGeom prst="rect">
            <a:avLst/>
          </a:prstGeom>
          <a:noFill/>
          <a:ln/>
        </p:spPr>
        <p:txBody>
          <a:bodyPr wrap="square" lIns="0" tIns="0" rIns="0" bIns="0" rtlCol="0" anchor="t"/>
          <a:lstStyle/>
          <a:p>
            <a:pPr indent="0" marL="0">
              <a:buNone/>
            </a:pPr>
            <a:r>
              <a:rPr lang="en-US" sz="1400" b="1" spc="200" kern="0" dirty="0">
                <a:solidFill>
                  <a:schemeClr val="bg1"/>
                </a:solidFill>
              </a:rPr>
              <a:t>QUARTERLY AWARDS · INNOVATION</a:t>
            </a:r>
            <a:endParaRPr lang="en-US" sz="1400" dirty="0"/>
          </a:p>
        </p:txBody>
      </p:sp>
      <p:sp>
        <p:nvSpPr>
          <p:cNvPr id="3" name="cover-title"/>
          <p:cNvSpPr txBox="1"/>
          <p:nvPr/>
        </p:nvSpPr>
        <p:spPr>
          <a:xfrm>
            <a:off x="3383280" y="3520440"/>
            <a:ext cx="8503920" cy="685800"/>
          </a:xfrm>
          <a:prstGeom prst="rect">
            <a:avLst/>
          </a:prstGeom>
          <a:noFill/>
          <a:ln/>
        </p:spPr>
        <p:txBody>
          <a:bodyPr wrap="square" lIns="0" tIns="0" rIns="0" bIns="0" rtlCol="0" anchor="t"/>
          <a:lstStyle/>
          <a:p>
            <a:pPr indent="0" marL="0">
              <a:buNone/>
            </a:pPr>
            <a:r>
              <a:rPr lang="en-US" sz="3600" b="1" dirty="0">
                <a:solidFill>
                  <a:schemeClr val="bg1"/>
                </a:solidFill>
              </a:rPr>
              <a:t>Enterprise Risk Management (ERM)</a:t>
            </a:r>
            <a:endParaRPr lang="en-US" sz="3600" dirty="0"/>
          </a:p>
        </p:txBody>
      </p:sp>
      <p:sp>
        <p:nvSpPr>
          <p:cNvPr id="4" name="cover-sub"/>
          <p:cNvSpPr txBox="1"/>
          <p:nvPr/>
        </p:nvSpPr>
        <p:spPr>
          <a:xfrm>
            <a:off x="3383280" y="4251960"/>
            <a:ext cx="8503920" cy="457200"/>
          </a:xfrm>
          <a:prstGeom prst="rect">
            <a:avLst/>
          </a:prstGeom>
          <a:noFill/>
          <a:ln/>
        </p:spPr>
        <p:txBody>
          <a:bodyPr wrap="square" lIns="0" tIns="0" rIns="0" bIns="0" rtlCol="0" anchor="t"/>
          <a:lstStyle/>
          <a:p>
            <a:pPr indent="0" marL="0">
              <a:buNone/>
            </a:pPr>
            <a:r>
              <a:rPr lang="en-US" sz="2000" dirty="0">
                <a:solidFill>
                  <a:schemeClr val="bg1"/>
                </a:solidFill>
              </a:rPr>
              <a:t>AI-assisted migration from Slate to Airbus DevX (React + OSDK)</a:t>
            </a:r>
            <a:endParaRPr lang="en-US" sz="2000" dirty="0"/>
          </a:p>
        </p:txBody>
      </p:sp>
      <p:sp>
        <p:nvSpPr>
          <p:cNvPr id="5" name="presenters"/>
          <p:cNvSpPr txBox="1"/>
          <p:nvPr/>
        </p:nvSpPr>
        <p:spPr>
          <a:xfrm>
            <a:off x="3383280" y="5806440"/>
            <a:ext cx="7315200" cy="365760"/>
          </a:xfrm>
          <a:prstGeom prst="rect">
            <a:avLst/>
          </a:prstGeom>
          <a:noFill/>
          <a:ln/>
        </p:spPr>
        <p:txBody>
          <a:bodyPr wrap="square" lIns="0" tIns="0" rIns="0" bIns="0" rtlCol="0" anchor="t"/>
          <a:lstStyle/>
          <a:p>
            <a:pPr indent="0" marL="0">
              <a:buNone/>
            </a:pPr>
            <a:r>
              <a:rPr lang="en-US" sz="1400" dirty="0">
                <a:solidFill>
                  <a:schemeClr val="bg1"/>
                </a:solidFill>
              </a:rPr>
              <a:t>[Team name] · [Presenter names] · [Date]</a:t>
            </a:r>
            <a:endParaRPr lang="en-US" sz="1400" dirty="0"/>
          </a:p>
        </p:txBody>
      </p:sp>
      <p:sp>
        <p:nvSpPr>
          <p:cNvPr id="7"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What ERM does and how it works</a:t>
            </a:r>
            <a:endParaRPr lang="en-US" sz="3600" dirty="0"/>
          </a:p>
        </p:txBody>
      </p:sp>
      <p:sp>
        <p:nvSpPr>
          <p:cNvPr id="3" name="erm-definition"/>
          <p:cNvSpPr txBox="1"/>
          <p:nvPr/>
        </p:nvSpPr>
        <p:spPr>
          <a:xfrm>
            <a:off x="548640" y="1188720"/>
            <a:ext cx="11094415" cy="548640"/>
          </a:xfrm>
          <a:prstGeom prst="rect">
            <a:avLst/>
          </a:prstGeom>
          <a:noFill/>
          <a:ln/>
        </p:spPr>
        <p:txBody>
          <a:bodyPr wrap="square" lIns="0" tIns="0" rIns="0" bIns="0" rtlCol="0" anchor="t"/>
          <a:lstStyle/>
          <a:p>
            <a:pPr indent="0" marL="0">
              <a:buNone/>
            </a:pPr>
            <a:r>
              <a:rPr lang="en-US" sz="1400" dirty="0">
                <a:solidFill>
                  <a:schemeClr val="tx2"/>
                </a:solidFill>
              </a:rPr>
              <a:t>ERM helps stakeholders understand risks, decision bases and required actions. The ERM dashboard builds ERM reports from Active Risk Manager (ARM) data in Palantir Foundry Skywise.</a:t>
            </a:r>
            <a:endParaRPr lang="en-US" sz="1400" dirty="0"/>
          </a:p>
        </p:txBody>
      </p:sp>
      <p:sp>
        <p:nvSpPr>
          <p:cNvPr id="4" name="cap-0-card"/>
          <p:cNvSpPr/>
          <p:nvPr/>
        </p:nvSpPr>
        <p:spPr>
          <a:xfrm>
            <a:off x="548640" y="1920240"/>
            <a:ext cx="5394960" cy="786384"/>
          </a:xfrm>
          <a:prstGeom prst="roundRect">
            <a:avLst>
              <a:gd name="adj" fmla="val 13953"/>
            </a:avLst>
          </a:prstGeom>
          <a:solidFill>
            <a:schemeClr val="bg2"/>
          </a:solidFill>
          <a:ln/>
        </p:spPr>
      </p:sp>
      <p:sp>
        <p:nvSpPr>
          <p:cNvPr id="5" name="cap-0-text"/>
          <p:cNvSpPr txBox="1"/>
          <p:nvPr/>
        </p:nvSpPr>
        <p:spPr>
          <a:xfrm>
            <a:off x="777240" y="2011680"/>
            <a:ext cx="4937760" cy="603504"/>
          </a:xfrm>
          <a:prstGeom prst="rect">
            <a:avLst/>
          </a:prstGeom>
          <a:noFill/>
          <a:ln/>
        </p:spPr>
        <p:txBody>
          <a:bodyPr wrap="square" lIns="0" tIns="0" rIns="0" bIns="0" rtlCol="0" anchor="ctr"/>
          <a:lstStyle/>
          <a:p>
            <a:pPr indent="0" marL="0">
              <a:buNone/>
            </a:pPr>
            <a:r>
              <a:rPr lang="en-US" sz="1500" b="1" dirty="0">
                <a:solidFill>
                  <a:schemeClr val="tx1"/>
                </a:solidFill>
              </a:rPr>
              <a:t>Single place for ARM data</a:t>
            </a:r>
            <a:endParaRPr lang="en-US" sz="1500" dirty="0"/>
          </a:p>
          <a:p>
            <a:pPr indent="0" marL="0">
              <a:buNone/>
            </a:pPr>
            <a:r>
              <a:rPr lang="en-US" sz="1300" dirty="0">
                <a:solidFill>
                  <a:schemeClr val="tx2"/>
                </a:solidFill>
              </a:rPr>
              <a:t>Live view of all ARM risks and opportunities, with role-based access</a:t>
            </a:r>
            <a:endParaRPr lang="en-US" sz="1500" dirty="0"/>
          </a:p>
        </p:txBody>
      </p:sp>
      <p:sp>
        <p:nvSpPr>
          <p:cNvPr id="6" name="cap-1-card"/>
          <p:cNvSpPr/>
          <p:nvPr/>
        </p:nvSpPr>
        <p:spPr>
          <a:xfrm>
            <a:off x="548640" y="2816352"/>
            <a:ext cx="5394960" cy="786384"/>
          </a:xfrm>
          <a:prstGeom prst="roundRect">
            <a:avLst>
              <a:gd name="adj" fmla="val 13953"/>
            </a:avLst>
          </a:prstGeom>
          <a:solidFill>
            <a:schemeClr val="bg2"/>
          </a:solidFill>
          <a:ln/>
        </p:spPr>
      </p:sp>
      <p:sp>
        <p:nvSpPr>
          <p:cNvPr id="7" name="cap-1-text"/>
          <p:cNvSpPr txBox="1"/>
          <p:nvPr/>
        </p:nvSpPr>
        <p:spPr>
          <a:xfrm>
            <a:off x="777240" y="2907792"/>
            <a:ext cx="4937760" cy="603504"/>
          </a:xfrm>
          <a:prstGeom prst="rect">
            <a:avLst/>
          </a:prstGeom>
          <a:noFill/>
          <a:ln/>
        </p:spPr>
        <p:txBody>
          <a:bodyPr wrap="square" lIns="0" tIns="0" rIns="0" bIns="0" rtlCol="0" anchor="ctr"/>
          <a:lstStyle/>
          <a:p>
            <a:pPr indent="0" marL="0">
              <a:buNone/>
            </a:pPr>
            <a:r>
              <a:rPr lang="en-US" sz="1500" b="1" dirty="0">
                <a:solidFill>
                  <a:schemeClr val="tx1"/>
                </a:solidFill>
              </a:rPr>
              <a:t>Custom dashboards</a:t>
            </a:r>
            <a:endParaRPr lang="en-US" sz="1500" dirty="0"/>
          </a:p>
          <a:p>
            <a:pPr indent="0" marL="0">
              <a:buNone/>
            </a:pPr>
            <a:r>
              <a:rPr lang="en-US" sz="1300" dirty="0">
                <a:solidFill>
                  <a:schemeClr val="tx2"/>
                </a:solidFill>
              </a:rPr>
              <a:t>Group the risks and opportunities you need into dedicated dashboards</a:t>
            </a:r>
            <a:endParaRPr lang="en-US" sz="1500" dirty="0"/>
          </a:p>
        </p:txBody>
      </p:sp>
      <p:sp>
        <p:nvSpPr>
          <p:cNvPr id="8" name="cap-2-card"/>
          <p:cNvSpPr/>
          <p:nvPr/>
        </p:nvSpPr>
        <p:spPr>
          <a:xfrm>
            <a:off x="548640" y="3712464"/>
            <a:ext cx="5394960" cy="786384"/>
          </a:xfrm>
          <a:prstGeom prst="roundRect">
            <a:avLst>
              <a:gd name="adj" fmla="val 13953"/>
            </a:avLst>
          </a:prstGeom>
          <a:solidFill>
            <a:schemeClr val="bg2"/>
          </a:solidFill>
          <a:ln/>
        </p:spPr>
      </p:sp>
      <p:sp>
        <p:nvSpPr>
          <p:cNvPr id="9" name="cap-2-text"/>
          <p:cNvSpPr txBox="1"/>
          <p:nvPr/>
        </p:nvSpPr>
        <p:spPr>
          <a:xfrm>
            <a:off x="777240" y="3803904"/>
            <a:ext cx="4937760" cy="603504"/>
          </a:xfrm>
          <a:prstGeom prst="rect">
            <a:avLst/>
          </a:prstGeom>
          <a:noFill/>
          <a:ln/>
        </p:spPr>
        <p:txBody>
          <a:bodyPr wrap="square" lIns="0" tIns="0" rIns="0" bIns="0" rtlCol="0" anchor="ctr"/>
          <a:lstStyle/>
          <a:p>
            <a:pPr indent="0" marL="0">
              <a:buNone/>
            </a:pPr>
            <a:r>
              <a:rPr lang="en-US" sz="1500" b="1" dirty="0">
                <a:solidFill>
                  <a:schemeClr val="tx1"/>
                </a:solidFill>
              </a:rPr>
              <a:t>Live editing and trend following</a:t>
            </a:r>
            <a:endParaRPr lang="en-US" sz="1500" dirty="0"/>
          </a:p>
          <a:p>
            <a:pPr indent="0" marL="0">
              <a:buNone/>
            </a:pPr>
            <a:r>
              <a:rPr lang="en-US" sz="1300" dirty="0">
                <a:solidFill>
                  <a:schemeClr val="tx2"/>
                </a:solidFill>
              </a:rPr>
              <a:t>Risk managers update key parameters and follow status over time</a:t>
            </a:r>
            <a:endParaRPr lang="en-US" sz="1500" dirty="0"/>
          </a:p>
        </p:txBody>
      </p:sp>
      <p:sp>
        <p:nvSpPr>
          <p:cNvPr id="10" name="cap-3-card"/>
          <p:cNvSpPr/>
          <p:nvPr/>
        </p:nvSpPr>
        <p:spPr>
          <a:xfrm>
            <a:off x="548640" y="4608576"/>
            <a:ext cx="5394960" cy="786384"/>
          </a:xfrm>
          <a:prstGeom prst="roundRect">
            <a:avLst>
              <a:gd name="adj" fmla="val 13953"/>
            </a:avLst>
          </a:prstGeom>
          <a:solidFill>
            <a:schemeClr val="bg2"/>
          </a:solidFill>
          <a:ln/>
        </p:spPr>
      </p:sp>
      <p:sp>
        <p:nvSpPr>
          <p:cNvPr id="11" name="cap-3-text"/>
          <p:cNvSpPr txBox="1"/>
          <p:nvPr/>
        </p:nvSpPr>
        <p:spPr>
          <a:xfrm>
            <a:off x="777240" y="4700016"/>
            <a:ext cx="4937760" cy="603504"/>
          </a:xfrm>
          <a:prstGeom prst="rect">
            <a:avLst/>
          </a:prstGeom>
          <a:noFill/>
          <a:ln/>
        </p:spPr>
        <p:txBody>
          <a:bodyPr wrap="square" lIns="0" tIns="0" rIns="0" bIns="0" rtlCol="0" anchor="ctr"/>
          <a:lstStyle/>
          <a:p>
            <a:pPr indent="0" marL="0">
              <a:buNone/>
            </a:pPr>
            <a:r>
              <a:rPr lang="en-US" sz="1500" b="1" dirty="0">
                <a:solidFill>
                  <a:schemeClr val="tx1"/>
                </a:solidFill>
              </a:rPr>
              <a:t>Structured release workflow</a:t>
            </a:r>
            <a:endParaRPr lang="en-US" sz="1500" dirty="0"/>
          </a:p>
          <a:p>
            <a:pPr indent="0" marL="0">
              <a:buNone/>
            </a:pPr>
            <a:r>
              <a:rPr lang="en-US" sz="1300" dirty="0">
                <a:solidFill>
                  <a:schemeClr val="tx2"/>
                </a:solidFill>
              </a:rPr>
              <a:t>Formal, governed quarterly review and release</a:t>
            </a:r>
            <a:endParaRPr lang="en-US" sz="1500" dirty="0"/>
          </a:p>
        </p:txBody>
      </p:sp>
      <p:sp>
        <p:nvSpPr>
          <p:cNvPr id="12" name="cap-4-card"/>
          <p:cNvSpPr/>
          <p:nvPr/>
        </p:nvSpPr>
        <p:spPr>
          <a:xfrm>
            <a:off x="548640" y="5504688"/>
            <a:ext cx="5394960" cy="786384"/>
          </a:xfrm>
          <a:prstGeom prst="roundRect">
            <a:avLst>
              <a:gd name="adj" fmla="val 13953"/>
            </a:avLst>
          </a:prstGeom>
          <a:solidFill>
            <a:schemeClr val="bg2"/>
          </a:solidFill>
          <a:ln/>
        </p:spPr>
      </p:sp>
      <p:sp>
        <p:nvSpPr>
          <p:cNvPr id="13" name="cap-4-text"/>
          <p:cNvSpPr txBox="1"/>
          <p:nvPr/>
        </p:nvSpPr>
        <p:spPr>
          <a:xfrm>
            <a:off x="777240" y="5596128"/>
            <a:ext cx="4937760" cy="603504"/>
          </a:xfrm>
          <a:prstGeom prst="rect">
            <a:avLst/>
          </a:prstGeom>
          <a:noFill/>
          <a:ln/>
        </p:spPr>
        <p:txBody>
          <a:bodyPr wrap="square" lIns="0" tIns="0" rIns="0" bIns="0" rtlCol="0" anchor="ctr"/>
          <a:lstStyle/>
          <a:p>
            <a:pPr indent="0" marL="0">
              <a:buNone/>
            </a:pPr>
            <a:r>
              <a:rPr lang="en-US" sz="1500" b="1" dirty="0">
                <a:solidFill>
                  <a:schemeClr val="tx1"/>
                </a:solidFill>
              </a:rPr>
              <a:t>Cross-team collaboration</a:t>
            </a:r>
            <a:endParaRPr lang="en-US" sz="1500" dirty="0"/>
          </a:p>
          <a:p>
            <a:pPr indent="0" marL="0">
              <a:buNone/>
            </a:pPr>
            <a:r>
              <a:rPr lang="en-US" sz="1300" dirty="0">
                <a:solidFill>
                  <a:schemeClr val="tx2"/>
                </a:solidFill>
              </a:rPr>
              <a:t>Share and co-manage individual risks across divisions</a:t>
            </a:r>
            <a:endParaRPr lang="en-US" sz="1500" dirty="0"/>
          </a:p>
        </p:txBody>
      </p:sp>
      <p:sp>
        <p:nvSpPr>
          <p:cNvPr id="14" name="flow-title"/>
          <p:cNvSpPr txBox="1"/>
          <p:nvPr/>
        </p:nvSpPr>
        <p:spPr>
          <a:xfrm>
            <a:off x="6400800" y="1920240"/>
            <a:ext cx="5239512" cy="274320"/>
          </a:xfrm>
          <a:prstGeom prst="rect">
            <a:avLst/>
          </a:prstGeom>
          <a:noFill/>
          <a:ln/>
        </p:spPr>
        <p:txBody>
          <a:bodyPr wrap="square" lIns="0" tIns="0" rIns="0" bIns="0" rtlCol="0" anchor="t"/>
          <a:lstStyle/>
          <a:p>
            <a:pPr indent="0" marL="0">
              <a:buNone/>
            </a:pPr>
            <a:r>
              <a:rPr lang="en-US" sz="1100" b="1" spc="100" kern="0" dirty="0">
                <a:solidFill>
                  <a:schemeClr val="tx2"/>
                </a:solidFill>
              </a:rPr>
              <a:t>HOW DATA BECOMES A REPORT</a:t>
            </a:r>
            <a:endParaRPr lang="en-US" sz="1100" dirty="0"/>
          </a:p>
        </p:txBody>
      </p:sp>
      <p:sp>
        <p:nvSpPr>
          <p:cNvPr id="15" name="ro-0"/>
          <p:cNvSpPr/>
          <p:nvPr/>
        </p:nvSpPr>
        <p:spPr>
          <a:xfrm>
            <a:off x="6400800" y="2377440"/>
            <a:ext cx="1325880" cy="420624"/>
          </a:xfrm>
          <a:prstGeom prst="roundRect">
            <a:avLst>
              <a:gd name="adj" fmla="val 26087"/>
            </a:avLst>
          </a:prstGeom>
          <a:solidFill>
            <a:schemeClr val="accent1"/>
          </a:solidFill>
          <a:ln/>
        </p:spPr>
      </p:sp>
      <p:sp>
        <p:nvSpPr>
          <p:cNvPr id="16" name="ro-0-text"/>
          <p:cNvSpPr txBox="1"/>
          <p:nvPr/>
        </p:nvSpPr>
        <p:spPr>
          <a:xfrm>
            <a:off x="6400800" y="2377440"/>
            <a:ext cx="1325880" cy="420624"/>
          </a:xfrm>
          <a:prstGeom prst="rect">
            <a:avLst/>
          </a:prstGeom>
          <a:noFill/>
          <a:ln/>
        </p:spPr>
        <p:txBody>
          <a:bodyPr wrap="square" lIns="0" tIns="0" rIns="0" bIns="0" rtlCol="0" anchor="ctr"/>
          <a:lstStyle/>
          <a:p>
            <a:pPr algn="ctr" indent="0" marL="0">
              <a:buNone/>
            </a:pPr>
            <a:r>
              <a:rPr lang="en-US" sz="1200" b="1" dirty="0">
                <a:solidFill>
                  <a:schemeClr val="bg1"/>
                </a:solidFill>
              </a:rPr>
              <a:t>Risk</a:t>
            </a:r>
            <a:endParaRPr lang="en-US" sz="1200" dirty="0"/>
          </a:p>
        </p:txBody>
      </p:sp>
      <p:sp>
        <p:nvSpPr>
          <p:cNvPr id="17" name="ro-0-line"/>
          <p:cNvSpPr/>
          <p:nvPr/>
        </p:nvSpPr>
        <p:spPr>
          <a:xfrm>
            <a:off x="7772400" y="2587752"/>
            <a:ext cx="685800" cy="0"/>
          </a:xfrm>
          <a:prstGeom prst="line">
            <a:avLst/>
          </a:prstGeom>
          <a:noFill/>
          <a:ln w="15875">
            <a:solidFill>
              <a:schemeClr val="tx2"/>
            </a:solidFill>
            <a:prstDash val="solid"/>
            <a:tailEnd type="triangle"/>
          </a:ln>
        </p:spPr>
      </p:sp>
      <p:sp>
        <p:nvSpPr>
          <p:cNvPr id="18" name="ro-1"/>
          <p:cNvSpPr/>
          <p:nvPr/>
        </p:nvSpPr>
        <p:spPr>
          <a:xfrm>
            <a:off x="6400800" y="2944368"/>
            <a:ext cx="1325880" cy="420624"/>
          </a:xfrm>
          <a:prstGeom prst="roundRect">
            <a:avLst>
              <a:gd name="adj" fmla="val 26087"/>
            </a:avLst>
          </a:prstGeom>
          <a:solidFill>
            <a:schemeClr val="accent2"/>
          </a:solidFill>
          <a:ln/>
        </p:spPr>
      </p:sp>
      <p:sp>
        <p:nvSpPr>
          <p:cNvPr id="19" name="ro-1-text"/>
          <p:cNvSpPr txBox="1"/>
          <p:nvPr/>
        </p:nvSpPr>
        <p:spPr>
          <a:xfrm>
            <a:off x="6400800" y="2944368"/>
            <a:ext cx="1325880" cy="420624"/>
          </a:xfrm>
          <a:prstGeom prst="rect">
            <a:avLst/>
          </a:prstGeom>
          <a:noFill/>
          <a:ln/>
        </p:spPr>
        <p:txBody>
          <a:bodyPr wrap="square" lIns="0" tIns="0" rIns="0" bIns="0" rtlCol="0" anchor="ctr"/>
          <a:lstStyle/>
          <a:p>
            <a:pPr algn="ctr" indent="0" marL="0">
              <a:buNone/>
            </a:pPr>
            <a:r>
              <a:rPr lang="en-US" sz="1200" b="1" dirty="0">
                <a:solidFill>
                  <a:schemeClr val="bg1"/>
                </a:solidFill>
              </a:rPr>
              <a:t>Opportunity</a:t>
            </a:r>
            <a:endParaRPr lang="en-US" sz="1200" dirty="0"/>
          </a:p>
        </p:txBody>
      </p:sp>
      <p:sp>
        <p:nvSpPr>
          <p:cNvPr id="20" name="ro-1-line"/>
          <p:cNvSpPr/>
          <p:nvPr/>
        </p:nvSpPr>
        <p:spPr>
          <a:xfrm>
            <a:off x="7772400" y="3154680"/>
            <a:ext cx="685800" cy="0"/>
          </a:xfrm>
          <a:prstGeom prst="line">
            <a:avLst/>
          </a:prstGeom>
          <a:noFill/>
          <a:ln w="15875">
            <a:solidFill>
              <a:schemeClr val="tx2"/>
            </a:solidFill>
            <a:prstDash val="solid"/>
            <a:tailEnd type="triangle"/>
          </a:ln>
        </p:spPr>
      </p:sp>
      <p:sp>
        <p:nvSpPr>
          <p:cNvPr id="21" name="ro-2"/>
          <p:cNvSpPr/>
          <p:nvPr/>
        </p:nvSpPr>
        <p:spPr>
          <a:xfrm>
            <a:off x="6400800" y="3511296"/>
            <a:ext cx="1325880" cy="420624"/>
          </a:xfrm>
          <a:prstGeom prst="roundRect">
            <a:avLst>
              <a:gd name="adj" fmla="val 26087"/>
            </a:avLst>
          </a:prstGeom>
          <a:solidFill>
            <a:schemeClr val="accent1"/>
          </a:solidFill>
          <a:ln/>
        </p:spPr>
      </p:sp>
      <p:sp>
        <p:nvSpPr>
          <p:cNvPr id="22" name="ro-2-text"/>
          <p:cNvSpPr txBox="1"/>
          <p:nvPr/>
        </p:nvSpPr>
        <p:spPr>
          <a:xfrm>
            <a:off x="6400800" y="3511296"/>
            <a:ext cx="1325880" cy="420624"/>
          </a:xfrm>
          <a:prstGeom prst="rect">
            <a:avLst/>
          </a:prstGeom>
          <a:noFill/>
          <a:ln/>
        </p:spPr>
        <p:txBody>
          <a:bodyPr wrap="square" lIns="0" tIns="0" rIns="0" bIns="0" rtlCol="0" anchor="ctr"/>
          <a:lstStyle/>
          <a:p>
            <a:pPr algn="ctr" indent="0" marL="0">
              <a:buNone/>
            </a:pPr>
            <a:r>
              <a:rPr lang="en-US" sz="1200" b="1" dirty="0">
                <a:solidFill>
                  <a:schemeClr val="bg1"/>
                </a:solidFill>
              </a:rPr>
              <a:t>Risk</a:t>
            </a:r>
            <a:endParaRPr lang="en-US" sz="1200" dirty="0"/>
          </a:p>
        </p:txBody>
      </p:sp>
      <p:sp>
        <p:nvSpPr>
          <p:cNvPr id="23" name="ro-2-line"/>
          <p:cNvSpPr/>
          <p:nvPr/>
        </p:nvSpPr>
        <p:spPr>
          <a:xfrm>
            <a:off x="7772400" y="3721608"/>
            <a:ext cx="685800" cy="0"/>
          </a:xfrm>
          <a:prstGeom prst="line">
            <a:avLst/>
          </a:prstGeom>
          <a:noFill/>
          <a:ln w="15875">
            <a:solidFill>
              <a:schemeClr val="tx2"/>
            </a:solidFill>
            <a:prstDash val="solid"/>
            <a:tailEnd type="triangle"/>
          </a:ln>
        </p:spPr>
      </p:sp>
      <p:sp>
        <p:nvSpPr>
          <p:cNvPr id="24" name="ro-3"/>
          <p:cNvSpPr/>
          <p:nvPr/>
        </p:nvSpPr>
        <p:spPr>
          <a:xfrm>
            <a:off x="6400800" y="4078224"/>
            <a:ext cx="1325880" cy="420624"/>
          </a:xfrm>
          <a:prstGeom prst="roundRect">
            <a:avLst>
              <a:gd name="adj" fmla="val 26087"/>
            </a:avLst>
          </a:prstGeom>
          <a:solidFill>
            <a:schemeClr val="accent2"/>
          </a:solidFill>
          <a:ln/>
        </p:spPr>
      </p:sp>
      <p:sp>
        <p:nvSpPr>
          <p:cNvPr id="25" name="ro-3-text"/>
          <p:cNvSpPr txBox="1"/>
          <p:nvPr/>
        </p:nvSpPr>
        <p:spPr>
          <a:xfrm>
            <a:off x="6400800" y="4078224"/>
            <a:ext cx="1325880" cy="420624"/>
          </a:xfrm>
          <a:prstGeom prst="rect">
            <a:avLst/>
          </a:prstGeom>
          <a:noFill/>
          <a:ln/>
        </p:spPr>
        <p:txBody>
          <a:bodyPr wrap="square" lIns="0" tIns="0" rIns="0" bIns="0" rtlCol="0" anchor="ctr"/>
          <a:lstStyle/>
          <a:p>
            <a:pPr algn="ctr" indent="0" marL="0">
              <a:buNone/>
            </a:pPr>
            <a:r>
              <a:rPr lang="en-US" sz="1200" b="1" dirty="0">
                <a:solidFill>
                  <a:schemeClr val="bg1"/>
                </a:solidFill>
              </a:rPr>
              <a:t>Opportunity</a:t>
            </a:r>
            <a:endParaRPr lang="en-US" sz="1200" dirty="0"/>
          </a:p>
        </p:txBody>
      </p:sp>
      <p:sp>
        <p:nvSpPr>
          <p:cNvPr id="26" name="ro-3-line"/>
          <p:cNvSpPr/>
          <p:nvPr/>
        </p:nvSpPr>
        <p:spPr>
          <a:xfrm>
            <a:off x="7772400" y="4288536"/>
            <a:ext cx="685800" cy="0"/>
          </a:xfrm>
          <a:prstGeom prst="line">
            <a:avLst/>
          </a:prstGeom>
          <a:noFill/>
          <a:ln w="15875">
            <a:solidFill>
              <a:schemeClr val="tx2"/>
            </a:solidFill>
            <a:prstDash val="solid"/>
            <a:tailEnd type="triangle"/>
          </a:ln>
        </p:spPr>
      </p:sp>
      <p:sp>
        <p:nvSpPr>
          <p:cNvPr id="27" name="ro-caption"/>
          <p:cNvSpPr txBox="1"/>
          <p:nvPr/>
        </p:nvSpPr>
        <p:spPr>
          <a:xfrm>
            <a:off x="6400800" y="4617720"/>
            <a:ext cx="1325880" cy="274320"/>
          </a:xfrm>
          <a:prstGeom prst="rect">
            <a:avLst/>
          </a:prstGeom>
          <a:noFill/>
          <a:ln/>
        </p:spPr>
        <p:txBody>
          <a:bodyPr wrap="square" lIns="0" tIns="0" rIns="0" bIns="0" rtlCol="0" anchor="t"/>
          <a:lstStyle/>
          <a:p>
            <a:pPr algn="ctr" indent="0" marL="0">
              <a:buNone/>
            </a:pPr>
            <a:r>
              <a:rPr lang="en-US" sz="1100" dirty="0">
                <a:solidFill>
                  <a:schemeClr val="tx2"/>
                </a:solidFill>
              </a:rPr>
              <a:t>from ARM</a:t>
            </a:r>
            <a:endParaRPr lang="en-US" sz="1100" dirty="0"/>
          </a:p>
        </p:txBody>
      </p:sp>
      <p:sp>
        <p:nvSpPr>
          <p:cNvPr id="28" name="dash-box"/>
          <p:cNvSpPr/>
          <p:nvPr/>
        </p:nvSpPr>
        <p:spPr>
          <a:xfrm>
            <a:off x="8503920" y="2377440"/>
            <a:ext cx="1463040" cy="2121408"/>
          </a:xfrm>
          <a:prstGeom prst="roundRect">
            <a:avLst>
              <a:gd name="adj" fmla="val 7500"/>
            </a:avLst>
          </a:prstGeom>
          <a:solidFill>
            <a:schemeClr val="tx1"/>
          </a:solidFill>
          <a:ln/>
        </p:spPr>
      </p:sp>
      <p:sp>
        <p:nvSpPr>
          <p:cNvPr id="29" name="dash-text"/>
          <p:cNvSpPr txBox="1"/>
          <p:nvPr/>
        </p:nvSpPr>
        <p:spPr>
          <a:xfrm>
            <a:off x="8503920" y="2377440"/>
            <a:ext cx="1463040" cy="2121408"/>
          </a:xfrm>
          <a:prstGeom prst="rect">
            <a:avLst/>
          </a:prstGeom>
          <a:noFill/>
          <a:ln/>
        </p:spPr>
        <p:txBody>
          <a:bodyPr wrap="square" lIns="0" tIns="0" rIns="0" bIns="0" rtlCol="0" anchor="ctr"/>
          <a:lstStyle/>
          <a:p>
            <a:pPr algn="ctr" indent="0" marL="0">
              <a:buNone/>
            </a:pPr>
            <a:r>
              <a:rPr lang="en-US" sz="1500" b="1" dirty="0">
                <a:solidFill>
                  <a:schemeClr val="bg1"/>
                </a:solidFill>
              </a:rPr>
              <a:t>Dashboard</a:t>
            </a:r>
            <a:endParaRPr lang="en-US" sz="1500" dirty="0"/>
          </a:p>
        </p:txBody>
      </p:sp>
      <p:sp>
        <p:nvSpPr>
          <p:cNvPr id="30" name="dash-line-1"/>
          <p:cNvSpPr/>
          <p:nvPr/>
        </p:nvSpPr>
        <p:spPr>
          <a:xfrm>
            <a:off x="10012680" y="2834640"/>
            <a:ext cx="365760" cy="0"/>
          </a:xfrm>
          <a:prstGeom prst="line">
            <a:avLst/>
          </a:prstGeom>
          <a:noFill/>
          <a:ln w="15875">
            <a:solidFill>
              <a:schemeClr val="tx2"/>
            </a:solidFill>
            <a:prstDash val="solid"/>
            <a:tailEnd type="triangle"/>
          </a:ln>
        </p:spPr>
      </p:sp>
      <p:sp>
        <p:nvSpPr>
          <p:cNvPr id="31" name="dash-line-2"/>
          <p:cNvSpPr/>
          <p:nvPr/>
        </p:nvSpPr>
        <p:spPr>
          <a:xfrm>
            <a:off x="10012680" y="4023360"/>
            <a:ext cx="365760" cy="0"/>
          </a:xfrm>
          <a:prstGeom prst="line">
            <a:avLst/>
          </a:prstGeom>
          <a:noFill/>
          <a:ln w="15875">
            <a:solidFill>
              <a:schemeClr val="tx2"/>
            </a:solidFill>
            <a:prstDash val="solid"/>
            <a:tailEnd type="triangle"/>
          </a:ln>
        </p:spPr>
      </p:sp>
      <p:sp>
        <p:nvSpPr>
          <p:cNvPr id="32" name="out-reports"/>
          <p:cNvSpPr/>
          <p:nvPr/>
        </p:nvSpPr>
        <p:spPr>
          <a:xfrm>
            <a:off x="10424160" y="2514600"/>
            <a:ext cx="1216152" cy="640080"/>
          </a:xfrm>
          <a:prstGeom prst="roundRect">
            <a:avLst>
              <a:gd name="adj" fmla="val 17143"/>
            </a:avLst>
          </a:prstGeom>
          <a:solidFill>
            <a:schemeClr val="accent4"/>
          </a:solidFill>
          <a:ln/>
        </p:spPr>
      </p:sp>
      <p:sp>
        <p:nvSpPr>
          <p:cNvPr id="33" name="out-reports-text"/>
          <p:cNvSpPr txBox="1"/>
          <p:nvPr/>
        </p:nvSpPr>
        <p:spPr>
          <a:xfrm>
            <a:off x="10424160" y="2514600"/>
            <a:ext cx="1216152" cy="640080"/>
          </a:xfrm>
          <a:prstGeom prst="rect">
            <a:avLst/>
          </a:prstGeom>
          <a:noFill/>
          <a:ln/>
        </p:spPr>
        <p:txBody>
          <a:bodyPr wrap="square" lIns="0" tIns="0" rIns="0" bIns="0" rtlCol="0" anchor="ctr"/>
          <a:lstStyle/>
          <a:p>
            <a:pPr algn="ctr" indent="0" marL="0">
              <a:buNone/>
            </a:pPr>
            <a:r>
              <a:rPr lang="en-US" sz="1300" b="1" dirty="0">
                <a:solidFill>
                  <a:schemeClr val="bg1"/>
                </a:solidFill>
              </a:rPr>
              <a:t>Reports</a:t>
            </a:r>
            <a:endParaRPr lang="en-US" sz="1300" dirty="0"/>
          </a:p>
        </p:txBody>
      </p:sp>
      <p:sp>
        <p:nvSpPr>
          <p:cNvPr id="34" name="out-status"/>
          <p:cNvSpPr/>
          <p:nvPr/>
        </p:nvSpPr>
        <p:spPr>
          <a:xfrm>
            <a:off x="10424160" y="3474720"/>
            <a:ext cx="1216152" cy="1097280"/>
          </a:xfrm>
          <a:prstGeom prst="roundRect">
            <a:avLst>
              <a:gd name="adj" fmla="val 10000"/>
            </a:avLst>
          </a:prstGeom>
          <a:solidFill>
            <a:schemeClr val="bg2"/>
          </a:solidFill>
          <a:ln/>
        </p:spPr>
      </p:sp>
      <p:sp>
        <p:nvSpPr>
          <p:cNvPr id="35" name="out-status-text"/>
          <p:cNvSpPr txBox="1"/>
          <p:nvPr/>
        </p:nvSpPr>
        <p:spPr>
          <a:xfrm>
            <a:off x="10469880" y="3474720"/>
            <a:ext cx="1124712" cy="1097280"/>
          </a:xfrm>
          <a:prstGeom prst="rect">
            <a:avLst/>
          </a:prstGeom>
          <a:noFill/>
          <a:ln/>
        </p:spPr>
        <p:txBody>
          <a:bodyPr wrap="square" lIns="0" tIns="0" rIns="0" bIns="0" rtlCol="0" anchor="ctr"/>
          <a:lstStyle/>
          <a:p>
            <a:pPr algn="ctr" indent="0" marL="0">
              <a:buNone/>
            </a:pPr>
            <a:r>
              <a:rPr lang="en-US" sz="1200" dirty="0">
                <a:solidFill>
                  <a:schemeClr val="tx1"/>
                </a:solidFill>
              </a:rPr>
              <a:t>Criticality, key messages, trend, status</a:t>
            </a:r>
            <a:endParaRPr lang="en-US" sz="1200" dirty="0"/>
          </a:p>
        </p:txBody>
      </p:sp>
      <p:sp>
        <p:nvSpPr>
          <p:cNvPr id="36" name="path-title"/>
          <p:cNvSpPr txBox="1"/>
          <p:nvPr/>
        </p:nvSpPr>
        <p:spPr>
          <a:xfrm>
            <a:off x="6400800" y="5074920"/>
            <a:ext cx="5239512" cy="274320"/>
          </a:xfrm>
          <a:prstGeom prst="rect">
            <a:avLst/>
          </a:prstGeom>
          <a:noFill/>
          <a:ln/>
        </p:spPr>
        <p:txBody>
          <a:bodyPr wrap="square" lIns="0" tIns="0" rIns="0" bIns="0" rtlCol="0" anchor="t"/>
          <a:lstStyle/>
          <a:p>
            <a:pPr indent="0" marL="0">
              <a:buNone/>
            </a:pPr>
            <a:r>
              <a:rPr lang="en-US" sz="1100" b="1" spc="100" kern="0" dirty="0">
                <a:solidFill>
                  <a:schemeClr val="tx2"/>
                </a:solidFill>
              </a:rPr>
              <a:t>DATA PATH</a:t>
            </a:r>
            <a:endParaRPr lang="en-US" sz="1100" dirty="0"/>
          </a:p>
        </p:txBody>
      </p:sp>
      <p:sp>
        <p:nvSpPr>
          <p:cNvPr id="37" name="path-0"/>
          <p:cNvSpPr/>
          <p:nvPr/>
        </p:nvSpPr>
        <p:spPr>
          <a:xfrm>
            <a:off x="6400800" y="5440680"/>
            <a:ext cx="1097280" cy="548640"/>
          </a:xfrm>
          <a:prstGeom prst="roundRect">
            <a:avLst>
              <a:gd name="adj" fmla="val 20000"/>
            </a:avLst>
          </a:prstGeom>
          <a:solidFill>
            <a:schemeClr val="bg2"/>
          </a:solidFill>
          <a:ln/>
        </p:spPr>
      </p:sp>
      <p:sp>
        <p:nvSpPr>
          <p:cNvPr id="38" name="path-0-text"/>
          <p:cNvSpPr txBox="1"/>
          <p:nvPr/>
        </p:nvSpPr>
        <p:spPr>
          <a:xfrm>
            <a:off x="6400800" y="5440680"/>
            <a:ext cx="1097280" cy="548640"/>
          </a:xfrm>
          <a:prstGeom prst="rect">
            <a:avLst/>
          </a:prstGeom>
          <a:noFill/>
          <a:ln/>
        </p:spPr>
        <p:txBody>
          <a:bodyPr wrap="square" lIns="0" tIns="0" rIns="0" bIns="0" rtlCol="0" anchor="ctr"/>
          <a:lstStyle/>
          <a:p>
            <a:pPr algn="ctr" indent="0" marL="0">
              <a:buNone/>
            </a:pPr>
            <a:r>
              <a:rPr lang="en-US" sz="1200" dirty="0">
                <a:solidFill>
                  <a:schemeClr val="tx1"/>
                </a:solidFill>
              </a:rPr>
              <a:t>ARM data</a:t>
            </a:r>
            <a:endParaRPr lang="en-US" sz="1200" dirty="0"/>
          </a:p>
        </p:txBody>
      </p:sp>
      <p:sp>
        <p:nvSpPr>
          <p:cNvPr id="39" name="path-0-line"/>
          <p:cNvSpPr/>
          <p:nvPr/>
        </p:nvSpPr>
        <p:spPr>
          <a:xfrm>
            <a:off x="7516368" y="5715000"/>
            <a:ext cx="237744" cy="0"/>
          </a:xfrm>
          <a:prstGeom prst="line">
            <a:avLst/>
          </a:prstGeom>
          <a:noFill/>
          <a:ln w="15875">
            <a:solidFill>
              <a:schemeClr val="tx2"/>
            </a:solidFill>
            <a:prstDash val="solid"/>
            <a:tailEnd type="triangle"/>
          </a:ln>
        </p:spPr>
      </p:sp>
      <p:sp>
        <p:nvSpPr>
          <p:cNvPr id="40" name="path-1"/>
          <p:cNvSpPr/>
          <p:nvPr/>
        </p:nvSpPr>
        <p:spPr>
          <a:xfrm>
            <a:off x="7772400" y="5440680"/>
            <a:ext cx="1097280" cy="548640"/>
          </a:xfrm>
          <a:prstGeom prst="roundRect">
            <a:avLst>
              <a:gd name="adj" fmla="val 20000"/>
            </a:avLst>
          </a:prstGeom>
          <a:solidFill>
            <a:schemeClr val="bg2"/>
          </a:solidFill>
          <a:ln/>
        </p:spPr>
      </p:sp>
      <p:sp>
        <p:nvSpPr>
          <p:cNvPr id="41" name="path-1-text"/>
          <p:cNvSpPr txBox="1"/>
          <p:nvPr/>
        </p:nvSpPr>
        <p:spPr>
          <a:xfrm>
            <a:off x="7772400" y="5440680"/>
            <a:ext cx="1097280" cy="548640"/>
          </a:xfrm>
          <a:prstGeom prst="rect">
            <a:avLst/>
          </a:prstGeom>
          <a:noFill/>
          <a:ln/>
        </p:spPr>
        <p:txBody>
          <a:bodyPr wrap="square" lIns="0" tIns="0" rIns="0" bIns="0" rtlCol="0" anchor="ctr"/>
          <a:lstStyle/>
          <a:p>
            <a:pPr algn="ctr" indent="0" marL="0">
              <a:buNone/>
            </a:pPr>
            <a:r>
              <a:rPr lang="en-US" sz="1200" dirty="0">
                <a:solidFill>
                  <a:schemeClr val="tx1"/>
                </a:solidFill>
              </a:rPr>
              <a:t>Restricted view</a:t>
            </a:r>
            <a:endParaRPr lang="en-US" sz="1200" dirty="0"/>
          </a:p>
        </p:txBody>
      </p:sp>
      <p:sp>
        <p:nvSpPr>
          <p:cNvPr id="42" name="path-1-line"/>
          <p:cNvSpPr/>
          <p:nvPr/>
        </p:nvSpPr>
        <p:spPr>
          <a:xfrm>
            <a:off x="8887968" y="5715000"/>
            <a:ext cx="237744" cy="0"/>
          </a:xfrm>
          <a:prstGeom prst="line">
            <a:avLst/>
          </a:prstGeom>
          <a:noFill/>
          <a:ln w="15875">
            <a:solidFill>
              <a:schemeClr val="tx2"/>
            </a:solidFill>
            <a:prstDash val="solid"/>
            <a:tailEnd type="triangle"/>
          </a:ln>
        </p:spPr>
      </p:sp>
      <p:sp>
        <p:nvSpPr>
          <p:cNvPr id="43" name="path-2"/>
          <p:cNvSpPr/>
          <p:nvPr/>
        </p:nvSpPr>
        <p:spPr>
          <a:xfrm>
            <a:off x="9144000" y="5440680"/>
            <a:ext cx="1097280" cy="548640"/>
          </a:xfrm>
          <a:prstGeom prst="roundRect">
            <a:avLst>
              <a:gd name="adj" fmla="val 20000"/>
            </a:avLst>
          </a:prstGeom>
          <a:solidFill>
            <a:schemeClr val="bg2"/>
          </a:solidFill>
          <a:ln/>
        </p:spPr>
      </p:sp>
      <p:sp>
        <p:nvSpPr>
          <p:cNvPr id="44" name="path-2-text"/>
          <p:cNvSpPr txBox="1"/>
          <p:nvPr/>
        </p:nvSpPr>
        <p:spPr>
          <a:xfrm>
            <a:off x="9144000" y="5440680"/>
            <a:ext cx="1097280" cy="548640"/>
          </a:xfrm>
          <a:prstGeom prst="rect">
            <a:avLst/>
          </a:prstGeom>
          <a:noFill/>
          <a:ln/>
        </p:spPr>
        <p:txBody>
          <a:bodyPr wrap="square" lIns="0" tIns="0" rIns="0" bIns="0" rtlCol="0" anchor="ctr"/>
          <a:lstStyle/>
          <a:p>
            <a:pPr algn="ctr" indent="0" marL="0">
              <a:buNone/>
            </a:pPr>
            <a:r>
              <a:rPr lang="en-US" sz="1200" dirty="0">
                <a:solidFill>
                  <a:schemeClr val="tx1"/>
                </a:solidFill>
              </a:rPr>
              <a:t>Ontology</a:t>
            </a:r>
            <a:endParaRPr lang="en-US" sz="1200" dirty="0"/>
          </a:p>
        </p:txBody>
      </p:sp>
      <p:sp>
        <p:nvSpPr>
          <p:cNvPr id="45" name="path-2-line"/>
          <p:cNvSpPr/>
          <p:nvPr/>
        </p:nvSpPr>
        <p:spPr>
          <a:xfrm>
            <a:off x="10259568" y="5715000"/>
            <a:ext cx="237744" cy="0"/>
          </a:xfrm>
          <a:prstGeom prst="line">
            <a:avLst/>
          </a:prstGeom>
          <a:noFill/>
          <a:ln w="15875">
            <a:solidFill>
              <a:schemeClr val="tx2"/>
            </a:solidFill>
            <a:prstDash val="solid"/>
            <a:tailEnd type="triangle"/>
          </a:ln>
        </p:spPr>
      </p:sp>
      <p:sp>
        <p:nvSpPr>
          <p:cNvPr id="46" name="path-3"/>
          <p:cNvSpPr/>
          <p:nvPr/>
        </p:nvSpPr>
        <p:spPr>
          <a:xfrm>
            <a:off x="10515600" y="5440680"/>
            <a:ext cx="1097280" cy="548640"/>
          </a:xfrm>
          <a:prstGeom prst="roundRect">
            <a:avLst>
              <a:gd name="adj" fmla="val 20000"/>
            </a:avLst>
          </a:prstGeom>
          <a:solidFill>
            <a:schemeClr val="accent2"/>
          </a:solidFill>
          <a:ln/>
        </p:spPr>
      </p:sp>
      <p:sp>
        <p:nvSpPr>
          <p:cNvPr id="47" name="path-3-text"/>
          <p:cNvSpPr txBox="1"/>
          <p:nvPr/>
        </p:nvSpPr>
        <p:spPr>
          <a:xfrm>
            <a:off x="10515600" y="5440680"/>
            <a:ext cx="1097280" cy="548640"/>
          </a:xfrm>
          <a:prstGeom prst="rect">
            <a:avLst/>
          </a:prstGeom>
          <a:noFill/>
          <a:ln/>
        </p:spPr>
        <p:txBody>
          <a:bodyPr wrap="square" lIns="0" tIns="0" rIns="0" bIns="0" rtlCol="0" anchor="ctr"/>
          <a:lstStyle/>
          <a:p>
            <a:pPr algn="ctr" indent="0" marL="0">
              <a:buNone/>
            </a:pPr>
            <a:r>
              <a:rPr lang="en-US" sz="1200" b="1" dirty="0">
                <a:solidFill>
                  <a:schemeClr val="bg1"/>
                </a:solidFill>
              </a:rPr>
              <a:t>ERM app</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7" fill="hold">
                      <p:stCondLst>
                        <p:cond delay="indefinite"/>
                        <p:cond evt="onBegin" delay="0">
                          <p:tn val="2"/>
                        </p:cond>
                      </p:stCondLst>
                      <p:childTnLst>
                        <p:par>
                          <p:cTn id="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childTnLst>
                          </p:cTn>
                        </p:par>
                        <p:par>
                          <p:cTn id="16" fill="hold">
                            <p:stCondLst>
                              <p:cond delay="450"/>
                            </p:stCondLst>
                            <p:childTnLst>
                              <p:par>
                                <p:cTn id="10" presetID="10" presetClass="entr" presetSubtype="0"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childTnLst>
                                </p:cTn>
                              </p:par>
                            </p:childTnLst>
                          </p:cTn>
                        </p:par>
                        <p:par>
                          <p:cTn id="23" fill="hold">
                            <p:stCondLst>
                              <p:cond delay="9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childTnLst>
                          </p:cTn>
                        </p:par>
                        <p:par>
                          <p:cTn id="30" fill="hold">
                            <p:stCondLst>
                              <p:cond delay="1350"/>
                            </p:stCondLst>
                            <p:childTnLst>
                              <p:par>
                                <p:cTn id="24" presetID="10" presetClass="entr" presetSubtype="0"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childTnLst>
                          </p:cTn>
                        </p:par>
                        <p:par>
                          <p:cTn id="37" fill="hold">
                            <p:stCondLst>
                              <p:cond delay="1800"/>
                            </p:stCondLst>
                            <p:childTnLst>
                              <p:par>
                                <p:cTn id="31" presetID="10" presetClass="entr" presetSubtype="0"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5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childTnLst>
                          </p:cTn>
                        </p:par>
                        <p:par>
                          <p:cTn id="80" fill="hold">
                            <p:stCondLst>
                              <p:cond delay="2250"/>
                            </p:stCondLst>
                            <p:childTnLst>
                              <p:par>
                                <p:cTn id="38" presetID="10"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fade">
                                      <p:cBhvr>
                                        <p:cTn id="79" dur="450"/>
                                        <p:tgtEl>
                                          <p:spTgt spid="14"/>
                                        </p:tgtEl>
                                      </p:cBhvr>
                                    </p:animEffect>
                                  </p:childTnLst>
                                </p:cTn>
                              </p:par>
                            </p:childTnLst>
                          </p:cTn>
                        </p:par>
                        <p:par>
                          <p:cTn id="93" fill="hold">
                            <p:stCondLst>
                              <p:cond delay="2700"/>
                            </p:stCondLst>
                            <p:childTnLst>
                              <p:par>
                                <p:cTn id="81" presetID="10" presetClass="entr" presetSubtype="0" fill="hold" grpId="0" nodeType="after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450"/>
                                        <p:tgtEl>
                                          <p:spTgt spid="2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450"/>
                                        <p:tgtEl>
                                          <p:spTgt spid="2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450"/>
                                        <p:tgtEl>
                                          <p:spTgt spid="30"/>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450"/>
                                        <p:tgtEl>
                                          <p:spTgt spid="31"/>
                                        </p:tgtEl>
                                      </p:cBhvr>
                                    </p:animEffect>
                                  </p:childTnLst>
                                </p:cTn>
                              </p:par>
                            </p:childTnLst>
                          </p:cTn>
                        </p:par>
                        <p:par>
                          <p:cTn id="106" fill="hold">
                            <p:stCondLst>
                              <p:cond delay="3150"/>
                            </p:stCondLst>
                            <p:childTnLst>
                              <p:par>
                                <p:cTn id="94" presetID="10" presetClass="entr" presetSubtype="0" fill="hold" grpId="0" nodeType="after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450"/>
                                        <p:tgtEl>
                                          <p:spTgt spid="32"/>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450"/>
                                        <p:tgtEl>
                                          <p:spTgt spid="3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4"/>
                                        </p:tgtEl>
                                        <p:attrNameLst>
                                          <p:attrName>style.visibility</p:attrName>
                                        </p:attrNameLst>
                                      </p:cBhvr>
                                      <p:to>
                                        <p:strVal val="visible"/>
                                      </p:to>
                                    </p:set>
                                    <p:animEffect transition="in" filter="fade">
                                      <p:cBhvr>
                                        <p:cTn id="102" dur="450"/>
                                        <p:tgtEl>
                                          <p:spTgt spid="34"/>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5" dur="450"/>
                                        <p:tgtEl>
                                          <p:spTgt spid="35"/>
                                        </p:tgtEl>
                                      </p:cBhvr>
                                    </p:animEffect>
                                  </p:childTnLst>
                                </p:cTn>
                              </p:par>
                            </p:childTnLst>
                          </p:cTn>
                        </p:par>
                        <p:par>
                          <p:cTn id="119" fill="hold">
                            <p:stCondLst>
                              <p:cond delay="3600"/>
                            </p:stCondLst>
                            <p:childTnLst>
                              <p:par>
                                <p:cTn id="107" presetID="10" presetClass="entr" presetSubtype="0" fill="hold" grpId="0" nodeType="after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450"/>
                                        <p:tgtEl>
                                          <p:spTgt spid="3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450"/>
                                        <p:tgtEl>
                                          <p:spTgt spid="3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450"/>
                                        <p:tgtEl>
                                          <p:spTgt spid="38"/>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450"/>
                                        <p:tgtEl>
                                          <p:spTgt spid="39"/>
                                        </p:tgtEl>
                                      </p:cBhvr>
                                    </p:animEffect>
                                  </p:childTnLst>
                                </p:cTn>
                              </p:par>
                            </p:childTnLst>
                          </p:cTn>
                        </p:par>
                        <p:par>
                          <p:cTn id="129" fill="hold">
                            <p:stCondLst>
                              <p:cond delay="4050"/>
                            </p:stCondLst>
                            <p:childTnLst>
                              <p:par>
                                <p:cTn id="120" presetID="10" presetClass="entr" presetSubtype="0" fill="hold" grpId="0" nodeType="afterEffect">
                                  <p:stCondLst>
                                    <p:cond delay="0"/>
                                  </p:stCondLst>
                                  <p:childTnLst>
                                    <p:set>
                                      <p:cBhvr>
                                        <p:cTn id="121" dur="1" fill="hold">
                                          <p:stCondLst>
                                            <p:cond delay="0"/>
                                          </p:stCondLst>
                                        </p:cTn>
                                        <p:tgtEl>
                                          <p:spTgt spid="40"/>
                                        </p:tgtEl>
                                        <p:attrNameLst>
                                          <p:attrName>style.visibility</p:attrName>
                                        </p:attrNameLst>
                                      </p:cBhvr>
                                      <p:to>
                                        <p:strVal val="visible"/>
                                      </p:to>
                                    </p:set>
                                    <p:animEffect transition="in" filter="fade">
                                      <p:cBhvr>
                                        <p:cTn id="122" dur="450"/>
                                        <p:tgtEl>
                                          <p:spTgt spid="40"/>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1"/>
                                        </p:tgtEl>
                                        <p:attrNameLst>
                                          <p:attrName>style.visibility</p:attrName>
                                        </p:attrNameLst>
                                      </p:cBhvr>
                                      <p:to>
                                        <p:strVal val="visible"/>
                                      </p:to>
                                    </p:set>
                                    <p:animEffect transition="in" filter="fade">
                                      <p:cBhvr>
                                        <p:cTn id="125" dur="450"/>
                                        <p:tgtEl>
                                          <p:spTgt spid="41"/>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2"/>
                                        </p:tgtEl>
                                        <p:attrNameLst>
                                          <p:attrName>style.visibility</p:attrName>
                                        </p:attrNameLst>
                                      </p:cBhvr>
                                      <p:to>
                                        <p:strVal val="visible"/>
                                      </p:to>
                                    </p:set>
                                    <p:animEffect transition="in" filter="fade">
                                      <p:cBhvr>
                                        <p:cTn id="128" dur="450"/>
                                        <p:tgtEl>
                                          <p:spTgt spid="42"/>
                                        </p:tgtEl>
                                      </p:cBhvr>
                                    </p:animEffect>
                                  </p:childTnLst>
                                </p:cTn>
                              </p:par>
                            </p:childTnLst>
                          </p:cTn>
                        </p:par>
                        <p:par>
                          <p:cTn id="139" fill="hold">
                            <p:stCondLst>
                              <p:cond delay="4500"/>
                            </p:stCondLst>
                            <p:childTnLst>
                              <p:par>
                                <p:cTn id="130" presetID="10" presetClass="entr" presetSubtype="0" fill="hold" grpId="0" nodeType="afterEffect">
                                  <p:stCondLst>
                                    <p:cond delay="0"/>
                                  </p:stCondLst>
                                  <p:childTnLst>
                                    <p:set>
                                      <p:cBhvr>
                                        <p:cTn id="131" dur="1" fill="hold">
                                          <p:stCondLst>
                                            <p:cond delay="0"/>
                                          </p:stCondLst>
                                        </p:cTn>
                                        <p:tgtEl>
                                          <p:spTgt spid="43"/>
                                        </p:tgtEl>
                                        <p:attrNameLst>
                                          <p:attrName>style.visibility</p:attrName>
                                        </p:attrNameLst>
                                      </p:cBhvr>
                                      <p:to>
                                        <p:strVal val="visible"/>
                                      </p:to>
                                    </p:set>
                                    <p:animEffect transition="in" filter="fade">
                                      <p:cBhvr>
                                        <p:cTn id="132" dur="450"/>
                                        <p:tgtEl>
                                          <p:spTgt spid="43"/>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4"/>
                                        </p:tgtEl>
                                        <p:attrNameLst>
                                          <p:attrName>style.visibility</p:attrName>
                                        </p:attrNameLst>
                                      </p:cBhvr>
                                      <p:to>
                                        <p:strVal val="visible"/>
                                      </p:to>
                                    </p:set>
                                    <p:animEffect transition="in" filter="fade">
                                      <p:cBhvr>
                                        <p:cTn id="135" dur="450"/>
                                        <p:tgtEl>
                                          <p:spTgt spid="44"/>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5"/>
                                        </p:tgtEl>
                                        <p:attrNameLst>
                                          <p:attrName>style.visibility</p:attrName>
                                        </p:attrNameLst>
                                      </p:cBhvr>
                                      <p:to>
                                        <p:strVal val="visible"/>
                                      </p:to>
                                    </p:set>
                                    <p:animEffect transition="in" filter="fade">
                                      <p:cBhvr>
                                        <p:cTn id="138" dur="450"/>
                                        <p:tgtEl>
                                          <p:spTgt spid="45"/>
                                        </p:tgtEl>
                                      </p:cBhvr>
                                    </p:animEffect>
                                  </p:childTnLst>
                                </p:cTn>
                              </p:par>
                            </p:childTnLst>
                          </p:cTn>
                        </p:par>
                        <p:par>
                          <p:cTn id="146" fill="hold">
                            <p:stCondLst>
                              <p:cond delay="4950"/>
                            </p:stCondLst>
                            <p:childTnLst>
                              <p:par>
                                <p:cTn id="140" presetID="10" presetClass="entr" presetSubtype="0" fill="hold" grpId="0" nodeType="afterEffect">
                                  <p:stCondLst>
                                    <p:cond delay="0"/>
                                  </p:stCondLst>
                                  <p:childTnLst>
                                    <p:set>
                                      <p:cBhvr>
                                        <p:cTn id="141" dur="1" fill="hold">
                                          <p:stCondLst>
                                            <p:cond delay="0"/>
                                          </p:stCondLst>
                                        </p:cTn>
                                        <p:tgtEl>
                                          <p:spTgt spid="46"/>
                                        </p:tgtEl>
                                        <p:attrNameLst>
                                          <p:attrName>style.visibility</p:attrName>
                                        </p:attrNameLst>
                                      </p:cBhvr>
                                      <p:to>
                                        <p:strVal val="visible"/>
                                      </p:to>
                                    </p:set>
                                    <p:animEffect transition="in" filter="fade">
                                      <p:cBhvr>
                                        <p:cTn id="142" dur="450"/>
                                        <p:tgtEl>
                                          <p:spTgt spid="46"/>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47"/>
                                        </p:tgtEl>
                                        <p:attrNameLst>
                                          <p:attrName>style.visibility</p:attrName>
                                        </p:attrNameLst>
                                      </p:cBhvr>
                                      <p:to>
                                        <p:strVal val="visible"/>
                                      </p:to>
                                    </p:set>
                                    <p:animEffect transition="in" filter="fade">
                                      <p:cBhvr>
                                        <p:cTn id="145" dur="4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5" grpId="0" animBg="1"/>
      <p:bldP spid="16" grpId="0" animBg="1"/>
      <p:bldP spid="18" grpId="0" animBg="1"/>
      <p:bldP spid="19" grpId="0" animBg="1"/>
      <p:bldP spid="21" grpId="0" animBg="1"/>
      <p:bldP spid="22" grpId="0" animBg="1"/>
      <p:bldP spid="24" grpId="0" animBg="1"/>
      <p:bldP spid="25" grpId="0" animBg="1"/>
      <p:bldP spid="27" grpId="0" animBg="1"/>
      <p:bldP spid="14" grpId="0" animBg="1"/>
      <p:bldP spid="28" grpId="0" animBg="1"/>
      <p:bldP spid="29" grpId="0" animBg="1"/>
      <p:bldP spid="32" grpId="0" animBg="1"/>
      <p:bldP spid="33" grpId="0" animBg="1"/>
      <p:bldP spid="34" grpId="0" animBg="1"/>
      <p:bldP spid="35" grpId="0" animBg="1"/>
      <p:bldP spid="36" grpId="0" animBg="1"/>
      <p:bldP spid="37" grpId="0" animBg="1"/>
      <p:bldP spid="38" grpId="0" animBg="1"/>
      <p:bldP spid="40" grpId="0" animBg="1"/>
      <p:bldP spid="41" grpId="0" animBg="1"/>
      <p:bldP spid="43" grpId="0" animBg="1"/>
      <p:bldP spid="44" grpId="0" animBg="1"/>
      <p:bldP spid="46" grpId="0" animBg="1"/>
      <p:bldP spid="4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ERM adoption and user metrics</a:t>
            </a:r>
            <a:endParaRPr lang="en-US" sz="3600" dirty="0"/>
          </a:p>
        </p:txBody>
      </p:sp>
      <p:sp>
        <p:nvSpPr>
          <p:cNvPr id="3" name="adopt-sub"/>
          <p:cNvSpPr txBox="1"/>
          <p:nvPr/>
        </p:nvSpPr>
        <p:spPr>
          <a:xfrm>
            <a:off x="548640" y="1115568"/>
            <a:ext cx="11094415" cy="320040"/>
          </a:xfrm>
          <a:prstGeom prst="rect">
            <a:avLst/>
          </a:prstGeom>
          <a:noFill/>
          <a:ln/>
        </p:spPr>
        <p:txBody>
          <a:bodyPr wrap="square" lIns="0" tIns="0" rIns="0" bIns="0" rtlCol="0" anchor="t"/>
          <a:lstStyle/>
          <a:p>
            <a:pPr indent="0" marL="0">
              <a:buNone/>
            </a:pPr>
            <a:r>
              <a:rPr lang="en-US" sz="1400" dirty="0">
                <a:solidFill>
                  <a:schemeClr val="tx2"/>
                </a:solidFill>
              </a:rPr>
              <a:t>A migration that broke a feature would disrupt risk reporting for hundreds of risk managers in 6 countries</a:t>
            </a:r>
            <a:endParaRPr lang="en-US" sz="1400" dirty="0"/>
          </a:p>
        </p:txBody>
      </p:sp>
      <p:sp>
        <p:nvSpPr>
          <p:cNvPr id="4" name="adopt-0-card"/>
          <p:cNvSpPr/>
          <p:nvPr/>
        </p:nvSpPr>
        <p:spPr>
          <a:xfrm>
            <a:off x="548640" y="1554480"/>
            <a:ext cx="2567864" cy="1417320"/>
          </a:xfrm>
          <a:prstGeom prst="roundRect">
            <a:avLst>
              <a:gd name="adj" fmla="val 7742"/>
            </a:avLst>
          </a:prstGeom>
          <a:solidFill>
            <a:schemeClr val="tx1"/>
          </a:solidFill>
          <a:ln/>
        </p:spPr>
      </p:sp>
      <p:sp>
        <p:nvSpPr>
          <p:cNvPr id="5" name="adopt-0-label"/>
          <p:cNvSpPr txBox="1"/>
          <p:nvPr/>
        </p:nvSpPr>
        <p:spPr>
          <a:xfrm>
            <a:off x="749808" y="1664208"/>
            <a:ext cx="2165528" cy="256032"/>
          </a:xfrm>
          <a:prstGeom prst="rect">
            <a:avLst/>
          </a:prstGeom>
          <a:noFill/>
          <a:ln/>
        </p:spPr>
        <p:txBody>
          <a:bodyPr wrap="square" lIns="0" tIns="0" rIns="0" bIns="0" rtlCol="0" anchor="t"/>
          <a:lstStyle/>
          <a:p>
            <a:pPr indent="0" marL="0">
              <a:buNone/>
            </a:pPr>
            <a:r>
              <a:rPr lang="en-US" sz="1000" b="1" spc="100" kern="0" dirty="0">
                <a:solidFill>
                  <a:schemeClr val="accent5"/>
                </a:solidFill>
              </a:rPr>
              <a:t>LIFETIME UNIQUE USERS</a:t>
            </a:r>
            <a:endParaRPr lang="en-US" sz="1000" dirty="0"/>
          </a:p>
        </p:txBody>
      </p:sp>
      <p:sp>
        <p:nvSpPr>
          <p:cNvPr id="6" name="adopt-0-value"/>
          <p:cNvSpPr txBox="1"/>
          <p:nvPr/>
        </p:nvSpPr>
        <p:spPr>
          <a:xfrm>
            <a:off x="749808" y="1920240"/>
            <a:ext cx="2165528" cy="594360"/>
          </a:xfrm>
          <a:prstGeom prst="rect">
            <a:avLst/>
          </a:prstGeom>
          <a:noFill/>
          <a:ln/>
        </p:spPr>
        <p:txBody>
          <a:bodyPr wrap="square" lIns="0" tIns="0" rIns="0" bIns="0" rtlCol="0" anchor="t"/>
          <a:lstStyle/>
          <a:p>
            <a:pPr indent="0" marL="0">
              <a:buNone/>
            </a:pPr>
            <a:r>
              <a:rPr lang="en-US" sz="3400" b="1" dirty="0">
                <a:solidFill>
                  <a:schemeClr val="bg1"/>
                </a:solidFill>
              </a:rPr>
              <a:t>892</a:t>
            </a:r>
            <a:endParaRPr lang="en-US" sz="3400" dirty="0"/>
          </a:p>
        </p:txBody>
      </p:sp>
      <p:sp>
        <p:nvSpPr>
          <p:cNvPr id="7" name="adopt-0-desc"/>
          <p:cNvSpPr txBox="1"/>
          <p:nvPr/>
        </p:nvSpPr>
        <p:spPr>
          <a:xfrm>
            <a:off x="749808" y="2514600"/>
            <a:ext cx="2165528" cy="365760"/>
          </a:xfrm>
          <a:prstGeom prst="rect">
            <a:avLst/>
          </a:prstGeom>
          <a:noFill/>
          <a:ln/>
        </p:spPr>
        <p:txBody>
          <a:bodyPr wrap="square" lIns="0" tIns="0" rIns="0" bIns="0" rtlCol="0" anchor="t"/>
          <a:lstStyle/>
          <a:p>
            <a:pPr indent="0" marL="0">
              <a:buNone/>
            </a:pPr>
            <a:r>
              <a:rPr lang="en-US" sz="1200" dirty="0">
                <a:solidFill>
                  <a:schemeClr val="accent5"/>
                </a:solidFill>
              </a:rPr>
              <a:t>Across engineering, programmes and operations</a:t>
            </a:r>
            <a:endParaRPr lang="en-US" sz="1200" dirty="0"/>
          </a:p>
        </p:txBody>
      </p:sp>
      <p:sp>
        <p:nvSpPr>
          <p:cNvPr id="8" name="adopt-1-card"/>
          <p:cNvSpPr/>
          <p:nvPr/>
        </p:nvSpPr>
        <p:spPr>
          <a:xfrm>
            <a:off x="3390824" y="1554480"/>
            <a:ext cx="2567864" cy="1417320"/>
          </a:xfrm>
          <a:prstGeom prst="roundRect">
            <a:avLst>
              <a:gd name="adj" fmla="val 7742"/>
            </a:avLst>
          </a:prstGeom>
          <a:solidFill>
            <a:schemeClr val="bg1"/>
          </a:solidFill>
          <a:ln/>
        </p:spPr>
      </p:sp>
      <p:sp>
        <p:nvSpPr>
          <p:cNvPr id="9" name="adopt-1-label"/>
          <p:cNvSpPr txBox="1"/>
          <p:nvPr/>
        </p:nvSpPr>
        <p:spPr>
          <a:xfrm>
            <a:off x="3591992" y="1664208"/>
            <a:ext cx="2165528" cy="256032"/>
          </a:xfrm>
          <a:prstGeom prst="rect">
            <a:avLst/>
          </a:prstGeom>
          <a:noFill/>
          <a:ln/>
        </p:spPr>
        <p:txBody>
          <a:bodyPr wrap="square" lIns="0" tIns="0" rIns="0" bIns="0" rtlCol="0" anchor="t"/>
          <a:lstStyle/>
          <a:p>
            <a:pPr indent="0" marL="0">
              <a:buNone/>
            </a:pPr>
            <a:r>
              <a:rPr lang="en-US" sz="1000" b="1" spc="100" kern="0" dirty="0">
                <a:solidFill>
                  <a:schemeClr val="tx2"/>
                </a:solidFill>
              </a:rPr>
              <a:t>MONTHLY ACTIVE PEAK</a:t>
            </a:r>
            <a:endParaRPr lang="en-US" sz="1000" dirty="0"/>
          </a:p>
        </p:txBody>
      </p:sp>
      <p:sp>
        <p:nvSpPr>
          <p:cNvPr id="10" name="adopt-1-value"/>
          <p:cNvSpPr txBox="1"/>
          <p:nvPr/>
        </p:nvSpPr>
        <p:spPr>
          <a:xfrm>
            <a:off x="3591992" y="1920240"/>
            <a:ext cx="2165528" cy="594360"/>
          </a:xfrm>
          <a:prstGeom prst="rect">
            <a:avLst/>
          </a:prstGeom>
          <a:noFill/>
          <a:ln/>
        </p:spPr>
        <p:txBody>
          <a:bodyPr wrap="square" lIns="0" tIns="0" rIns="0" bIns="0" rtlCol="0" anchor="t"/>
          <a:lstStyle/>
          <a:p>
            <a:pPr indent="0" marL="0">
              <a:buNone/>
            </a:pPr>
            <a:r>
              <a:rPr lang="en-US" sz="3400" b="1" dirty="0">
                <a:solidFill>
                  <a:schemeClr val="tx1"/>
                </a:solidFill>
              </a:rPr>
              <a:t>320+</a:t>
            </a:r>
            <a:endParaRPr lang="en-US" sz="3400" dirty="0"/>
          </a:p>
        </p:txBody>
      </p:sp>
      <p:sp>
        <p:nvSpPr>
          <p:cNvPr id="11" name="adopt-1-desc"/>
          <p:cNvSpPr txBox="1"/>
          <p:nvPr/>
        </p:nvSpPr>
        <p:spPr>
          <a:xfrm>
            <a:off x="3591992" y="2514600"/>
            <a:ext cx="2165528" cy="365760"/>
          </a:xfrm>
          <a:prstGeom prst="rect">
            <a:avLst/>
          </a:prstGeom>
          <a:noFill/>
          <a:ln/>
        </p:spPr>
        <p:txBody>
          <a:bodyPr wrap="square" lIns="0" tIns="0" rIns="0" bIns="0" rtlCol="0" anchor="t"/>
          <a:lstStyle/>
          <a:p>
            <a:pPr indent="0" marL="0">
              <a:buNone/>
            </a:pPr>
            <a:r>
              <a:rPr lang="en-US" sz="1200" dirty="0">
                <a:solidFill>
                  <a:schemeClr val="tx2"/>
                </a:solidFill>
              </a:rPr>
              <a:t>Active risk managers per reporting month</a:t>
            </a:r>
            <a:endParaRPr lang="en-US" sz="1200" dirty="0"/>
          </a:p>
        </p:txBody>
      </p:sp>
      <p:sp>
        <p:nvSpPr>
          <p:cNvPr id="12" name="adopt-2-card"/>
          <p:cNvSpPr/>
          <p:nvPr/>
        </p:nvSpPr>
        <p:spPr>
          <a:xfrm>
            <a:off x="6233008" y="1554480"/>
            <a:ext cx="2567864" cy="1417320"/>
          </a:xfrm>
          <a:prstGeom prst="roundRect">
            <a:avLst>
              <a:gd name="adj" fmla="val 7742"/>
            </a:avLst>
          </a:prstGeom>
          <a:solidFill>
            <a:schemeClr val="bg1"/>
          </a:solidFill>
          <a:ln/>
        </p:spPr>
      </p:sp>
      <p:sp>
        <p:nvSpPr>
          <p:cNvPr id="13" name="adopt-2-label"/>
          <p:cNvSpPr txBox="1"/>
          <p:nvPr/>
        </p:nvSpPr>
        <p:spPr>
          <a:xfrm>
            <a:off x="6434176" y="1664208"/>
            <a:ext cx="2165528" cy="256032"/>
          </a:xfrm>
          <a:prstGeom prst="rect">
            <a:avLst/>
          </a:prstGeom>
          <a:noFill/>
          <a:ln/>
        </p:spPr>
        <p:txBody>
          <a:bodyPr wrap="square" lIns="0" tIns="0" rIns="0" bIns="0" rtlCol="0" anchor="t"/>
          <a:lstStyle/>
          <a:p>
            <a:pPr indent="0" marL="0">
              <a:buNone/>
            </a:pPr>
            <a:r>
              <a:rPr lang="en-US" sz="1000" b="1" spc="100" kern="0" dirty="0">
                <a:solidFill>
                  <a:schemeClr val="tx2"/>
                </a:solidFill>
              </a:rPr>
              <a:t>DASHBOARDS CREATED</a:t>
            </a:r>
            <a:endParaRPr lang="en-US" sz="1000" dirty="0"/>
          </a:p>
        </p:txBody>
      </p:sp>
      <p:sp>
        <p:nvSpPr>
          <p:cNvPr id="14" name="adopt-2-value"/>
          <p:cNvSpPr txBox="1"/>
          <p:nvPr/>
        </p:nvSpPr>
        <p:spPr>
          <a:xfrm>
            <a:off x="6434176" y="1920240"/>
            <a:ext cx="2165528" cy="594360"/>
          </a:xfrm>
          <a:prstGeom prst="rect">
            <a:avLst/>
          </a:prstGeom>
          <a:noFill/>
          <a:ln/>
        </p:spPr>
        <p:txBody>
          <a:bodyPr wrap="square" lIns="0" tIns="0" rIns="0" bIns="0" rtlCol="0" anchor="t"/>
          <a:lstStyle/>
          <a:p>
            <a:pPr indent="0" marL="0">
              <a:buNone/>
            </a:pPr>
            <a:r>
              <a:rPr lang="en-US" sz="3400" b="1" dirty="0">
                <a:solidFill>
                  <a:schemeClr val="tx1"/>
                </a:solidFill>
              </a:rPr>
              <a:t>1,600+</a:t>
            </a:r>
            <a:endParaRPr lang="en-US" sz="3400" dirty="0"/>
          </a:p>
        </p:txBody>
      </p:sp>
      <p:sp>
        <p:nvSpPr>
          <p:cNvPr id="15" name="adopt-2-desc"/>
          <p:cNvSpPr txBox="1"/>
          <p:nvPr/>
        </p:nvSpPr>
        <p:spPr>
          <a:xfrm>
            <a:off x="6434176" y="2514600"/>
            <a:ext cx="2165528" cy="365760"/>
          </a:xfrm>
          <a:prstGeom prst="rect">
            <a:avLst/>
          </a:prstGeom>
          <a:noFill/>
          <a:ln/>
        </p:spPr>
        <p:txBody>
          <a:bodyPr wrap="square" lIns="0" tIns="0" rIns="0" bIns="0" rtlCol="0" anchor="t"/>
          <a:lstStyle/>
          <a:p>
            <a:pPr indent="0" marL="0">
              <a:buNone/>
            </a:pPr>
            <a:r>
              <a:rPr lang="en-US" sz="1200" dirty="0">
                <a:solidFill>
                  <a:schemeClr val="tx2"/>
                </a:solidFill>
              </a:rPr>
              <a:t>Custom dashboards created to date</a:t>
            </a:r>
            <a:endParaRPr lang="en-US" sz="1200" dirty="0"/>
          </a:p>
        </p:txBody>
      </p:sp>
      <p:sp>
        <p:nvSpPr>
          <p:cNvPr id="16" name="adopt-3-card"/>
          <p:cNvSpPr/>
          <p:nvPr/>
        </p:nvSpPr>
        <p:spPr>
          <a:xfrm>
            <a:off x="9075191" y="1554480"/>
            <a:ext cx="2567864" cy="1417320"/>
          </a:xfrm>
          <a:prstGeom prst="roundRect">
            <a:avLst>
              <a:gd name="adj" fmla="val 7742"/>
            </a:avLst>
          </a:prstGeom>
          <a:solidFill>
            <a:schemeClr val="bg1"/>
          </a:solidFill>
          <a:ln/>
        </p:spPr>
      </p:sp>
      <p:sp>
        <p:nvSpPr>
          <p:cNvPr id="17" name="adopt-3-label"/>
          <p:cNvSpPr txBox="1"/>
          <p:nvPr/>
        </p:nvSpPr>
        <p:spPr>
          <a:xfrm>
            <a:off x="9276359" y="1664208"/>
            <a:ext cx="2165528" cy="256032"/>
          </a:xfrm>
          <a:prstGeom prst="rect">
            <a:avLst/>
          </a:prstGeom>
          <a:noFill/>
          <a:ln/>
        </p:spPr>
        <p:txBody>
          <a:bodyPr wrap="square" lIns="0" tIns="0" rIns="0" bIns="0" rtlCol="0" anchor="t"/>
          <a:lstStyle/>
          <a:p>
            <a:pPr indent="0" marL="0">
              <a:buNone/>
            </a:pPr>
            <a:r>
              <a:rPr lang="en-US" sz="1000" b="1" spc="100" kern="0" dirty="0">
                <a:solidFill>
                  <a:schemeClr val="tx2"/>
                </a:solidFill>
              </a:rPr>
              <a:t>UPDATED DAILY</a:t>
            </a:r>
            <a:endParaRPr lang="en-US" sz="1000" dirty="0"/>
          </a:p>
        </p:txBody>
      </p:sp>
      <p:sp>
        <p:nvSpPr>
          <p:cNvPr id="18" name="adopt-3-value"/>
          <p:cNvSpPr txBox="1"/>
          <p:nvPr/>
        </p:nvSpPr>
        <p:spPr>
          <a:xfrm>
            <a:off x="9276359" y="1920240"/>
            <a:ext cx="2165528" cy="594360"/>
          </a:xfrm>
          <a:prstGeom prst="rect">
            <a:avLst/>
          </a:prstGeom>
          <a:noFill/>
          <a:ln/>
        </p:spPr>
        <p:txBody>
          <a:bodyPr wrap="square" lIns="0" tIns="0" rIns="0" bIns="0" rtlCol="0" anchor="t"/>
          <a:lstStyle/>
          <a:p>
            <a:pPr indent="0" marL="0">
              <a:buNone/>
            </a:pPr>
            <a:r>
              <a:rPr lang="en-US" sz="3400" b="1" dirty="0">
                <a:solidFill>
                  <a:schemeClr val="tx1"/>
                </a:solidFill>
              </a:rPr>
              <a:t>10+</a:t>
            </a:r>
            <a:endParaRPr lang="en-US" sz="3400" dirty="0"/>
          </a:p>
        </p:txBody>
      </p:sp>
      <p:sp>
        <p:nvSpPr>
          <p:cNvPr id="19" name="adopt-3-desc"/>
          <p:cNvSpPr txBox="1"/>
          <p:nvPr/>
        </p:nvSpPr>
        <p:spPr>
          <a:xfrm>
            <a:off x="9276359" y="2514600"/>
            <a:ext cx="2165528" cy="365760"/>
          </a:xfrm>
          <a:prstGeom prst="rect">
            <a:avLst/>
          </a:prstGeom>
          <a:noFill/>
          <a:ln/>
        </p:spPr>
        <p:txBody>
          <a:bodyPr wrap="square" lIns="0" tIns="0" rIns="0" bIns="0" rtlCol="0" anchor="t"/>
          <a:lstStyle/>
          <a:p>
            <a:pPr indent="0" marL="0">
              <a:buNone/>
            </a:pPr>
            <a:r>
              <a:rPr lang="en-US" sz="1200" dirty="0">
                <a:solidFill>
                  <a:schemeClr val="tx2"/>
                </a:solidFill>
              </a:rPr>
              <a:t>Maintained continuously by risk owners</a:t>
            </a:r>
            <a:endParaRPr lang="en-US" sz="1200" dirty="0"/>
          </a:p>
        </p:txBody>
      </p:sp>
      <p:sp>
        <p:nvSpPr>
          <p:cNvPr id="20" name="trend-card"/>
          <p:cNvSpPr/>
          <p:nvPr/>
        </p:nvSpPr>
        <p:spPr>
          <a:xfrm>
            <a:off x="548640" y="3200400"/>
            <a:ext cx="11094415" cy="3246120"/>
          </a:xfrm>
          <a:prstGeom prst="roundRect">
            <a:avLst>
              <a:gd name="adj" fmla="val 3380"/>
            </a:avLst>
          </a:prstGeom>
          <a:solidFill>
            <a:schemeClr val="bg1"/>
          </a:solidFill>
          <a:ln/>
        </p:spPr>
      </p:sp>
      <p:sp>
        <p:nvSpPr>
          <p:cNvPr id="21" name="trend-title"/>
          <p:cNvSpPr txBox="1"/>
          <p:nvPr/>
        </p:nvSpPr>
        <p:spPr>
          <a:xfrm>
            <a:off x="777240" y="3310128"/>
            <a:ext cx="10637215" cy="274320"/>
          </a:xfrm>
          <a:prstGeom prst="rect">
            <a:avLst/>
          </a:prstGeom>
          <a:noFill/>
          <a:ln/>
        </p:spPr>
        <p:txBody>
          <a:bodyPr wrap="square" lIns="0" tIns="0" rIns="0" bIns="0" rtlCol="0" anchor="t"/>
          <a:lstStyle/>
          <a:p>
            <a:pPr indent="0" marL="0">
              <a:buNone/>
            </a:pPr>
            <a:r>
              <a:rPr lang="en-US" sz="1100" b="1" spc="100" kern="0" dirty="0">
                <a:solidFill>
                  <a:schemeClr val="tx1"/>
                </a:solidFill>
              </a:rPr>
              <a:t>MONTHLY UNIQUE USERS TREND</a:t>
            </a:r>
            <a:endParaRPr lang="en-US" sz="1100" dirty="0"/>
          </a:p>
        </p:txBody>
      </p:sp>
      <p:graphicFrame>
        <p:nvGraphicFramePr>
          <p:cNvPr id="22" name="users-trend" descr=""/>
          <p:cNvGraphicFramePr/>
          <p:nvPr/>
        </p:nvGraphicFramePr>
        <p:xfrm>
          <a:off x="640080" y="3611880"/>
          <a:ext cx="10911535" cy="2560320"/>
        </p:xfrm>
        <a:graphic xmlns:a="http://schemas.openxmlformats.org/drawingml/2006/main">
          <a:graphicData uri="http://schemas.openxmlformats.org/drawingml/2006/chart">
            <c:chart xmlns:c="http://schemas.openxmlformats.org/drawingml/2006/chart" r:id="rId1"/>
          </a:graphicData>
        </a:graphic>
      </p:graphicFrame>
      <p:sp>
        <p:nvSpPr>
          <p:cNvPr id="23" name="trend-caption"/>
          <p:cNvSpPr txBox="1"/>
          <p:nvPr/>
        </p:nvSpPr>
        <p:spPr>
          <a:xfrm>
            <a:off x="777240" y="6172200"/>
            <a:ext cx="10637215" cy="228600"/>
          </a:xfrm>
          <a:prstGeom prst="rect">
            <a:avLst/>
          </a:prstGeom>
          <a:noFill/>
          <a:ln/>
        </p:spPr>
        <p:txBody>
          <a:bodyPr wrap="square" lIns="0" tIns="0" rIns="0" bIns="0" rtlCol="0" anchor="t"/>
          <a:lstStyle/>
          <a:p>
            <a:pPr indent="0" marL="0">
              <a:buNone/>
            </a:pPr>
            <a:r>
              <a:rPr lang="en-US" sz="1000" i="1" dirty="0">
                <a:solidFill>
                  <a:schemeClr val="tx2"/>
                </a:solidFill>
              </a:rPr>
              <a:t>Approximate monthly values, read from the ERM usage chart</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2"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50"/>
                                        <p:tgtEl>
                                          <p:spTgt spid="3"/>
                                        </p:tgtEl>
                                      </p:cBhvr>
                                    </p:animEffect>
                                  </p:childTnLst>
                                </p:cTn>
                              </p:par>
                            </p:childTnLst>
                          </p:cTn>
                        </p:par>
                        <p:par>
                          <p:cTn id="19" fill="hold">
                            <p:stCondLst>
                              <p:cond delay="400"/>
                            </p:stCondLst>
                            <p:childTnLst>
                              <p:par>
                                <p:cTn id="7" presetID="10" presetClass="entr" presetSubtype="0" fill="hold" grpId="0" nodeType="after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childTnLst>
                          </p:cTn>
                        </p:par>
                        <p:par>
                          <p:cTn id="32" fill="hold">
                            <p:stCondLst>
                              <p:cond delay="80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50"/>
                                        <p:tgtEl>
                                          <p:spTgt spid="11"/>
                                        </p:tgtEl>
                                      </p:cBhvr>
                                    </p:animEffect>
                                  </p:childTnLst>
                                </p:cTn>
                              </p:par>
                            </p:childTnLst>
                          </p:cTn>
                        </p:par>
                        <p:par>
                          <p:cTn id="45" fill="hold">
                            <p:stCondLst>
                              <p:cond delay="1200"/>
                            </p:stCondLst>
                            <p:childTnLst>
                              <p:par>
                                <p:cTn id="33" presetID="10" presetClass="entr" presetSubtype="0"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5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450"/>
                                        <p:tgtEl>
                                          <p:spTgt spid="15"/>
                                        </p:tgtEl>
                                      </p:cBhvr>
                                    </p:animEffect>
                                  </p:childTnLst>
                                </p:cTn>
                              </p:par>
                            </p:childTnLst>
                          </p:cTn>
                        </p:par>
                        <p:par>
                          <p:cTn id="58" fill="hold">
                            <p:stCondLst>
                              <p:cond delay="1600"/>
                            </p:stCondLst>
                            <p:childTnLst>
                              <p:par>
                                <p:cTn id="46" presetID="10" presetClass="entr" presetSubtype="0" fill="hold" grpId="0" nodeType="after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5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5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45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50"/>
                                        <p:tgtEl>
                                          <p:spTgt spid="19"/>
                                        </p:tgtEl>
                                      </p:cBhvr>
                                    </p:animEffect>
                                  </p:childTnLst>
                                </p:cTn>
                              </p:par>
                            </p:childTnLst>
                          </p:cTn>
                        </p:par>
                        <p:par>
                          <p:cTn id="71" fill="hold">
                            <p:stCondLst>
                              <p:cond delay="2000"/>
                            </p:stCondLst>
                            <p:childTnLst>
                              <p:par>
                                <p:cTn id="59" presetID="10" presetClass="entr" presetSubtype="0" fill="hold" grpId="0" nodeType="after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450"/>
                                        <p:tgtEl>
                                          <p:spTgt spid="2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45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50"/>
                                        <p:tgtEl>
                                          <p:spTgt spid="23"/>
                                        </p:tgtEl>
                                      </p:cBhvr>
                                    </p:animEffect>
                                  </p:childTnLst>
                                </p:cTn>
                              </p:par>
                              <p:par>
                                <p:cTn id="68" presetID="22" presetClass="entr" presetSubtype="8" fill="hold" grpId="0" nodeType="withEffect">
                                  <p:stCondLst>
                                    <p:cond delay="200"/>
                                  </p:stCondLst>
                                  <p:childTnLst>
                                    <p:set>
                                      <p:cBhvr>
                                        <p:cTn id="69" dur="1" fill="hold">
                                          <p:stCondLst>
                                            <p:cond delay="0"/>
                                          </p:stCondLst>
                                        </p:cTn>
                                        <p:tgtEl>
                                          <p:spTgt spid="22"/>
                                        </p:tgtEl>
                                        <p:attrNameLst>
                                          <p:attrName>style.visibility</p:attrName>
                                        </p:attrNameLst>
                                      </p:cBhvr>
                                      <p:to>
                                        <p:strVal val="visible"/>
                                      </p:to>
                                    </p:set>
                                    <p:animEffect transition="in" filter="wipe(left)">
                                      <p:cBhvr>
                                        <p:cTn id="70"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Used across Airbus organisations and sites</a:t>
            </a:r>
            <a:endParaRPr lang="en-US" sz="3600" dirty="0"/>
          </a:p>
        </p:txBody>
      </p:sp>
      <p:sp>
        <p:nvSpPr>
          <p:cNvPr id="3" name="org-sub"/>
          <p:cNvSpPr txBox="1"/>
          <p:nvPr/>
        </p:nvSpPr>
        <p:spPr>
          <a:xfrm>
            <a:off x="548640" y="1115568"/>
            <a:ext cx="11094415" cy="320040"/>
          </a:xfrm>
          <a:prstGeom prst="rect">
            <a:avLst/>
          </a:prstGeom>
          <a:noFill/>
          <a:ln/>
        </p:spPr>
        <p:txBody>
          <a:bodyPr wrap="square" lIns="0" tIns="0" rIns="0" bIns="0" rtlCol="0" anchor="t"/>
          <a:lstStyle/>
          <a:p>
            <a:pPr indent="0" marL="0">
              <a:buNone/>
            </a:pPr>
            <a:r>
              <a:rPr lang="en-US" sz="1400" dirty="0">
                <a:solidFill>
                  <a:schemeClr val="tx2"/>
                </a:solidFill>
              </a:rPr>
              <a:t>More than half of ERM users work outside its largest organisation, across 6 countries</a:t>
            </a:r>
            <a:endParaRPr lang="en-US" sz="1400" dirty="0"/>
          </a:p>
        </p:txBody>
      </p:sp>
      <p:sp>
        <p:nvSpPr>
          <p:cNvPr id="4" name="org-card"/>
          <p:cNvSpPr/>
          <p:nvPr/>
        </p:nvSpPr>
        <p:spPr>
          <a:xfrm>
            <a:off x="548640" y="1600200"/>
            <a:ext cx="6766560" cy="4846320"/>
          </a:xfrm>
          <a:prstGeom prst="roundRect">
            <a:avLst>
              <a:gd name="adj" fmla="val 2264"/>
            </a:avLst>
          </a:prstGeom>
          <a:solidFill>
            <a:schemeClr val="bg2"/>
          </a:solidFill>
          <a:ln/>
        </p:spPr>
      </p:sp>
      <p:sp>
        <p:nvSpPr>
          <p:cNvPr id="5" name="org-title"/>
          <p:cNvSpPr txBox="1"/>
          <p:nvPr/>
        </p:nvSpPr>
        <p:spPr>
          <a:xfrm>
            <a:off x="777240" y="1709928"/>
            <a:ext cx="6309360" cy="274320"/>
          </a:xfrm>
          <a:prstGeom prst="rect">
            <a:avLst/>
          </a:prstGeom>
          <a:noFill/>
          <a:ln/>
        </p:spPr>
        <p:txBody>
          <a:bodyPr wrap="square" lIns="0" tIns="0" rIns="0" bIns="0" rtlCol="0" anchor="t"/>
          <a:lstStyle/>
          <a:p>
            <a:pPr indent="0" marL="0">
              <a:buNone/>
            </a:pPr>
            <a:r>
              <a:rPr lang="en-US" sz="1100" b="1" spc="100" kern="0" dirty="0">
                <a:solidFill>
                  <a:schemeClr val="tx1"/>
                </a:solidFill>
              </a:rPr>
              <a:t>UNIQUE USERS BY ORGANISATION (SIGLUM 1)</a:t>
            </a:r>
            <a:endParaRPr lang="en-US" sz="1100" dirty="0"/>
          </a:p>
        </p:txBody>
      </p:sp>
      <p:graphicFrame>
        <p:nvGraphicFramePr>
          <p:cNvPr id="6" name="org-chart" descr=""/>
          <p:cNvGraphicFramePr/>
          <p:nvPr/>
        </p:nvGraphicFramePr>
        <p:xfrm>
          <a:off x="640080" y="2011680"/>
          <a:ext cx="6583680" cy="3794760"/>
        </p:xfrm>
        <a:graphic xmlns:a="http://schemas.openxmlformats.org/drawingml/2006/main">
          <a:graphicData uri="http://schemas.openxmlformats.org/drawingml/2006/chart">
            <c:chart xmlns:c="http://schemas.openxmlformats.org/drawingml/2006/chart" r:id="rId1"/>
          </a:graphicData>
        </a:graphic>
      </p:graphicFrame>
      <p:sp>
        <p:nvSpPr>
          <p:cNvPr id="7" name="org-caption"/>
          <p:cNvSpPr txBox="1"/>
          <p:nvPr/>
        </p:nvSpPr>
        <p:spPr>
          <a:xfrm>
            <a:off x="777240" y="5852160"/>
            <a:ext cx="6309360" cy="457200"/>
          </a:xfrm>
          <a:prstGeom prst="rect">
            <a:avLst/>
          </a:prstGeom>
          <a:noFill/>
          <a:ln/>
        </p:spPr>
        <p:txBody>
          <a:bodyPr wrap="square" lIns="0" tIns="0" rIns="0" bIns="0" rtlCol="0" anchor="t"/>
          <a:lstStyle/>
          <a:p>
            <a:pPr indent="0" marL="0">
              <a:buNone/>
            </a:pPr>
            <a:r>
              <a:rPr lang="en-US" sz="1000" i="1" dirty="0">
                <a:solidFill>
                  <a:schemeClr val="tx2"/>
                </a:solidFill>
              </a:rPr>
              <a:t>Plus about 12 smaller organisations (D, M, Z, Q, G, F, H, I, V, E, T…). Approximate values, read from the ERM usage chart</a:t>
            </a:r>
            <a:endParaRPr lang="en-US" sz="1000" dirty="0"/>
          </a:p>
        </p:txBody>
      </p:sp>
      <p:sp>
        <p:nvSpPr>
          <p:cNvPr id="8" name="loc-card"/>
          <p:cNvSpPr/>
          <p:nvPr/>
        </p:nvSpPr>
        <p:spPr>
          <a:xfrm>
            <a:off x="7589520" y="1600200"/>
            <a:ext cx="4050792" cy="4846320"/>
          </a:xfrm>
          <a:prstGeom prst="roundRect">
            <a:avLst>
              <a:gd name="adj" fmla="val 2709"/>
            </a:avLst>
          </a:prstGeom>
          <a:solidFill>
            <a:schemeClr val="tx1"/>
          </a:solidFill>
          <a:ln/>
        </p:spPr>
      </p:sp>
      <p:sp>
        <p:nvSpPr>
          <p:cNvPr id="9" name="loc-title"/>
          <p:cNvSpPr txBox="1"/>
          <p:nvPr/>
        </p:nvSpPr>
        <p:spPr>
          <a:xfrm>
            <a:off x="7818120" y="1737360"/>
            <a:ext cx="3657600" cy="274320"/>
          </a:xfrm>
          <a:prstGeom prst="rect">
            <a:avLst/>
          </a:prstGeom>
          <a:noFill/>
          <a:ln/>
        </p:spPr>
        <p:txBody>
          <a:bodyPr wrap="square" lIns="0" tIns="0" rIns="0" bIns="0" rtlCol="0" anchor="t"/>
          <a:lstStyle/>
          <a:p>
            <a:pPr indent="0" marL="0">
              <a:buNone/>
            </a:pPr>
            <a:r>
              <a:rPr lang="en-US" sz="1100" b="1" spc="200" kern="0" dirty="0">
                <a:solidFill>
                  <a:schemeClr val="accent5"/>
                </a:solidFill>
              </a:rPr>
              <a:t>LOCATION PROFILE</a:t>
            </a:r>
            <a:endParaRPr lang="en-US" sz="1100" dirty="0"/>
          </a:p>
        </p:txBody>
      </p:sp>
      <p:sp>
        <p:nvSpPr>
          <p:cNvPr id="10" name="loc-list"/>
          <p:cNvSpPr txBox="1"/>
          <p:nvPr/>
        </p:nvSpPr>
        <p:spPr>
          <a:xfrm>
            <a:off x="7818120" y="2148840"/>
            <a:ext cx="3657600" cy="4114800"/>
          </a:xfrm>
          <a:prstGeom prst="rect">
            <a:avLst/>
          </a:prstGeom>
          <a:noFill/>
          <a:ln/>
        </p:spPr>
        <p:txBody>
          <a:bodyPr wrap="square" lIns="0" tIns="0" rIns="0" bIns="0" rtlCol="0" anchor="t"/>
          <a:lstStyle/>
          <a:p>
            <a:pPr indent="0" marL="0">
              <a:buNone/>
            </a:pPr>
            <a:r>
              <a:rPr lang="en-US" sz="1500" b="1" dirty="0">
                <a:solidFill>
                  <a:schemeClr val="bg1"/>
                </a:solidFill>
              </a:rPr>
              <a:t>France</a:t>
            </a:r>
            <a:endParaRPr lang="en-US" sz="1500" dirty="0"/>
          </a:p>
          <a:p>
            <a:pPr indent="0" marL="0">
              <a:spcAft>
                <a:spcPts val="900"/>
              </a:spcAft>
              <a:buNone/>
            </a:pPr>
            <a:r>
              <a:rPr lang="en-US" sz="1300" dirty="0">
                <a:solidFill>
                  <a:schemeClr val="accent5"/>
                </a:solidFill>
              </a:rPr>
              <a:t>Blagnac Wings Campus 271, Saint-Martin 43 users</a:t>
            </a:r>
            <a:endParaRPr lang="en-US" sz="1500" dirty="0"/>
          </a:p>
          <a:p>
            <a:pPr indent="0" marL="0">
              <a:buNone/>
            </a:pPr>
            <a:r>
              <a:rPr lang="en-US" sz="1500" b="1" dirty="0">
                <a:solidFill>
                  <a:schemeClr val="bg1"/>
                </a:solidFill>
              </a:rPr>
              <a:t>Germany</a:t>
            </a:r>
            <a:endParaRPr lang="en-US" sz="1500" dirty="0"/>
          </a:p>
          <a:p>
            <a:pPr indent="0" marL="0">
              <a:spcAft>
                <a:spcPts val="900"/>
              </a:spcAft>
              <a:buNone/>
            </a:pPr>
            <a:r>
              <a:rPr lang="en-US" sz="1300" dirty="0">
                <a:solidFill>
                  <a:schemeClr val="accent5"/>
                </a:solidFill>
              </a:rPr>
              <a:t>Hamburg Finkenwerder 205 users</a:t>
            </a:r>
            <a:endParaRPr lang="en-US" sz="1500" dirty="0"/>
          </a:p>
          <a:p>
            <a:pPr indent="0" marL="0">
              <a:buNone/>
            </a:pPr>
            <a:r>
              <a:rPr lang="en-US" sz="1500" b="1" dirty="0">
                <a:solidFill>
                  <a:schemeClr val="bg1"/>
                </a:solidFill>
              </a:rPr>
              <a:t>United Kingdom</a:t>
            </a:r>
            <a:endParaRPr lang="en-US" sz="1500" dirty="0"/>
          </a:p>
          <a:p>
            <a:pPr indent="0" marL="0">
              <a:spcAft>
                <a:spcPts val="900"/>
              </a:spcAft>
              <a:buNone/>
            </a:pPr>
            <a:r>
              <a:rPr lang="en-US" sz="1300" dirty="0">
                <a:solidFill>
                  <a:schemeClr val="accent5"/>
                </a:solidFill>
              </a:rPr>
              <a:t>Broughton 32, Filton 26 users</a:t>
            </a:r>
            <a:endParaRPr lang="en-US" sz="1500" dirty="0"/>
          </a:p>
          <a:p>
            <a:pPr indent="0" marL="0">
              <a:buNone/>
            </a:pPr>
            <a:r>
              <a:rPr lang="en-US" sz="1500" b="1" dirty="0">
                <a:solidFill>
                  <a:schemeClr val="bg1"/>
                </a:solidFill>
              </a:rPr>
              <a:t>Spain</a:t>
            </a:r>
            <a:endParaRPr lang="en-US" sz="1500" dirty="0"/>
          </a:p>
          <a:p>
            <a:pPr indent="0" marL="0">
              <a:spcAft>
                <a:spcPts val="900"/>
              </a:spcAft>
              <a:buNone/>
            </a:pPr>
            <a:r>
              <a:rPr lang="en-US" sz="1300" dirty="0">
                <a:solidFill>
                  <a:schemeClr val="accent5"/>
                </a:solidFill>
              </a:rPr>
              <a:t>Getafe 25 users</a:t>
            </a:r>
            <a:endParaRPr lang="en-US" sz="1500" dirty="0"/>
          </a:p>
          <a:p>
            <a:pPr indent="0" marL="0">
              <a:buNone/>
            </a:pPr>
            <a:r>
              <a:rPr lang="en-US" sz="1500" b="1" dirty="0">
                <a:solidFill>
                  <a:schemeClr val="bg1"/>
                </a:solidFill>
              </a:rPr>
              <a:t>Canada</a:t>
            </a:r>
            <a:endParaRPr lang="en-US" sz="1500" dirty="0"/>
          </a:p>
          <a:p>
            <a:pPr indent="0" marL="0">
              <a:spcAft>
                <a:spcPts val="900"/>
              </a:spcAft>
              <a:buNone/>
            </a:pPr>
            <a:r>
              <a:rPr lang="en-US" sz="1300" dirty="0">
                <a:solidFill>
                  <a:schemeClr val="accent5"/>
                </a:solidFill>
              </a:rPr>
              <a:t>Mirabel 12 users</a:t>
            </a:r>
            <a:endParaRPr lang="en-US" sz="1500" dirty="0"/>
          </a:p>
          <a:p>
            <a:pPr indent="0" marL="0">
              <a:buNone/>
            </a:pPr>
            <a:r>
              <a:rPr lang="en-US" sz="1500" b="1" dirty="0">
                <a:solidFill>
                  <a:schemeClr val="bg1"/>
                </a:solidFill>
              </a:rPr>
              <a:t>India</a:t>
            </a:r>
            <a:endParaRPr lang="en-US" sz="1500" dirty="0"/>
          </a:p>
          <a:p>
            <a:pPr indent="0" marL="0">
              <a:spcAft>
                <a:spcPts val="900"/>
              </a:spcAft>
              <a:buNone/>
            </a:pPr>
            <a:r>
              <a:rPr lang="en-US" sz="1300" dirty="0">
                <a:solidFill>
                  <a:schemeClr val="accent5"/>
                </a:solidFill>
              </a:rPr>
              <a:t>Bangalore 7 users</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50"/>
                                        <p:tgtEl>
                                          <p:spTgt spid="3"/>
                                        </p:tgtEl>
                                      </p:cBhvr>
                                    </p:animEffect>
                                  </p:childTnLst>
                                </p:cTn>
                              </p:par>
                            </p:childTnLst>
                          </p:cTn>
                        </p:par>
                        <p:par>
                          <p:cTn id="19" fill="hold">
                            <p:stCondLst>
                              <p:cond delay="500"/>
                            </p:stCondLst>
                            <p:childTnLst>
                              <p:par>
                                <p:cTn id="7" presetID="10" presetClass="entr" presetSubtype="0" fill="hold" grpId="0" nodeType="after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22" presetClass="entr" presetSubtype="8" fill="hold" grpId="0" nodeType="withEffect">
                                  <p:stCondLst>
                                    <p:cond delay="20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450"/>
                                        <p:tgtEl>
                                          <p:spTgt spid="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childTnLst>
                          </p:cTn>
                        </p:par>
                        <p:par>
                          <p:cTn id="29" fill="hold">
                            <p:stCondLst>
                              <p:cond delay="100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Why migrate: Slate had become the bottleneck</a:t>
            </a:r>
            <a:endParaRPr lang="en-US" sz="3600" dirty="0"/>
          </a:p>
        </p:txBody>
      </p:sp>
      <p:sp>
        <p:nvSpPr>
          <p:cNvPr id="3" name="prob-0-card"/>
          <p:cNvSpPr/>
          <p:nvPr/>
        </p:nvSpPr>
        <p:spPr>
          <a:xfrm>
            <a:off x="548640" y="1417320"/>
            <a:ext cx="5029200" cy="896112"/>
          </a:xfrm>
          <a:prstGeom prst="roundRect">
            <a:avLst>
              <a:gd name="adj" fmla="val 12245"/>
            </a:avLst>
          </a:prstGeom>
          <a:solidFill>
            <a:schemeClr val="bg2"/>
          </a:solidFill>
          <a:ln/>
        </p:spPr>
      </p:sp>
      <p:sp>
        <p:nvSpPr>
          <p:cNvPr id="4" name="prob-0-text"/>
          <p:cNvSpPr txBox="1"/>
          <p:nvPr/>
        </p:nvSpPr>
        <p:spPr>
          <a:xfrm>
            <a:off x="777240" y="1508760"/>
            <a:ext cx="4572000" cy="713232"/>
          </a:xfrm>
          <a:prstGeom prst="rect">
            <a:avLst/>
          </a:prstGeom>
          <a:noFill/>
          <a:ln/>
        </p:spPr>
        <p:txBody>
          <a:bodyPr wrap="square" lIns="0" tIns="0" rIns="0" bIns="0" rtlCol="0" anchor="ctr"/>
          <a:lstStyle/>
          <a:p>
            <a:pPr indent="0" marL="0">
              <a:buNone/>
            </a:pPr>
            <a:r>
              <a:rPr lang="en-US" sz="1500" b="1" dirty="0">
                <a:solidFill>
                  <a:schemeClr val="tx1"/>
                </a:solidFill>
              </a:rPr>
              <a:t>Tangled dependencies</a:t>
            </a:r>
            <a:endParaRPr lang="en-US" sz="1500" dirty="0"/>
          </a:p>
          <a:p>
            <a:pPr indent="0" marL="0">
              <a:buNone/>
            </a:pPr>
            <a:r>
              <a:rPr lang="en-US" sz="1300" dirty="0">
                <a:solidFill>
                  <a:schemeClr val="tx2"/>
                </a:solidFill>
              </a:rPr>
              <a:t>One user action cascades through widgets, events, actions and variables</a:t>
            </a:r>
            <a:endParaRPr lang="en-US" sz="1500" dirty="0"/>
          </a:p>
        </p:txBody>
      </p:sp>
      <p:sp>
        <p:nvSpPr>
          <p:cNvPr id="5" name="prob-1-card"/>
          <p:cNvSpPr/>
          <p:nvPr/>
        </p:nvSpPr>
        <p:spPr>
          <a:xfrm>
            <a:off x="548640" y="2441448"/>
            <a:ext cx="5029200" cy="896112"/>
          </a:xfrm>
          <a:prstGeom prst="roundRect">
            <a:avLst>
              <a:gd name="adj" fmla="val 12245"/>
            </a:avLst>
          </a:prstGeom>
          <a:solidFill>
            <a:schemeClr val="bg2"/>
          </a:solidFill>
          <a:ln/>
        </p:spPr>
      </p:sp>
      <p:sp>
        <p:nvSpPr>
          <p:cNvPr id="6" name="prob-1-text"/>
          <p:cNvSpPr txBox="1"/>
          <p:nvPr/>
        </p:nvSpPr>
        <p:spPr>
          <a:xfrm>
            <a:off x="777240" y="2532888"/>
            <a:ext cx="4572000" cy="713232"/>
          </a:xfrm>
          <a:prstGeom prst="rect">
            <a:avLst/>
          </a:prstGeom>
          <a:noFill/>
          <a:ln/>
        </p:spPr>
        <p:txBody>
          <a:bodyPr wrap="square" lIns="0" tIns="0" rIns="0" bIns="0" rtlCol="0" anchor="ctr"/>
          <a:lstStyle/>
          <a:p>
            <a:pPr indent="0" marL="0">
              <a:buNone/>
            </a:pPr>
            <a:r>
              <a:rPr lang="en-US" sz="1500" b="1" dirty="0">
                <a:solidFill>
                  <a:schemeClr val="tx1"/>
                </a:solidFill>
              </a:rPr>
              <a:t>High regression risk</a:t>
            </a:r>
            <a:endParaRPr lang="en-US" sz="1500" dirty="0"/>
          </a:p>
          <a:p>
            <a:pPr indent="0" marL="0">
              <a:buNone/>
            </a:pPr>
            <a:r>
              <a:rPr lang="en-US" sz="1300" dirty="0">
                <a:solidFill>
                  <a:schemeClr val="tx2"/>
                </a:solidFill>
              </a:rPr>
              <a:t>Changing one feature can break unrelated dashboard behaviour</a:t>
            </a:r>
            <a:endParaRPr lang="en-US" sz="1500" dirty="0"/>
          </a:p>
        </p:txBody>
      </p:sp>
      <p:sp>
        <p:nvSpPr>
          <p:cNvPr id="7" name="prob-2-card"/>
          <p:cNvSpPr/>
          <p:nvPr/>
        </p:nvSpPr>
        <p:spPr>
          <a:xfrm>
            <a:off x="548640" y="3465576"/>
            <a:ext cx="5029200" cy="896112"/>
          </a:xfrm>
          <a:prstGeom prst="roundRect">
            <a:avLst>
              <a:gd name="adj" fmla="val 12245"/>
            </a:avLst>
          </a:prstGeom>
          <a:solidFill>
            <a:schemeClr val="bg2"/>
          </a:solidFill>
          <a:ln/>
        </p:spPr>
      </p:sp>
      <p:sp>
        <p:nvSpPr>
          <p:cNvPr id="8" name="prob-2-text"/>
          <p:cNvSpPr txBox="1"/>
          <p:nvPr/>
        </p:nvSpPr>
        <p:spPr>
          <a:xfrm>
            <a:off x="777240" y="3557016"/>
            <a:ext cx="4572000" cy="713232"/>
          </a:xfrm>
          <a:prstGeom prst="rect">
            <a:avLst/>
          </a:prstGeom>
          <a:noFill/>
          <a:ln/>
        </p:spPr>
        <p:txBody>
          <a:bodyPr wrap="square" lIns="0" tIns="0" rIns="0" bIns="0" rtlCol="0" anchor="ctr"/>
          <a:lstStyle/>
          <a:p>
            <a:pPr indent="0" marL="0">
              <a:buNone/>
            </a:pPr>
            <a:r>
              <a:rPr lang="en-US" sz="1500" b="1" dirty="0">
                <a:solidFill>
                  <a:schemeClr val="tx1"/>
                </a:solidFill>
              </a:rPr>
              <a:t>Slow navigation</a:t>
            </a:r>
            <a:endParaRPr lang="en-US" sz="1500" dirty="0"/>
          </a:p>
          <a:p>
            <a:pPr indent="0" marL="0">
              <a:buNone/>
            </a:pPr>
            <a:r>
              <a:rPr lang="en-US" sz="1300" dirty="0">
                <a:solidFill>
                  <a:schemeClr val="tx2"/>
                </a:solidFill>
              </a:rPr>
              <a:t>Variable trees are recalculated on every tab switch</a:t>
            </a:r>
            <a:endParaRPr lang="en-US" sz="1500" dirty="0"/>
          </a:p>
        </p:txBody>
      </p:sp>
      <p:sp>
        <p:nvSpPr>
          <p:cNvPr id="9" name="prob-3-card"/>
          <p:cNvSpPr/>
          <p:nvPr/>
        </p:nvSpPr>
        <p:spPr>
          <a:xfrm>
            <a:off x="548640" y="4489704"/>
            <a:ext cx="5029200" cy="896112"/>
          </a:xfrm>
          <a:prstGeom prst="roundRect">
            <a:avLst>
              <a:gd name="adj" fmla="val 12245"/>
            </a:avLst>
          </a:prstGeom>
          <a:solidFill>
            <a:schemeClr val="bg2"/>
          </a:solidFill>
          <a:ln/>
        </p:spPr>
      </p:sp>
      <p:sp>
        <p:nvSpPr>
          <p:cNvPr id="10" name="prob-3-text"/>
          <p:cNvSpPr txBox="1"/>
          <p:nvPr/>
        </p:nvSpPr>
        <p:spPr>
          <a:xfrm>
            <a:off x="777240" y="4581144"/>
            <a:ext cx="4572000" cy="713232"/>
          </a:xfrm>
          <a:prstGeom prst="rect">
            <a:avLst/>
          </a:prstGeom>
          <a:noFill/>
          <a:ln/>
        </p:spPr>
        <p:txBody>
          <a:bodyPr wrap="square" lIns="0" tIns="0" rIns="0" bIns="0" rtlCol="0" anchor="ctr"/>
          <a:lstStyle/>
          <a:p>
            <a:pPr indent="0" marL="0">
              <a:buNone/>
            </a:pPr>
            <a:r>
              <a:rPr lang="en-US" sz="1500" b="1" dirty="0">
                <a:solidFill>
                  <a:schemeClr val="accent3"/>
                </a:solidFill>
              </a:rPr>
              <a:t>No documentation</a:t>
            </a:r>
            <a:endParaRPr lang="en-US" sz="1500" dirty="0"/>
          </a:p>
          <a:p>
            <a:pPr indent="0" marL="0">
              <a:buNone/>
            </a:pPr>
            <a:r>
              <a:rPr lang="en-US" sz="1300" dirty="0">
                <a:solidFill>
                  <a:schemeClr val="tx2"/>
                </a:solidFill>
              </a:rPr>
              <a:t>8 Slate exports, about 25 MB of configuration, no specs</a:t>
            </a:r>
            <a:endParaRPr lang="en-US" sz="1500" dirty="0"/>
          </a:p>
        </p:txBody>
      </p:sp>
      <p:pic>
        <p:nvPicPr>
          <p:cNvPr id="11" name="gif-legacy-breakdown" descr="Animation: the ERM Slate app splits into a shell and 7 modules, then AI extracts 105 features from them">    </p:cNvPr>
          <p:cNvPicPr>
            <a:picLocks noChangeAspect="1"/>
          </p:cNvPicPr>
          <p:nvPr/>
        </p:nvPicPr>
        <p:blipFill>
          <a:blip r:embed="rId1"/>
          <a:stretch>
            <a:fillRect/>
          </a:stretch>
        </p:blipFill>
        <p:spPr>
          <a:xfrm>
            <a:off x="5852160" y="1417320"/>
            <a:ext cx="5788152" cy="3474720"/>
          </a:xfrm>
          <a:prstGeom prst="rect">
            <a:avLst/>
          </a:prstGeom>
        </p:spPr>
      </p:pic>
      <p:sp>
        <p:nvSpPr>
          <p:cNvPr id="12" name="solution-card"/>
          <p:cNvSpPr/>
          <p:nvPr/>
        </p:nvSpPr>
        <p:spPr>
          <a:xfrm>
            <a:off x="5852160" y="5074920"/>
            <a:ext cx="5788152" cy="1280160"/>
          </a:xfrm>
          <a:prstGeom prst="roundRect">
            <a:avLst>
              <a:gd name="adj" fmla="val 8571"/>
            </a:avLst>
          </a:prstGeom>
          <a:solidFill>
            <a:schemeClr val="tx1"/>
          </a:solidFill>
          <a:ln/>
        </p:spPr>
      </p:sp>
      <p:sp>
        <p:nvSpPr>
          <p:cNvPr id="13" name="solution-text"/>
          <p:cNvSpPr txBox="1"/>
          <p:nvPr/>
        </p:nvSpPr>
        <p:spPr>
          <a:xfrm>
            <a:off x="6080760" y="5166360"/>
            <a:ext cx="5330952" cy="1097280"/>
          </a:xfrm>
          <a:prstGeom prst="rect">
            <a:avLst/>
          </a:prstGeom>
          <a:noFill/>
          <a:ln/>
        </p:spPr>
        <p:txBody>
          <a:bodyPr wrap="square" lIns="0" tIns="0" rIns="0" bIns="0" rtlCol="0" anchor="ctr"/>
          <a:lstStyle/>
          <a:p>
            <a:pPr indent="0" marL="0">
              <a:buNone/>
            </a:pPr>
            <a:r>
              <a:rPr lang="en-US" sz="1600" b="1" dirty="0">
                <a:solidFill>
                  <a:schemeClr val="bg1"/>
                </a:solidFill>
              </a:rPr>
              <a:t>The Airbus DevX solution: React + OSDK</a:t>
            </a:r>
            <a:endParaRPr lang="en-US" sz="1600" dirty="0"/>
          </a:p>
          <a:p>
            <a:pPr indent="0" marL="0">
              <a:buNone/>
            </a:pPr>
            <a:r>
              <a:rPr lang="en-US" sz="1400" dirty="0">
                <a:solidFill>
                  <a:schemeClr val="accent5"/>
                </a:solidFill>
              </a:rPr>
              <a:t>Clean, modular TypeScript components: isolated modules, safe updates, instant navigation</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8" fill="hold">
                      <p:stCondLst>
                        <p:cond delay="indefinite"/>
                        <p:cond evt="onBegin" delay="0">
                          <p:tn val="2"/>
                        </p:cond>
                      </p:stCondLst>
                      <p:childTnLst>
                        <p:par>
                          <p:cTn id="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5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50"/>
                                        <p:tgtEl>
                                          <p:spTgt spid="4"/>
                                        </p:tgtEl>
                                      </p:cBhvr>
                                    </p:animEffect>
                                  </p:childTnLst>
                                </p:cTn>
                              </p:par>
                            </p:childTnLst>
                          </p:cTn>
                        </p:par>
                        <p:par>
                          <p:cTn id="16"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childTnLst>
                          </p:cTn>
                        </p:par>
                        <p:par>
                          <p:cTn id="23" fill="hold">
                            <p:stCondLst>
                              <p:cond delay="100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par>
                          <p:cTn id="30" fill="hold">
                            <p:stCondLst>
                              <p:cond delay="1500"/>
                            </p:stCondLst>
                            <p:childTnLst>
                              <p:par>
                                <p:cTn id="24" presetID="10" presetClass="entr" presetSubtype="0"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childTnLst>
                          </p:cTn>
                        </p:par>
                        <p:par>
                          <p:cTn id="37" fill="hold">
                            <p:stCondLst>
                              <p:cond delay="2000"/>
                            </p:stCondLst>
                            <p:childTnLst>
                              <p:par>
                                <p:cTn id="31" presetID="22" presetClass="entr" presetSubtype="8"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450"/>
                                        <p:tgtEl>
                                          <p:spTgt spid="12"/>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Our method: AI drafts, people check</a:t>
            </a:r>
            <a:endParaRPr lang="en-US" sz="3600" dirty="0"/>
          </a:p>
        </p:txBody>
      </p:sp>
      <p:pic>
        <p:nvPicPr>
          <p:cNvPr id="3" name="gif-migration" descr="Animation: features flow from each Slate module through the 105-feature catalogue into the matching React tab, then new features appear">    </p:cNvPr>
          <p:cNvPicPr>
            <a:picLocks noChangeAspect="1"/>
          </p:cNvPicPr>
          <p:nvPr/>
        </p:nvPicPr>
        <p:blipFill>
          <a:blip r:embed="rId1"/>
          <a:stretch>
            <a:fillRect/>
          </a:stretch>
        </p:blipFill>
        <p:spPr>
          <a:xfrm>
            <a:off x="548640" y="1600200"/>
            <a:ext cx="6858000" cy="4114800"/>
          </a:xfrm>
          <a:prstGeom prst="rect">
            <a:avLst/>
          </a:prstGeom>
        </p:spPr>
      </p:pic>
      <p:sp>
        <p:nvSpPr>
          <p:cNvPr id="4" name="pack-card"/>
          <p:cNvSpPr/>
          <p:nvPr/>
        </p:nvSpPr>
        <p:spPr>
          <a:xfrm>
            <a:off x="7863840" y="1600200"/>
            <a:ext cx="3776472" cy="1737360"/>
          </a:xfrm>
          <a:prstGeom prst="roundRect">
            <a:avLst>
              <a:gd name="adj" fmla="val 6316"/>
            </a:avLst>
          </a:prstGeom>
          <a:solidFill>
            <a:schemeClr val="tx1"/>
          </a:solidFill>
          <a:ln/>
        </p:spPr>
      </p:sp>
      <p:sp>
        <p:nvSpPr>
          <p:cNvPr id="5" name="pack-title"/>
          <p:cNvSpPr txBox="1"/>
          <p:nvPr/>
        </p:nvSpPr>
        <p:spPr>
          <a:xfrm>
            <a:off x="8092440" y="1783080"/>
            <a:ext cx="3383280" cy="457200"/>
          </a:xfrm>
          <a:prstGeom prst="rect">
            <a:avLst/>
          </a:prstGeom>
          <a:noFill/>
          <a:ln/>
        </p:spPr>
        <p:txBody>
          <a:bodyPr wrap="square" lIns="0" tIns="0" rIns="0" bIns="0" rtlCol="0" anchor="t"/>
          <a:lstStyle/>
          <a:p>
            <a:pPr indent="0" marL="0">
              <a:buNone/>
            </a:pPr>
            <a:r>
              <a:rPr lang="en-US" sz="2200" b="1" dirty="0">
                <a:solidFill>
                  <a:schemeClr val="bg1"/>
                </a:solidFill>
              </a:rPr>
              <a:t>pack-project.ts</a:t>
            </a:r>
            <a:endParaRPr lang="en-US" sz="2200" dirty="0"/>
          </a:p>
        </p:txBody>
      </p:sp>
      <p:sp>
        <p:nvSpPr>
          <p:cNvPr id="6" name="pack-body"/>
          <p:cNvSpPr txBox="1"/>
          <p:nvPr/>
        </p:nvSpPr>
        <p:spPr>
          <a:xfrm>
            <a:off x="8092440" y="2286000"/>
            <a:ext cx="3383280" cy="914400"/>
          </a:xfrm>
          <a:prstGeom prst="rect">
            <a:avLst/>
          </a:prstGeom>
          <a:noFill/>
          <a:ln/>
        </p:spPr>
        <p:txBody>
          <a:bodyPr wrap="square" lIns="0" tIns="0" rIns="0" bIns="0" rtlCol="0" anchor="t"/>
          <a:lstStyle/>
          <a:p>
            <a:pPr indent="0" marL="0">
              <a:buNone/>
            </a:pPr>
            <a:r>
              <a:rPr lang="en-US" sz="1500" dirty="0">
                <a:solidFill>
                  <a:schemeClr val="accent5"/>
                </a:solidFill>
              </a:rPr>
              <a:t>Our script packs the whole React app, 75 files, into one dated file the AI reads in one go</a:t>
            </a:r>
            <a:endParaRPr lang="en-US" sz="1500" dirty="0"/>
          </a:p>
        </p:txBody>
      </p:sp>
      <p:sp>
        <p:nvSpPr>
          <p:cNvPr id="7" name="steps"/>
          <p:cNvSpPr txBox="1"/>
          <p:nvPr/>
        </p:nvSpPr>
        <p:spPr>
          <a:xfrm>
            <a:off x="7863840" y="3611880"/>
            <a:ext cx="3776472" cy="21031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600" dirty="0">
                <a:solidFill>
                  <a:schemeClr val="tx1"/>
                </a:solidFill>
              </a:rPr>
              <a:t>Pack the context</a:t>
            </a:r>
            <a:endParaRPr lang="en-US" sz="1600" dirty="0"/>
          </a:p>
          <a:p>
            <a:pPr marL="342900" indent="-342900">
              <a:spcAft>
                <a:spcPts val="600"/>
              </a:spcAft>
              <a:buSzPct val="100000"/>
              <a:buFont typeface="+mj-lt"/>
              <a:buAutoNum type="arabicPeriod" startAt="1"/>
            </a:pPr>
            <a:r>
              <a:rPr lang="en-US" sz="1600" dirty="0">
                <a:solidFill>
                  <a:schemeClr val="tx1"/>
                </a:solidFill>
              </a:rPr>
              <a:t>Extract legacy features</a:t>
            </a:r>
            <a:endParaRPr lang="en-US" sz="1600" dirty="0"/>
          </a:p>
          <a:p>
            <a:pPr marL="342900" indent="-342900">
              <a:spcAft>
                <a:spcPts val="600"/>
              </a:spcAft>
              <a:buSzPct val="100000"/>
              <a:buFont typeface="+mj-lt"/>
              <a:buAutoNum type="arabicPeriod" startAt="1"/>
            </a:pPr>
            <a:r>
              <a:rPr lang="en-US" sz="1600" dirty="0">
                <a:solidFill>
                  <a:schemeClr val="tx1"/>
                </a:solidFill>
              </a:rPr>
              <a:t>Compare with the React code</a:t>
            </a:r>
            <a:endParaRPr lang="en-US" sz="1600" dirty="0"/>
          </a:p>
          <a:p>
            <a:pPr marL="342900" indent="-342900">
              <a:spcAft>
                <a:spcPts val="600"/>
              </a:spcAft>
              <a:buSzPct val="100000"/>
              <a:buFont typeface="+mj-lt"/>
              <a:buAutoNum type="arabicPeriod" startAt="1"/>
            </a:pPr>
            <a:r>
              <a:rPr lang="en-US" sz="1600" dirty="0">
                <a:solidFill>
                  <a:schemeClr val="tx1"/>
                </a:solidFill>
              </a:rPr>
              <a:t>Fix gaps, re-pack, re-check</a:t>
            </a:r>
            <a:endParaRPr lang="en-US" sz="1600" dirty="0"/>
          </a:p>
          <a:p>
            <a:pPr marL="342900" indent="-342900">
              <a:spcAft>
                <a:spcPts val="600"/>
              </a:spcAft>
              <a:buSzPct val="100000"/>
              <a:buFont typeface="+mj-lt"/>
              <a:buAutoNum type="arabicPeriod" startAt="1"/>
            </a:pPr>
            <a:r>
              <a:rPr lang="en-US" sz="1600" dirty="0">
                <a:solidFill>
                  <a:schemeClr val="tx1"/>
                </a:solidFill>
              </a:rPr>
              <a:t>Document the new app</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The process in numbers</a:t>
            </a:r>
            <a:endParaRPr lang="en-US" sz="3600" dirty="0"/>
          </a:p>
        </p:txBody>
      </p:sp>
      <p:sp>
        <p:nvSpPr>
          <p:cNvPr id="3" name="kpi-0-card"/>
          <p:cNvSpPr/>
          <p:nvPr/>
        </p:nvSpPr>
        <p:spPr>
          <a:xfrm>
            <a:off x="548640" y="1600200"/>
            <a:ext cx="2567864" cy="2057400"/>
          </a:xfrm>
          <a:prstGeom prst="roundRect">
            <a:avLst>
              <a:gd name="adj" fmla="val 5333"/>
            </a:avLst>
          </a:prstGeom>
          <a:solidFill>
            <a:schemeClr val="tx1"/>
          </a:solidFill>
          <a:ln/>
        </p:spPr>
      </p:sp>
      <p:sp>
        <p:nvSpPr>
          <p:cNvPr id="4" name="kpi-0-value"/>
          <p:cNvSpPr txBox="1"/>
          <p:nvPr/>
        </p:nvSpPr>
        <p:spPr>
          <a:xfrm>
            <a:off x="777240" y="1828800"/>
            <a:ext cx="2110664" cy="822960"/>
          </a:xfrm>
          <a:prstGeom prst="rect">
            <a:avLst/>
          </a:prstGeom>
          <a:noFill/>
          <a:ln/>
        </p:spPr>
        <p:txBody>
          <a:bodyPr wrap="square" lIns="0" tIns="0" rIns="0" bIns="0" rtlCol="0" anchor="t"/>
          <a:lstStyle/>
          <a:p>
            <a:pPr indent="0" marL="0">
              <a:buNone/>
            </a:pPr>
            <a:r>
              <a:rPr lang="en-US" sz="4800" b="1" dirty="0">
                <a:solidFill>
                  <a:schemeClr val="accent5"/>
                </a:solidFill>
              </a:rPr>
              <a:t>1 PI</a:t>
            </a:r>
            <a:endParaRPr lang="en-US" sz="4800" dirty="0"/>
          </a:p>
        </p:txBody>
      </p:sp>
      <p:sp>
        <p:nvSpPr>
          <p:cNvPr id="5" name="kpi-0-label"/>
          <p:cNvSpPr txBox="1"/>
          <p:nvPr/>
        </p:nvSpPr>
        <p:spPr>
          <a:xfrm>
            <a:off x="777240" y="2697480"/>
            <a:ext cx="2110664" cy="777240"/>
          </a:xfrm>
          <a:prstGeom prst="rect">
            <a:avLst/>
          </a:prstGeom>
          <a:noFill/>
          <a:ln/>
        </p:spPr>
        <p:txBody>
          <a:bodyPr wrap="square" lIns="0" tIns="0" rIns="0" bIns="0" rtlCol="0" anchor="t"/>
          <a:lstStyle/>
          <a:p>
            <a:pPr indent="0" marL="0">
              <a:buNone/>
            </a:pPr>
            <a:r>
              <a:rPr lang="en-US" sz="1500" dirty="0">
                <a:solidFill>
                  <a:schemeClr val="accent5"/>
                </a:solidFill>
              </a:rPr>
              <a:t>Whole migration built in one SAFe Program Increment</a:t>
            </a:r>
            <a:endParaRPr lang="en-US" sz="1500" dirty="0"/>
          </a:p>
        </p:txBody>
      </p:sp>
      <p:sp>
        <p:nvSpPr>
          <p:cNvPr id="6" name="kpi-1-card"/>
          <p:cNvSpPr/>
          <p:nvPr/>
        </p:nvSpPr>
        <p:spPr>
          <a:xfrm>
            <a:off x="3390824" y="1600200"/>
            <a:ext cx="2567864" cy="2057400"/>
          </a:xfrm>
          <a:prstGeom prst="roundRect">
            <a:avLst>
              <a:gd name="adj" fmla="val 5333"/>
            </a:avLst>
          </a:prstGeom>
          <a:solidFill>
            <a:schemeClr val="bg2"/>
          </a:solidFill>
          <a:ln/>
        </p:spPr>
      </p:sp>
      <p:sp>
        <p:nvSpPr>
          <p:cNvPr id="7" name="kpi-1-value"/>
          <p:cNvSpPr txBox="1"/>
          <p:nvPr/>
        </p:nvSpPr>
        <p:spPr>
          <a:xfrm>
            <a:off x="3619424" y="1828800"/>
            <a:ext cx="2110664" cy="822960"/>
          </a:xfrm>
          <a:prstGeom prst="rect">
            <a:avLst/>
          </a:prstGeom>
          <a:noFill/>
          <a:ln/>
        </p:spPr>
        <p:txBody>
          <a:bodyPr wrap="square" lIns="0" tIns="0" rIns="0" bIns="0" rtlCol="0" anchor="t"/>
          <a:lstStyle/>
          <a:p>
            <a:pPr indent="0" marL="0">
              <a:buNone/>
            </a:pPr>
            <a:r>
              <a:rPr lang="en-US" sz="4800" b="1" dirty="0">
                <a:solidFill>
                  <a:schemeClr val="accent3"/>
                </a:solidFill>
              </a:rPr>
              <a:t>105</a:t>
            </a:r>
            <a:endParaRPr lang="en-US" sz="4800" dirty="0"/>
          </a:p>
        </p:txBody>
      </p:sp>
      <p:sp>
        <p:nvSpPr>
          <p:cNvPr id="8" name="kpi-1-label"/>
          <p:cNvSpPr txBox="1"/>
          <p:nvPr/>
        </p:nvSpPr>
        <p:spPr>
          <a:xfrm>
            <a:off x="3619424" y="2697480"/>
            <a:ext cx="2110664" cy="777240"/>
          </a:xfrm>
          <a:prstGeom prst="rect">
            <a:avLst/>
          </a:prstGeom>
          <a:noFill/>
          <a:ln/>
        </p:spPr>
        <p:txBody>
          <a:bodyPr wrap="square" lIns="0" tIns="0" rIns="0" bIns="0" rtlCol="0" anchor="t"/>
          <a:lstStyle/>
          <a:p>
            <a:pPr indent="0" marL="0">
              <a:buNone/>
            </a:pPr>
            <a:r>
              <a:rPr lang="en-US" sz="1500" dirty="0">
                <a:solidFill>
                  <a:schemeClr val="tx2"/>
                </a:solidFill>
              </a:rPr>
              <a:t>legacy features recovered, with no docs</a:t>
            </a:r>
            <a:endParaRPr lang="en-US" sz="1500" dirty="0"/>
          </a:p>
        </p:txBody>
      </p:sp>
      <p:sp>
        <p:nvSpPr>
          <p:cNvPr id="9" name="kpi-2-card"/>
          <p:cNvSpPr/>
          <p:nvPr/>
        </p:nvSpPr>
        <p:spPr>
          <a:xfrm>
            <a:off x="6233008" y="1600200"/>
            <a:ext cx="2567864" cy="2057400"/>
          </a:xfrm>
          <a:prstGeom prst="roundRect">
            <a:avLst>
              <a:gd name="adj" fmla="val 5333"/>
            </a:avLst>
          </a:prstGeom>
          <a:solidFill>
            <a:schemeClr val="bg2"/>
          </a:solidFill>
          <a:ln/>
        </p:spPr>
      </p:sp>
      <p:sp>
        <p:nvSpPr>
          <p:cNvPr id="10" name="kpi-2-value"/>
          <p:cNvSpPr txBox="1"/>
          <p:nvPr/>
        </p:nvSpPr>
        <p:spPr>
          <a:xfrm>
            <a:off x="6461608" y="1828800"/>
            <a:ext cx="2110664" cy="822960"/>
          </a:xfrm>
          <a:prstGeom prst="rect">
            <a:avLst/>
          </a:prstGeom>
          <a:noFill/>
          <a:ln/>
        </p:spPr>
        <p:txBody>
          <a:bodyPr wrap="square" lIns="0" tIns="0" rIns="0" bIns="0" rtlCol="0" anchor="t"/>
          <a:lstStyle/>
          <a:p>
            <a:pPr indent="0" marL="0">
              <a:buNone/>
            </a:pPr>
            <a:r>
              <a:rPr lang="en-US" sz="4800" b="1" dirty="0">
                <a:solidFill>
                  <a:schemeClr val="tx1"/>
                </a:solidFill>
              </a:rPr>
              <a:t>8</a:t>
            </a:r>
            <a:endParaRPr lang="en-US" sz="4800" dirty="0"/>
          </a:p>
        </p:txBody>
      </p:sp>
      <p:sp>
        <p:nvSpPr>
          <p:cNvPr id="11" name="kpi-2-label"/>
          <p:cNvSpPr txBox="1"/>
          <p:nvPr/>
        </p:nvSpPr>
        <p:spPr>
          <a:xfrm>
            <a:off x="6461608" y="2697480"/>
            <a:ext cx="2110664" cy="777240"/>
          </a:xfrm>
          <a:prstGeom prst="rect">
            <a:avLst/>
          </a:prstGeom>
          <a:noFill/>
          <a:ln/>
        </p:spPr>
        <p:txBody>
          <a:bodyPr wrap="square" lIns="0" tIns="0" rIns="0" bIns="0" rtlCol="0" anchor="t"/>
          <a:lstStyle/>
          <a:p>
            <a:pPr indent="0" marL="0">
              <a:buNone/>
            </a:pPr>
            <a:r>
              <a:rPr lang="en-US" sz="1500" dirty="0">
                <a:solidFill>
                  <a:schemeClr val="tx2"/>
                </a:solidFill>
              </a:rPr>
              <a:t>Slate exports analysed, about 25 MB</a:t>
            </a:r>
            <a:endParaRPr lang="en-US" sz="1500" dirty="0"/>
          </a:p>
        </p:txBody>
      </p:sp>
      <p:sp>
        <p:nvSpPr>
          <p:cNvPr id="12" name="kpi-3-card"/>
          <p:cNvSpPr/>
          <p:nvPr/>
        </p:nvSpPr>
        <p:spPr>
          <a:xfrm>
            <a:off x="9075191" y="1600200"/>
            <a:ext cx="2567864" cy="2057400"/>
          </a:xfrm>
          <a:prstGeom prst="roundRect">
            <a:avLst>
              <a:gd name="adj" fmla="val 5333"/>
            </a:avLst>
          </a:prstGeom>
          <a:solidFill>
            <a:schemeClr val="bg2"/>
          </a:solidFill>
          <a:ln/>
        </p:spPr>
      </p:sp>
      <p:sp>
        <p:nvSpPr>
          <p:cNvPr id="13" name="kpi-3-value"/>
          <p:cNvSpPr txBox="1"/>
          <p:nvPr/>
        </p:nvSpPr>
        <p:spPr>
          <a:xfrm>
            <a:off x="9303791" y="1828800"/>
            <a:ext cx="2110664" cy="822960"/>
          </a:xfrm>
          <a:prstGeom prst="rect">
            <a:avLst/>
          </a:prstGeom>
          <a:noFill/>
          <a:ln/>
        </p:spPr>
        <p:txBody>
          <a:bodyPr wrap="square" lIns="0" tIns="0" rIns="0" bIns="0" rtlCol="0" anchor="t"/>
          <a:lstStyle/>
          <a:p>
            <a:pPr indent="0" marL="0">
              <a:buNone/>
            </a:pPr>
            <a:r>
              <a:rPr lang="en-US" sz="4800" b="1" dirty="0">
                <a:solidFill>
                  <a:schemeClr val="tx1"/>
                </a:solidFill>
              </a:rPr>
              <a:t>75→1</a:t>
            </a:r>
            <a:endParaRPr lang="en-US" sz="4800" dirty="0"/>
          </a:p>
        </p:txBody>
      </p:sp>
      <p:sp>
        <p:nvSpPr>
          <p:cNvPr id="14" name="kpi-3-label"/>
          <p:cNvSpPr txBox="1"/>
          <p:nvPr/>
        </p:nvSpPr>
        <p:spPr>
          <a:xfrm>
            <a:off x="9303791" y="2697480"/>
            <a:ext cx="2110664" cy="777240"/>
          </a:xfrm>
          <a:prstGeom prst="rect">
            <a:avLst/>
          </a:prstGeom>
          <a:noFill/>
          <a:ln/>
        </p:spPr>
        <p:txBody>
          <a:bodyPr wrap="square" lIns="0" tIns="0" rIns="0" bIns="0" rtlCol="0" anchor="t"/>
          <a:lstStyle/>
          <a:p>
            <a:pPr indent="0" marL="0">
              <a:buNone/>
            </a:pPr>
            <a:r>
              <a:rPr lang="en-US" sz="1500" dirty="0">
                <a:solidFill>
                  <a:schemeClr val="tx2"/>
                </a:solidFill>
              </a:rPr>
              <a:t>React files packed into one AI context</a:t>
            </a:r>
            <a:endParaRPr lang="en-US" sz="1500" dirty="0"/>
          </a:p>
        </p:txBody>
      </p:sp>
      <p:sp>
        <p:nvSpPr>
          <p:cNvPr id="15" name="kpi-4-card"/>
          <p:cNvSpPr/>
          <p:nvPr/>
        </p:nvSpPr>
        <p:spPr>
          <a:xfrm>
            <a:off x="548640" y="3931920"/>
            <a:ext cx="2567864" cy="2057400"/>
          </a:xfrm>
          <a:prstGeom prst="roundRect">
            <a:avLst>
              <a:gd name="adj" fmla="val 5333"/>
            </a:avLst>
          </a:prstGeom>
          <a:solidFill>
            <a:schemeClr val="bg2"/>
          </a:solidFill>
          <a:ln/>
        </p:spPr>
      </p:sp>
      <p:sp>
        <p:nvSpPr>
          <p:cNvPr id="16" name="kpi-4-value"/>
          <p:cNvSpPr txBox="1"/>
          <p:nvPr/>
        </p:nvSpPr>
        <p:spPr>
          <a:xfrm>
            <a:off x="777240" y="4160520"/>
            <a:ext cx="2110664" cy="822960"/>
          </a:xfrm>
          <a:prstGeom prst="rect">
            <a:avLst/>
          </a:prstGeom>
          <a:noFill/>
          <a:ln/>
        </p:spPr>
        <p:txBody>
          <a:bodyPr wrap="square" lIns="0" tIns="0" rIns="0" bIns="0" rtlCol="0" anchor="t"/>
          <a:lstStyle/>
          <a:p>
            <a:pPr indent="0" marL="0">
              <a:buNone/>
            </a:pPr>
            <a:r>
              <a:rPr lang="en-US" sz="4800" b="1" dirty="0">
                <a:solidFill>
                  <a:schemeClr val="tx1"/>
                </a:solidFill>
              </a:rPr>
              <a:t>31</a:t>
            </a:r>
            <a:endParaRPr lang="en-US" sz="4800" dirty="0"/>
          </a:p>
        </p:txBody>
      </p:sp>
      <p:sp>
        <p:nvSpPr>
          <p:cNvPr id="17" name="kpi-4-label"/>
          <p:cNvSpPr txBox="1"/>
          <p:nvPr/>
        </p:nvSpPr>
        <p:spPr>
          <a:xfrm>
            <a:off x="777240" y="5029200"/>
            <a:ext cx="2110664" cy="777240"/>
          </a:xfrm>
          <a:prstGeom prst="rect">
            <a:avLst/>
          </a:prstGeom>
          <a:noFill/>
          <a:ln/>
        </p:spPr>
        <p:txBody>
          <a:bodyPr wrap="square" lIns="0" tIns="0" rIns="0" bIns="0" rtlCol="0" anchor="t"/>
          <a:lstStyle/>
          <a:p>
            <a:pPr indent="0" marL="0">
              <a:buNone/>
            </a:pPr>
            <a:r>
              <a:rPr lang="en-US" sz="1500" dirty="0">
                <a:solidFill>
                  <a:schemeClr val="tx2"/>
                </a:solidFill>
              </a:rPr>
              <a:t>gaps found and prioritised by AI review</a:t>
            </a:r>
            <a:endParaRPr lang="en-US" sz="1500" dirty="0"/>
          </a:p>
        </p:txBody>
      </p:sp>
      <p:sp>
        <p:nvSpPr>
          <p:cNvPr id="18" name="kpi-5-card"/>
          <p:cNvSpPr/>
          <p:nvPr/>
        </p:nvSpPr>
        <p:spPr>
          <a:xfrm>
            <a:off x="3390824" y="3931920"/>
            <a:ext cx="2567864" cy="2057400"/>
          </a:xfrm>
          <a:prstGeom prst="roundRect">
            <a:avLst>
              <a:gd name="adj" fmla="val 5333"/>
            </a:avLst>
          </a:prstGeom>
          <a:solidFill>
            <a:schemeClr val="bg2"/>
          </a:solidFill>
          <a:ln/>
        </p:spPr>
      </p:sp>
      <p:sp>
        <p:nvSpPr>
          <p:cNvPr id="19" name="kpi-5-value"/>
          <p:cNvSpPr txBox="1"/>
          <p:nvPr/>
        </p:nvSpPr>
        <p:spPr>
          <a:xfrm>
            <a:off x="3619424" y="4160520"/>
            <a:ext cx="2110664" cy="822960"/>
          </a:xfrm>
          <a:prstGeom prst="rect">
            <a:avLst/>
          </a:prstGeom>
          <a:noFill/>
          <a:ln/>
        </p:spPr>
        <p:txBody>
          <a:bodyPr wrap="square" lIns="0" tIns="0" rIns="0" bIns="0" rtlCol="0" anchor="t"/>
          <a:lstStyle/>
          <a:p>
            <a:pPr indent="0" marL="0">
              <a:buNone/>
            </a:pPr>
            <a:r>
              <a:rPr lang="en-US" sz="4800" b="1" dirty="0">
                <a:solidFill>
                  <a:schemeClr val="accent3"/>
                </a:solidFill>
              </a:rPr>
              <a:t>7</a:t>
            </a:r>
            <a:endParaRPr lang="en-US" sz="4800" dirty="0"/>
          </a:p>
        </p:txBody>
      </p:sp>
      <p:sp>
        <p:nvSpPr>
          <p:cNvPr id="20" name="kpi-5-label"/>
          <p:cNvSpPr txBox="1"/>
          <p:nvPr/>
        </p:nvSpPr>
        <p:spPr>
          <a:xfrm>
            <a:off x="3619424" y="5029200"/>
            <a:ext cx="2110664" cy="777240"/>
          </a:xfrm>
          <a:prstGeom prst="rect">
            <a:avLst/>
          </a:prstGeom>
          <a:noFill/>
          <a:ln/>
        </p:spPr>
        <p:txBody>
          <a:bodyPr wrap="square" lIns="0" tIns="0" rIns="0" bIns="0" rtlCol="0" anchor="t"/>
          <a:lstStyle/>
          <a:p>
            <a:pPr indent="0" marL="0">
              <a:buNone/>
            </a:pPr>
            <a:r>
              <a:rPr lang="en-US" sz="1500" dirty="0">
                <a:solidFill>
                  <a:schemeClr val="tx2"/>
                </a:solidFill>
              </a:rPr>
              <a:t>security and data issues caught in review</a:t>
            </a:r>
            <a:endParaRPr lang="en-US" sz="1500" dirty="0"/>
          </a:p>
        </p:txBody>
      </p:sp>
      <p:sp>
        <p:nvSpPr>
          <p:cNvPr id="21" name="kpi-6-card"/>
          <p:cNvSpPr/>
          <p:nvPr/>
        </p:nvSpPr>
        <p:spPr>
          <a:xfrm>
            <a:off x="6233008" y="3931920"/>
            <a:ext cx="2567864" cy="2057400"/>
          </a:xfrm>
          <a:prstGeom prst="roundRect">
            <a:avLst>
              <a:gd name="adj" fmla="val 5333"/>
            </a:avLst>
          </a:prstGeom>
          <a:solidFill>
            <a:schemeClr val="bg2"/>
          </a:solidFill>
          <a:ln/>
        </p:spPr>
      </p:sp>
      <p:sp>
        <p:nvSpPr>
          <p:cNvPr id="22" name="kpi-6-value"/>
          <p:cNvSpPr txBox="1"/>
          <p:nvPr/>
        </p:nvSpPr>
        <p:spPr>
          <a:xfrm>
            <a:off x="6461608" y="4160520"/>
            <a:ext cx="2110664" cy="822960"/>
          </a:xfrm>
          <a:prstGeom prst="rect">
            <a:avLst/>
          </a:prstGeom>
          <a:noFill/>
          <a:ln/>
        </p:spPr>
        <p:txBody>
          <a:bodyPr wrap="square" lIns="0" tIns="0" rIns="0" bIns="0" rtlCol="0" anchor="t"/>
          <a:lstStyle/>
          <a:p>
            <a:pPr indent="0" marL="0">
              <a:buNone/>
            </a:pPr>
            <a:r>
              <a:rPr lang="en-US" sz="4800" b="1" dirty="0">
                <a:solidFill>
                  <a:schemeClr val="tx1"/>
                </a:solidFill>
              </a:rPr>
              <a:t>11</a:t>
            </a:r>
            <a:endParaRPr lang="en-US" sz="4800" dirty="0"/>
          </a:p>
        </p:txBody>
      </p:sp>
      <p:sp>
        <p:nvSpPr>
          <p:cNvPr id="23" name="kpi-6-label"/>
          <p:cNvSpPr txBox="1"/>
          <p:nvPr/>
        </p:nvSpPr>
        <p:spPr>
          <a:xfrm>
            <a:off x="6461608" y="5029200"/>
            <a:ext cx="2110664" cy="777240"/>
          </a:xfrm>
          <a:prstGeom prst="rect">
            <a:avLst/>
          </a:prstGeom>
          <a:noFill/>
          <a:ln/>
        </p:spPr>
        <p:txBody>
          <a:bodyPr wrap="square" lIns="0" tIns="0" rIns="0" bIns="0" rtlCol="0" anchor="t"/>
          <a:lstStyle/>
          <a:p>
            <a:pPr indent="0" marL="0">
              <a:buNone/>
            </a:pPr>
            <a:r>
              <a:rPr lang="en-US" sz="1500" dirty="0">
                <a:solidFill>
                  <a:schemeClr val="tx2"/>
                </a:solidFill>
              </a:rPr>
              <a:t>new features beyond the old app</a:t>
            </a:r>
            <a:endParaRPr lang="en-US" sz="1500" dirty="0"/>
          </a:p>
        </p:txBody>
      </p:sp>
      <p:sp>
        <p:nvSpPr>
          <p:cNvPr id="24" name="kpi-7-card"/>
          <p:cNvSpPr/>
          <p:nvPr/>
        </p:nvSpPr>
        <p:spPr>
          <a:xfrm>
            <a:off x="9075191" y="3931920"/>
            <a:ext cx="2567864" cy="2057400"/>
          </a:xfrm>
          <a:prstGeom prst="roundRect">
            <a:avLst>
              <a:gd name="adj" fmla="val 5333"/>
            </a:avLst>
          </a:prstGeom>
          <a:solidFill>
            <a:schemeClr val="bg2"/>
          </a:solidFill>
          <a:ln/>
        </p:spPr>
      </p:sp>
      <p:sp>
        <p:nvSpPr>
          <p:cNvPr id="25" name="kpi-7-value"/>
          <p:cNvSpPr txBox="1"/>
          <p:nvPr/>
        </p:nvSpPr>
        <p:spPr>
          <a:xfrm>
            <a:off x="9303791" y="4160520"/>
            <a:ext cx="2110664" cy="822960"/>
          </a:xfrm>
          <a:prstGeom prst="rect">
            <a:avLst/>
          </a:prstGeom>
          <a:noFill/>
          <a:ln/>
        </p:spPr>
        <p:txBody>
          <a:bodyPr wrap="square" lIns="0" tIns="0" rIns="0" bIns="0" rtlCol="0" anchor="t"/>
          <a:lstStyle/>
          <a:p>
            <a:pPr indent="0" marL="0">
              <a:buNone/>
            </a:pPr>
            <a:r>
              <a:rPr lang="en-US" sz="4800" b="1" dirty="0">
                <a:solidFill>
                  <a:schemeClr val="tx1"/>
                </a:solidFill>
              </a:rPr>
              <a:t>0→10</a:t>
            </a:r>
            <a:endParaRPr lang="en-US" sz="4800" dirty="0"/>
          </a:p>
        </p:txBody>
      </p:sp>
      <p:sp>
        <p:nvSpPr>
          <p:cNvPr id="26" name="kpi-7-label"/>
          <p:cNvSpPr txBox="1"/>
          <p:nvPr/>
        </p:nvSpPr>
        <p:spPr>
          <a:xfrm>
            <a:off x="9303791" y="5029200"/>
            <a:ext cx="2110664" cy="777240"/>
          </a:xfrm>
          <a:prstGeom prst="rect">
            <a:avLst/>
          </a:prstGeom>
          <a:noFill/>
          <a:ln/>
        </p:spPr>
        <p:txBody>
          <a:bodyPr wrap="square" lIns="0" tIns="0" rIns="0" bIns="0" rtlCol="0" anchor="t"/>
          <a:lstStyle/>
          <a:p>
            <a:pPr indent="0" marL="0">
              <a:buNone/>
            </a:pPr>
            <a:r>
              <a:rPr lang="en-US" sz="1500" dirty="0">
                <a:solidFill>
                  <a:schemeClr val="tx2"/>
                </a:solidFill>
              </a:rPr>
              <a:t>documents: 8 diagrams and 2 guides</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3" fill="hold">
                      <p:stCondLst>
                        <p:cond delay="indefinite"/>
                        <p:cond evt="onBegin" delay="0">
                          <p:tn val="2"/>
                        </p:cond>
                      </p:stCondLst>
                      <p:childTnLst>
                        <p:par>
                          <p:cTn id="1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5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50"/>
                                        <p:tgtEl>
                                          <p:spTgt spid="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50"/>
                                        <p:tgtEl>
                                          <p:spTgt spid="5"/>
                                        </p:tgtEl>
                                      </p:cBhvr>
                                    </p:animEffect>
                                  </p:childTnLst>
                                </p:cTn>
                              </p:par>
                            </p:childTnLst>
                          </p:cTn>
                        </p:par>
                        <p:par>
                          <p:cTn id="22" fill="hold">
                            <p:stCondLst>
                              <p:cond delay="3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childTnLst>
                          </p:cTn>
                        </p:par>
                        <p:par>
                          <p:cTn id="32" fill="hold">
                            <p:stCondLst>
                              <p:cond delay="600"/>
                            </p:stCondLst>
                            <p:childTnLst>
                              <p:par>
                                <p:cTn id="23" presetID="10" presetClass="entr" presetSubtype="0"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50"/>
                                        <p:tgtEl>
                                          <p:spTgt spid="11"/>
                                        </p:tgtEl>
                                      </p:cBhvr>
                                    </p:animEffect>
                                  </p:childTnLst>
                                </p:cTn>
                              </p:par>
                            </p:childTnLst>
                          </p:cTn>
                        </p:par>
                        <p:par>
                          <p:cTn id="42" fill="hold">
                            <p:stCondLst>
                              <p:cond delay="900"/>
                            </p:stCondLst>
                            <p:childTnLst>
                              <p:par>
                                <p:cTn id="33" presetID="10" presetClass="entr" presetSubtype="0"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50"/>
                                        <p:tgtEl>
                                          <p:spTgt spid="14"/>
                                        </p:tgtEl>
                                      </p:cBhvr>
                                    </p:animEffect>
                                  </p:childTnLst>
                                </p:cTn>
                              </p:par>
                            </p:childTnLst>
                          </p:cTn>
                        </p:par>
                        <p:par>
                          <p:cTn id="52" fill="hold">
                            <p:stCondLst>
                              <p:cond delay="1200"/>
                            </p:stCondLst>
                            <p:childTnLst>
                              <p:par>
                                <p:cTn id="43" presetID="10" presetClass="entr" presetSubtype="0" fill="hold" grpId="0" nodeType="after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5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5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50"/>
                                        <p:tgtEl>
                                          <p:spTgt spid="17"/>
                                        </p:tgtEl>
                                      </p:cBhvr>
                                    </p:animEffect>
                                  </p:childTnLst>
                                </p:cTn>
                              </p:par>
                            </p:childTnLst>
                          </p:cTn>
                        </p:par>
                        <p:par>
                          <p:cTn id="62" fill="hold">
                            <p:stCondLst>
                              <p:cond delay="1500"/>
                            </p:stCondLst>
                            <p:childTnLst>
                              <p:par>
                                <p:cTn id="53" presetID="10" presetClass="entr" presetSubtype="0" fill="hold" grpId="0" nodeType="after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450"/>
                                        <p:tgtEl>
                                          <p:spTgt spid="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450"/>
                                        <p:tgtEl>
                                          <p:spTgt spid="1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450"/>
                                        <p:tgtEl>
                                          <p:spTgt spid="20"/>
                                        </p:tgtEl>
                                      </p:cBhvr>
                                    </p:animEffect>
                                  </p:childTnLst>
                                </p:cTn>
                              </p:par>
                            </p:childTnLst>
                          </p:cTn>
                        </p:par>
                        <p:par>
                          <p:cTn id="72" fill="hold">
                            <p:stCondLst>
                              <p:cond delay="1800"/>
                            </p:stCondLst>
                            <p:childTnLst>
                              <p:par>
                                <p:cTn id="63" presetID="10" presetClass="entr" presetSubtype="0" fill="hold" grpId="0" nodeType="after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45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450"/>
                                        <p:tgtEl>
                                          <p:spTgt spid="2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50"/>
                                        <p:tgtEl>
                                          <p:spTgt spid="23"/>
                                        </p:tgtEl>
                                      </p:cBhvr>
                                    </p:animEffect>
                                  </p:childTnLst>
                                </p:cTn>
                              </p:par>
                            </p:childTnLst>
                          </p:cTn>
                        </p:par>
                        <p:par>
                          <p:cTn id="82" fill="hold">
                            <p:stCondLst>
                              <p:cond delay="2100"/>
                            </p:stCondLst>
                            <p:childTnLst>
                              <p:par>
                                <p:cTn id="73" presetID="10" presetClass="entr" presetSubtype="0" fill="hold" grpId="0" nodeType="after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450"/>
                                        <p:tgtEl>
                                          <p:spTgt spid="2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450"/>
                                        <p:tgtEl>
                                          <p:spTgt spid="2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Effort saved: about 76%, or ~$80K</a:t>
            </a:r>
            <a:endParaRPr lang="en-US" sz="3600" dirty="0"/>
          </a:p>
        </p:txBody>
      </p:sp>
      <p:sp>
        <p:nvSpPr>
          <p:cNvPr id="3" name="effort-0-card"/>
          <p:cNvSpPr/>
          <p:nvPr/>
        </p:nvSpPr>
        <p:spPr>
          <a:xfrm>
            <a:off x="548640" y="1600200"/>
            <a:ext cx="3515258" cy="2286000"/>
          </a:xfrm>
          <a:prstGeom prst="roundRect">
            <a:avLst>
              <a:gd name="adj" fmla="val 4800"/>
            </a:avLst>
          </a:prstGeom>
          <a:solidFill>
            <a:schemeClr val="bg1"/>
          </a:solidFill>
          <a:ln/>
        </p:spPr>
      </p:sp>
      <p:sp>
        <p:nvSpPr>
          <p:cNvPr id="4" name="effort-0-value"/>
          <p:cNvSpPr txBox="1"/>
          <p:nvPr/>
        </p:nvSpPr>
        <p:spPr>
          <a:xfrm>
            <a:off x="868680" y="1874520"/>
            <a:ext cx="2875178" cy="868680"/>
          </a:xfrm>
          <a:prstGeom prst="rect">
            <a:avLst/>
          </a:prstGeom>
          <a:noFill/>
          <a:ln/>
        </p:spPr>
        <p:txBody>
          <a:bodyPr wrap="square" lIns="0" tIns="0" rIns="0" bIns="0" rtlCol="0" anchor="t"/>
          <a:lstStyle/>
          <a:p>
            <a:pPr indent="0" marL="0">
              <a:buNone/>
            </a:pPr>
            <a:r>
              <a:rPr lang="en-US" sz="4800" b="1" dirty="0">
                <a:solidFill>
                  <a:schemeClr val="tx1"/>
                </a:solidFill>
              </a:rPr>
              <a:t>~17</a:t>
            </a:r>
            <a:endParaRPr lang="en-US" sz="4800" dirty="0"/>
          </a:p>
        </p:txBody>
      </p:sp>
      <p:sp>
        <p:nvSpPr>
          <p:cNvPr id="5" name="effort-0-label"/>
          <p:cNvSpPr txBox="1"/>
          <p:nvPr/>
        </p:nvSpPr>
        <p:spPr>
          <a:xfrm>
            <a:off x="868680" y="2788920"/>
            <a:ext cx="2875178" cy="411480"/>
          </a:xfrm>
          <a:prstGeom prst="rect">
            <a:avLst/>
          </a:prstGeom>
          <a:noFill/>
          <a:ln/>
        </p:spPr>
        <p:txBody>
          <a:bodyPr wrap="square" lIns="0" tIns="0" rIns="0" bIns="0" rtlCol="0" anchor="t"/>
          <a:lstStyle/>
          <a:p>
            <a:pPr indent="0" marL="0">
              <a:buNone/>
            </a:pPr>
            <a:r>
              <a:rPr lang="en-US" sz="1800" b="1" dirty="0">
                <a:solidFill>
                  <a:schemeClr val="tx1"/>
                </a:solidFill>
              </a:rPr>
              <a:t>Manual estimate</a:t>
            </a:r>
            <a:endParaRPr lang="en-US" sz="1800" dirty="0"/>
          </a:p>
        </p:txBody>
      </p:sp>
      <p:sp>
        <p:nvSpPr>
          <p:cNvPr id="6" name="effort-0-sub"/>
          <p:cNvSpPr txBox="1"/>
          <p:nvPr/>
        </p:nvSpPr>
        <p:spPr>
          <a:xfrm>
            <a:off x="868680" y="3200400"/>
            <a:ext cx="2875178" cy="548640"/>
          </a:xfrm>
          <a:prstGeom prst="rect">
            <a:avLst/>
          </a:prstGeom>
          <a:noFill/>
          <a:ln/>
        </p:spPr>
        <p:txBody>
          <a:bodyPr wrap="square" lIns="0" tIns="0" rIns="0" bIns="0" rtlCol="0" anchor="t"/>
          <a:lstStyle/>
          <a:p>
            <a:pPr indent="0" marL="0">
              <a:buNone/>
            </a:pPr>
            <a:r>
              <a:rPr lang="en-US" sz="1400" dirty="0">
                <a:solidFill>
                  <a:schemeClr val="tx2"/>
                </a:solidFill>
              </a:rPr>
              <a:t>sprints, ≈ 340 person-days ≈ $105K</a:t>
            </a:r>
            <a:endParaRPr lang="en-US" sz="1400" dirty="0"/>
          </a:p>
        </p:txBody>
      </p:sp>
      <p:sp>
        <p:nvSpPr>
          <p:cNvPr id="7" name="effort-1-card"/>
          <p:cNvSpPr/>
          <p:nvPr/>
        </p:nvSpPr>
        <p:spPr>
          <a:xfrm>
            <a:off x="4338218" y="1600200"/>
            <a:ext cx="3515258" cy="2286000"/>
          </a:xfrm>
          <a:prstGeom prst="roundRect">
            <a:avLst>
              <a:gd name="adj" fmla="val 4800"/>
            </a:avLst>
          </a:prstGeom>
          <a:solidFill>
            <a:schemeClr val="bg1"/>
          </a:solidFill>
          <a:ln/>
        </p:spPr>
      </p:sp>
      <p:sp>
        <p:nvSpPr>
          <p:cNvPr id="8" name="effort-1-value"/>
          <p:cNvSpPr txBox="1"/>
          <p:nvPr/>
        </p:nvSpPr>
        <p:spPr>
          <a:xfrm>
            <a:off x="4658258" y="1874520"/>
            <a:ext cx="2875178" cy="868680"/>
          </a:xfrm>
          <a:prstGeom prst="rect">
            <a:avLst/>
          </a:prstGeom>
          <a:noFill/>
          <a:ln/>
        </p:spPr>
        <p:txBody>
          <a:bodyPr wrap="square" lIns="0" tIns="0" rIns="0" bIns="0" rtlCol="0" anchor="t"/>
          <a:lstStyle/>
          <a:p>
            <a:pPr indent="0" marL="0">
              <a:buNone/>
            </a:pPr>
            <a:r>
              <a:rPr lang="en-US" sz="4800" b="1" dirty="0">
                <a:solidFill>
                  <a:schemeClr val="tx1"/>
                </a:solidFill>
              </a:rPr>
              <a:t>4</a:t>
            </a:r>
            <a:endParaRPr lang="en-US" sz="4800" dirty="0"/>
          </a:p>
        </p:txBody>
      </p:sp>
      <p:sp>
        <p:nvSpPr>
          <p:cNvPr id="9" name="effort-1-label"/>
          <p:cNvSpPr txBox="1"/>
          <p:nvPr/>
        </p:nvSpPr>
        <p:spPr>
          <a:xfrm>
            <a:off x="4658258" y="2788920"/>
            <a:ext cx="2875178" cy="411480"/>
          </a:xfrm>
          <a:prstGeom prst="rect">
            <a:avLst/>
          </a:prstGeom>
          <a:noFill/>
          <a:ln/>
        </p:spPr>
        <p:txBody>
          <a:bodyPr wrap="square" lIns="0" tIns="0" rIns="0" bIns="0" rtlCol="0" anchor="t"/>
          <a:lstStyle/>
          <a:p>
            <a:pPr indent="0" marL="0">
              <a:buNone/>
            </a:pPr>
            <a:r>
              <a:rPr lang="en-US" sz="1800" b="1" dirty="0">
                <a:solidFill>
                  <a:schemeClr val="tx1"/>
                </a:solidFill>
              </a:rPr>
              <a:t>Actual with AI</a:t>
            </a:r>
            <a:endParaRPr lang="en-US" sz="1800" dirty="0"/>
          </a:p>
        </p:txBody>
      </p:sp>
      <p:sp>
        <p:nvSpPr>
          <p:cNvPr id="10" name="effort-1-sub"/>
          <p:cNvSpPr txBox="1"/>
          <p:nvPr/>
        </p:nvSpPr>
        <p:spPr>
          <a:xfrm>
            <a:off x="4658258" y="3200400"/>
            <a:ext cx="2875178" cy="548640"/>
          </a:xfrm>
          <a:prstGeom prst="rect">
            <a:avLst/>
          </a:prstGeom>
          <a:noFill/>
          <a:ln/>
        </p:spPr>
        <p:txBody>
          <a:bodyPr wrap="square" lIns="0" tIns="0" rIns="0" bIns="0" rtlCol="0" anchor="t"/>
          <a:lstStyle/>
          <a:p>
            <a:pPr indent="0" marL="0">
              <a:buNone/>
            </a:pPr>
            <a:r>
              <a:rPr lang="en-US" sz="1400" dirty="0">
                <a:solidFill>
                  <a:schemeClr val="tx2"/>
                </a:solidFill>
              </a:rPr>
              <a:t>sprints, ≈ 80 person-days ≈ $25K</a:t>
            </a:r>
            <a:endParaRPr lang="en-US" sz="1400" dirty="0"/>
          </a:p>
        </p:txBody>
      </p:sp>
      <p:sp>
        <p:nvSpPr>
          <p:cNvPr id="11" name="effort-2-card"/>
          <p:cNvSpPr/>
          <p:nvPr/>
        </p:nvSpPr>
        <p:spPr>
          <a:xfrm>
            <a:off x="8127797" y="1600200"/>
            <a:ext cx="3515258" cy="2286000"/>
          </a:xfrm>
          <a:prstGeom prst="roundRect">
            <a:avLst>
              <a:gd name="adj" fmla="val 4800"/>
            </a:avLst>
          </a:prstGeom>
          <a:solidFill>
            <a:schemeClr val="tx1"/>
          </a:solidFill>
          <a:ln/>
        </p:spPr>
      </p:sp>
      <p:sp>
        <p:nvSpPr>
          <p:cNvPr id="12" name="effort-2-value"/>
          <p:cNvSpPr txBox="1"/>
          <p:nvPr/>
        </p:nvSpPr>
        <p:spPr>
          <a:xfrm>
            <a:off x="8447837" y="1874520"/>
            <a:ext cx="2875178" cy="868680"/>
          </a:xfrm>
          <a:prstGeom prst="rect">
            <a:avLst/>
          </a:prstGeom>
          <a:noFill/>
          <a:ln/>
        </p:spPr>
        <p:txBody>
          <a:bodyPr wrap="square" lIns="0" tIns="0" rIns="0" bIns="0" rtlCol="0" anchor="t"/>
          <a:lstStyle/>
          <a:p>
            <a:pPr indent="0" marL="0">
              <a:buNone/>
            </a:pPr>
            <a:r>
              <a:rPr lang="en-US" sz="4800" b="1" dirty="0">
                <a:solidFill>
                  <a:schemeClr val="accent5"/>
                </a:solidFill>
              </a:rPr>
              <a:t>~$80K</a:t>
            </a:r>
            <a:endParaRPr lang="en-US" sz="4800" dirty="0"/>
          </a:p>
        </p:txBody>
      </p:sp>
      <p:sp>
        <p:nvSpPr>
          <p:cNvPr id="13" name="effort-2-label"/>
          <p:cNvSpPr txBox="1"/>
          <p:nvPr/>
        </p:nvSpPr>
        <p:spPr>
          <a:xfrm>
            <a:off x="8447837" y="2788920"/>
            <a:ext cx="2875178" cy="411480"/>
          </a:xfrm>
          <a:prstGeom prst="rect">
            <a:avLst/>
          </a:prstGeom>
          <a:noFill/>
          <a:ln/>
        </p:spPr>
        <p:txBody>
          <a:bodyPr wrap="square" lIns="0" tIns="0" rIns="0" bIns="0" rtlCol="0" anchor="t"/>
          <a:lstStyle/>
          <a:p>
            <a:pPr indent="0" marL="0">
              <a:buNone/>
            </a:pPr>
            <a:r>
              <a:rPr lang="en-US" sz="1800" b="1" dirty="0">
                <a:solidFill>
                  <a:schemeClr val="bg1"/>
                </a:solidFill>
              </a:rPr>
              <a:t>Saved</a:t>
            </a:r>
            <a:endParaRPr lang="en-US" sz="1800" dirty="0"/>
          </a:p>
        </p:txBody>
      </p:sp>
      <p:sp>
        <p:nvSpPr>
          <p:cNvPr id="14" name="effort-2-sub"/>
          <p:cNvSpPr txBox="1"/>
          <p:nvPr/>
        </p:nvSpPr>
        <p:spPr>
          <a:xfrm>
            <a:off x="8447837" y="3200400"/>
            <a:ext cx="2875178" cy="548640"/>
          </a:xfrm>
          <a:prstGeom prst="rect">
            <a:avLst/>
          </a:prstGeom>
          <a:noFill/>
          <a:ln/>
        </p:spPr>
        <p:txBody>
          <a:bodyPr wrap="square" lIns="0" tIns="0" rIns="0" bIns="0" rtlCol="0" anchor="t"/>
          <a:lstStyle/>
          <a:p>
            <a:pPr indent="0" marL="0">
              <a:buNone/>
            </a:pPr>
            <a:r>
              <a:rPr lang="en-US" sz="1400" dirty="0">
                <a:solidFill>
                  <a:schemeClr val="accent5"/>
                </a:solidFill>
              </a:rPr>
              <a:t>about 76% less effort: (17 − 4) ÷ 17</a:t>
            </a:r>
            <a:endParaRPr lang="en-US" sz="1400" dirty="0"/>
          </a:p>
        </p:txBody>
      </p:sp>
      <p:sp>
        <p:nvSpPr>
          <p:cNvPr id="15" name="where-title"/>
          <p:cNvSpPr txBox="1"/>
          <p:nvPr/>
        </p:nvSpPr>
        <p:spPr>
          <a:xfrm>
            <a:off x="548640" y="4206240"/>
            <a:ext cx="11094415" cy="411480"/>
          </a:xfrm>
          <a:prstGeom prst="rect">
            <a:avLst/>
          </a:prstGeom>
          <a:noFill/>
          <a:ln/>
        </p:spPr>
        <p:txBody>
          <a:bodyPr wrap="square" lIns="0" tIns="0" rIns="0" bIns="0" rtlCol="0" anchor="t"/>
          <a:lstStyle/>
          <a:p>
            <a:pPr indent="0" marL="0">
              <a:buNone/>
            </a:pPr>
            <a:r>
              <a:rPr lang="en-US" sz="2000" b="1" dirty="0">
                <a:solidFill>
                  <a:schemeClr val="tx1"/>
                </a:solidFill>
              </a:rPr>
              <a:t>Where the AI saved the most time</a:t>
            </a:r>
            <a:endParaRPr lang="en-US" sz="2000" dirty="0"/>
          </a:p>
        </p:txBody>
      </p:sp>
      <p:sp>
        <p:nvSpPr>
          <p:cNvPr id="16" name="where-0-title"/>
          <p:cNvSpPr txBox="1"/>
          <p:nvPr/>
        </p:nvSpPr>
        <p:spPr>
          <a:xfrm>
            <a:off x="548640" y="4754880"/>
            <a:ext cx="3515258" cy="365760"/>
          </a:xfrm>
          <a:prstGeom prst="rect">
            <a:avLst/>
          </a:prstGeom>
          <a:noFill/>
          <a:ln/>
        </p:spPr>
        <p:txBody>
          <a:bodyPr wrap="square" lIns="0" tIns="0" rIns="0" bIns="0" rtlCol="0" anchor="t"/>
          <a:lstStyle/>
          <a:p>
            <a:pPr indent="0" marL="0">
              <a:buNone/>
            </a:pPr>
            <a:r>
              <a:rPr lang="en-US" sz="1600" b="1" dirty="0">
                <a:solidFill>
                  <a:schemeClr val="accent3"/>
                </a:solidFill>
              </a:rPr>
              <a:t>Discovery</a:t>
            </a:r>
            <a:endParaRPr lang="en-US" sz="1600" dirty="0"/>
          </a:p>
        </p:txBody>
      </p:sp>
      <p:sp>
        <p:nvSpPr>
          <p:cNvPr id="17" name="where-0-body"/>
          <p:cNvSpPr txBox="1"/>
          <p:nvPr/>
        </p:nvSpPr>
        <p:spPr>
          <a:xfrm>
            <a:off x="548640" y="5138928"/>
            <a:ext cx="3515258" cy="685800"/>
          </a:xfrm>
          <a:prstGeom prst="rect">
            <a:avLst/>
          </a:prstGeom>
          <a:noFill/>
          <a:ln/>
        </p:spPr>
        <p:txBody>
          <a:bodyPr wrap="square" lIns="0" tIns="0" rIns="0" bIns="0" rtlCol="0" anchor="t"/>
          <a:lstStyle/>
          <a:p>
            <a:pPr indent="0" marL="0">
              <a:buNone/>
            </a:pPr>
            <a:r>
              <a:rPr lang="en-US" sz="1500" dirty="0">
                <a:solidFill>
                  <a:schemeClr val="tx2"/>
                </a:solidFill>
              </a:rPr>
              <a:t>105 features catalogued from the exports, with no docs to read</a:t>
            </a:r>
            <a:endParaRPr lang="en-US" sz="1500" dirty="0"/>
          </a:p>
        </p:txBody>
      </p:sp>
      <p:sp>
        <p:nvSpPr>
          <p:cNvPr id="18" name="where-1-title"/>
          <p:cNvSpPr txBox="1"/>
          <p:nvPr/>
        </p:nvSpPr>
        <p:spPr>
          <a:xfrm>
            <a:off x="4338218" y="4754880"/>
            <a:ext cx="3515258" cy="365760"/>
          </a:xfrm>
          <a:prstGeom prst="rect">
            <a:avLst/>
          </a:prstGeom>
          <a:noFill/>
          <a:ln/>
        </p:spPr>
        <p:txBody>
          <a:bodyPr wrap="square" lIns="0" tIns="0" rIns="0" bIns="0" rtlCol="0" anchor="t"/>
          <a:lstStyle/>
          <a:p>
            <a:pPr indent="0" marL="0">
              <a:buNone/>
            </a:pPr>
            <a:r>
              <a:rPr lang="en-US" sz="1600" b="1" dirty="0">
                <a:solidFill>
                  <a:schemeClr val="accent3"/>
                </a:solidFill>
              </a:rPr>
              <a:t>Gap analysis</a:t>
            </a:r>
            <a:endParaRPr lang="en-US" sz="1600" dirty="0"/>
          </a:p>
        </p:txBody>
      </p:sp>
      <p:sp>
        <p:nvSpPr>
          <p:cNvPr id="19" name="where-1-body"/>
          <p:cNvSpPr txBox="1"/>
          <p:nvPr/>
        </p:nvSpPr>
        <p:spPr>
          <a:xfrm>
            <a:off x="4338218" y="5138928"/>
            <a:ext cx="3515258" cy="685800"/>
          </a:xfrm>
          <a:prstGeom prst="rect">
            <a:avLst/>
          </a:prstGeom>
          <a:noFill/>
          <a:ln/>
        </p:spPr>
        <p:txBody>
          <a:bodyPr wrap="square" lIns="0" tIns="0" rIns="0" bIns="0" rtlCol="0" anchor="t"/>
          <a:lstStyle/>
          <a:p>
            <a:pPr indent="0" marL="0">
              <a:buNone/>
            </a:pPr>
            <a:r>
              <a:rPr lang="en-US" sz="1500" dirty="0">
                <a:solidFill>
                  <a:schemeClr val="tx2"/>
                </a:solidFill>
              </a:rPr>
              <a:t>Every feature checked against the packed React code</a:t>
            </a:r>
            <a:endParaRPr lang="en-US" sz="1500" dirty="0"/>
          </a:p>
        </p:txBody>
      </p:sp>
      <p:sp>
        <p:nvSpPr>
          <p:cNvPr id="20" name="where-2-title"/>
          <p:cNvSpPr txBox="1"/>
          <p:nvPr/>
        </p:nvSpPr>
        <p:spPr>
          <a:xfrm>
            <a:off x="8127797" y="4754880"/>
            <a:ext cx="3515258" cy="365760"/>
          </a:xfrm>
          <a:prstGeom prst="rect">
            <a:avLst/>
          </a:prstGeom>
          <a:noFill/>
          <a:ln/>
        </p:spPr>
        <p:txBody>
          <a:bodyPr wrap="square" lIns="0" tIns="0" rIns="0" bIns="0" rtlCol="0" anchor="t"/>
          <a:lstStyle/>
          <a:p>
            <a:pPr indent="0" marL="0">
              <a:buNone/>
            </a:pPr>
            <a:r>
              <a:rPr lang="en-US" sz="1600" b="1" dirty="0">
                <a:solidFill>
                  <a:schemeClr val="accent3"/>
                </a:solidFill>
              </a:rPr>
              <a:t>Documentation</a:t>
            </a:r>
            <a:endParaRPr lang="en-US" sz="1600" dirty="0"/>
          </a:p>
        </p:txBody>
      </p:sp>
      <p:sp>
        <p:nvSpPr>
          <p:cNvPr id="21" name="where-2-body"/>
          <p:cNvSpPr txBox="1"/>
          <p:nvPr/>
        </p:nvSpPr>
        <p:spPr>
          <a:xfrm>
            <a:off x="8127797" y="5138928"/>
            <a:ext cx="3515258" cy="685800"/>
          </a:xfrm>
          <a:prstGeom prst="rect">
            <a:avLst/>
          </a:prstGeom>
          <a:noFill/>
          <a:ln/>
        </p:spPr>
        <p:txBody>
          <a:bodyPr wrap="square" lIns="0" tIns="0" rIns="0" bIns="0" rtlCol="0" anchor="t"/>
          <a:lstStyle/>
          <a:p>
            <a:pPr indent="0" marL="0">
              <a:buNone/>
            </a:pPr>
            <a:r>
              <a:rPr lang="en-US" sz="1500" dirty="0">
                <a:solidFill>
                  <a:schemeClr val="tx2"/>
                </a:solidFill>
              </a:rPr>
              <a:t>8 architecture and lifecycle diagrams produced alongside the work</a:t>
            </a:r>
            <a:endParaRPr lang="en-US" sz="1500" dirty="0"/>
          </a:p>
        </p:txBody>
      </p:sp>
      <p:sp>
        <p:nvSpPr>
          <p:cNvPr id="22" name="effort-assumptions"/>
          <p:cNvSpPr txBox="1"/>
          <p:nvPr/>
        </p:nvSpPr>
        <p:spPr>
          <a:xfrm>
            <a:off x="548640" y="5989320"/>
            <a:ext cx="11094415" cy="457200"/>
          </a:xfrm>
          <a:prstGeom prst="rect">
            <a:avLst/>
          </a:prstGeom>
          <a:noFill/>
          <a:ln/>
        </p:spPr>
        <p:txBody>
          <a:bodyPr wrap="square" lIns="0" tIns="0" rIns="0" bIns="0" rtlCol="0" anchor="t"/>
          <a:lstStyle/>
          <a:p>
            <a:pPr indent="0" marL="0">
              <a:buNone/>
            </a:pPr>
            <a:r>
              <a:rPr lang="en-US" sz="1100" i="1" dirty="0">
                <a:solidFill>
                  <a:schemeClr val="tx2"/>
                </a:solidFill>
              </a:rPr>
              <a:t>Generic estimate, not a measured baseline: 105 features × (0.5 day discovery + 2 days build + 0.5 day parity testing) + 25 days documentation ≈ 340 person-days. 2 developers, 2-week sprints = 20 person-days per sprint; 1 PI = 4 sprints; $38.50 per hour, 8 hours a day.</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7" fill="hold">
                      <p:stCondLst>
                        <p:cond delay="indefinite"/>
                        <p:cond evt="onBegin" delay="0">
                          <p:tn val="2"/>
                        </p:cond>
                      </p:stCondLst>
                      <p:childTnLst>
                        <p:par>
                          <p:cTn id="1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5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50"/>
                                        <p:tgtEl>
                                          <p:spTgt spid="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5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50"/>
                                        <p:tgtEl>
                                          <p:spTgt spid="6"/>
                                        </p:tgtEl>
                                      </p:cBhvr>
                                    </p:animEffect>
                                  </p:childTnLst>
                                </p:cTn>
                              </p:par>
                            </p:childTnLst>
                          </p:cTn>
                        </p:par>
                        <p:par>
                          <p:cTn id="28"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childTnLst>
                          </p:cTn>
                        </p:par>
                        <p:par>
                          <p:cTn id="41" fill="hold">
                            <p:stCondLst>
                              <p:cond delay="1000"/>
                            </p:stCondLst>
                            <p:childTnLst>
                              <p:par>
                                <p:cTn id="29" presetID="10" presetClass="entr" presetSubtype="0"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5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5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5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50"/>
                                        <p:tgtEl>
                                          <p:spTgt spid="14"/>
                                        </p:tgtEl>
                                      </p:cBhvr>
                                    </p:animEffect>
                                  </p:childTnLst>
                                </p:cTn>
                              </p:par>
                            </p:childTnLst>
                          </p:cTn>
                        </p:par>
                        <p:par>
                          <p:cTn id="66" fill="hold">
                            <p:stCondLst>
                              <p:cond delay="1500"/>
                            </p:stCondLst>
                            <p:childTnLst>
                              <p:par>
                                <p:cTn id="42" presetID="10" presetClass="entr" presetSubtype="0"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45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45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5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45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45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450"/>
                                        <p:tgtEl>
                                          <p:spTgt spid="2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450"/>
                                        <p:tgtEl>
                                          <p:spTgt spid="21"/>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Faster to build, cheaper to run</a:t>
            </a:r>
            <a:endParaRPr lang="en-US" sz="3600" dirty="0"/>
          </a:p>
        </p:txBody>
      </p:sp>
      <p:sp>
        <p:nvSpPr>
          <p:cNvPr id="3" name="ease-0-card"/>
          <p:cNvSpPr/>
          <p:nvPr/>
        </p:nvSpPr>
        <p:spPr>
          <a:xfrm>
            <a:off x="548640" y="1371600"/>
            <a:ext cx="2567864" cy="1554480"/>
          </a:xfrm>
          <a:prstGeom prst="roundRect">
            <a:avLst>
              <a:gd name="adj" fmla="val 7059"/>
            </a:avLst>
          </a:prstGeom>
          <a:solidFill>
            <a:schemeClr val="bg1"/>
          </a:solidFill>
          <a:ln/>
        </p:spPr>
      </p:sp>
      <p:sp>
        <p:nvSpPr>
          <p:cNvPr id="4" name="ease-0-value"/>
          <p:cNvSpPr txBox="1"/>
          <p:nvPr/>
        </p:nvSpPr>
        <p:spPr>
          <a:xfrm>
            <a:off x="749808" y="1481328"/>
            <a:ext cx="2165528" cy="640080"/>
          </a:xfrm>
          <a:prstGeom prst="rect">
            <a:avLst/>
          </a:prstGeom>
          <a:noFill/>
          <a:ln/>
        </p:spPr>
        <p:txBody>
          <a:bodyPr wrap="square" lIns="0" tIns="0" rIns="0" bIns="0" rtlCol="0" anchor="t"/>
          <a:lstStyle/>
          <a:p>
            <a:pPr indent="0" marL="0">
              <a:buNone/>
            </a:pPr>
            <a:r>
              <a:rPr lang="en-US" sz="3400" b="1" dirty="0">
                <a:solidFill>
                  <a:schemeClr val="accent3"/>
                </a:solidFill>
              </a:rPr>
              <a:t>11</a:t>
            </a:r>
            <a:endParaRPr lang="en-US" sz="3400" dirty="0"/>
          </a:p>
        </p:txBody>
      </p:sp>
      <p:sp>
        <p:nvSpPr>
          <p:cNvPr id="5" name="ease-0-label"/>
          <p:cNvSpPr txBox="1"/>
          <p:nvPr/>
        </p:nvSpPr>
        <p:spPr>
          <a:xfrm>
            <a:off x="749808" y="2148840"/>
            <a:ext cx="2165528" cy="685800"/>
          </a:xfrm>
          <a:prstGeom prst="rect">
            <a:avLst/>
          </a:prstGeom>
          <a:noFill/>
          <a:ln/>
        </p:spPr>
        <p:txBody>
          <a:bodyPr wrap="square" lIns="0" tIns="0" rIns="0" bIns="0" rtlCol="0" anchor="t"/>
          <a:lstStyle/>
          <a:p>
            <a:pPr indent="0" marL="0">
              <a:buNone/>
            </a:pPr>
            <a:r>
              <a:rPr lang="en-US" sz="1300" dirty="0">
                <a:solidFill>
                  <a:schemeClr val="tx2"/>
                </a:solidFill>
              </a:rPr>
              <a:t>new features Slate never had, built in the same PI</a:t>
            </a:r>
            <a:endParaRPr lang="en-US" sz="1300" dirty="0"/>
          </a:p>
        </p:txBody>
      </p:sp>
      <p:sp>
        <p:nvSpPr>
          <p:cNvPr id="6" name="ease-1-card"/>
          <p:cNvSpPr/>
          <p:nvPr/>
        </p:nvSpPr>
        <p:spPr>
          <a:xfrm>
            <a:off x="3390824" y="1371600"/>
            <a:ext cx="2567864" cy="1554480"/>
          </a:xfrm>
          <a:prstGeom prst="roundRect">
            <a:avLst>
              <a:gd name="adj" fmla="val 7059"/>
            </a:avLst>
          </a:prstGeom>
          <a:solidFill>
            <a:schemeClr val="bg1"/>
          </a:solidFill>
          <a:ln/>
        </p:spPr>
      </p:sp>
      <p:sp>
        <p:nvSpPr>
          <p:cNvPr id="7" name="ease-1-value"/>
          <p:cNvSpPr txBox="1"/>
          <p:nvPr/>
        </p:nvSpPr>
        <p:spPr>
          <a:xfrm>
            <a:off x="3591992" y="1481328"/>
            <a:ext cx="2165528" cy="640080"/>
          </a:xfrm>
          <a:prstGeom prst="rect">
            <a:avLst/>
          </a:prstGeom>
          <a:noFill/>
          <a:ln/>
        </p:spPr>
        <p:txBody>
          <a:bodyPr wrap="square" lIns="0" tIns="0" rIns="0" bIns="0" rtlCol="0" anchor="t"/>
          <a:lstStyle/>
          <a:p>
            <a:pPr indent="0" marL="0">
              <a:buNone/>
            </a:pPr>
            <a:r>
              <a:rPr lang="en-US" sz="3400" b="1" dirty="0">
                <a:solidFill>
                  <a:schemeClr val="tx1"/>
                </a:solidFill>
              </a:rPr>
              <a:t>11 files</a:t>
            </a:r>
            <a:endParaRPr lang="en-US" sz="3400" dirty="0"/>
          </a:p>
        </p:txBody>
      </p:sp>
      <p:sp>
        <p:nvSpPr>
          <p:cNvPr id="8" name="ease-1-label"/>
          <p:cNvSpPr txBox="1"/>
          <p:nvPr/>
        </p:nvSpPr>
        <p:spPr>
          <a:xfrm>
            <a:off x="3591992" y="2148840"/>
            <a:ext cx="2165528" cy="685800"/>
          </a:xfrm>
          <a:prstGeom prst="rect">
            <a:avLst/>
          </a:prstGeom>
          <a:noFill/>
          <a:ln/>
        </p:spPr>
        <p:txBody>
          <a:bodyPr wrap="square" lIns="0" tIns="0" rIns="0" bIns="0" rtlCol="0" anchor="t"/>
          <a:lstStyle/>
          <a:p>
            <a:pPr indent="0" marL="0">
              <a:buNone/>
            </a:pPr>
            <a:r>
              <a:rPr lang="en-US" sz="1300" dirty="0">
                <a:solidFill>
                  <a:schemeClr val="tx2"/>
                </a:solidFill>
              </a:rPr>
              <a:t>one change added app-wide notifications and auto-refresh</a:t>
            </a:r>
            <a:endParaRPr lang="en-US" sz="1300" dirty="0"/>
          </a:p>
        </p:txBody>
      </p:sp>
      <p:sp>
        <p:nvSpPr>
          <p:cNvPr id="9" name="ease-2-card"/>
          <p:cNvSpPr/>
          <p:nvPr/>
        </p:nvSpPr>
        <p:spPr>
          <a:xfrm>
            <a:off x="6233008" y="1371600"/>
            <a:ext cx="2567864" cy="1554480"/>
          </a:xfrm>
          <a:prstGeom prst="roundRect">
            <a:avLst>
              <a:gd name="adj" fmla="val 7059"/>
            </a:avLst>
          </a:prstGeom>
          <a:solidFill>
            <a:schemeClr val="bg1"/>
          </a:solidFill>
          <a:ln/>
        </p:spPr>
      </p:sp>
      <p:sp>
        <p:nvSpPr>
          <p:cNvPr id="10" name="ease-2-value"/>
          <p:cNvSpPr txBox="1"/>
          <p:nvPr/>
        </p:nvSpPr>
        <p:spPr>
          <a:xfrm>
            <a:off x="6434176" y="1481328"/>
            <a:ext cx="2165528" cy="640080"/>
          </a:xfrm>
          <a:prstGeom prst="rect">
            <a:avLst/>
          </a:prstGeom>
          <a:noFill/>
          <a:ln/>
        </p:spPr>
        <p:txBody>
          <a:bodyPr wrap="square" lIns="0" tIns="0" rIns="0" bIns="0" rtlCol="0" anchor="t"/>
          <a:lstStyle/>
          <a:p>
            <a:pPr indent="0" marL="0">
              <a:buNone/>
            </a:pPr>
            <a:r>
              <a:rPr lang="en-US" sz="3400" b="1" dirty="0">
                <a:solidFill>
                  <a:schemeClr val="tx1"/>
                </a:solidFill>
              </a:rPr>
              <a:t>−97%</a:t>
            </a:r>
            <a:endParaRPr lang="en-US" sz="3400" dirty="0"/>
          </a:p>
        </p:txBody>
      </p:sp>
      <p:sp>
        <p:nvSpPr>
          <p:cNvPr id="11" name="ease-2-label"/>
          <p:cNvSpPr txBox="1"/>
          <p:nvPr/>
        </p:nvSpPr>
        <p:spPr>
          <a:xfrm>
            <a:off x="6434176" y="2148840"/>
            <a:ext cx="2165528" cy="685800"/>
          </a:xfrm>
          <a:prstGeom prst="rect">
            <a:avLst/>
          </a:prstGeom>
          <a:noFill/>
          <a:ln/>
        </p:spPr>
        <p:txBody>
          <a:bodyPr wrap="square" lIns="0" tIns="0" rIns="0" bIns="0" rtlCol="0" anchor="t"/>
          <a:lstStyle/>
          <a:p>
            <a:pPr indent="0" marL="0">
              <a:buNone/>
            </a:pPr>
            <a:r>
              <a:rPr lang="en-US" sz="1300" dirty="0">
                <a:solidFill>
                  <a:schemeClr val="tx2"/>
                </a:solidFill>
              </a:rPr>
              <a:t>25 MB of Slate configuration became 0.8 MB of typed code</a:t>
            </a:r>
            <a:endParaRPr lang="en-US" sz="1300" dirty="0"/>
          </a:p>
        </p:txBody>
      </p:sp>
      <p:sp>
        <p:nvSpPr>
          <p:cNvPr id="12" name="ease-3-card"/>
          <p:cNvSpPr/>
          <p:nvPr/>
        </p:nvSpPr>
        <p:spPr>
          <a:xfrm>
            <a:off x="9075191" y="1371600"/>
            <a:ext cx="2567864" cy="1554480"/>
          </a:xfrm>
          <a:prstGeom prst="roundRect">
            <a:avLst>
              <a:gd name="adj" fmla="val 7059"/>
            </a:avLst>
          </a:prstGeom>
          <a:solidFill>
            <a:schemeClr val="tx1"/>
          </a:solidFill>
          <a:ln/>
        </p:spPr>
      </p:sp>
      <p:sp>
        <p:nvSpPr>
          <p:cNvPr id="13" name="ease-3-value"/>
          <p:cNvSpPr txBox="1"/>
          <p:nvPr/>
        </p:nvSpPr>
        <p:spPr>
          <a:xfrm>
            <a:off x="9276359" y="1481328"/>
            <a:ext cx="2165528" cy="640080"/>
          </a:xfrm>
          <a:prstGeom prst="rect">
            <a:avLst/>
          </a:prstGeom>
          <a:noFill/>
          <a:ln/>
        </p:spPr>
        <p:txBody>
          <a:bodyPr wrap="square" lIns="0" tIns="0" rIns="0" bIns="0" rtlCol="0" anchor="t"/>
          <a:lstStyle/>
          <a:p>
            <a:pPr indent="0" marL="0">
              <a:buNone/>
            </a:pPr>
            <a:r>
              <a:rPr lang="en-US" sz="3400" b="1" dirty="0">
                <a:solidFill>
                  <a:schemeClr val="accent5"/>
                </a:solidFill>
              </a:rPr>
              <a:t>~$10K</a:t>
            </a:r>
            <a:endParaRPr lang="en-US" sz="3400" dirty="0"/>
          </a:p>
        </p:txBody>
      </p:sp>
      <p:sp>
        <p:nvSpPr>
          <p:cNvPr id="14" name="ease-3-label"/>
          <p:cNvSpPr txBox="1"/>
          <p:nvPr/>
        </p:nvSpPr>
        <p:spPr>
          <a:xfrm>
            <a:off x="9276359" y="2148840"/>
            <a:ext cx="2165528" cy="685800"/>
          </a:xfrm>
          <a:prstGeom prst="rect">
            <a:avLst/>
          </a:prstGeom>
          <a:noFill/>
          <a:ln/>
        </p:spPr>
        <p:txBody>
          <a:bodyPr wrap="square" lIns="0" tIns="0" rIns="0" bIns="0" rtlCol="0" anchor="t"/>
          <a:lstStyle/>
          <a:p>
            <a:pPr indent="0" marL="0">
              <a:buNone/>
            </a:pPr>
            <a:r>
              <a:rPr lang="en-US" sz="1300" dirty="0">
                <a:solidFill>
                  <a:schemeClr val="accent5"/>
                </a:solidFill>
              </a:rPr>
              <a:t>less maintenance effort every year (estimate)</a:t>
            </a:r>
            <a:endParaRPr lang="en-US" sz="1300" dirty="0"/>
          </a:p>
        </p:txBody>
      </p:sp>
      <p:sp>
        <p:nvSpPr>
          <p:cNvPr id="15" name="ease-old"/>
          <p:cNvSpPr/>
          <p:nvPr/>
        </p:nvSpPr>
        <p:spPr>
          <a:xfrm>
            <a:off x="548640" y="3154680"/>
            <a:ext cx="5410048" cy="2423160"/>
          </a:xfrm>
          <a:prstGeom prst="roundRect">
            <a:avLst>
              <a:gd name="adj" fmla="val 4528"/>
            </a:avLst>
          </a:prstGeom>
          <a:solidFill>
            <a:schemeClr val="bg1"/>
          </a:solidFill>
          <a:ln/>
        </p:spPr>
      </p:sp>
      <p:sp>
        <p:nvSpPr>
          <p:cNvPr id="16" name="ease-old-text"/>
          <p:cNvSpPr txBox="1"/>
          <p:nvPr/>
        </p:nvSpPr>
        <p:spPr>
          <a:xfrm>
            <a:off x="822960" y="3291840"/>
            <a:ext cx="4861408" cy="2148840"/>
          </a:xfrm>
          <a:prstGeom prst="rect">
            <a:avLst/>
          </a:prstGeom>
          <a:noFill/>
          <a:ln/>
        </p:spPr>
        <p:txBody>
          <a:bodyPr wrap="square" lIns="0" tIns="0" rIns="0" bIns="0" rtlCol="0" anchor="t"/>
          <a:lstStyle/>
          <a:p>
            <a:pPr indent="0" marL="0">
              <a:spcAft>
                <a:spcPts val="600"/>
              </a:spcAft>
              <a:buNone/>
            </a:pPr>
            <a:r>
              <a:rPr lang="en-US" sz="1100" b="1" spc="100" kern="0" dirty="0">
                <a:solidFill>
                  <a:schemeClr val="tx2"/>
                </a:solidFill>
              </a:rPr>
              <a:t>ADDING A FEATURE IN SLATE</a:t>
            </a:r>
            <a:endParaRPr lang="en-US" sz="1100" dirty="0"/>
          </a:p>
          <a:p>
            <a:pPr indent="0" marL="0">
              <a:spcAft>
                <a:spcPts val="600"/>
              </a:spcAft>
              <a:buNone/>
            </a:pPr>
            <a:r>
              <a:rPr lang="en-US" sz="600" dirty="0">
                <a:solidFill>
                  <a:srgbClr val="000000"/>
                </a:solidFill>
              </a:rPr>
              <a:t> </a:t>
            </a:r>
            <a:endParaRPr lang="en-US" sz="1100" dirty="0"/>
          </a:p>
          <a:p>
            <a:pPr marL="342900" indent="-342900">
              <a:spcAft>
                <a:spcPts val="600"/>
              </a:spcAft>
              <a:buSzPct val="100000"/>
              <a:buChar char="•"/>
            </a:pPr>
            <a:r>
              <a:rPr lang="en-US" sz="1400" dirty="0">
                <a:solidFill>
                  <a:schemeClr val="tx1"/>
                </a:solidFill>
              </a:rPr>
              <a:t>Wire widgets, events, variables and functions across 8 exports</a:t>
            </a:r>
            <a:endParaRPr lang="en-US" sz="1100" dirty="0"/>
          </a:p>
          <a:p>
            <a:pPr marL="342900" indent="-342900">
              <a:spcAft>
                <a:spcPts val="600"/>
              </a:spcAft>
              <a:buSzPct val="100000"/>
              <a:buChar char="•"/>
            </a:pPr>
            <a:r>
              <a:rPr lang="en-US" sz="1400" dirty="0">
                <a:solidFill>
                  <a:schemeClr val="tx1"/>
                </a:solidFill>
              </a:rPr>
              <a:t>Any change can break unrelated dashboards</a:t>
            </a:r>
            <a:endParaRPr lang="en-US" sz="1100" dirty="0"/>
          </a:p>
          <a:p>
            <a:pPr marL="342900" indent="-342900">
              <a:spcAft>
                <a:spcPts val="600"/>
              </a:spcAft>
              <a:buSzPct val="100000"/>
              <a:buChar char="•"/>
            </a:pPr>
            <a:r>
              <a:rPr lang="en-US" sz="1400" dirty="0">
                <a:solidFill>
                  <a:schemeClr val="tx1"/>
                </a:solidFill>
              </a:rPr>
              <a:t>No documentation to know what depends on what</a:t>
            </a:r>
            <a:endParaRPr lang="en-US" sz="1100" dirty="0"/>
          </a:p>
        </p:txBody>
      </p:sp>
      <p:sp>
        <p:nvSpPr>
          <p:cNvPr id="17" name="ease-new"/>
          <p:cNvSpPr/>
          <p:nvPr/>
        </p:nvSpPr>
        <p:spPr>
          <a:xfrm>
            <a:off x="6233008" y="3154680"/>
            <a:ext cx="5410048" cy="2423160"/>
          </a:xfrm>
          <a:prstGeom prst="roundRect">
            <a:avLst>
              <a:gd name="adj" fmla="val 4528"/>
            </a:avLst>
          </a:prstGeom>
          <a:solidFill>
            <a:schemeClr val="tx1"/>
          </a:solidFill>
          <a:ln/>
        </p:spPr>
      </p:sp>
      <p:sp>
        <p:nvSpPr>
          <p:cNvPr id="18" name="ease-new-text"/>
          <p:cNvSpPr txBox="1"/>
          <p:nvPr/>
        </p:nvSpPr>
        <p:spPr>
          <a:xfrm>
            <a:off x="6507328" y="3291840"/>
            <a:ext cx="4861408" cy="2148840"/>
          </a:xfrm>
          <a:prstGeom prst="rect">
            <a:avLst/>
          </a:prstGeom>
          <a:noFill/>
          <a:ln/>
        </p:spPr>
        <p:txBody>
          <a:bodyPr wrap="square" lIns="0" tIns="0" rIns="0" bIns="0" rtlCol="0" anchor="t"/>
          <a:lstStyle/>
          <a:p>
            <a:pPr indent="0" marL="0">
              <a:spcAft>
                <a:spcPts val="600"/>
              </a:spcAft>
              <a:buNone/>
            </a:pPr>
            <a:r>
              <a:rPr lang="en-US" sz="1100" b="1" spc="100" kern="0" dirty="0">
                <a:solidFill>
                  <a:schemeClr val="accent5"/>
                </a:solidFill>
              </a:rPr>
              <a:t>ADDING A FEATURE IN REACT + OSDK</a:t>
            </a:r>
            <a:endParaRPr lang="en-US" sz="1100" dirty="0"/>
          </a:p>
          <a:p>
            <a:pPr indent="0" marL="0">
              <a:spcAft>
                <a:spcPts val="600"/>
              </a:spcAft>
              <a:buNone/>
            </a:pPr>
            <a:r>
              <a:rPr lang="en-US" sz="600" dirty="0">
                <a:solidFill>
                  <a:srgbClr val="000000"/>
                </a:solidFill>
              </a:rPr>
              <a:t> </a:t>
            </a:r>
            <a:endParaRPr lang="en-US" sz="1100" dirty="0"/>
          </a:p>
          <a:p>
            <a:pPr marL="342900" indent="-342900">
              <a:spcAft>
                <a:spcPts val="600"/>
              </a:spcAft>
              <a:buSzPct val="100000"/>
              <a:buChar char="•"/>
            </a:pPr>
            <a:r>
              <a:rPr lang="en-US" sz="1400" dirty="0">
                <a:solidFill>
                  <a:schemeClr val="bg1"/>
                </a:solidFill>
              </a:rPr>
              <a:t>One isolated, typed component plus one OSDK call</a:t>
            </a:r>
            <a:endParaRPr lang="en-US" sz="1100" dirty="0"/>
          </a:p>
          <a:p>
            <a:pPr marL="342900" indent="-342900">
              <a:spcAft>
                <a:spcPts val="600"/>
              </a:spcAft>
              <a:buSzPct val="100000"/>
              <a:buChar char="•"/>
            </a:pPr>
            <a:r>
              <a:rPr lang="en-US" sz="1400" dirty="0">
                <a:solidFill>
                  <a:schemeClr val="bg1"/>
                </a:solidFill>
              </a:rPr>
              <a:t>pack-project.ts gives AI the whole app as context</a:t>
            </a:r>
            <a:endParaRPr lang="en-US" sz="1100" dirty="0"/>
          </a:p>
          <a:p>
            <a:pPr marL="342900" indent="-342900">
              <a:spcAft>
                <a:spcPts val="600"/>
              </a:spcAft>
              <a:buSzPct val="100000"/>
              <a:buChar char="•"/>
            </a:pPr>
            <a:r>
              <a:rPr lang="en-US" sz="1400" dirty="0">
                <a:solidFill>
                  <a:schemeClr val="bg1"/>
                </a:solidFill>
              </a:rPr>
              <a:t>Architecture and lifecycle diagrams show the impact</a:t>
            </a:r>
            <a:endParaRPr lang="en-US" sz="1100" dirty="0"/>
          </a:p>
        </p:txBody>
      </p:sp>
      <p:sp>
        <p:nvSpPr>
          <p:cNvPr id="19" name="ease-foot"/>
          <p:cNvSpPr txBox="1"/>
          <p:nvPr/>
        </p:nvSpPr>
        <p:spPr>
          <a:xfrm>
            <a:off x="548640" y="5760720"/>
            <a:ext cx="11094415" cy="548640"/>
          </a:xfrm>
          <a:prstGeom prst="rect">
            <a:avLst/>
          </a:prstGeom>
          <a:noFill/>
          <a:ln/>
        </p:spPr>
        <p:txBody>
          <a:bodyPr wrap="square" lIns="0" tIns="0" rIns="0" bIns="0" rtlCol="0" anchor="t"/>
          <a:lstStyle/>
          <a:p>
            <a:pPr indent="0" marL="0">
              <a:buNone/>
            </a:pPr>
            <a:r>
              <a:rPr lang="en-US" sz="1100" i="1" dirty="0">
                <a:solidFill>
                  <a:schemeClr val="tx2"/>
                </a:solidFill>
              </a:rPr>
              <a:t>Estimates at $38.50 per developer hour, 8 hours a day. Maintenance: rule of thumb of ~20% of build effort a year (340 person-days → 68 a year, ≈ $21K), assumed halved by modular, typed, documented code (≈ $10K a year saved).</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1" fill="hold">
                      <p:stCondLst>
                        <p:cond delay="indefinite"/>
                        <p:cond evt="onBegin" delay="0">
                          <p:tn val="2"/>
                        </p:cond>
                      </p:stCondLst>
                      <p:childTnLst>
                        <p:par>
                          <p:cTn id="1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5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50"/>
                                        <p:tgtEl>
                                          <p:spTgt spid="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50"/>
                                        <p:tgtEl>
                                          <p:spTgt spid="5"/>
                                        </p:tgtEl>
                                      </p:cBhvr>
                                    </p:animEffect>
                                  </p:childTnLst>
                                </p:cTn>
                              </p:par>
                            </p:childTnLst>
                          </p:cTn>
                        </p:par>
                        <p:par>
                          <p:cTn id="2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childTnLst>
                          </p:cTn>
                        </p:par>
                        <p:par>
                          <p:cTn id="32" fill="hold">
                            <p:stCondLst>
                              <p:cond delay="800"/>
                            </p:stCondLst>
                            <p:childTnLst>
                              <p:par>
                                <p:cTn id="23" presetID="10" presetClass="entr" presetSubtype="0"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50"/>
                                        <p:tgtEl>
                                          <p:spTgt spid="11"/>
                                        </p:tgtEl>
                                      </p:cBhvr>
                                    </p:animEffect>
                                  </p:childTnLst>
                                </p:cTn>
                              </p:par>
                            </p:childTnLst>
                          </p:cTn>
                        </p:par>
                        <p:par>
                          <p:cTn id="42" fill="hold">
                            <p:stCondLst>
                              <p:cond delay="1200"/>
                            </p:stCondLst>
                            <p:childTnLst>
                              <p:par>
                                <p:cTn id="33" presetID="10" presetClass="entr" presetSubtype="0"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50"/>
                                        <p:tgtEl>
                                          <p:spTgt spid="14"/>
                                        </p:tgtEl>
                                      </p:cBhvr>
                                    </p:animEffect>
                                  </p:childTnLst>
                                </p:cTn>
                              </p:par>
                            </p:childTnLst>
                          </p:cTn>
                        </p:par>
                        <p:par>
                          <p:cTn id="49" fill="hold">
                            <p:stCondLst>
                              <p:cond delay="1600"/>
                            </p:stCondLst>
                            <p:childTnLst>
                              <p:par>
                                <p:cTn id="43" presetID="10" presetClass="entr" presetSubtype="0" fill="hold" grpId="0" nodeType="after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5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50"/>
                                        <p:tgtEl>
                                          <p:spTgt spid="16"/>
                                        </p:tgtEl>
                                      </p:cBhvr>
                                    </p:animEffect>
                                  </p:childTnLst>
                                </p:cTn>
                              </p:par>
                            </p:childTnLst>
                          </p:cTn>
                        </p:par>
                        <p:par>
                          <p:cTn id="56" fill="hold">
                            <p:stCondLst>
                              <p:cond delay="2000"/>
                            </p:stCondLst>
                            <p:childTnLst>
                              <p:par>
                                <p:cTn id="50" presetID="22" presetClass="entr" presetSubtype="8"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left)">
                                      <p:cBhvr>
                                        <p:cTn id="52" dur="450"/>
                                        <p:tgtEl>
                                          <p:spTgt spid="17"/>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wipe(left)">
                                      <p:cBhvr>
                                        <p:cTn id="55" dur="450"/>
                                        <p:tgtEl>
                                          <p:spTgt spid="18"/>
                                        </p:tgtEl>
                                      </p:cBhvr>
                                    </p:animEffect>
                                  </p:childTnLst>
                                </p:cTn>
                              </p:par>
                            </p:childTnLst>
                          </p:cTn>
                        </p:par>
                        <p:par>
                          <p:cTn id="60" fill="hold">
                            <p:stCondLst>
                              <p:cond delay="2400"/>
                            </p:stCondLst>
                            <p:childTnLst>
                              <p:par>
                                <p:cTn id="57" presetID="10" presetClass="entr" presetSubtype="0" fill="hold" grpId="0" nodeType="after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What the business says</a:t>
            </a:r>
            <a:endParaRPr lang="en-US" sz="3600" dirty="0"/>
          </a:p>
        </p:txBody>
      </p:sp>
      <p:sp>
        <p:nvSpPr>
          <p:cNvPr id="3" name="quote-sub"/>
          <p:cNvSpPr txBox="1"/>
          <p:nvPr/>
        </p:nvSpPr>
        <p:spPr>
          <a:xfrm>
            <a:off x="548640" y="1115568"/>
            <a:ext cx="11094415" cy="320040"/>
          </a:xfrm>
          <a:prstGeom prst="rect">
            <a:avLst/>
          </a:prstGeom>
          <a:noFill/>
          <a:ln/>
        </p:spPr>
        <p:txBody>
          <a:bodyPr wrap="square" lIns="0" tIns="0" rIns="0" bIns="0" rtlCol="0" anchor="t"/>
          <a:lstStyle/>
          <a:p>
            <a:pPr indent="0" marL="0">
              <a:buNone/>
            </a:pPr>
            <a:r>
              <a:rPr lang="en-US" sz="1400" dirty="0">
                <a:solidFill>
                  <a:schemeClr val="tx2"/>
                </a:solidFill>
              </a:rPr>
              <a:t>Feedback from ERM business stakeholders, September 2026</a:t>
            </a:r>
            <a:endParaRPr lang="en-US" sz="1400" dirty="0"/>
          </a:p>
        </p:txBody>
      </p:sp>
      <p:sp>
        <p:nvSpPr>
          <p:cNvPr id="4" name="quote-0-card"/>
          <p:cNvSpPr/>
          <p:nvPr/>
        </p:nvSpPr>
        <p:spPr>
          <a:xfrm>
            <a:off x="548640" y="1645920"/>
            <a:ext cx="3515258" cy="4480560"/>
          </a:xfrm>
          <a:prstGeom prst="roundRect">
            <a:avLst>
              <a:gd name="adj" fmla="val 3121"/>
            </a:avLst>
          </a:prstGeom>
          <a:solidFill>
            <a:schemeClr val="tx1"/>
          </a:solidFill>
          <a:ln/>
        </p:spPr>
      </p:sp>
      <p:sp>
        <p:nvSpPr>
          <p:cNvPr id="5" name="quote-0-mark"/>
          <p:cNvSpPr txBox="1"/>
          <p:nvPr/>
        </p:nvSpPr>
        <p:spPr>
          <a:xfrm>
            <a:off x="822960" y="1783080"/>
            <a:ext cx="914400" cy="731520"/>
          </a:xfrm>
          <a:prstGeom prst="rect">
            <a:avLst/>
          </a:prstGeom>
          <a:noFill/>
          <a:ln/>
        </p:spPr>
        <p:txBody>
          <a:bodyPr wrap="square" lIns="0" tIns="0" rIns="0" bIns="0" rtlCol="0" anchor="t"/>
          <a:lstStyle/>
          <a:p>
            <a:pPr indent="0" marL="0">
              <a:buNone/>
            </a:pPr>
            <a:r>
              <a:rPr lang="en-US" sz="6000" b="1" dirty="0">
                <a:solidFill>
                  <a:schemeClr val="accent5"/>
                </a:solidFill>
              </a:rPr>
              <a:t>“</a:t>
            </a:r>
            <a:endParaRPr lang="en-US" sz="6000" dirty="0"/>
          </a:p>
        </p:txBody>
      </p:sp>
      <p:sp>
        <p:nvSpPr>
          <p:cNvPr id="6" name="quote-0-text"/>
          <p:cNvSpPr txBox="1"/>
          <p:nvPr/>
        </p:nvSpPr>
        <p:spPr>
          <a:xfrm>
            <a:off x="822960" y="2514600"/>
            <a:ext cx="2966618" cy="2606040"/>
          </a:xfrm>
          <a:prstGeom prst="rect">
            <a:avLst/>
          </a:prstGeom>
          <a:noFill/>
          <a:ln/>
        </p:spPr>
        <p:txBody>
          <a:bodyPr wrap="square" lIns="0" tIns="0" rIns="0" bIns="0" rtlCol="0" anchor="t"/>
          <a:lstStyle/>
          <a:p>
            <a:pPr indent="0" marL="0">
              <a:buNone/>
            </a:pPr>
            <a:r>
              <a:rPr lang="en-US" sz="1800" i="1" dirty="0">
                <a:solidFill>
                  <a:schemeClr val="bg1"/>
                </a:solidFill>
              </a:rPr>
              <a:t>Thanks to a mix of regular teamwork with the business and strong IT skills, they have turned an idea into a user-friendly industrial [solution]… User interface and performance have significantly improved.</a:t>
            </a:r>
            <a:endParaRPr lang="en-US" sz="1800" dirty="0"/>
          </a:p>
        </p:txBody>
      </p:sp>
      <p:sp>
        <p:nvSpPr>
          <p:cNvPr id="7" name="quote-0-who"/>
          <p:cNvSpPr txBox="1"/>
          <p:nvPr/>
        </p:nvSpPr>
        <p:spPr>
          <a:xfrm>
            <a:off x="822960" y="5166360"/>
            <a:ext cx="2966618" cy="731520"/>
          </a:xfrm>
          <a:prstGeom prst="rect">
            <a:avLst/>
          </a:prstGeom>
          <a:noFill/>
          <a:ln/>
        </p:spPr>
        <p:txBody>
          <a:bodyPr wrap="square" lIns="0" tIns="0" rIns="0" bIns="0" rtlCol="0" anchor="b"/>
          <a:lstStyle/>
          <a:p>
            <a:pPr indent="0" marL="0">
              <a:buNone/>
            </a:pPr>
            <a:r>
              <a:rPr lang="en-US" sz="1400" b="1" dirty="0">
                <a:solidFill>
                  <a:schemeClr val="bg1"/>
                </a:solidFill>
              </a:rPr>
              <a:t>ERM Centre of Competence</a:t>
            </a:r>
            <a:endParaRPr lang="en-US" sz="1400" dirty="0"/>
          </a:p>
          <a:p>
            <a:pPr indent="0" marL="0">
              <a:buNone/>
            </a:pPr>
            <a:r>
              <a:rPr lang="en-US" sz="1200" dirty="0">
                <a:solidFill>
                  <a:schemeClr val="accent5"/>
                </a:solidFill>
              </a:rPr>
              <a:t>Enterprise Risk Management</a:t>
            </a:r>
            <a:endParaRPr lang="en-US" sz="1400" dirty="0"/>
          </a:p>
        </p:txBody>
      </p:sp>
      <p:sp>
        <p:nvSpPr>
          <p:cNvPr id="8" name="quote-1-card"/>
          <p:cNvSpPr/>
          <p:nvPr/>
        </p:nvSpPr>
        <p:spPr>
          <a:xfrm>
            <a:off x="4338218" y="1645920"/>
            <a:ext cx="3515258" cy="4480560"/>
          </a:xfrm>
          <a:prstGeom prst="roundRect">
            <a:avLst>
              <a:gd name="adj" fmla="val 3121"/>
            </a:avLst>
          </a:prstGeom>
          <a:solidFill>
            <a:schemeClr val="bg1"/>
          </a:solidFill>
          <a:ln/>
        </p:spPr>
      </p:sp>
      <p:sp>
        <p:nvSpPr>
          <p:cNvPr id="9" name="quote-1-mark"/>
          <p:cNvSpPr txBox="1"/>
          <p:nvPr/>
        </p:nvSpPr>
        <p:spPr>
          <a:xfrm>
            <a:off x="4612538" y="1783080"/>
            <a:ext cx="914400" cy="731520"/>
          </a:xfrm>
          <a:prstGeom prst="rect">
            <a:avLst/>
          </a:prstGeom>
          <a:noFill/>
          <a:ln/>
        </p:spPr>
        <p:txBody>
          <a:bodyPr wrap="square" lIns="0" tIns="0" rIns="0" bIns="0" rtlCol="0" anchor="t"/>
          <a:lstStyle/>
          <a:p>
            <a:pPr indent="0" marL="0">
              <a:buNone/>
            </a:pPr>
            <a:r>
              <a:rPr lang="en-US" sz="6000" b="1" dirty="0">
                <a:solidFill>
                  <a:schemeClr val="accent3"/>
                </a:solidFill>
              </a:rPr>
              <a:t>“</a:t>
            </a:r>
            <a:endParaRPr lang="en-US" sz="6000" dirty="0"/>
          </a:p>
        </p:txBody>
      </p:sp>
      <p:sp>
        <p:nvSpPr>
          <p:cNvPr id="10" name="quote-1-text"/>
          <p:cNvSpPr txBox="1"/>
          <p:nvPr/>
        </p:nvSpPr>
        <p:spPr>
          <a:xfrm>
            <a:off x="4612538" y="2514600"/>
            <a:ext cx="2966618" cy="2606040"/>
          </a:xfrm>
          <a:prstGeom prst="rect">
            <a:avLst/>
          </a:prstGeom>
          <a:noFill/>
          <a:ln/>
        </p:spPr>
        <p:txBody>
          <a:bodyPr wrap="square" lIns="0" tIns="0" rIns="0" bIns="0" rtlCol="0" anchor="t"/>
          <a:lstStyle/>
          <a:p>
            <a:pPr indent="0" marL="0">
              <a:buNone/>
            </a:pPr>
            <a:r>
              <a:rPr lang="en-US" sz="1800" i="1" dirty="0">
                <a:solidFill>
                  <a:schemeClr val="tx1"/>
                </a:solidFill>
              </a:rPr>
              <a:t>The Skywise ERM dashboard application is a tremendous addition to our ERM toolset… More and more users regularly prepare and facilitate risks &amp; opportunities reviews with the application.</a:t>
            </a:r>
            <a:endParaRPr lang="en-US" sz="1800" dirty="0"/>
          </a:p>
        </p:txBody>
      </p:sp>
      <p:sp>
        <p:nvSpPr>
          <p:cNvPr id="11" name="quote-1-who"/>
          <p:cNvSpPr txBox="1"/>
          <p:nvPr/>
        </p:nvSpPr>
        <p:spPr>
          <a:xfrm>
            <a:off x="4612538" y="5166360"/>
            <a:ext cx="2966618" cy="731520"/>
          </a:xfrm>
          <a:prstGeom prst="rect">
            <a:avLst/>
          </a:prstGeom>
          <a:noFill/>
          <a:ln/>
        </p:spPr>
        <p:txBody>
          <a:bodyPr wrap="square" lIns="0" tIns="0" rIns="0" bIns="0" rtlCol="0" anchor="b"/>
          <a:lstStyle/>
          <a:p>
            <a:pPr indent="0" marL="0">
              <a:buNone/>
            </a:pPr>
            <a:r>
              <a:rPr lang="en-US" sz="1400" b="1" dirty="0">
                <a:solidFill>
                  <a:schemeClr val="tx1"/>
                </a:solidFill>
              </a:rPr>
              <a:t>ERM stakeholder</a:t>
            </a:r>
            <a:endParaRPr lang="en-US" sz="1400" dirty="0"/>
          </a:p>
          <a:p>
            <a:pPr indent="0" marL="0">
              <a:buNone/>
            </a:pPr>
            <a:r>
              <a:rPr lang="en-US" sz="1200" dirty="0">
                <a:solidFill>
                  <a:schemeClr val="tx2"/>
                </a:solidFill>
              </a:rPr>
              <a:t>[Role]</a:t>
            </a:r>
            <a:endParaRPr lang="en-US" sz="1400" dirty="0"/>
          </a:p>
        </p:txBody>
      </p:sp>
      <p:sp>
        <p:nvSpPr>
          <p:cNvPr id="12" name="quote-2-card"/>
          <p:cNvSpPr/>
          <p:nvPr/>
        </p:nvSpPr>
        <p:spPr>
          <a:xfrm>
            <a:off x="8127797" y="1645920"/>
            <a:ext cx="3515258" cy="4480560"/>
          </a:xfrm>
          <a:prstGeom prst="roundRect">
            <a:avLst>
              <a:gd name="adj" fmla="val 3121"/>
            </a:avLst>
          </a:prstGeom>
          <a:solidFill>
            <a:schemeClr val="bg1"/>
          </a:solidFill>
          <a:ln/>
        </p:spPr>
      </p:sp>
      <p:sp>
        <p:nvSpPr>
          <p:cNvPr id="13" name="quote-2-mark"/>
          <p:cNvSpPr txBox="1"/>
          <p:nvPr/>
        </p:nvSpPr>
        <p:spPr>
          <a:xfrm>
            <a:off x="8402117" y="1783080"/>
            <a:ext cx="914400" cy="731520"/>
          </a:xfrm>
          <a:prstGeom prst="rect">
            <a:avLst/>
          </a:prstGeom>
          <a:noFill/>
          <a:ln/>
        </p:spPr>
        <p:txBody>
          <a:bodyPr wrap="square" lIns="0" tIns="0" rIns="0" bIns="0" rtlCol="0" anchor="t"/>
          <a:lstStyle/>
          <a:p>
            <a:pPr indent="0" marL="0">
              <a:buNone/>
            </a:pPr>
            <a:r>
              <a:rPr lang="en-US" sz="6000" b="1" dirty="0">
                <a:solidFill>
                  <a:schemeClr val="accent3"/>
                </a:solidFill>
              </a:rPr>
              <a:t>“</a:t>
            </a:r>
            <a:endParaRPr lang="en-US" sz="6000" dirty="0"/>
          </a:p>
        </p:txBody>
      </p:sp>
      <p:sp>
        <p:nvSpPr>
          <p:cNvPr id="14" name="quote-2-text"/>
          <p:cNvSpPr txBox="1"/>
          <p:nvPr/>
        </p:nvSpPr>
        <p:spPr>
          <a:xfrm>
            <a:off x="8402117" y="2514600"/>
            <a:ext cx="2966618" cy="2606040"/>
          </a:xfrm>
          <a:prstGeom prst="rect">
            <a:avLst/>
          </a:prstGeom>
          <a:noFill/>
          <a:ln/>
        </p:spPr>
        <p:txBody>
          <a:bodyPr wrap="square" lIns="0" tIns="0" rIns="0" bIns="0" rtlCol="0" anchor="t"/>
          <a:lstStyle/>
          <a:p>
            <a:pPr indent="0" marL="0">
              <a:buNone/>
            </a:pPr>
            <a:r>
              <a:rPr lang="en-US" sz="1800" i="1" dirty="0">
                <a:solidFill>
                  <a:schemeClr val="tx1"/>
                </a:solidFill>
              </a:rPr>
              <a:t>They built great new features that make navigation easier and give us a much clearer view of our R&amp;O data. Whenever bugs or issues came up, they fixed them quickly and efficiently.</a:t>
            </a:r>
            <a:endParaRPr lang="en-US" sz="1800" dirty="0"/>
          </a:p>
        </p:txBody>
      </p:sp>
      <p:sp>
        <p:nvSpPr>
          <p:cNvPr id="15" name="quote-2-who"/>
          <p:cNvSpPr txBox="1"/>
          <p:nvPr/>
        </p:nvSpPr>
        <p:spPr>
          <a:xfrm>
            <a:off x="8402117" y="5166360"/>
            <a:ext cx="2966618" cy="731520"/>
          </a:xfrm>
          <a:prstGeom prst="rect">
            <a:avLst/>
          </a:prstGeom>
          <a:noFill/>
          <a:ln/>
        </p:spPr>
        <p:txBody>
          <a:bodyPr wrap="square" lIns="0" tIns="0" rIns="0" bIns="0" rtlCol="0" anchor="b"/>
          <a:lstStyle/>
          <a:p>
            <a:pPr indent="0" marL="0">
              <a:buNone/>
            </a:pPr>
            <a:r>
              <a:rPr lang="en-US" sz="1400" b="1" dirty="0">
                <a:solidFill>
                  <a:schemeClr val="tx1"/>
                </a:solidFill>
              </a:rPr>
              <a:t>Risk and Opportunity Manager</a:t>
            </a:r>
            <a:endParaRPr lang="en-US" sz="1400" dirty="0"/>
          </a:p>
          <a:p>
            <a:pPr indent="0" marL="0">
              <a:buNone/>
            </a:pPr>
            <a:r>
              <a:rPr lang="en-US" sz="1200" dirty="0">
                <a:solidFill>
                  <a:schemeClr val="tx2"/>
                </a:solidFill>
              </a:rPr>
              <a:t>Airbus Operations GmbH, Hamburg</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6"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50"/>
                                        <p:tgtEl>
                                          <p:spTgt spid="3"/>
                                        </p:tgtEl>
                                      </p:cBhvr>
                                    </p:animEffect>
                                  </p:childTnLst>
                                </p:cTn>
                              </p:par>
                            </p:childTnLst>
                          </p:cTn>
                        </p:par>
                        <p:par>
                          <p:cTn id="19" fill="hold">
                            <p:stCondLst>
                              <p:cond delay="600"/>
                            </p:stCondLst>
                            <p:childTnLst>
                              <p:par>
                                <p:cTn id="7" presetID="10" presetClass="entr" presetSubtype="0" fill="hold" grpId="0" nodeType="after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childTnLst>
                          </p:cTn>
                        </p:par>
                        <p:par>
                          <p:cTn id="32" fill="hold">
                            <p:stCondLst>
                              <p:cond delay="120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50"/>
                                        <p:tgtEl>
                                          <p:spTgt spid="11"/>
                                        </p:tgtEl>
                                      </p:cBhvr>
                                    </p:animEffect>
                                  </p:childTnLst>
                                </p:cTn>
                              </p:par>
                            </p:childTnLst>
                          </p:cTn>
                        </p:par>
                        <p:par>
                          <p:cTn id="45" fill="hold">
                            <p:stCondLst>
                              <p:cond delay="1800"/>
                            </p:stCondLst>
                            <p:childTnLst>
                              <p:par>
                                <p:cTn id="33" presetID="10" presetClass="entr" presetSubtype="0"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5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Our contribution to the 2026 objectives</a:t>
            </a:r>
            <a:endParaRPr lang="en-US" sz="3600" dirty="0"/>
          </a:p>
        </p:txBody>
      </p:sp>
      <p:sp>
        <p:nvSpPr>
          <p:cNvPr id="3" name="flowhead-src"/>
          <p:cNvSpPr txBox="1"/>
          <p:nvPr/>
        </p:nvSpPr>
        <p:spPr>
          <a:xfrm>
            <a:off x="548640" y="1280160"/>
            <a:ext cx="2377440" cy="274320"/>
          </a:xfrm>
          <a:prstGeom prst="rect">
            <a:avLst/>
          </a:prstGeom>
          <a:noFill/>
          <a:ln/>
        </p:spPr>
        <p:txBody>
          <a:bodyPr wrap="square" lIns="0" tIns="0" rIns="0" bIns="0" rtlCol="0" anchor="t"/>
          <a:lstStyle/>
          <a:p>
            <a:pPr indent="0" marL="0">
              <a:buNone/>
            </a:pPr>
            <a:r>
              <a:rPr lang="en-US" sz="1100" b="1" spc="100" kern="0" dirty="0">
                <a:solidFill>
                  <a:schemeClr val="tx2"/>
                </a:solidFill>
              </a:rPr>
              <a:t>OUR PROJECT</a:t>
            </a:r>
            <a:endParaRPr lang="en-US" sz="1100" dirty="0"/>
          </a:p>
        </p:txBody>
      </p:sp>
      <p:sp>
        <p:nvSpPr>
          <p:cNvPr id="4" name="flowhead-ev"/>
          <p:cNvSpPr txBox="1"/>
          <p:nvPr/>
        </p:nvSpPr>
        <p:spPr>
          <a:xfrm>
            <a:off x="3429000" y="1280160"/>
            <a:ext cx="4069080" cy="274320"/>
          </a:xfrm>
          <a:prstGeom prst="rect">
            <a:avLst/>
          </a:prstGeom>
          <a:noFill/>
          <a:ln/>
        </p:spPr>
        <p:txBody>
          <a:bodyPr wrap="square" lIns="0" tIns="0" rIns="0" bIns="0" rtlCol="0" anchor="t"/>
          <a:lstStyle/>
          <a:p>
            <a:pPr indent="0" marL="0">
              <a:buNone/>
            </a:pPr>
            <a:r>
              <a:rPr lang="en-US" sz="1100" b="1" spc="100" kern="0" dirty="0">
                <a:solidFill>
                  <a:schemeClr val="tx2"/>
                </a:solidFill>
              </a:rPr>
              <a:t>EVIDENCE</a:t>
            </a:r>
            <a:endParaRPr lang="en-US" sz="1100" dirty="0"/>
          </a:p>
        </p:txBody>
      </p:sp>
      <p:sp>
        <p:nvSpPr>
          <p:cNvPr id="5" name="flowhead-obj"/>
          <p:cNvSpPr txBox="1"/>
          <p:nvPr/>
        </p:nvSpPr>
        <p:spPr>
          <a:xfrm>
            <a:off x="8001000" y="1280160"/>
            <a:ext cx="3639312" cy="274320"/>
          </a:xfrm>
          <a:prstGeom prst="rect">
            <a:avLst/>
          </a:prstGeom>
          <a:noFill/>
          <a:ln/>
        </p:spPr>
        <p:txBody>
          <a:bodyPr wrap="square" lIns="0" tIns="0" rIns="0" bIns="0" rtlCol="0" anchor="t"/>
          <a:lstStyle/>
          <a:p>
            <a:pPr indent="0" marL="0">
              <a:buNone/>
            </a:pPr>
            <a:r>
              <a:rPr lang="en-US" sz="1100" b="1" spc="100" kern="0" dirty="0">
                <a:solidFill>
                  <a:schemeClr val="tx2"/>
                </a:solidFill>
              </a:rPr>
              <a:t>2026 OBJECTIVE</a:t>
            </a:r>
            <a:endParaRPr lang="en-US" sz="1100" dirty="0"/>
          </a:p>
        </p:txBody>
      </p:sp>
      <p:sp>
        <p:nvSpPr>
          <p:cNvPr id="6" name="flow-src-box"/>
          <p:cNvSpPr/>
          <p:nvPr/>
        </p:nvSpPr>
        <p:spPr>
          <a:xfrm>
            <a:off x="548640" y="1645920"/>
            <a:ext cx="2377440" cy="4498848"/>
          </a:xfrm>
          <a:prstGeom prst="roundRect">
            <a:avLst>
              <a:gd name="adj" fmla="val 4615"/>
            </a:avLst>
          </a:prstGeom>
          <a:solidFill>
            <a:schemeClr val="accent4"/>
          </a:solidFill>
          <a:ln/>
        </p:spPr>
      </p:sp>
      <p:sp>
        <p:nvSpPr>
          <p:cNvPr id="7" name="flow-src-text"/>
          <p:cNvSpPr txBox="1"/>
          <p:nvPr/>
        </p:nvSpPr>
        <p:spPr>
          <a:xfrm>
            <a:off x="777240" y="1920240"/>
            <a:ext cx="1920240" cy="3950208"/>
          </a:xfrm>
          <a:prstGeom prst="rect">
            <a:avLst/>
          </a:prstGeom>
          <a:noFill/>
          <a:ln/>
        </p:spPr>
        <p:txBody>
          <a:bodyPr wrap="square" lIns="0" tIns="0" rIns="0" bIns="0" rtlCol="0" anchor="ctr"/>
          <a:lstStyle/>
          <a:p>
            <a:pPr indent="0" marL="0">
              <a:buNone/>
            </a:pPr>
            <a:r>
              <a:rPr lang="en-US" sz="2000" b="1" dirty="0">
                <a:solidFill>
                  <a:schemeClr val="bg1"/>
                </a:solidFill>
              </a:rPr>
              <a:t>AI-assisted migration of ERM</a:t>
            </a:r>
            <a:endParaRPr lang="en-US" sz="2000" dirty="0"/>
          </a:p>
          <a:p>
            <a:pPr indent="0" marL="0">
              <a:buNone/>
            </a:pPr>
            <a:r>
              <a:rPr lang="en-US" sz="1000" dirty="0">
                <a:solidFill>
                  <a:srgbClr val="000000"/>
                </a:solidFill>
              </a:rPr>
              <a:t> </a:t>
            </a:r>
            <a:endParaRPr lang="en-US" sz="2000" dirty="0"/>
          </a:p>
          <a:p>
            <a:pPr indent="0" marL="0">
              <a:buNone/>
            </a:pPr>
            <a:r>
              <a:rPr lang="en-US" sz="1400" dirty="0">
                <a:solidFill>
                  <a:schemeClr val="bg1"/>
                </a:solidFill>
              </a:rPr>
              <a:t>Slate to React + OSDK</a:t>
            </a:r>
            <a:endParaRPr lang="en-US" sz="2000" dirty="0"/>
          </a:p>
          <a:p>
            <a:pPr indent="0" marL="0">
              <a:buNone/>
            </a:pPr>
            <a:r>
              <a:rPr lang="en-US" sz="1400" dirty="0">
                <a:solidFill>
                  <a:schemeClr val="bg1"/>
                </a:solidFill>
              </a:rPr>
              <a:t>2 developers · 1 PI</a:t>
            </a:r>
            <a:endParaRPr lang="en-US" sz="2000" dirty="0"/>
          </a:p>
          <a:p>
            <a:pPr indent="0" marL="0">
              <a:buNone/>
            </a:pPr>
            <a:r>
              <a:rPr lang="en-US" sz="1400" dirty="0">
                <a:solidFill>
                  <a:schemeClr val="bg1"/>
                </a:solidFill>
              </a:rPr>
              <a:t>pack-project.ts</a:t>
            </a:r>
            <a:endParaRPr lang="en-US" sz="2000" dirty="0"/>
          </a:p>
        </p:txBody>
      </p:sp>
      <p:sp>
        <p:nvSpPr>
          <p:cNvPr id="8" name="flow-0-arrow1"/>
          <p:cNvSpPr/>
          <p:nvPr/>
        </p:nvSpPr>
        <p:spPr>
          <a:xfrm>
            <a:off x="2971800" y="2139696"/>
            <a:ext cx="411480" cy="0"/>
          </a:xfrm>
          <a:prstGeom prst="line">
            <a:avLst/>
          </a:prstGeom>
          <a:noFill/>
          <a:ln w="22225">
            <a:solidFill>
              <a:schemeClr val="tx2"/>
            </a:solidFill>
            <a:prstDash val="solid"/>
            <a:tailEnd type="triangle"/>
          </a:ln>
        </p:spPr>
      </p:sp>
      <p:sp>
        <p:nvSpPr>
          <p:cNvPr id="9" name="flow-0-evbox"/>
          <p:cNvSpPr/>
          <p:nvPr/>
        </p:nvSpPr>
        <p:spPr>
          <a:xfrm>
            <a:off x="3429000" y="1645920"/>
            <a:ext cx="4069080" cy="987552"/>
          </a:xfrm>
          <a:prstGeom prst="roundRect">
            <a:avLst>
              <a:gd name="adj" fmla="val 11111"/>
            </a:avLst>
          </a:prstGeom>
          <a:solidFill>
            <a:schemeClr val="bg2"/>
          </a:solidFill>
          <a:ln/>
        </p:spPr>
      </p:sp>
      <p:sp>
        <p:nvSpPr>
          <p:cNvPr id="10" name="flow-0-evtext"/>
          <p:cNvSpPr txBox="1"/>
          <p:nvPr/>
        </p:nvSpPr>
        <p:spPr>
          <a:xfrm>
            <a:off x="3611880" y="1737360"/>
            <a:ext cx="3703320" cy="804672"/>
          </a:xfrm>
          <a:prstGeom prst="rect">
            <a:avLst/>
          </a:prstGeom>
          <a:noFill/>
          <a:ln/>
        </p:spPr>
        <p:txBody>
          <a:bodyPr wrap="square" lIns="0" tIns="0" rIns="0" bIns="0" rtlCol="0" anchor="ctr"/>
          <a:lstStyle/>
          <a:p>
            <a:pPr indent="0" marL="0">
              <a:buNone/>
            </a:pPr>
            <a:r>
              <a:rPr lang="en-US" sz="1400" dirty="0">
                <a:solidFill>
                  <a:schemeClr val="tx1"/>
                </a:solidFill>
              </a:rPr>
              <a:t>AI read 8 Slate exports and the packed React code: 105 features recovered, 31 gaps found</a:t>
            </a:r>
            <a:endParaRPr lang="en-US" sz="1400" dirty="0"/>
          </a:p>
        </p:txBody>
      </p:sp>
      <p:sp>
        <p:nvSpPr>
          <p:cNvPr id="11" name="flow-0-arrow2"/>
          <p:cNvSpPr/>
          <p:nvPr/>
        </p:nvSpPr>
        <p:spPr>
          <a:xfrm>
            <a:off x="7543800" y="2139696"/>
            <a:ext cx="411480" cy="0"/>
          </a:xfrm>
          <a:prstGeom prst="line">
            <a:avLst/>
          </a:prstGeom>
          <a:noFill/>
          <a:ln w="22225">
            <a:solidFill>
              <a:schemeClr val="tx2"/>
            </a:solidFill>
            <a:prstDash val="solid"/>
            <a:tailEnd type="triangle"/>
          </a:ln>
        </p:spPr>
      </p:sp>
      <p:sp>
        <p:nvSpPr>
          <p:cNvPr id="12" name="flow-0-objbox"/>
          <p:cNvSpPr/>
          <p:nvPr/>
        </p:nvSpPr>
        <p:spPr>
          <a:xfrm>
            <a:off x="8001000" y="1645920"/>
            <a:ext cx="3639312" cy="987552"/>
          </a:xfrm>
          <a:prstGeom prst="roundRect">
            <a:avLst>
              <a:gd name="adj" fmla="val 11111"/>
            </a:avLst>
          </a:prstGeom>
          <a:solidFill>
            <a:schemeClr val="tx1"/>
          </a:solidFill>
          <a:ln/>
        </p:spPr>
      </p:sp>
      <p:sp>
        <p:nvSpPr>
          <p:cNvPr id="13" name="flow-0-objtext"/>
          <p:cNvSpPr txBox="1"/>
          <p:nvPr/>
        </p:nvSpPr>
        <p:spPr>
          <a:xfrm>
            <a:off x="8183880" y="1737360"/>
            <a:ext cx="3273552" cy="804672"/>
          </a:xfrm>
          <a:prstGeom prst="rect">
            <a:avLst/>
          </a:prstGeom>
          <a:noFill/>
          <a:ln/>
        </p:spPr>
        <p:txBody>
          <a:bodyPr wrap="square" lIns="0" tIns="0" rIns="0" bIns="0" rtlCol="0" anchor="ctr"/>
          <a:lstStyle/>
          <a:p>
            <a:pPr indent="0" marL="0">
              <a:buNone/>
            </a:pPr>
            <a:r>
              <a:rPr lang="en-US" sz="1500" b="1" dirty="0">
                <a:solidFill>
                  <a:schemeClr val="bg1"/>
                </a:solidFill>
              </a:rPr>
              <a:t>Leverage AI to solve business problems</a:t>
            </a:r>
            <a:endParaRPr lang="en-US" sz="1500" dirty="0"/>
          </a:p>
          <a:p>
            <a:pPr indent="0" marL="0">
              <a:buNone/>
            </a:pPr>
            <a:r>
              <a:rPr lang="en-US" sz="1100" dirty="0">
                <a:solidFill>
                  <a:schemeClr val="accent5"/>
                </a:solidFill>
              </a:rPr>
              <a:t>India TFO · Digital: democratise AI</a:t>
            </a:r>
            <a:endParaRPr lang="en-US" sz="1500" dirty="0"/>
          </a:p>
        </p:txBody>
      </p:sp>
      <p:sp>
        <p:nvSpPr>
          <p:cNvPr id="14" name="flow-1-arrow1"/>
          <p:cNvSpPr/>
          <p:nvPr/>
        </p:nvSpPr>
        <p:spPr>
          <a:xfrm>
            <a:off x="2971800" y="3310128"/>
            <a:ext cx="411480" cy="0"/>
          </a:xfrm>
          <a:prstGeom prst="line">
            <a:avLst/>
          </a:prstGeom>
          <a:noFill/>
          <a:ln w="22225">
            <a:solidFill>
              <a:schemeClr val="tx2"/>
            </a:solidFill>
            <a:prstDash val="solid"/>
            <a:tailEnd type="triangle"/>
          </a:ln>
        </p:spPr>
      </p:sp>
      <p:sp>
        <p:nvSpPr>
          <p:cNvPr id="15" name="flow-1-evbox"/>
          <p:cNvSpPr/>
          <p:nvPr/>
        </p:nvSpPr>
        <p:spPr>
          <a:xfrm>
            <a:off x="3429000" y="2816352"/>
            <a:ext cx="4069080" cy="987552"/>
          </a:xfrm>
          <a:prstGeom prst="roundRect">
            <a:avLst>
              <a:gd name="adj" fmla="val 11111"/>
            </a:avLst>
          </a:prstGeom>
          <a:solidFill>
            <a:schemeClr val="bg2"/>
          </a:solidFill>
          <a:ln/>
        </p:spPr>
      </p:sp>
      <p:sp>
        <p:nvSpPr>
          <p:cNvPr id="16" name="flow-1-evtext"/>
          <p:cNvSpPr txBox="1"/>
          <p:nvPr/>
        </p:nvSpPr>
        <p:spPr>
          <a:xfrm>
            <a:off x="3611880" y="2907792"/>
            <a:ext cx="3703320" cy="804672"/>
          </a:xfrm>
          <a:prstGeom prst="rect">
            <a:avLst/>
          </a:prstGeom>
          <a:noFill/>
          <a:ln/>
        </p:spPr>
        <p:txBody>
          <a:bodyPr wrap="square" lIns="0" tIns="0" rIns="0" bIns="0" rtlCol="0" anchor="ctr"/>
          <a:lstStyle/>
          <a:p>
            <a:pPr indent="0" marL="0">
              <a:buNone/>
            </a:pPr>
            <a:r>
              <a:rPr lang="en-US" sz="1400" dirty="0">
                <a:solidFill>
                  <a:schemeClr val="tx1"/>
                </a:solidFill>
              </a:rPr>
              <a:t>Delivered in 1 PI by 2 developers, about 76% less effort than a manual estimate</a:t>
            </a:r>
            <a:endParaRPr lang="en-US" sz="1400" dirty="0"/>
          </a:p>
        </p:txBody>
      </p:sp>
      <p:sp>
        <p:nvSpPr>
          <p:cNvPr id="17" name="flow-1-arrow2"/>
          <p:cNvSpPr/>
          <p:nvPr/>
        </p:nvSpPr>
        <p:spPr>
          <a:xfrm>
            <a:off x="7543800" y="3310128"/>
            <a:ext cx="411480" cy="0"/>
          </a:xfrm>
          <a:prstGeom prst="line">
            <a:avLst/>
          </a:prstGeom>
          <a:noFill/>
          <a:ln w="22225">
            <a:solidFill>
              <a:schemeClr val="tx2"/>
            </a:solidFill>
            <a:prstDash val="solid"/>
            <a:tailEnd type="triangle"/>
          </a:ln>
        </p:spPr>
      </p:sp>
      <p:sp>
        <p:nvSpPr>
          <p:cNvPr id="18" name="flow-1-objbox"/>
          <p:cNvSpPr/>
          <p:nvPr/>
        </p:nvSpPr>
        <p:spPr>
          <a:xfrm>
            <a:off x="8001000" y="2816352"/>
            <a:ext cx="3639312" cy="987552"/>
          </a:xfrm>
          <a:prstGeom prst="roundRect">
            <a:avLst>
              <a:gd name="adj" fmla="val 11111"/>
            </a:avLst>
          </a:prstGeom>
          <a:solidFill>
            <a:schemeClr val="tx1"/>
          </a:solidFill>
          <a:ln/>
        </p:spPr>
      </p:sp>
      <p:sp>
        <p:nvSpPr>
          <p:cNvPr id="19" name="flow-1-objtext"/>
          <p:cNvSpPr txBox="1"/>
          <p:nvPr/>
        </p:nvSpPr>
        <p:spPr>
          <a:xfrm>
            <a:off x="8183880" y="2907792"/>
            <a:ext cx="3273552" cy="804672"/>
          </a:xfrm>
          <a:prstGeom prst="rect">
            <a:avLst/>
          </a:prstGeom>
          <a:noFill/>
          <a:ln/>
        </p:spPr>
        <p:txBody>
          <a:bodyPr wrap="square" lIns="0" tIns="0" rIns="0" bIns="0" rtlCol="0" anchor="ctr"/>
          <a:lstStyle/>
          <a:p>
            <a:pPr indent="0" marL="0">
              <a:buNone/>
            </a:pPr>
            <a:r>
              <a:rPr lang="en-US" sz="1500" b="1" dirty="0">
                <a:solidFill>
                  <a:schemeClr val="bg1"/>
                </a:solidFill>
              </a:rPr>
              <a:t>Deliver on time, on cost, on quality</a:t>
            </a:r>
            <a:endParaRPr lang="en-US" sz="1500" dirty="0"/>
          </a:p>
          <a:p>
            <a:pPr indent="0" marL="0">
              <a:buNone/>
            </a:pPr>
            <a:r>
              <a:rPr lang="en-US" sz="1100" dirty="0">
                <a:solidFill>
                  <a:schemeClr val="accent5"/>
                </a:solidFill>
              </a:rPr>
              <a:t>Digital: optimise our digital resources</a:t>
            </a:r>
            <a:endParaRPr lang="en-US" sz="1500" dirty="0"/>
          </a:p>
        </p:txBody>
      </p:sp>
      <p:sp>
        <p:nvSpPr>
          <p:cNvPr id="20" name="flow-2-arrow1"/>
          <p:cNvSpPr/>
          <p:nvPr/>
        </p:nvSpPr>
        <p:spPr>
          <a:xfrm>
            <a:off x="2971800" y="4480560"/>
            <a:ext cx="411480" cy="0"/>
          </a:xfrm>
          <a:prstGeom prst="line">
            <a:avLst/>
          </a:prstGeom>
          <a:noFill/>
          <a:ln w="22225">
            <a:solidFill>
              <a:schemeClr val="tx2"/>
            </a:solidFill>
            <a:prstDash val="solid"/>
            <a:tailEnd type="triangle"/>
          </a:ln>
        </p:spPr>
      </p:sp>
      <p:sp>
        <p:nvSpPr>
          <p:cNvPr id="21" name="flow-2-evbox"/>
          <p:cNvSpPr/>
          <p:nvPr/>
        </p:nvSpPr>
        <p:spPr>
          <a:xfrm>
            <a:off x="3429000" y="3986784"/>
            <a:ext cx="4069080" cy="987552"/>
          </a:xfrm>
          <a:prstGeom prst="roundRect">
            <a:avLst>
              <a:gd name="adj" fmla="val 11111"/>
            </a:avLst>
          </a:prstGeom>
          <a:solidFill>
            <a:schemeClr val="bg2"/>
          </a:solidFill>
          <a:ln/>
        </p:spPr>
      </p:sp>
      <p:sp>
        <p:nvSpPr>
          <p:cNvPr id="22" name="flow-2-evtext"/>
          <p:cNvSpPr txBox="1"/>
          <p:nvPr/>
        </p:nvSpPr>
        <p:spPr>
          <a:xfrm>
            <a:off x="3611880" y="4078224"/>
            <a:ext cx="3703320" cy="804672"/>
          </a:xfrm>
          <a:prstGeom prst="rect">
            <a:avLst/>
          </a:prstGeom>
          <a:noFill/>
          <a:ln/>
        </p:spPr>
        <p:txBody>
          <a:bodyPr wrap="square" lIns="0" tIns="0" rIns="0" bIns="0" rtlCol="0" anchor="ctr"/>
          <a:lstStyle/>
          <a:p>
            <a:pPr indent="0" marL="0">
              <a:buNone/>
            </a:pPr>
            <a:r>
              <a:rPr lang="en-US" sz="1400" dirty="0">
                <a:solidFill>
                  <a:schemeClr val="tx1"/>
                </a:solidFill>
              </a:rPr>
              <a:t>All 105 features tracked for parity; ERM rebuilt on a standard, maintainable stack, ready to leave Slate</a:t>
            </a:r>
            <a:endParaRPr lang="en-US" sz="1400" dirty="0"/>
          </a:p>
        </p:txBody>
      </p:sp>
      <p:sp>
        <p:nvSpPr>
          <p:cNvPr id="23" name="flow-2-arrow2"/>
          <p:cNvSpPr/>
          <p:nvPr/>
        </p:nvSpPr>
        <p:spPr>
          <a:xfrm>
            <a:off x="7543800" y="4480560"/>
            <a:ext cx="411480" cy="0"/>
          </a:xfrm>
          <a:prstGeom prst="line">
            <a:avLst/>
          </a:prstGeom>
          <a:noFill/>
          <a:ln w="22225">
            <a:solidFill>
              <a:schemeClr val="tx2"/>
            </a:solidFill>
            <a:prstDash val="solid"/>
            <a:tailEnd type="triangle"/>
          </a:ln>
        </p:spPr>
      </p:sp>
      <p:sp>
        <p:nvSpPr>
          <p:cNvPr id="24" name="flow-2-objbox"/>
          <p:cNvSpPr/>
          <p:nvPr/>
        </p:nvSpPr>
        <p:spPr>
          <a:xfrm>
            <a:off x="8001000" y="3986784"/>
            <a:ext cx="3639312" cy="987552"/>
          </a:xfrm>
          <a:prstGeom prst="roundRect">
            <a:avLst>
              <a:gd name="adj" fmla="val 11111"/>
            </a:avLst>
          </a:prstGeom>
          <a:solidFill>
            <a:schemeClr val="tx1"/>
          </a:solidFill>
          <a:ln/>
        </p:spPr>
      </p:sp>
      <p:sp>
        <p:nvSpPr>
          <p:cNvPr id="25" name="flow-2-objtext"/>
          <p:cNvSpPr txBox="1"/>
          <p:nvPr/>
        </p:nvSpPr>
        <p:spPr>
          <a:xfrm>
            <a:off x="8183880" y="4078224"/>
            <a:ext cx="3273552" cy="804672"/>
          </a:xfrm>
          <a:prstGeom prst="rect">
            <a:avLst/>
          </a:prstGeom>
          <a:noFill/>
          <a:ln/>
        </p:spPr>
        <p:txBody>
          <a:bodyPr wrap="square" lIns="0" tIns="0" rIns="0" bIns="0" rtlCol="0" anchor="ctr"/>
          <a:lstStyle/>
          <a:p>
            <a:pPr indent="0" marL="0">
              <a:buNone/>
            </a:pPr>
            <a:r>
              <a:rPr lang="en-US" sz="1500" b="1" dirty="0">
                <a:solidFill>
                  <a:schemeClr val="bg1"/>
                </a:solidFill>
              </a:rPr>
              <a:t>Ensure our operational performance</a:t>
            </a:r>
            <a:endParaRPr lang="en-US" sz="1500" dirty="0"/>
          </a:p>
          <a:p>
            <a:pPr indent="0" marL="0">
              <a:buNone/>
            </a:pPr>
            <a:r>
              <a:rPr lang="en-US" sz="1100" dirty="0">
                <a:solidFill>
                  <a:schemeClr val="accent5"/>
                </a:solidFill>
              </a:rPr>
              <a:t>Digital: availability of systems for operations</a:t>
            </a:r>
            <a:endParaRPr lang="en-US" sz="1500" dirty="0"/>
          </a:p>
        </p:txBody>
      </p:sp>
      <p:sp>
        <p:nvSpPr>
          <p:cNvPr id="26" name="flow-3-arrow1"/>
          <p:cNvSpPr/>
          <p:nvPr/>
        </p:nvSpPr>
        <p:spPr>
          <a:xfrm>
            <a:off x="2971800" y="5650992"/>
            <a:ext cx="411480" cy="0"/>
          </a:xfrm>
          <a:prstGeom prst="line">
            <a:avLst/>
          </a:prstGeom>
          <a:noFill/>
          <a:ln w="22225">
            <a:solidFill>
              <a:schemeClr val="tx2"/>
            </a:solidFill>
            <a:prstDash val="solid"/>
            <a:tailEnd type="triangle"/>
          </a:ln>
        </p:spPr>
      </p:sp>
      <p:sp>
        <p:nvSpPr>
          <p:cNvPr id="27" name="flow-3-evbox"/>
          <p:cNvSpPr/>
          <p:nvPr/>
        </p:nvSpPr>
        <p:spPr>
          <a:xfrm>
            <a:off x="3429000" y="5157216"/>
            <a:ext cx="4069080" cy="987552"/>
          </a:xfrm>
          <a:prstGeom prst="roundRect">
            <a:avLst>
              <a:gd name="adj" fmla="val 11111"/>
            </a:avLst>
          </a:prstGeom>
          <a:solidFill>
            <a:schemeClr val="bg2"/>
          </a:solidFill>
          <a:ln/>
        </p:spPr>
      </p:sp>
      <p:sp>
        <p:nvSpPr>
          <p:cNvPr id="28" name="flow-3-evtext"/>
          <p:cNvSpPr txBox="1"/>
          <p:nvPr/>
        </p:nvSpPr>
        <p:spPr>
          <a:xfrm>
            <a:off x="3611880" y="5248656"/>
            <a:ext cx="3703320" cy="804672"/>
          </a:xfrm>
          <a:prstGeom prst="rect">
            <a:avLst/>
          </a:prstGeom>
          <a:noFill/>
          <a:ln/>
        </p:spPr>
        <p:txBody>
          <a:bodyPr wrap="square" lIns="0" tIns="0" rIns="0" bIns="0" rtlCol="0" anchor="ctr"/>
          <a:lstStyle/>
          <a:p>
            <a:pPr indent="0" marL="0">
              <a:buNone/>
            </a:pPr>
            <a:r>
              <a:rPr lang="en-US" sz="1400" dirty="0">
                <a:solidFill>
                  <a:schemeClr val="tx1"/>
                </a:solidFill>
              </a:rPr>
              <a:t>pack-project.ts and the playbook let any team repeat the method</a:t>
            </a:r>
            <a:endParaRPr lang="en-US" sz="1400" dirty="0"/>
          </a:p>
        </p:txBody>
      </p:sp>
      <p:sp>
        <p:nvSpPr>
          <p:cNvPr id="29" name="flow-3-arrow2"/>
          <p:cNvSpPr/>
          <p:nvPr/>
        </p:nvSpPr>
        <p:spPr>
          <a:xfrm>
            <a:off x="7543800" y="5650992"/>
            <a:ext cx="411480" cy="0"/>
          </a:xfrm>
          <a:prstGeom prst="line">
            <a:avLst/>
          </a:prstGeom>
          <a:noFill/>
          <a:ln w="22225">
            <a:solidFill>
              <a:schemeClr val="tx2"/>
            </a:solidFill>
            <a:prstDash val="solid"/>
            <a:tailEnd type="triangle"/>
          </a:ln>
        </p:spPr>
      </p:sp>
      <p:sp>
        <p:nvSpPr>
          <p:cNvPr id="30" name="flow-3-objbox"/>
          <p:cNvSpPr/>
          <p:nvPr/>
        </p:nvSpPr>
        <p:spPr>
          <a:xfrm>
            <a:off x="8001000" y="5157216"/>
            <a:ext cx="3639312" cy="987552"/>
          </a:xfrm>
          <a:prstGeom prst="roundRect">
            <a:avLst>
              <a:gd name="adj" fmla="val 11111"/>
            </a:avLst>
          </a:prstGeom>
          <a:solidFill>
            <a:schemeClr val="tx1"/>
          </a:solidFill>
          <a:ln/>
        </p:spPr>
      </p:sp>
      <p:sp>
        <p:nvSpPr>
          <p:cNvPr id="31" name="flow-3-objtext"/>
          <p:cNvSpPr txBox="1"/>
          <p:nvPr/>
        </p:nvSpPr>
        <p:spPr>
          <a:xfrm>
            <a:off x="8183880" y="5248656"/>
            <a:ext cx="3273552" cy="804672"/>
          </a:xfrm>
          <a:prstGeom prst="rect">
            <a:avLst/>
          </a:prstGeom>
          <a:noFill/>
          <a:ln/>
        </p:spPr>
        <p:txBody>
          <a:bodyPr wrap="square" lIns="0" tIns="0" rIns="0" bIns="0" rtlCol="0" anchor="ctr"/>
          <a:lstStyle/>
          <a:p>
            <a:pPr indent="0" marL="0">
              <a:buNone/>
            </a:pPr>
            <a:r>
              <a:rPr lang="en-US" sz="1500" b="1" dirty="0">
                <a:solidFill>
                  <a:schemeClr val="bg1"/>
                </a:solidFill>
              </a:rPr>
              <a:t>Grow digital acumen and competencies</a:t>
            </a:r>
            <a:endParaRPr lang="en-US" sz="1500" dirty="0"/>
          </a:p>
          <a:p>
            <a:pPr indent="0" marL="0">
              <a:buNone/>
            </a:pPr>
            <a:r>
              <a:rPr lang="en-US" sz="1100" dirty="0">
                <a:solidFill>
                  <a:schemeClr val="accent5"/>
                </a:solidFill>
              </a:rPr>
              <a:t>Digital: develop our people · India TFO</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6" fill="hold">
                      <p:stCondLst>
                        <p:cond delay="indefinite"/>
                        <p:cond evt="onBegin" delay="0">
                          <p:tn val="2"/>
                        </p:cond>
                      </p:stCondLst>
                      <p:childTnLst>
                        <p:par>
                          <p:cTn id="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5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50"/>
                                        <p:tgtEl>
                                          <p:spTgt spid="7"/>
                                        </p:tgtEl>
                                      </p:cBhvr>
                                    </p:animEffect>
                                  </p:childTnLst>
                                </p:cTn>
                              </p:par>
                            </p:childTnLst>
                          </p:cTn>
                        </p:par>
                        <p:par>
                          <p:cTn id="28" fill="hold">
                            <p:stCondLst>
                              <p:cond delay="1100"/>
                            </p:stCondLst>
                            <p:childTnLst>
                              <p:par>
                                <p:cTn id="10" presetID="22" presetClass="entr" presetSubtype="8"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450"/>
                                        <p:tgtEl>
                                          <p:spTgt spid="8"/>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50"/>
                                        <p:tgtEl>
                                          <p:spTgt spid="9"/>
                                        </p:tgtEl>
                                      </p:cBhvr>
                                    </p:animEffect>
                                  </p:childTnLst>
                                </p:cTn>
                              </p:par>
                              <p:par>
                                <p:cTn id="16" presetID="10" presetClass="entr" presetSubtype="0" fill="hold" grpId="0" nodeType="withEffect">
                                  <p:stCondLst>
                                    <p:cond delay="25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50"/>
                                        <p:tgtEl>
                                          <p:spTgt spid="10"/>
                                        </p:tgtEl>
                                      </p:cBhvr>
                                    </p:animEffect>
                                  </p:childTnLst>
                                </p:cTn>
                              </p:par>
                              <p:par>
                                <p:cTn id="19" presetID="22" presetClass="entr" presetSubtype="8" fill="hold" grpId="0" nodeType="withEffect">
                                  <p:stCondLst>
                                    <p:cond delay="55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450"/>
                                        <p:tgtEl>
                                          <p:spTgt spid="11"/>
                                        </p:tgtEl>
                                      </p:cBhvr>
                                    </p:animEffect>
                                  </p:childTnLst>
                                </p:cTn>
                              </p:par>
                              <p:par>
                                <p:cTn id="22" presetID="10" presetClass="entr" presetSubtype="0" fill="hold" grpId="0" nodeType="withEffect">
                                  <p:stCondLst>
                                    <p:cond delay="80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50"/>
                                        <p:tgtEl>
                                          <p:spTgt spid="12"/>
                                        </p:tgtEl>
                                      </p:cBhvr>
                                    </p:animEffect>
                                  </p:childTnLst>
                                </p:cTn>
                              </p:par>
                              <p:par>
                                <p:cTn id="25" presetID="10" presetClass="entr" presetSubtype="0" fill="hold" grpId="0" nodeType="withEffect">
                                  <p:stCondLst>
                                    <p:cond delay="80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50"/>
                                        <p:tgtEl>
                                          <p:spTgt spid="13"/>
                                        </p:tgtEl>
                                      </p:cBhvr>
                                    </p:animEffect>
                                  </p:childTnLst>
                                </p:cTn>
                              </p:par>
                            </p:childTnLst>
                          </p:cTn>
                        </p:par>
                        <p:par>
                          <p:cTn id="47" fill="hold">
                            <p:stCondLst>
                              <p:cond delay="2200"/>
                            </p:stCondLst>
                            <p:childTnLst>
                              <p:par>
                                <p:cTn id="29" presetID="22" presetClass="entr" presetSubtype="8"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450"/>
                                        <p:tgtEl>
                                          <p:spTgt spid="14"/>
                                        </p:tgtEl>
                                      </p:cBhvr>
                                    </p:animEffect>
                                  </p:childTnLst>
                                </p:cTn>
                              </p:par>
                              <p:par>
                                <p:cTn id="32" presetID="10" presetClass="entr" presetSubtype="0" fill="hold" grpId="0" nodeType="withEffect">
                                  <p:stCondLst>
                                    <p:cond delay="25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50"/>
                                        <p:tgtEl>
                                          <p:spTgt spid="15"/>
                                        </p:tgtEl>
                                      </p:cBhvr>
                                    </p:animEffect>
                                  </p:childTnLst>
                                </p:cTn>
                              </p:par>
                              <p:par>
                                <p:cTn id="35" presetID="10" presetClass="entr" presetSubtype="0" fill="hold" grpId="0" nodeType="withEffect">
                                  <p:stCondLst>
                                    <p:cond delay="25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50"/>
                                        <p:tgtEl>
                                          <p:spTgt spid="16"/>
                                        </p:tgtEl>
                                      </p:cBhvr>
                                    </p:animEffect>
                                  </p:childTnLst>
                                </p:cTn>
                              </p:par>
                              <p:par>
                                <p:cTn id="38" presetID="22" presetClass="entr" presetSubtype="8" fill="hold" grpId="0" nodeType="withEffect">
                                  <p:stCondLst>
                                    <p:cond delay="55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450"/>
                                        <p:tgtEl>
                                          <p:spTgt spid="17"/>
                                        </p:tgtEl>
                                      </p:cBhvr>
                                    </p:animEffect>
                                  </p:childTnLst>
                                </p:cTn>
                              </p:par>
                              <p:par>
                                <p:cTn id="41" presetID="10" presetClass="entr" presetSubtype="0" fill="hold" grpId="0" nodeType="withEffect">
                                  <p:stCondLst>
                                    <p:cond delay="80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50"/>
                                        <p:tgtEl>
                                          <p:spTgt spid="18"/>
                                        </p:tgtEl>
                                      </p:cBhvr>
                                    </p:animEffect>
                                  </p:childTnLst>
                                </p:cTn>
                              </p:par>
                              <p:par>
                                <p:cTn id="44" presetID="10" presetClass="entr" presetSubtype="0" fill="hold" grpId="0" nodeType="withEffect">
                                  <p:stCondLst>
                                    <p:cond delay="80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50"/>
                                        <p:tgtEl>
                                          <p:spTgt spid="19"/>
                                        </p:tgtEl>
                                      </p:cBhvr>
                                    </p:animEffect>
                                  </p:childTnLst>
                                </p:cTn>
                              </p:par>
                            </p:childTnLst>
                          </p:cTn>
                        </p:par>
                        <p:par>
                          <p:cTn id="66" fill="hold">
                            <p:stCondLst>
                              <p:cond delay="3300"/>
                            </p:stCondLst>
                            <p:childTnLst>
                              <p:par>
                                <p:cTn id="48" presetID="22" presetClass="entr" presetSubtype="8" fill="hold" grpId="0" nodeType="after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wipe(left)">
                                      <p:cBhvr>
                                        <p:cTn id="50" dur="450"/>
                                        <p:tgtEl>
                                          <p:spTgt spid="20"/>
                                        </p:tgtEl>
                                      </p:cBhvr>
                                    </p:animEffect>
                                  </p:childTnLst>
                                </p:cTn>
                              </p:par>
                              <p:par>
                                <p:cTn id="51" presetID="10" presetClass="entr" presetSubtype="0" fill="hold" grpId="0" nodeType="withEffect">
                                  <p:stCondLst>
                                    <p:cond delay="25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50"/>
                                        <p:tgtEl>
                                          <p:spTgt spid="21"/>
                                        </p:tgtEl>
                                      </p:cBhvr>
                                    </p:animEffect>
                                  </p:childTnLst>
                                </p:cTn>
                              </p:par>
                              <p:par>
                                <p:cTn id="54" presetID="10" presetClass="entr" presetSubtype="0" fill="hold" grpId="0" nodeType="withEffect">
                                  <p:stCondLst>
                                    <p:cond delay="25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50"/>
                                        <p:tgtEl>
                                          <p:spTgt spid="22"/>
                                        </p:tgtEl>
                                      </p:cBhvr>
                                    </p:animEffect>
                                  </p:childTnLst>
                                </p:cTn>
                              </p:par>
                              <p:par>
                                <p:cTn id="57" presetID="22" presetClass="entr" presetSubtype="8" fill="hold" grpId="0" nodeType="withEffect">
                                  <p:stCondLst>
                                    <p:cond delay="550"/>
                                  </p:stCondLst>
                                  <p:childTnLst>
                                    <p:set>
                                      <p:cBhvr>
                                        <p:cTn id="58" dur="1" fill="hold">
                                          <p:stCondLst>
                                            <p:cond delay="0"/>
                                          </p:stCondLst>
                                        </p:cTn>
                                        <p:tgtEl>
                                          <p:spTgt spid="23"/>
                                        </p:tgtEl>
                                        <p:attrNameLst>
                                          <p:attrName>style.visibility</p:attrName>
                                        </p:attrNameLst>
                                      </p:cBhvr>
                                      <p:to>
                                        <p:strVal val="visible"/>
                                      </p:to>
                                    </p:set>
                                    <p:animEffect transition="in" filter="wipe(left)">
                                      <p:cBhvr>
                                        <p:cTn id="59" dur="450"/>
                                        <p:tgtEl>
                                          <p:spTgt spid="23"/>
                                        </p:tgtEl>
                                      </p:cBhvr>
                                    </p:animEffect>
                                  </p:childTnLst>
                                </p:cTn>
                              </p:par>
                              <p:par>
                                <p:cTn id="60" presetID="10" presetClass="entr" presetSubtype="0" fill="hold" grpId="0" nodeType="withEffect">
                                  <p:stCondLst>
                                    <p:cond delay="80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450"/>
                                        <p:tgtEl>
                                          <p:spTgt spid="24"/>
                                        </p:tgtEl>
                                      </p:cBhvr>
                                    </p:animEffect>
                                  </p:childTnLst>
                                </p:cTn>
                              </p:par>
                              <p:par>
                                <p:cTn id="63" presetID="10" presetClass="entr" presetSubtype="0" fill="hold" grpId="0" nodeType="withEffect">
                                  <p:stCondLst>
                                    <p:cond delay="80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450"/>
                                        <p:tgtEl>
                                          <p:spTgt spid="25"/>
                                        </p:tgtEl>
                                      </p:cBhvr>
                                    </p:animEffect>
                                  </p:childTnLst>
                                </p:cTn>
                              </p:par>
                            </p:childTnLst>
                          </p:cTn>
                        </p:par>
                        <p:par>
                          <p:cTn id="85" fill="hold">
                            <p:stCondLst>
                              <p:cond delay="4400"/>
                            </p:stCondLst>
                            <p:childTnLst>
                              <p:par>
                                <p:cTn id="67" presetID="22" presetClass="entr" presetSubtype="8" fill="hold" grpId="0" nodeType="after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wipe(left)">
                                      <p:cBhvr>
                                        <p:cTn id="69" dur="450"/>
                                        <p:tgtEl>
                                          <p:spTgt spid="26"/>
                                        </p:tgtEl>
                                      </p:cBhvr>
                                    </p:animEffect>
                                  </p:childTnLst>
                                </p:cTn>
                              </p:par>
                              <p:par>
                                <p:cTn id="70" presetID="10" presetClass="entr" presetSubtype="0" fill="hold" grpId="0" nodeType="withEffect">
                                  <p:stCondLst>
                                    <p:cond delay="25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450"/>
                                        <p:tgtEl>
                                          <p:spTgt spid="27"/>
                                        </p:tgtEl>
                                      </p:cBhvr>
                                    </p:animEffect>
                                  </p:childTnLst>
                                </p:cTn>
                              </p:par>
                              <p:par>
                                <p:cTn id="73" presetID="10" presetClass="entr" presetSubtype="0" fill="hold" grpId="0" nodeType="withEffect">
                                  <p:stCondLst>
                                    <p:cond delay="25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22" presetClass="entr" presetSubtype="8" fill="hold" grpId="0" nodeType="withEffect">
                                  <p:stCondLst>
                                    <p:cond delay="550"/>
                                  </p:stCondLst>
                                  <p:childTnLst>
                                    <p:set>
                                      <p:cBhvr>
                                        <p:cTn id="77" dur="1" fill="hold">
                                          <p:stCondLst>
                                            <p:cond delay="0"/>
                                          </p:stCondLst>
                                        </p:cTn>
                                        <p:tgtEl>
                                          <p:spTgt spid="29"/>
                                        </p:tgtEl>
                                        <p:attrNameLst>
                                          <p:attrName>style.visibility</p:attrName>
                                        </p:attrNameLst>
                                      </p:cBhvr>
                                      <p:to>
                                        <p:strVal val="visible"/>
                                      </p:to>
                                    </p:set>
                                    <p:animEffect transition="in" filter="wipe(left)">
                                      <p:cBhvr>
                                        <p:cTn id="78" dur="450"/>
                                        <p:tgtEl>
                                          <p:spTgt spid="29"/>
                                        </p:tgtEl>
                                      </p:cBhvr>
                                    </p:animEffect>
                                  </p:childTnLst>
                                </p:cTn>
                              </p:par>
                              <p:par>
                                <p:cTn id="79" presetID="10" presetClass="entr" presetSubtype="0" fill="hold" grpId="0" nodeType="withEffect">
                                  <p:stCondLst>
                                    <p:cond delay="80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par>
                                <p:cTn id="82" presetID="10" presetClass="entr" presetSubtype="0" fill="hold" grpId="0" nodeType="withEffect">
                                  <p:stCondLst>
                                    <p:cond delay="80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bg1"/>
                </a:solidFill>
              </a:rPr>
              <a:t>A playbook any team can reuse</a:t>
            </a:r>
            <a:endParaRPr lang="en-US" sz="3600" dirty="0"/>
          </a:p>
        </p:txBody>
      </p:sp>
      <p:sp>
        <p:nvSpPr>
          <p:cNvPr id="3" name="reuse-0-card"/>
          <p:cNvSpPr/>
          <p:nvPr/>
        </p:nvSpPr>
        <p:spPr>
          <a:xfrm>
            <a:off x="548640" y="1600200"/>
            <a:ext cx="5410048" cy="3017520"/>
          </a:xfrm>
          <a:prstGeom prst="roundRect">
            <a:avLst>
              <a:gd name="adj" fmla="val 3636"/>
            </a:avLst>
          </a:prstGeom>
          <a:solidFill>
            <a:schemeClr val="accent4"/>
          </a:solidFill>
          <a:ln/>
        </p:spPr>
      </p:sp>
      <p:sp>
        <p:nvSpPr>
          <p:cNvPr id="4" name="reuse-0-title"/>
          <p:cNvSpPr txBox="1"/>
          <p:nvPr/>
        </p:nvSpPr>
        <p:spPr>
          <a:xfrm>
            <a:off x="868680" y="1874520"/>
            <a:ext cx="4769968" cy="502920"/>
          </a:xfrm>
          <a:prstGeom prst="rect">
            <a:avLst/>
          </a:prstGeom>
          <a:noFill/>
          <a:ln/>
        </p:spPr>
        <p:txBody>
          <a:bodyPr wrap="square" lIns="0" tIns="0" rIns="0" bIns="0" rtlCol="0" anchor="t"/>
          <a:lstStyle/>
          <a:p>
            <a:pPr indent="0" marL="0">
              <a:buNone/>
            </a:pPr>
            <a:r>
              <a:rPr lang="en-US" sz="2400" b="1" dirty="0">
                <a:solidFill>
                  <a:schemeClr val="accent5"/>
                </a:solidFill>
              </a:rPr>
              <a:t>Built together</a:t>
            </a:r>
            <a:endParaRPr lang="en-US" sz="2400" dirty="0"/>
          </a:p>
        </p:txBody>
      </p:sp>
      <p:sp>
        <p:nvSpPr>
          <p:cNvPr id="5" name="reuse-0-list"/>
          <p:cNvSpPr txBox="1"/>
          <p:nvPr/>
        </p:nvSpPr>
        <p:spPr>
          <a:xfrm>
            <a:off x="868680" y="2514600"/>
            <a:ext cx="4769968" cy="19202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accent6"/>
                </a:solidFill>
              </a:rPr>
              <a:t>Business users confirmed the feature catalogue</a:t>
            </a:r>
            <a:endParaRPr lang="en-US" sz="1600" dirty="0"/>
          </a:p>
          <a:p>
            <a:pPr marL="342900" indent="-342900">
              <a:spcAft>
                <a:spcPts val="800"/>
              </a:spcAft>
              <a:buSzPct val="100000"/>
              <a:buChar char="•"/>
            </a:pPr>
            <a:r>
              <a:rPr lang="en-US" sz="1600" dirty="0">
                <a:solidFill>
                  <a:schemeClr val="accent6"/>
                </a:solidFill>
              </a:rPr>
              <a:t>Data and security owners kept restricted views intact</a:t>
            </a:r>
            <a:endParaRPr lang="en-US" sz="1600" dirty="0"/>
          </a:p>
          <a:p>
            <a:pPr marL="342900" indent="-342900">
              <a:spcAft>
                <a:spcPts val="800"/>
              </a:spcAft>
              <a:buSzPct val="100000"/>
              <a:buChar char="•"/>
            </a:pPr>
            <a:r>
              <a:rPr lang="en-US" sz="1600" dirty="0">
                <a:solidFill>
                  <a:schemeClr val="accent6"/>
                </a:solidFill>
              </a:rPr>
              <a:t>Backend and frontend fixes shipped together</a:t>
            </a:r>
            <a:endParaRPr lang="en-US" sz="1600" dirty="0"/>
          </a:p>
        </p:txBody>
      </p:sp>
      <p:sp>
        <p:nvSpPr>
          <p:cNvPr id="6" name="reuse-1-card"/>
          <p:cNvSpPr/>
          <p:nvPr/>
        </p:nvSpPr>
        <p:spPr>
          <a:xfrm>
            <a:off x="6233008" y="1600200"/>
            <a:ext cx="5410048" cy="3017520"/>
          </a:xfrm>
          <a:prstGeom prst="roundRect">
            <a:avLst>
              <a:gd name="adj" fmla="val 3636"/>
            </a:avLst>
          </a:prstGeom>
          <a:solidFill>
            <a:schemeClr val="accent4"/>
          </a:solidFill>
          <a:ln/>
        </p:spPr>
      </p:sp>
      <p:sp>
        <p:nvSpPr>
          <p:cNvPr id="7" name="reuse-1-title"/>
          <p:cNvSpPr txBox="1"/>
          <p:nvPr/>
        </p:nvSpPr>
        <p:spPr>
          <a:xfrm>
            <a:off x="6553048" y="1874520"/>
            <a:ext cx="4769968" cy="502920"/>
          </a:xfrm>
          <a:prstGeom prst="rect">
            <a:avLst/>
          </a:prstGeom>
          <a:noFill/>
          <a:ln/>
        </p:spPr>
        <p:txBody>
          <a:bodyPr wrap="square" lIns="0" tIns="0" rIns="0" bIns="0" rtlCol="0" anchor="t"/>
          <a:lstStyle/>
          <a:p>
            <a:pPr indent="0" marL="0">
              <a:buNone/>
            </a:pPr>
            <a:r>
              <a:rPr lang="en-US" sz="2400" b="1" dirty="0">
                <a:solidFill>
                  <a:schemeClr val="accent5"/>
                </a:solidFill>
              </a:rPr>
              <a:t>Ready to transfer</a:t>
            </a:r>
            <a:endParaRPr lang="en-US" sz="2400" dirty="0"/>
          </a:p>
        </p:txBody>
      </p:sp>
      <p:sp>
        <p:nvSpPr>
          <p:cNvPr id="8" name="reuse-1-list"/>
          <p:cNvSpPr txBox="1"/>
          <p:nvPr/>
        </p:nvSpPr>
        <p:spPr>
          <a:xfrm>
            <a:off x="6553048" y="2514600"/>
            <a:ext cx="4769968" cy="19202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accent6"/>
                </a:solidFill>
              </a:rPr>
              <a:t>Proposed at the architecture sync, aligned with [Architect], for functions beyond DMS</a:t>
            </a:r>
            <a:endParaRPr lang="en-US" sz="1600" dirty="0"/>
          </a:p>
          <a:p>
            <a:pPr marL="342900" indent="-342900">
              <a:spcAft>
                <a:spcPts val="800"/>
              </a:spcAft>
              <a:buSzPct val="100000"/>
              <a:buChar char="•"/>
            </a:pPr>
            <a:r>
              <a:rPr lang="en-US" sz="1600" dirty="0">
                <a:solidFill>
                  <a:schemeClr val="accent6"/>
                </a:solidFill>
              </a:rPr>
              <a:t>Other Slate apps in [business areas]</a:t>
            </a:r>
            <a:endParaRPr lang="en-US" sz="1600" dirty="0"/>
          </a:p>
          <a:p>
            <a:pPr marL="342900" indent="-342900">
              <a:spcAft>
                <a:spcPts val="800"/>
              </a:spcAft>
              <a:buSzPct val="100000"/>
              <a:buChar char="•"/>
            </a:pPr>
            <a:r>
              <a:rPr lang="en-US" sz="1600" dirty="0">
                <a:solidFill>
                  <a:schemeClr val="accent6"/>
                </a:solidFill>
              </a:rPr>
              <a:t>Any low-code tool with little documentation</a:t>
            </a:r>
            <a:endParaRPr lang="en-US" sz="1600" dirty="0"/>
          </a:p>
          <a:p>
            <a:pPr marL="342900" indent="-342900">
              <a:spcAft>
                <a:spcPts val="800"/>
              </a:spcAft>
              <a:buSzPct val="100000"/>
              <a:buChar char="•"/>
            </a:pPr>
            <a:r>
              <a:rPr lang="en-US" sz="1600" dirty="0">
                <a:solidFill>
                  <a:schemeClr val="accent6"/>
                </a:solidFill>
              </a:rPr>
              <a:t>Reusable as is: pack-project.ts, comparison template, diagrams</a:t>
            </a:r>
            <a:endParaRPr lang="en-US" sz="1600" dirty="0"/>
          </a:p>
        </p:txBody>
      </p:sp>
      <p:sp>
        <p:nvSpPr>
          <p:cNvPr id="9" name="closing"/>
          <p:cNvSpPr txBox="1"/>
          <p:nvPr/>
        </p:nvSpPr>
        <p:spPr>
          <a:xfrm>
            <a:off x="548640" y="5120640"/>
            <a:ext cx="11094415" cy="548640"/>
          </a:xfrm>
          <a:prstGeom prst="rect">
            <a:avLst/>
          </a:prstGeom>
          <a:noFill/>
          <a:ln/>
        </p:spPr>
        <p:txBody>
          <a:bodyPr wrap="square" lIns="0" tIns="0" rIns="0" bIns="0" rtlCol="0" anchor="t"/>
          <a:lstStyle/>
          <a:p>
            <a:pPr indent="0" marL="0">
              <a:buNone/>
            </a:pPr>
            <a:r>
              <a:rPr lang="en-US" sz="2200" b="1" dirty="0">
                <a:solidFill>
                  <a:schemeClr val="bg1"/>
                </a:solidFill>
              </a:rPr>
              <a:t>Pack. Extract. Compare. Fix. Document. Repeat for the next app.</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 fill="hold">
                      <p:stCondLst>
                        <p:cond delay="indefinite"/>
                        <p:cond evt="onBegin" delay="0">
                          <p:tn val="2"/>
                        </p:cond>
                      </p:stCondLst>
                      <p:childTnLst>
                        <p:par>
                          <p:cTn id="1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5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50"/>
                                        <p:tgtEl>
                                          <p:spTgt spid="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50"/>
                                        <p:tgtEl>
                                          <p:spTgt spid="5"/>
                                        </p:tgtEl>
                                      </p:cBhvr>
                                    </p:animEffect>
                                  </p:childTnLst>
                                </p:cTn>
                              </p:par>
                            </p:childTnLst>
                          </p:cTn>
                        </p:par>
                        <p:par>
                          <p:cTn id="22" fill="hold">
                            <p:stCondLst>
                              <p:cond delay="6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childTnLst>
                          </p:cTn>
                        </p:par>
                        <p:par>
                          <p:cTn id="26" fill="hold">
                            <p:stCondLst>
                              <p:cond delay="1200"/>
                            </p:stCondLst>
                            <p:childTnLst>
                              <p:par>
                                <p:cTn id="23" presetID="22" presetClass="entr" presetSubtype="8"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Lst>
  </p:timing>
</p:sld>
</file>

<file path=ppt/theme/theme1.xml><?xml version="1.0" encoding="utf-8"?>
<a:theme xmlns:a="http://schemas.openxmlformats.org/drawingml/2006/main" name="ERM Migration Airbus">
  <a:themeElements>
    <a:clrScheme name="ERM Migration Airbus">
      <a:dk1>
        <a:srgbClr val="00205B"/>
      </a:dk1>
      <a:lt1>
        <a:srgbClr val="FFFFFF"/>
      </a:lt1>
      <a:dk2>
        <a:srgbClr val="4A5568"/>
      </a:dk2>
      <a:lt2>
        <a:srgbClr val="EEF1F7"/>
      </a:lt2>
      <a:accent1>
        <a:srgbClr val="C8326C"/>
      </a:accent1>
      <a:accent2>
        <a:srgbClr val="0085CA"/>
      </a:accent2>
      <a:accent3>
        <a:srgbClr val="B0245A"/>
      </a:accent3>
      <a:accent4>
        <a:srgbClr val="5F3A8F"/>
      </a:accent4>
      <a:accent5>
        <a:srgbClr val="C9D6EA"/>
      </a:accent5>
      <a:accent6>
        <a:srgbClr val="DCE3EE"/>
      </a:accent6>
      <a:hlink>
        <a:srgbClr val="0085CA"/>
      </a:hlink>
      <a:folHlink>
        <a:srgbClr val="5F3A8F"/>
      </a:folHlink>
    </a:clrScheme>
    <a:fontScheme name="ERM Migration Airbu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ERM Migration Jury Pitch</dc:title>
  <dc:subject>PptxGenJS Presentation</dc:subject>
  <dc:creator>PptxGenJS</dc:creator>
  <cp:lastModifiedBy>PptxGenJS</cp:lastModifiedBy>
  <cp:revision>1</cp:revision>
  <dcterms:created xsi:type="dcterms:W3CDTF">2026-10-04T12:25:21Z</dcterms:created>
  <dcterms:modified xsi:type="dcterms:W3CDTF">2026-10-04T12:25:21Z</dcterms:modified>
</cp:coreProperties>
</file>